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开场页。汇报题目：SemQL 2.0 面向代码智能体的条件化查询语言与执行引擎。核心目标是服务代码智能体在大型代码库中实现可靠检索。</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目录页。本次汇报分为六章：先说明问题背景，再给出目标和总体方案，随后展开 SemCon 与 SemQL 的核心方法，接着介绍方法流程（端到端架构），然后是实现现状与研发计划，最后是实验与评测设计，以总结与展望收尾。</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第一章过渡页。从一维相似度检索转向带约束的多维代码查询——这是本次研究最核心的问题定义转变。</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三类局限展开：Grep 快但依赖字面形式，无法处理语义等价但命名不同的代码；Dense Search 能表达语义相似但缺少硬约束，连续分数难以组合解释；二者叠加后仍缺少统一逻辑和执行优化。核心问题定义为：Agent 实际需要表达动作、对象、结构关系、排除条件与成本约束的多维匹配。</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本页强调研究范式变化：Agent 的查询更接近数据库查询而不是简单搜索，因此需要把自然语言编译成可执行的查询计划。SemQL 2.0 的定位是统一多种检索能力，而非替换某一个模型。四个维度对比：复杂意图表达（Surface/Relation/Intention 条件组合）、硬性约束与排除（include/exclude 与 NOT-Pushdown）、执行成本控制（RBO + CBO 自动规划）、上下文组织（Context Bundle 与协同重排）。</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第二章过渡页。研究目标是构建面向代码智能体的条件化查询语言与可优化执行引擎。</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四项目标：可组合性解决复杂条件表达（Surface/Relation/Intention 通过布尔逻辑组合）；可优化性控制高成本语义判断（规则+代价优化平衡候选规模与判断成本）；可解释性服务 Agent 后续推理（多维证据）；上下文感知通过 Bundle 返回相关代码子图。最终目标：高召回、高精度、低成本、可解释的 Agent-Oriented Code Search。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第三章过渡页。SemCon 是原子级语义条件，每条 SemCon 代表一个独立可执行的搜索或过滤条件。三类条件按执行代价从低到高排列：Surface 覆盖文本匹配、Relation 覆盖结构约束、Intention 覆盖语义判别。SemQL 负责将这些原子条件通过 AND/OR/NOT 组装为可执行的高层查询计划。</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三栏卡片展示三类 SemCon。左侧 Surface Condition 覆盖字面匹配，关键字段包括 type/ property/keywords/synonyms/match_kind/code_element_type，执行后端包含 exact search、inverted index、ngram、fuzzy matcher 和 term embedding，执行成本最低。中间 Relation Condition 描述结构约束，关键字段包括 code_element_type/file_path/container/graph_constraint/caller/callee/code_ql，采用三级物理后端（Tier 1 Symbol Index &amp;lt;1ms, Tier 2 LSP Call Graph BFS/DFS &amp;lt;10ms, Tier 3 CodeQL 秒级）。右侧 Intention Condition 以二元判别建模语义意图，包含 intent_statement、aspect（functional/non_functional/domain）和 non_functional_type 字段，执行后端包括 Cluster Filter、Embedding Filter 和 LLM-as-a-Judge。三类条件按 Surface、Relation、Intention 的代价顺序组织，后续优化器会根据候选规模动态规划执行顺序。</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展示 SemQL 的逻辑组合机制。查询 "Find the login function but not logout" 被拆解为三个原子条件：c1 Surface include 匹配 login，c2 Relation include 限定 function 类型，c3 Intention exclude 排除 logout。三者通过 AND/NOT 组合为逻辑树：(c1 AND c2) AND NOT c3。SemCon 抽取由 LLM 完成，输出 semCon.json；SemQL 组织按 include/exclude 分组，输出 semQL.json。关键设计原则：编译阶段不固化执行顺序，AND/OR/NOT 由后续 Optimizer 动态规划，执行逻辑随候选规模自适应调整。</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第四章过渡页。展示 SemQL 2.0 的端到端方法流程：Query Compiler、Query Optimizer (RBO/CBO)、Executor、Bundle Generator、Grouped Reranker。核心设计思想：先用低成本条件收缩候选集，再把高成本语义判断用于少量候选。</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展示端到端流程的五个模块。Query Compiler 通过 LLM 抽取 SemCon 再组织为 SemQL。Query Optimizer 包含 RBO 四大规则（Intention-Last/Surface-First/Dangling Ban/NOT-Pushdown）和 CBO 代价分析器（选择性优先、动态截断）。Executor 分三级执行：Stage 1 Surface（exact search/inverted index/ngram/term emb, &amp;lt;200ms, 约8,000候 选）、Stage 2 Relation（rule filter/LSP call graph BFS/DFS/CodeQL, &amp;lt;10ms至秒级, 约400候 选）、Stage 3 Intention（Cluster Filter/Embedding Filter/LLM Judge, &amp;lt;3s, 约15最终候 选）。Bundle Generator 通过调用边和类/文件关系将候选合并为 Context Bundles。Grouped Reranker 使用 BundleScore = mean(score_i) + alpha × synergy_bonus 进行协同评分。</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第五章过渡页。从原型模块到可验证评测体系，介绍当前实现进展与后续研发计划。</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已完成模块包括离线解析与符号索引、N-gram 拆分+倒排索引、FastText+ICF 共现 Embedding、SentenceTransformer 语义 Embedding、hybrid/pairwise 双通道融合、SemCon 抽取与 SemQL 组织、Surface/Relation/Intention Executor。待实现包括 RBO/CBO 查询优化器、内存调用图 BFS/DFS、CodeQL 后端集成、LLM-as-a-Judge、Bundle Generator+Synergy Scorer 和 Benchmark 评测。研发路径分四个 Phase：概念建模与 DSL 设计（当前）、查询优化器（近期）、执行引擎完善（中期）、Bundle 重排与 Benchmark（后期）。</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第六章过渡页。围绕实验与评测展开，介绍评测指标体系（检索质量+执行效率）和三个 Benchmark 数据集。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展示评测指标体系。检索质量六大指标：Recall@K（召回能力）、Precision@K（精度）、MRR（首个正确位置倒数均值）、nDCG@K（排序质量）、Bundle Relevance（Bundle 平均相关性）、Bundle Hit Rate（正确 Bundle Top-K 比率）。执行效率四大指标：P50/P99 延迟（Surface &amp;lt;200ms, 含 Intention &amp;lt;3s）、Intention 缓存命中率 &amp;gt;60%、LLM API 调用 &amp;lt;50次/查询、候选集截断 &amp;lt;100（大型项目 &amp;lt;0.2% 全库）。三个 Benchmark：SWE-bench（天然 Agent 检索场景）、CodeSearchNet（标准语义搜索基准）、内部 Agent Benchmark（真实 Agent 任务数据集）。后续通过消融实验验证各阶段的贡献。</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对比 SemQL 2.0 与 Grep 和 Dense Search。在语义等价召回上，通过 term_embed 膨胀+Intention 验证实现高召回高精度。在硬性排除上，exclude property+NOT-Pushdown 实现确定性硬过滤。在调用图约束上，graph_constraint+BFS/DFS 在 &amp;lt;10ms 内完成结构过滤。在关联节点返回上，Bundle 协同评分将相关代码作为整体返回。在可解释性上，多维证据（surface+relation+intention）+LLM reasoning 给 Agent 提供完整推理依据。LLM 代价受控：前置过滤后候选集 &amp;lt;100。</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感谢页。后续将完成查询优化器、执行引擎、Bundle 重排和系统化评测，整理为毕业论文核心证据。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1A2D38"/>
          </a:solidFill>
          <a:ln>
            <a:noFill/>
          </a:ln>
        </p:spPr>
      </p:sp>
      <p:sp>
        <p:nvSpPr>
          <p:cNvPr id="3" name="Rectangle 3"/>
          <p:cNvSpPr/>
          <p:nvPr/>
        </p:nvSpPr>
        <p:spPr>
          <a:xfrm>
            <a:off x="0" y="0"/>
            <a:ext cx="12192000" cy="3429000"/>
          </a:xfrm>
          <a:prstGeom prst="rect">
            <a:avLst/>
          </a:prstGeom>
          <a:solidFill>
            <a:srgbClr val="223A48"/>
          </a:solidFill>
          <a:ln>
            <a:noFill/>
          </a:ln>
        </p:spPr>
      </p:sp>
      <p:sp>
        <p:nvSpPr>
          <p:cNvPr id="4" name="Rectangle 4"/>
          <p:cNvSpPr/>
          <p:nvPr/>
        </p:nvSpPr>
        <p:spPr>
          <a:xfrm>
            <a:off x="0" y="3429000"/>
            <a:ext cx="12192000" cy="3429000"/>
          </a:xfrm>
          <a:prstGeom prst="rect">
            <a:avLst/>
          </a:prstGeom>
          <a:solidFill>
            <a:srgbClr val="F3F5F8"/>
          </a:solidFill>
          <a:ln>
            <a:noFill/>
          </a:ln>
        </p:spPr>
      </p:sp>
      <p:sp>
        <p:nvSpPr>
          <p:cNvPr id="5" name="TextBox 5"/>
          <p:cNvSpPr txBox="1"/>
          <p:nvPr/>
        </p:nvSpPr>
        <p:spPr>
          <a:xfrm>
            <a:off x="935355" y="1568768"/>
            <a:ext cx="1168432"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硕士中期答辩</a:t>
            </a:r>
          </a:p>
        </p:txBody>
      </p:sp>
      <p:sp>
        <p:nvSpPr>
          <p:cNvPr id="6" name="TextBox 6"/>
          <p:cNvSpPr txBox="1"/>
          <p:nvPr/>
        </p:nvSpPr>
        <p:spPr>
          <a:xfrm>
            <a:off x="922020" y="1931670"/>
            <a:ext cx="9839782" cy="487680"/>
          </a:xfrm>
          <a:prstGeom prst="rect">
            <a:avLst/>
          </a:prstGeom>
          <a:noFill/>
          <a:ln>
            <a:noFill/>
          </a:ln>
        </p:spPr>
        <p:txBody>
          <a:bodyPr wrap="none" lIns="0" tIns="0" rIns="0" bIns="0" anchor="t" anchorCtr="0">
            <a:spAutoFit/>
          </a:bodyPr>
          <a:lstStyle/>
          <a:p>
            <a:pPr algn="l"/>
            <a:r>
              <a:rPr lang="zh-CN" sz="2400" b="1" dirty="0">
                <a:solidFill>
                  <a:srgbClr val="FFFFFF"/>
                </a:solidFill>
                <a:latin typeface="Arial"/>
                <a:ea typeface="Microsoft YaHei"/>
                <a:cs typeface="Arial"/>
              </a:rPr>
              <a:t>题目：SemQL 2.0：面向代码智能体的条件化查询语言与执行引擎</a:t>
            </a:r>
          </a:p>
        </p:txBody>
      </p:sp>
      <p:sp>
        <p:nvSpPr>
          <p:cNvPr id="7" name="TextBox 7"/>
          <p:cNvSpPr txBox="1"/>
          <p:nvPr/>
        </p:nvSpPr>
        <p:spPr>
          <a:xfrm>
            <a:off x="937260" y="2585085"/>
            <a:ext cx="4289812"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a:ea typeface="Microsoft YaHei"/>
                <a:cs typeface="Arial"/>
              </a:rPr>
              <a:t>学生姓名：黄卓谌 指导教师：彭鑫 答辩日期：2026年6月</a:t>
            </a:r>
          </a:p>
        </p:txBody>
      </p:sp>
      <p:sp>
        <p:nvSpPr>
          <p:cNvPr id="8" name="TextBox 8"/>
          <p:cNvSpPr txBox="1"/>
          <p:nvPr/>
        </p:nvSpPr>
        <p:spPr>
          <a:xfrm>
            <a:off x="933450" y="4695825"/>
            <a:ext cx="1508284" cy="304800"/>
          </a:xfrm>
          <a:prstGeom prst="rect">
            <a:avLst/>
          </a:prstGeom>
          <a:noFill/>
          <a:ln>
            <a:noFill/>
          </a:ln>
        </p:spPr>
        <p:txBody>
          <a:bodyPr wrap="none" lIns="0" tIns="0" rIns="0" bIns="0" anchor="t" anchorCtr="0">
            <a:spAutoFit/>
          </a:bodyPr>
          <a:lstStyle/>
          <a:p>
            <a:pPr algn="l"/>
            <a:r>
              <a:rPr lang="zh-CN" sz="1500" b="1" dirty="0">
                <a:solidFill>
                  <a:srgbClr val="223A48"/>
                </a:solidFill>
                <a:latin typeface="Arial"/>
                <a:ea typeface="Microsoft YaHei"/>
                <a:cs typeface="Arial"/>
              </a:rPr>
              <a:t>汇报人：黄卓谌</a:t>
            </a:r>
          </a:p>
        </p:txBody>
      </p:sp>
      <p:sp>
        <p:nvSpPr>
          <p:cNvPr id="9" name="TextBox 9"/>
          <p:cNvSpPr txBox="1"/>
          <p:nvPr/>
        </p:nvSpPr>
        <p:spPr>
          <a:xfrm>
            <a:off x="933450" y="5172075"/>
            <a:ext cx="1508284" cy="304800"/>
          </a:xfrm>
          <a:prstGeom prst="rect">
            <a:avLst/>
          </a:prstGeom>
          <a:noFill/>
          <a:ln>
            <a:noFill/>
          </a:ln>
        </p:spPr>
        <p:txBody>
          <a:bodyPr wrap="none" lIns="0" tIns="0" rIns="0" bIns="0" anchor="t" anchorCtr="0">
            <a:spAutoFit/>
          </a:bodyPr>
          <a:lstStyle/>
          <a:p>
            <a:pPr algn="l"/>
            <a:r>
              <a:rPr lang="zh-CN" sz="1500" b="1" dirty="0">
                <a:solidFill>
                  <a:srgbClr val="223A48"/>
                </a:solidFill>
                <a:latin typeface="Arial"/>
                <a:ea typeface="Microsoft YaHei"/>
                <a:cs typeface="Arial"/>
              </a:rPr>
              <a:t>指导老师：彭鑫</a:t>
            </a:r>
          </a:p>
        </p:txBody>
      </p:sp>
      <p:sp>
        <p:nvSpPr>
          <p:cNvPr id="10" name="TextBox 10"/>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Rectangle 3"/>
          <p:cNvSpPr/>
          <p:nvPr/>
        </p:nvSpPr>
        <p:spPr>
          <a:xfrm>
            <a:off x="0" y="0"/>
            <a:ext cx="12192000" cy="762000"/>
          </a:xfrm>
          <a:prstGeom prst="rect">
            <a:avLst/>
          </a:prstGeom>
          <a:solidFill>
            <a:srgbClr val="223A48"/>
          </a:solidFill>
          <a:ln>
            <a:noFill/>
          </a:ln>
        </p:spPr>
      </p:sp>
      <p:sp>
        <p:nvSpPr>
          <p:cNvPr id="4" name="TextBox 4"/>
          <p:cNvSpPr txBox="1"/>
          <p:nvPr/>
        </p:nvSpPr>
        <p:spPr>
          <a:xfrm>
            <a:off x="744855" y="378142"/>
            <a:ext cx="412337" cy="274320"/>
          </a:xfrm>
          <a:prstGeom prst="rect">
            <a:avLst/>
          </a:prstGeom>
          <a:noFill/>
          <a:ln>
            <a:noFill/>
          </a:ln>
        </p:spPr>
        <p:txBody>
          <a:bodyPr wrap="none" lIns="0" tIns="0" rIns="0" bIns="0" anchor="t" anchorCtr="0">
            <a:spAutoFit/>
          </a:bodyPr>
          <a:lstStyle/>
          <a:p>
            <a:pPr algn="l"/>
            <a:r>
              <a:rPr lang="zh-CN" sz="1350" b="1" dirty="0">
                <a:solidFill>
                  <a:srgbClr val="FFFFFF"/>
                </a:solidFill>
                <a:latin typeface="Arial"/>
                <a:ea typeface="Microsoft YaHei"/>
                <a:cs typeface="Arial"/>
              </a:rPr>
              <a:t>目录</a:t>
            </a:r>
          </a:p>
        </p:txBody>
      </p:sp>
      <p:sp>
        <p:nvSpPr>
          <p:cNvPr id="5" name="TextBox 5"/>
          <p:cNvSpPr txBox="1"/>
          <p:nvPr/>
        </p:nvSpPr>
        <p:spPr>
          <a:xfrm>
            <a:off x="731520" y="1074420"/>
            <a:ext cx="1606753" cy="487680"/>
          </a:xfrm>
          <a:prstGeom prst="rect">
            <a:avLst/>
          </a:prstGeom>
          <a:noFill/>
          <a:ln>
            <a:noFill/>
          </a:ln>
        </p:spPr>
        <p:txBody>
          <a:bodyPr wrap="none" lIns="0" tIns="0" rIns="0" bIns="0" anchor="t" anchorCtr="0">
            <a:spAutoFit/>
          </a:bodyPr>
          <a:lstStyle/>
          <a:p>
            <a:pPr algn="l"/>
            <a:r>
              <a:rPr lang="zh-CN" sz="2400" b="1" dirty="0">
                <a:solidFill>
                  <a:srgbClr val="223A48"/>
                </a:solidFill>
                <a:latin typeface="Arial"/>
                <a:ea typeface="Microsoft YaHei"/>
                <a:cs typeface="Arial"/>
              </a:rPr>
              <a:t>CONTENTS</a:t>
            </a:r>
          </a:p>
        </p:txBody>
      </p:sp>
      <p:sp>
        <p:nvSpPr>
          <p:cNvPr id="6" name="Rectangle 6"/>
          <p:cNvSpPr/>
          <p:nvPr/>
        </p:nvSpPr>
        <p:spPr>
          <a:xfrm>
            <a:off x="762000" y="1905000"/>
            <a:ext cx="342900" cy="342900"/>
          </a:xfrm>
          <a:prstGeom prst="roundRect">
            <a:avLst>
              <a:gd name="adj" fmla="val 50000"/>
            </a:avLst>
          </a:prstGeom>
          <a:solidFill>
            <a:srgbClr val="2E7E94"/>
          </a:solidFill>
          <a:ln>
            <a:noFill/>
          </a:ln>
        </p:spPr>
      </p:sp>
      <p:sp>
        <p:nvSpPr>
          <p:cNvPr id="7" name="TextBox 7"/>
          <p:cNvSpPr txBox="1"/>
          <p:nvPr/>
        </p:nvSpPr>
        <p:spPr>
          <a:xfrm>
            <a:off x="879685" y="2039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8" name="TextBox 8"/>
          <p:cNvSpPr txBox="1"/>
          <p:nvPr/>
        </p:nvSpPr>
        <p:spPr>
          <a:xfrm>
            <a:off x="1269682" y="2005489"/>
            <a:ext cx="1639086" cy="259080"/>
          </a:xfrm>
          <a:prstGeom prst="rect">
            <a:avLst/>
          </a:prstGeom>
          <a:noFill/>
          <a:ln>
            <a:noFill/>
          </a:ln>
        </p:spPr>
        <p:txBody>
          <a:bodyPr wrap="none" lIns="0" tIns="0" rIns="0" bIns="0" anchor="t" anchorCtr="0">
            <a:spAutoFit/>
          </a:bodyPr>
          <a:lstStyle/>
          <a:p>
            <a:pPr algn="l"/>
            <a:r>
              <a:rPr lang="zh-CN" sz="1275" b="1" dirty="0">
                <a:solidFill>
                  <a:srgbClr val="223A48"/>
                </a:solidFill>
                <a:latin typeface="Arial"/>
                <a:ea typeface="Microsoft YaHei"/>
                <a:cs typeface="Arial"/>
              </a:rPr>
              <a:t>研究背景与问题定义</a:t>
            </a:r>
          </a:p>
        </p:txBody>
      </p:sp>
      <p:sp>
        <p:nvSpPr>
          <p:cNvPr id="9" name="Rectangle 9"/>
          <p:cNvSpPr/>
          <p:nvPr/>
        </p:nvSpPr>
        <p:spPr>
          <a:xfrm>
            <a:off x="762000" y="2524125"/>
            <a:ext cx="342900" cy="342900"/>
          </a:xfrm>
          <a:prstGeom prst="roundRect">
            <a:avLst>
              <a:gd name="adj" fmla="val 50000"/>
            </a:avLst>
          </a:prstGeom>
          <a:solidFill>
            <a:srgbClr val="2E7E94"/>
          </a:solidFill>
          <a:ln>
            <a:noFill/>
          </a:ln>
        </p:spPr>
      </p:sp>
      <p:sp>
        <p:nvSpPr>
          <p:cNvPr id="10" name="TextBox 10"/>
          <p:cNvSpPr txBox="1"/>
          <p:nvPr/>
        </p:nvSpPr>
        <p:spPr>
          <a:xfrm>
            <a:off x="879685" y="26584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11" name="TextBox 11"/>
          <p:cNvSpPr txBox="1"/>
          <p:nvPr/>
        </p:nvSpPr>
        <p:spPr>
          <a:xfrm>
            <a:off x="1269682" y="2624614"/>
            <a:ext cx="1562576" cy="259080"/>
          </a:xfrm>
          <a:prstGeom prst="rect">
            <a:avLst/>
          </a:prstGeom>
          <a:noFill/>
          <a:ln>
            <a:noFill/>
          </a:ln>
        </p:spPr>
        <p:txBody>
          <a:bodyPr wrap="none" lIns="0" tIns="0" rIns="0" bIns="0" anchor="t" anchorCtr="0">
            <a:spAutoFit/>
          </a:bodyPr>
          <a:lstStyle/>
          <a:p>
            <a:pPr algn="l"/>
            <a:r>
              <a:rPr lang="zh-CN" sz="1275" dirty="0">
                <a:solidFill>
                  <a:srgbClr val="223A48"/>
                </a:solidFill>
                <a:latin typeface="Arial"/>
                <a:ea typeface="Microsoft YaHei"/>
                <a:cs typeface="Arial"/>
              </a:rPr>
              <a:t>研究目标与总体方案</a:t>
            </a:r>
          </a:p>
        </p:txBody>
      </p:sp>
      <p:sp>
        <p:nvSpPr>
          <p:cNvPr id="12" name="Rectangle 12"/>
          <p:cNvSpPr/>
          <p:nvPr/>
        </p:nvSpPr>
        <p:spPr>
          <a:xfrm>
            <a:off x="762000" y="3143250"/>
            <a:ext cx="342900" cy="342900"/>
          </a:xfrm>
          <a:prstGeom prst="roundRect">
            <a:avLst>
              <a:gd name="adj" fmla="val 50000"/>
            </a:avLst>
          </a:prstGeom>
          <a:solidFill>
            <a:srgbClr val="2E7E94"/>
          </a:solidFill>
          <a:ln>
            <a:noFill/>
          </a:ln>
        </p:spPr>
      </p:sp>
      <p:sp>
        <p:nvSpPr>
          <p:cNvPr id="13" name="TextBox 13"/>
          <p:cNvSpPr txBox="1"/>
          <p:nvPr/>
        </p:nvSpPr>
        <p:spPr>
          <a:xfrm>
            <a:off x="879685" y="327755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14" name="TextBox 14"/>
          <p:cNvSpPr txBox="1"/>
          <p:nvPr/>
        </p:nvSpPr>
        <p:spPr>
          <a:xfrm>
            <a:off x="1269682" y="3243739"/>
            <a:ext cx="3317196" cy="259080"/>
          </a:xfrm>
          <a:prstGeom prst="rect">
            <a:avLst/>
          </a:prstGeom>
          <a:noFill/>
          <a:ln>
            <a:noFill/>
          </a:ln>
        </p:spPr>
        <p:txBody>
          <a:bodyPr wrap="none" lIns="0" tIns="0" rIns="0" bIns="0" anchor="t" anchorCtr="0">
            <a:spAutoFit/>
          </a:bodyPr>
          <a:lstStyle/>
          <a:p>
            <a:pPr algn="l"/>
            <a:r>
              <a:rPr lang="zh-CN" sz="1275" b="1" dirty="0">
                <a:solidFill>
                  <a:srgbClr val="223A48"/>
                </a:solidFill>
                <a:latin typeface="Arial"/>
                <a:ea typeface="Microsoft YaHei"/>
                <a:cs typeface="Arial"/>
              </a:rPr>
              <a:t>SemCon 与 SemQL — 核心条件与逻辑组合</a:t>
            </a:r>
          </a:p>
        </p:txBody>
      </p:sp>
      <p:sp>
        <p:nvSpPr>
          <p:cNvPr id="15" name="Rectangle 15"/>
          <p:cNvSpPr/>
          <p:nvPr/>
        </p:nvSpPr>
        <p:spPr>
          <a:xfrm>
            <a:off x="762000" y="3762375"/>
            <a:ext cx="342900" cy="342900"/>
          </a:xfrm>
          <a:prstGeom prst="roundRect">
            <a:avLst>
              <a:gd name="adj" fmla="val 50000"/>
            </a:avLst>
          </a:prstGeom>
          <a:solidFill>
            <a:srgbClr val="2E7E94"/>
          </a:solidFill>
          <a:ln>
            <a:noFill/>
          </a:ln>
        </p:spPr>
      </p:sp>
      <p:sp>
        <p:nvSpPr>
          <p:cNvPr id="16" name="TextBox 16"/>
          <p:cNvSpPr txBox="1"/>
          <p:nvPr/>
        </p:nvSpPr>
        <p:spPr>
          <a:xfrm>
            <a:off x="879685" y="389667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4</a:t>
            </a:r>
          </a:p>
        </p:txBody>
      </p:sp>
      <p:sp>
        <p:nvSpPr>
          <p:cNvPr id="17" name="TextBox 17"/>
          <p:cNvSpPr txBox="1"/>
          <p:nvPr/>
        </p:nvSpPr>
        <p:spPr>
          <a:xfrm>
            <a:off x="1269682" y="3862864"/>
            <a:ext cx="2098143" cy="259080"/>
          </a:xfrm>
          <a:prstGeom prst="rect">
            <a:avLst/>
          </a:prstGeom>
          <a:noFill/>
          <a:ln>
            <a:noFill/>
          </a:ln>
        </p:spPr>
        <p:txBody>
          <a:bodyPr wrap="none" lIns="0" tIns="0" rIns="0" bIns="0" anchor="t" anchorCtr="0">
            <a:spAutoFit/>
          </a:bodyPr>
          <a:lstStyle/>
          <a:p>
            <a:pPr algn="l"/>
            <a:r>
              <a:rPr lang="zh-CN" sz="1275" dirty="0">
                <a:solidFill>
                  <a:srgbClr val="223A48"/>
                </a:solidFill>
                <a:latin typeface="Arial"/>
                <a:ea typeface="Microsoft YaHei"/>
                <a:cs typeface="Arial"/>
              </a:rPr>
              <a:t>方法流程 — 端到端系统架构</a:t>
            </a:r>
          </a:p>
        </p:txBody>
      </p:sp>
      <p:sp>
        <p:nvSpPr>
          <p:cNvPr id="18" name="Rectangle 18"/>
          <p:cNvSpPr/>
          <p:nvPr/>
        </p:nvSpPr>
        <p:spPr>
          <a:xfrm>
            <a:off x="762000" y="4381500"/>
            <a:ext cx="342900" cy="342900"/>
          </a:xfrm>
          <a:prstGeom prst="roundRect">
            <a:avLst>
              <a:gd name="adj" fmla="val 50000"/>
            </a:avLst>
          </a:prstGeom>
          <a:solidFill>
            <a:srgbClr val="2E7E94"/>
          </a:solidFill>
          <a:ln>
            <a:noFill/>
          </a:ln>
        </p:spPr>
      </p:sp>
      <p:sp>
        <p:nvSpPr>
          <p:cNvPr id="19" name="TextBox 19"/>
          <p:cNvSpPr txBox="1"/>
          <p:nvPr/>
        </p:nvSpPr>
        <p:spPr>
          <a:xfrm>
            <a:off x="879685" y="45158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5</a:t>
            </a:r>
          </a:p>
        </p:txBody>
      </p:sp>
      <p:sp>
        <p:nvSpPr>
          <p:cNvPr id="20" name="TextBox 20"/>
          <p:cNvSpPr txBox="1"/>
          <p:nvPr/>
        </p:nvSpPr>
        <p:spPr>
          <a:xfrm>
            <a:off x="1269682" y="4481989"/>
            <a:ext cx="1562576" cy="259080"/>
          </a:xfrm>
          <a:prstGeom prst="rect">
            <a:avLst/>
          </a:prstGeom>
          <a:noFill/>
          <a:ln>
            <a:noFill/>
          </a:ln>
        </p:spPr>
        <p:txBody>
          <a:bodyPr wrap="none" lIns="0" tIns="0" rIns="0" bIns="0" anchor="t" anchorCtr="0">
            <a:spAutoFit/>
          </a:bodyPr>
          <a:lstStyle/>
          <a:p>
            <a:pPr algn="l"/>
            <a:r>
              <a:rPr lang="zh-CN" sz="1275" dirty="0">
                <a:solidFill>
                  <a:srgbClr val="223A48"/>
                </a:solidFill>
                <a:latin typeface="Arial"/>
                <a:ea typeface="Microsoft YaHei"/>
                <a:cs typeface="Arial"/>
              </a:rPr>
              <a:t>实现现状与研发计划</a:t>
            </a:r>
          </a:p>
        </p:txBody>
      </p:sp>
      <p:sp>
        <p:nvSpPr>
          <p:cNvPr id="21" name="Rectangle 21"/>
          <p:cNvSpPr/>
          <p:nvPr/>
        </p:nvSpPr>
        <p:spPr>
          <a:xfrm>
            <a:off x="762000" y="5000625"/>
            <a:ext cx="342900" cy="342900"/>
          </a:xfrm>
          <a:prstGeom prst="roundRect">
            <a:avLst>
              <a:gd name="adj" fmla="val 50000"/>
            </a:avLst>
          </a:prstGeom>
          <a:solidFill>
            <a:srgbClr val="2E7E94"/>
          </a:solidFill>
          <a:ln>
            <a:noFill/>
          </a:ln>
        </p:spPr>
      </p:sp>
      <p:sp>
        <p:nvSpPr>
          <p:cNvPr id="22" name="TextBox 22"/>
          <p:cNvSpPr txBox="1"/>
          <p:nvPr/>
        </p:nvSpPr>
        <p:spPr>
          <a:xfrm>
            <a:off x="879685" y="5134928"/>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6</a:t>
            </a:r>
          </a:p>
        </p:txBody>
      </p:sp>
      <p:sp>
        <p:nvSpPr>
          <p:cNvPr id="23" name="TextBox 23"/>
          <p:cNvSpPr txBox="1"/>
          <p:nvPr/>
        </p:nvSpPr>
        <p:spPr>
          <a:xfrm>
            <a:off x="1269682" y="5101114"/>
            <a:ext cx="882491" cy="259080"/>
          </a:xfrm>
          <a:prstGeom prst="rect">
            <a:avLst/>
          </a:prstGeom>
          <a:noFill/>
          <a:ln>
            <a:noFill/>
          </a:ln>
        </p:spPr>
        <p:txBody>
          <a:bodyPr wrap="none" lIns="0" tIns="0" rIns="0" bIns="0" anchor="t" anchorCtr="0">
            <a:spAutoFit/>
          </a:bodyPr>
          <a:lstStyle/>
          <a:p>
            <a:pPr algn="l"/>
            <a:r>
              <a:rPr lang="zh-CN" sz="1275" dirty="0">
                <a:solidFill>
                  <a:srgbClr val="223A48"/>
                </a:solidFill>
                <a:latin typeface="Arial"/>
                <a:ea typeface="Microsoft YaHei"/>
                <a:cs typeface="Arial"/>
              </a:rPr>
              <a:t>实验与评测</a:t>
            </a:r>
          </a:p>
        </p:txBody>
      </p:sp>
      <p:sp>
        <p:nvSpPr>
          <p:cNvPr id="24" name="Rectangle 24"/>
          <p:cNvSpPr/>
          <p:nvPr/>
        </p:nvSpPr>
        <p:spPr>
          <a:xfrm>
            <a:off x="762000" y="5810250"/>
            <a:ext cx="19050" cy="381000"/>
          </a:xfrm>
          <a:prstGeom prst="rect">
            <a:avLst/>
          </a:prstGeom>
          <a:solidFill>
            <a:srgbClr val="2E7E94"/>
          </a:solidFill>
          <a:ln>
            <a:noFill/>
          </a:ln>
        </p:spPr>
      </p:sp>
      <p:sp>
        <p:nvSpPr>
          <p:cNvPr id="25" name="TextBox 25"/>
          <p:cNvSpPr txBox="1"/>
          <p:nvPr/>
        </p:nvSpPr>
        <p:spPr>
          <a:xfrm>
            <a:off x="936308" y="5910739"/>
            <a:ext cx="882491" cy="259080"/>
          </a:xfrm>
          <a:prstGeom prst="rect">
            <a:avLst/>
          </a:prstGeom>
          <a:noFill/>
          <a:ln>
            <a:noFill/>
          </a:ln>
        </p:spPr>
        <p:txBody>
          <a:bodyPr wrap="none" lIns="0" tIns="0" rIns="0" bIns="0" anchor="t" anchorCtr="0">
            <a:spAutoFit/>
          </a:bodyPr>
          <a:lstStyle/>
          <a:p>
            <a:pPr algn="l"/>
            <a:r>
              <a:rPr lang="zh-CN" sz="1275" dirty="0">
                <a:solidFill>
                  <a:srgbClr val="223A48"/>
                </a:solidFill>
                <a:latin typeface="Arial"/>
                <a:ea typeface="Microsoft YaHei"/>
                <a:cs typeface="Arial"/>
              </a:rPr>
              <a:t>总结与展望</a:t>
            </a:r>
          </a:p>
        </p:txBody>
      </p:sp>
      <p:sp>
        <p:nvSpPr>
          <p:cNvPr id="26" name="TextBox 26"/>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Rectangle 3"/>
          <p:cNvSpPr/>
          <p:nvPr/>
        </p:nvSpPr>
        <p:spPr>
          <a:xfrm>
            <a:off x="0" y="0"/>
            <a:ext cx="12192000" cy="2667000"/>
          </a:xfrm>
          <a:prstGeom prst="rect">
            <a:avLst/>
          </a:prstGeom>
          <a:solidFill>
            <a:srgbClr val="223A48"/>
          </a:solidFill>
          <a:ln>
            <a:noFill/>
          </a:ln>
        </p:spPr>
      </p:sp>
      <p:sp>
        <p:nvSpPr>
          <p:cNvPr id="4" name="TextBox 4"/>
          <p:cNvSpPr txBox="1"/>
          <p:nvPr/>
        </p:nvSpPr>
        <p:spPr>
          <a:xfrm>
            <a:off x="708660" y="1165860"/>
            <a:ext cx="430120" cy="853440"/>
          </a:xfrm>
          <a:prstGeom prst="rect">
            <a:avLst/>
          </a:prstGeom>
          <a:noFill/>
          <a:ln>
            <a:noFill/>
          </a:ln>
        </p:spPr>
        <p:txBody>
          <a:bodyPr wrap="none" lIns="0" tIns="0" rIns="0" bIns="0" anchor="t" anchorCtr="0">
            <a:spAutoFit/>
          </a:bodyPr>
          <a:lstStyle/>
          <a:p>
            <a:pPr algn="l"/>
            <a:r>
              <a:rPr lang="zh-CN" sz="4200" b="1" dirty="0">
                <a:solidFill>
                  <a:srgbClr val="2E7E94"/>
                </a:solidFill>
                <a:latin typeface="Arial"/>
                <a:ea typeface="Microsoft YaHei"/>
                <a:cs typeface="Arial"/>
              </a:rPr>
              <a:t>1</a:t>
            </a:r>
          </a:p>
        </p:txBody>
      </p:sp>
      <p:sp>
        <p:nvSpPr>
          <p:cNvPr id="5" name="TextBox 5"/>
          <p:cNvSpPr txBox="1"/>
          <p:nvPr/>
        </p:nvSpPr>
        <p:spPr>
          <a:xfrm>
            <a:off x="1495425" y="1376362"/>
            <a:ext cx="2892504"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研究背景与问题定义</a:t>
            </a:r>
          </a:p>
        </p:txBody>
      </p:sp>
      <p:sp>
        <p:nvSpPr>
          <p:cNvPr id="6" name="Rectangle 6"/>
          <p:cNvSpPr/>
          <p:nvPr/>
        </p:nvSpPr>
        <p:spPr>
          <a:xfrm>
            <a:off x="952500" y="3429000"/>
            <a:ext cx="38100" cy="1714500"/>
          </a:xfrm>
          <a:prstGeom prst="roundRect">
            <a:avLst>
              <a:gd name="adj" fmla="val 50000"/>
            </a:avLst>
          </a:prstGeom>
          <a:solidFill>
            <a:srgbClr val="2E7E94"/>
          </a:solidFill>
          <a:ln>
            <a:noFill/>
          </a:ln>
        </p:spPr>
      </p:sp>
      <p:sp>
        <p:nvSpPr>
          <p:cNvPr id="7" name="TextBox 7"/>
          <p:cNvSpPr txBox="1"/>
          <p:nvPr/>
        </p:nvSpPr>
        <p:spPr>
          <a:xfrm>
            <a:off x="1234440" y="3901440"/>
            <a:ext cx="4846320" cy="365760"/>
          </a:xfrm>
          <a:prstGeom prst="rect">
            <a:avLst/>
          </a:prstGeom>
          <a:noFill/>
          <a:ln>
            <a:noFill/>
          </a:ln>
        </p:spPr>
        <p:txBody>
          <a:bodyPr wrap="none" lIns="0" tIns="0" rIns="0" bIns="0" anchor="t" anchorCtr="0">
            <a:spAutoFit/>
          </a:bodyPr>
          <a:lstStyle/>
          <a:p>
            <a:pPr algn="l"/>
            <a:r>
              <a:rPr lang="zh-CN" sz="1800" dirty="0">
                <a:solidFill>
                  <a:srgbClr val="223A48"/>
                </a:solidFill>
                <a:latin typeface="Arial"/>
                <a:ea typeface="Microsoft YaHei"/>
                <a:cs typeface="Arial"/>
              </a:rPr>
              <a:t>从一维相似度检索转向带约束的多维代码查询</a:t>
            </a:r>
          </a:p>
        </p:txBody>
      </p:sp>
      <p:sp>
        <p:nvSpPr>
          <p:cNvPr id="8" name="TextBox 8"/>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400"/>
                                        <p:tgtEl>
                                          <p:spTgt spid="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slide(fromBottom)">
                                      <p:cBhvr>
                                        <p:cTn id="15" dur="400"/>
                                        <p:tgtEl>
                                          <p:spTgt spid="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image">
                                      <p:cBhvr>
                                        <p:cTn id="19" dur="400"/>
                                        <p:tgtEl>
                                          <p:spTgt spid="5"/>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400"/>
                                        <p:tgtEl>
                                          <p:spTgt spid="6"/>
                                        </p:tgtEl>
                                      </p:cBhvr>
                                    </p:animEffect>
                                  </p:childTnLst>
                                </p:cTn>
                              </p:par>
                            </p:childTnLst>
                          </p:cTn>
                        </p:par>
                        <p:par>
                          <p:cTn id="24" fill="hold">
                            <p:stCondLst>
                              <p:cond delay="4500"/>
                            </p:stCondLst>
                            <p:childTnLst>
                              <p:par>
                                <p:cTn id="25" presetID="22" presetClass="entr" presetSubtype="1"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400"/>
                                        <p:tgtEl>
                                          <p:spTgt spid="7"/>
                                        </p:tgtEl>
                                      </p:cBhvr>
                                    </p:animEffect>
                                  </p:childTnLst>
                                </p:cTn>
                              </p:par>
                            </p:childTnLst>
                          </p:cTn>
                        </p:par>
                        <p:par>
                          <p:cTn id="28" fill="hold">
                            <p:stCondLst>
                              <p:cond delay="5400"/>
                            </p:stCondLst>
                            <p:childTnLst>
                              <p:par>
                                <p:cTn id="29" presetID="2" presetClass="entr" presetSubtype="4"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lide(fromBottom)">
                                      <p:cBhvr>
                                        <p:cTn id="3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339090"/>
            <a:ext cx="5098952"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研究背景：Agent 代码检索需要多维约束表达</a:t>
            </a:r>
          </a:p>
        </p:txBody>
      </p:sp>
      <p:sp>
        <p:nvSpPr>
          <p:cNvPr id="4" name="TextBox 4"/>
          <p:cNvSpPr txBox="1"/>
          <p:nvPr/>
        </p:nvSpPr>
        <p:spPr>
          <a:xfrm>
            <a:off x="747712" y="926306"/>
            <a:ext cx="1186345" cy="228600"/>
          </a:xfrm>
          <a:prstGeom prst="rect">
            <a:avLst/>
          </a:prstGeom>
          <a:noFill/>
          <a:ln>
            <a:noFill/>
          </a:ln>
        </p:spPr>
        <p:txBody>
          <a:bodyPr wrap="none" lIns="0" tIns="0" rIns="0" bIns="0" anchor="t" anchorCtr="0">
            <a:spAutoFit/>
          </a:bodyPr>
          <a:lstStyle/>
          <a:p>
            <a:pPr algn="l"/>
            <a:r>
              <a:rPr lang="zh-CN" sz="1125" b="1" dirty="0">
                <a:solidFill>
                  <a:srgbClr val="2E7E94"/>
                </a:solidFill>
                <a:latin typeface="Arial"/>
                <a:ea typeface="Microsoft YaHei"/>
                <a:cs typeface="Arial"/>
              </a:rPr>
              <a:t>Grep / 词法检索</a:t>
            </a:r>
          </a:p>
        </p:txBody>
      </p:sp>
      <p:sp>
        <p:nvSpPr>
          <p:cNvPr id="5" name="TextBox 5"/>
          <p:cNvSpPr txBox="1"/>
          <p:nvPr/>
        </p:nvSpPr>
        <p:spPr>
          <a:xfrm>
            <a:off x="750570" y="1198245"/>
            <a:ext cx="4463415"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依赖字面命名，难以处理语义等价但命名不同的代码元素；召回受限于关键词形式。</a:t>
            </a:r>
          </a:p>
        </p:txBody>
      </p:sp>
      <p:sp>
        <p:nvSpPr>
          <p:cNvPr id="6" name="TextBox 6"/>
          <p:cNvSpPr txBox="1"/>
          <p:nvPr/>
        </p:nvSpPr>
        <p:spPr>
          <a:xfrm>
            <a:off x="747712" y="1554956"/>
            <a:ext cx="1595896" cy="228600"/>
          </a:xfrm>
          <a:prstGeom prst="rect">
            <a:avLst/>
          </a:prstGeom>
          <a:noFill/>
          <a:ln>
            <a:noFill/>
          </a:ln>
        </p:spPr>
        <p:txBody>
          <a:bodyPr wrap="none" lIns="0" tIns="0" rIns="0" bIns="0" anchor="t" anchorCtr="0">
            <a:spAutoFit/>
          </a:bodyPr>
          <a:lstStyle/>
          <a:p>
            <a:pPr algn="l"/>
            <a:r>
              <a:rPr lang="zh-CN" sz="1125" b="1" dirty="0">
                <a:solidFill>
                  <a:srgbClr val="2E7E94"/>
                </a:solidFill>
                <a:latin typeface="Arial"/>
                <a:ea typeface="Microsoft YaHei"/>
                <a:cs typeface="Arial"/>
              </a:rPr>
              <a:t>Dense Vector Search</a:t>
            </a:r>
          </a:p>
        </p:txBody>
      </p:sp>
      <p:sp>
        <p:nvSpPr>
          <p:cNvPr id="7" name="TextBox 7"/>
          <p:cNvSpPr txBox="1"/>
          <p:nvPr/>
        </p:nvSpPr>
        <p:spPr>
          <a:xfrm>
            <a:off x="750570" y="1826895"/>
            <a:ext cx="4223385"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能够捕获语义相似，但难以表达精确约束；连续相似度分数不利于组合与解释。</a:t>
            </a:r>
          </a:p>
        </p:txBody>
      </p:sp>
      <p:sp>
        <p:nvSpPr>
          <p:cNvPr id="8" name="TextBox 8"/>
          <p:cNvSpPr txBox="1"/>
          <p:nvPr/>
        </p:nvSpPr>
        <p:spPr>
          <a:xfrm>
            <a:off x="747712" y="2183606"/>
            <a:ext cx="973693" cy="228600"/>
          </a:xfrm>
          <a:prstGeom prst="rect">
            <a:avLst/>
          </a:prstGeom>
          <a:noFill/>
          <a:ln>
            <a:noFill/>
          </a:ln>
        </p:spPr>
        <p:txBody>
          <a:bodyPr wrap="none" lIns="0" tIns="0" rIns="0" bIns="0" anchor="t" anchorCtr="0">
            <a:spAutoFit/>
          </a:bodyPr>
          <a:lstStyle/>
          <a:p>
            <a:pPr algn="l"/>
            <a:r>
              <a:rPr lang="zh-CN" sz="1125" b="1" dirty="0">
                <a:solidFill>
                  <a:srgbClr val="2E7E94"/>
                </a:solidFill>
                <a:latin typeface="Arial"/>
                <a:ea typeface="Microsoft YaHei"/>
                <a:cs typeface="Arial"/>
              </a:rPr>
              <a:t>简单叠加方案</a:t>
            </a:r>
          </a:p>
        </p:txBody>
      </p:sp>
      <p:sp>
        <p:nvSpPr>
          <p:cNvPr id="9" name="TextBox 9"/>
          <p:cNvSpPr txBox="1"/>
          <p:nvPr/>
        </p:nvSpPr>
        <p:spPr>
          <a:xfrm>
            <a:off x="750570" y="2455545"/>
            <a:ext cx="4223385"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各检索管道相对孤立，缺少条件间逻辑关系；执行顺序无法根据代价自动优化。</a:t>
            </a:r>
          </a:p>
        </p:txBody>
      </p:sp>
      <p:sp>
        <p:nvSpPr>
          <p:cNvPr id="10" name="TextBox 10"/>
          <p:cNvSpPr txBox="1"/>
          <p:nvPr/>
        </p:nvSpPr>
        <p:spPr>
          <a:xfrm>
            <a:off x="746760" y="2918460"/>
            <a:ext cx="1038606" cy="243840"/>
          </a:xfrm>
          <a:prstGeom prst="rect">
            <a:avLst/>
          </a:prstGeom>
          <a:noFill/>
          <a:ln>
            <a:noFill/>
          </a:ln>
        </p:spPr>
        <p:txBody>
          <a:bodyPr wrap="none" lIns="0" tIns="0" rIns="0" bIns="0" anchor="t" anchorCtr="0">
            <a:spAutoFit/>
          </a:bodyPr>
          <a:lstStyle/>
          <a:p>
            <a:pPr algn="l"/>
            <a:r>
              <a:rPr lang="zh-CN" sz="1200" b="1" dirty="0">
                <a:solidFill>
                  <a:srgbClr val="2E7E94"/>
                </a:solidFill>
                <a:latin typeface="Arial"/>
                <a:ea typeface="Microsoft YaHei"/>
                <a:cs typeface="Arial"/>
              </a:rPr>
              <a:t>核心问题定义</a:t>
            </a:r>
          </a:p>
        </p:txBody>
      </p:sp>
      <p:sp>
        <p:nvSpPr>
          <p:cNvPr id="11" name="TextBox 11"/>
          <p:cNvSpPr txBox="1"/>
          <p:nvPr/>
        </p:nvSpPr>
        <p:spPr>
          <a:xfrm>
            <a:off x="748665" y="3182302"/>
            <a:ext cx="3996166" cy="213360"/>
          </a:xfrm>
          <a:prstGeom prst="rect">
            <a:avLst/>
          </a:prstGeom>
          <a:noFill/>
          <a:ln>
            <a:noFill/>
          </a:ln>
        </p:spPr>
        <p:txBody>
          <a:bodyPr wrap="none" lIns="0" tIns="0" rIns="0" bIns="0" anchor="t" anchorCtr="0">
            <a:spAutoFit/>
          </a:bodyPr>
          <a:lstStyle/>
          <a:p>
            <a:pPr algn="l"/>
            <a:r>
              <a:rPr lang="zh-CN" sz="1050" dirty="0">
                <a:solidFill>
                  <a:srgbClr val="485D6A"/>
                </a:solidFill>
                <a:latin typeface="Arial"/>
                <a:ea typeface="Microsoft YaHei"/>
                <a:cs typeface="Arial"/>
              </a:rPr>
              <a:t>现有范式将代码检索建模为一维相似度排序，而 Agent 实际需要</a:t>
            </a:r>
          </a:p>
        </p:txBody>
      </p:sp>
      <p:sp>
        <p:nvSpPr>
          <p:cNvPr id="12" name="TextBox 12"/>
          <p:cNvSpPr txBox="1"/>
          <p:nvPr/>
        </p:nvSpPr>
        <p:spPr>
          <a:xfrm>
            <a:off x="748665" y="3410902"/>
            <a:ext cx="3947160" cy="213360"/>
          </a:xfrm>
          <a:prstGeom prst="rect">
            <a:avLst/>
          </a:prstGeom>
          <a:noFill/>
          <a:ln>
            <a:noFill/>
          </a:ln>
        </p:spPr>
        <p:txBody>
          <a:bodyPr wrap="none" lIns="0" tIns="0" rIns="0" bIns="0" anchor="t" anchorCtr="0">
            <a:spAutoFit/>
          </a:bodyPr>
          <a:lstStyle/>
          <a:p>
            <a:pPr algn="l"/>
            <a:r>
              <a:rPr lang="zh-CN" sz="1050" dirty="0">
                <a:solidFill>
                  <a:srgbClr val="485D6A"/>
                </a:solidFill>
                <a:latin typeface="Arial"/>
                <a:ea typeface="Microsoft YaHei"/>
                <a:cs typeface="Arial"/>
              </a:rPr>
              <a:t>表达动作、对象、结构关系、排除条件与成本约束的多维匹配。</a:t>
            </a:r>
          </a:p>
        </p:txBody>
      </p:sp>
      <p:sp>
        <p:nvSpPr>
          <p:cNvPr id="13" name="Rectangle 13"/>
          <p:cNvSpPr/>
          <p:nvPr/>
        </p:nvSpPr>
        <p:spPr>
          <a:xfrm>
            <a:off x="762000" y="3848100"/>
            <a:ext cx="3238500" cy="1047750"/>
          </a:xfrm>
          <a:prstGeom prst="roundRect">
            <a:avLst>
              <a:gd name="adj" fmla="val 7273"/>
            </a:avLst>
          </a:prstGeom>
          <a:solidFill>
            <a:srgbClr val="E8EDF2"/>
          </a:solidFill>
          <a:ln>
            <a:noFill/>
          </a:ln>
        </p:spPr>
      </p:sp>
      <p:sp>
        <p:nvSpPr>
          <p:cNvPr id="14" name="Rectangle 14"/>
          <p:cNvSpPr/>
          <p:nvPr/>
        </p:nvSpPr>
        <p:spPr>
          <a:xfrm>
            <a:off x="762000" y="3848100"/>
            <a:ext cx="38100" cy="1047750"/>
          </a:xfrm>
          <a:prstGeom prst="rect">
            <a:avLst/>
          </a:prstGeom>
          <a:solidFill>
            <a:srgbClr val="2E7E94"/>
          </a:solidFill>
          <a:ln>
            <a:noFill/>
          </a:ln>
        </p:spPr>
      </p:sp>
      <p:sp>
        <p:nvSpPr>
          <p:cNvPr id="15" name="TextBox 15"/>
          <p:cNvSpPr txBox="1"/>
          <p:nvPr/>
        </p:nvSpPr>
        <p:spPr>
          <a:xfrm>
            <a:off x="939165" y="4020502"/>
            <a:ext cx="614744" cy="213360"/>
          </a:xfrm>
          <a:prstGeom prst="rect">
            <a:avLst/>
          </a:prstGeom>
          <a:noFill/>
          <a:ln>
            <a:noFill/>
          </a:ln>
        </p:spPr>
        <p:txBody>
          <a:bodyPr wrap="none" lIns="0" tIns="0" rIns="0" bIns="0" anchor="t" anchorCtr="0">
            <a:spAutoFit/>
          </a:bodyPr>
          <a:lstStyle/>
          <a:p>
            <a:pPr algn="l"/>
            <a:r>
              <a:rPr lang="zh-CN" sz="1050" b="1" dirty="0">
                <a:solidFill>
                  <a:srgbClr val="2E7E94"/>
                </a:solidFill>
                <a:latin typeface="Arial"/>
                <a:ea typeface="Microsoft YaHei"/>
                <a:cs typeface="Arial"/>
              </a:rPr>
              <a:t>表达复杂</a:t>
            </a:r>
          </a:p>
        </p:txBody>
      </p:sp>
      <p:sp>
        <p:nvSpPr>
          <p:cNvPr id="16" name="TextBox 16"/>
          <p:cNvSpPr txBox="1"/>
          <p:nvPr/>
        </p:nvSpPr>
        <p:spPr>
          <a:xfrm>
            <a:off x="941070" y="4284345"/>
            <a:ext cx="1409033"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自然语言 Query 含有隐含</a:t>
            </a:r>
          </a:p>
        </p:txBody>
      </p:sp>
      <p:sp>
        <p:nvSpPr>
          <p:cNvPr id="17" name="TextBox 17"/>
          <p:cNvSpPr txBox="1"/>
          <p:nvPr/>
        </p:nvSpPr>
        <p:spPr>
          <a:xfrm>
            <a:off x="941070" y="4474845"/>
            <a:ext cx="1223010"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业务意图与工程约束。</a:t>
            </a:r>
          </a:p>
        </p:txBody>
      </p:sp>
      <p:sp>
        <p:nvSpPr>
          <p:cNvPr id="18" name="Rectangle 18"/>
          <p:cNvSpPr/>
          <p:nvPr/>
        </p:nvSpPr>
        <p:spPr>
          <a:xfrm>
            <a:off x="4238625" y="3848100"/>
            <a:ext cx="3238500" cy="1047750"/>
          </a:xfrm>
          <a:prstGeom prst="roundRect">
            <a:avLst>
              <a:gd name="adj" fmla="val 7273"/>
            </a:avLst>
          </a:prstGeom>
          <a:solidFill>
            <a:srgbClr val="E8EDF2"/>
          </a:solidFill>
          <a:ln>
            <a:noFill/>
          </a:ln>
        </p:spPr>
      </p:sp>
      <p:sp>
        <p:nvSpPr>
          <p:cNvPr id="19" name="Rectangle 19"/>
          <p:cNvSpPr/>
          <p:nvPr/>
        </p:nvSpPr>
        <p:spPr>
          <a:xfrm>
            <a:off x="4238625" y="3848100"/>
            <a:ext cx="38100" cy="1047750"/>
          </a:xfrm>
          <a:prstGeom prst="rect">
            <a:avLst/>
          </a:prstGeom>
          <a:solidFill>
            <a:srgbClr val="2E7E94"/>
          </a:solidFill>
          <a:ln>
            <a:noFill/>
          </a:ln>
        </p:spPr>
      </p:sp>
      <p:sp>
        <p:nvSpPr>
          <p:cNvPr id="20" name="TextBox 20"/>
          <p:cNvSpPr txBox="1"/>
          <p:nvPr/>
        </p:nvSpPr>
        <p:spPr>
          <a:xfrm>
            <a:off x="4415790" y="4020502"/>
            <a:ext cx="614744" cy="213360"/>
          </a:xfrm>
          <a:prstGeom prst="rect">
            <a:avLst/>
          </a:prstGeom>
          <a:noFill/>
          <a:ln>
            <a:noFill/>
          </a:ln>
        </p:spPr>
        <p:txBody>
          <a:bodyPr wrap="none" lIns="0" tIns="0" rIns="0" bIns="0" anchor="t" anchorCtr="0">
            <a:spAutoFit/>
          </a:bodyPr>
          <a:lstStyle/>
          <a:p>
            <a:pPr algn="l"/>
            <a:r>
              <a:rPr lang="zh-CN" sz="1050" b="1" dirty="0">
                <a:solidFill>
                  <a:srgbClr val="2E7E94"/>
                </a:solidFill>
                <a:latin typeface="Arial"/>
                <a:ea typeface="Microsoft YaHei"/>
                <a:cs typeface="Arial"/>
              </a:rPr>
              <a:t>执行可控</a:t>
            </a:r>
          </a:p>
        </p:txBody>
      </p:sp>
      <p:sp>
        <p:nvSpPr>
          <p:cNvPr id="21" name="TextBox 21"/>
          <p:cNvSpPr txBox="1"/>
          <p:nvPr/>
        </p:nvSpPr>
        <p:spPr>
          <a:xfrm>
            <a:off x="4417695" y="4284345"/>
            <a:ext cx="1102995"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高成本语义判断需要</a:t>
            </a:r>
          </a:p>
        </p:txBody>
      </p:sp>
      <p:sp>
        <p:nvSpPr>
          <p:cNvPr id="22" name="TextBox 22"/>
          <p:cNvSpPr txBox="1"/>
          <p:nvPr/>
        </p:nvSpPr>
        <p:spPr>
          <a:xfrm>
            <a:off x="4417695" y="4474845"/>
            <a:ext cx="1102995"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在小候选集上执行。</a:t>
            </a:r>
          </a:p>
        </p:txBody>
      </p:sp>
      <p:sp>
        <p:nvSpPr>
          <p:cNvPr id="23" name="Rectangle 23"/>
          <p:cNvSpPr/>
          <p:nvPr/>
        </p:nvSpPr>
        <p:spPr>
          <a:xfrm>
            <a:off x="7715250" y="3848100"/>
            <a:ext cx="3238500" cy="1047750"/>
          </a:xfrm>
          <a:prstGeom prst="roundRect">
            <a:avLst>
              <a:gd name="adj" fmla="val 7273"/>
            </a:avLst>
          </a:prstGeom>
          <a:solidFill>
            <a:srgbClr val="E8EDF2"/>
          </a:solidFill>
          <a:ln>
            <a:noFill/>
          </a:ln>
        </p:spPr>
      </p:sp>
      <p:sp>
        <p:nvSpPr>
          <p:cNvPr id="24" name="Rectangle 24"/>
          <p:cNvSpPr/>
          <p:nvPr/>
        </p:nvSpPr>
        <p:spPr>
          <a:xfrm>
            <a:off x="7715250" y="3848100"/>
            <a:ext cx="38100" cy="1047750"/>
          </a:xfrm>
          <a:prstGeom prst="rect">
            <a:avLst/>
          </a:prstGeom>
          <a:solidFill>
            <a:srgbClr val="2E7E94"/>
          </a:solidFill>
          <a:ln>
            <a:noFill/>
          </a:ln>
        </p:spPr>
      </p:sp>
      <p:sp>
        <p:nvSpPr>
          <p:cNvPr id="25" name="TextBox 25"/>
          <p:cNvSpPr txBox="1"/>
          <p:nvPr/>
        </p:nvSpPr>
        <p:spPr>
          <a:xfrm>
            <a:off x="7892415" y="4020502"/>
            <a:ext cx="761762" cy="213360"/>
          </a:xfrm>
          <a:prstGeom prst="rect">
            <a:avLst/>
          </a:prstGeom>
          <a:noFill/>
          <a:ln>
            <a:noFill/>
          </a:ln>
        </p:spPr>
        <p:txBody>
          <a:bodyPr wrap="none" lIns="0" tIns="0" rIns="0" bIns="0" anchor="t" anchorCtr="0">
            <a:spAutoFit/>
          </a:bodyPr>
          <a:lstStyle/>
          <a:p>
            <a:pPr algn="l"/>
            <a:r>
              <a:rPr lang="zh-CN" sz="1050" b="1" dirty="0">
                <a:solidFill>
                  <a:srgbClr val="2E7E94"/>
                </a:solidFill>
                <a:latin typeface="Arial"/>
                <a:ea typeface="Microsoft YaHei"/>
                <a:cs typeface="Arial"/>
              </a:rPr>
              <a:t>结果可解释</a:t>
            </a:r>
          </a:p>
        </p:txBody>
      </p:sp>
      <p:sp>
        <p:nvSpPr>
          <p:cNvPr id="26" name="TextBox 26"/>
          <p:cNvSpPr txBox="1"/>
          <p:nvPr/>
        </p:nvSpPr>
        <p:spPr>
          <a:xfrm>
            <a:off x="7894320" y="4284345"/>
            <a:ext cx="1349026"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Agent 需要知道命中原因</a:t>
            </a:r>
          </a:p>
        </p:txBody>
      </p:sp>
      <p:sp>
        <p:nvSpPr>
          <p:cNvPr id="27" name="TextBox 27"/>
          <p:cNvSpPr txBox="1"/>
          <p:nvPr/>
        </p:nvSpPr>
        <p:spPr>
          <a:xfrm>
            <a:off x="7894320" y="4474845"/>
            <a:ext cx="862965"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与相关上下文。</a:t>
            </a:r>
          </a:p>
        </p:txBody>
      </p:sp>
      <p:sp>
        <p:nvSpPr>
          <p:cNvPr id="28" name="TextBox 28"/>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81940"/>
            <a:ext cx="5426593"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研究动机：面向 Agent 的查询更接近数据库查询</a:t>
            </a:r>
          </a:p>
        </p:txBody>
      </p:sp>
      <p:sp>
        <p:nvSpPr>
          <p:cNvPr id="4" name="TextBox 4"/>
          <p:cNvSpPr txBox="1"/>
          <p:nvPr/>
        </p:nvSpPr>
        <p:spPr>
          <a:xfrm>
            <a:off x="747712" y="659606"/>
            <a:ext cx="2076331" cy="228600"/>
          </a:xfrm>
          <a:prstGeom prst="rect">
            <a:avLst/>
          </a:prstGeom>
          <a:noFill/>
          <a:ln>
            <a:noFill/>
          </a:ln>
        </p:spPr>
        <p:txBody>
          <a:bodyPr wrap="none" lIns="0" tIns="0" rIns="0" bIns="0" anchor="t" anchorCtr="0">
            <a:spAutoFit/>
          </a:bodyPr>
          <a:lstStyle/>
          <a:p>
            <a:pPr algn="l"/>
            <a:r>
              <a:rPr lang="zh-CN" sz="1125" b="1" dirty="0">
                <a:solidFill>
                  <a:srgbClr val="223A48"/>
                </a:solidFill>
                <a:latin typeface="Arial"/>
                <a:ea typeface="Microsoft YaHei"/>
                <a:cs typeface="Arial"/>
              </a:rPr>
              <a:t>本研究将自然语言检索请求从</a:t>
            </a:r>
          </a:p>
        </p:txBody>
      </p:sp>
      <p:sp>
        <p:nvSpPr>
          <p:cNvPr id="5" name="TextBox 5"/>
          <p:cNvSpPr txBox="1"/>
          <p:nvPr/>
        </p:nvSpPr>
        <p:spPr>
          <a:xfrm>
            <a:off x="5510212" y="659606"/>
            <a:ext cx="4155591" cy="228600"/>
          </a:xfrm>
          <a:prstGeom prst="rect">
            <a:avLst/>
          </a:prstGeom>
          <a:noFill/>
          <a:ln>
            <a:noFill/>
          </a:ln>
        </p:spPr>
        <p:txBody>
          <a:bodyPr wrap="none" lIns="0" tIns="0" rIns="0" bIns="0" anchor="t" anchorCtr="0">
            <a:spAutoFit/>
          </a:bodyPr>
          <a:lstStyle/>
          <a:p>
            <a:pPr algn="l"/>
            <a:r>
              <a:rPr lang="zh-CN" sz="1125" b="1" dirty="0">
                <a:solidFill>
                  <a:srgbClr val="223A48"/>
                </a:solidFill>
                <a:latin typeface="Arial"/>
                <a:ea typeface="Microsoft YaHei"/>
                <a:cs typeface="Arial"/>
              </a:rPr>
              <a:t>"相似度排序问题"重新建模为"条件化查询计划执行问题"。</a:t>
            </a:r>
          </a:p>
        </p:txBody>
      </p:sp>
      <p:sp>
        <p:nvSpPr>
          <p:cNvPr id="6" name="Rectangle 6"/>
          <p:cNvSpPr/>
          <p:nvPr/>
        </p:nvSpPr>
        <p:spPr>
          <a:xfrm>
            <a:off x="762000" y="1047750"/>
            <a:ext cx="10668000" cy="342900"/>
          </a:xfrm>
          <a:prstGeom prst="roundRect">
            <a:avLst>
              <a:gd name="adj" fmla="val 11111"/>
            </a:avLst>
          </a:prstGeom>
          <a:solidFill>
            <a:srgbClr val="2E7E94"/>
          </a:solidFill>
          <a:ln>
            <a:noFill/>
          </a:ln>
        </p:spPr>
      </p:sp>
      <p:sp>
        <p:nvSpPr>
          <p:cNvPr id="7" name="TextBox 7"/>
          <p:cNvSpPr txBox="1"/>
          <p:nvPr/>
        </p:nvSpPr>
        <p:spPr>
          <a:xfrm>
            <a:off x="1619583" y="1180624"/>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能力需求</a:t>
            </a:r>
          </a:p>
        </p:txBody>
      </p:sp>
      <p:sp>
        <p:nvSpPr>
          <p:cNvPr id="8" name="TextBox 8"/>
          <p:cNvSpPr txBox="1"/>
          <p:nvPr/>
        </p:nvSpPr>
        <p:spPr>
          <a:xfrm>
            <a:off x="4667583" y="1180624"/>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传统搜索</a:t>
            </a:r>
          </a:p>
        </p:txBody>
      </p:sp>
      <p:sp>
        <p:nvSpPr>
          <p:cNvPr id="9" name="TextBox 9"/>
          <p:cNvSpPr txBox="1"/>
          <p:nvPr/>
        </p:nvSpPr>
        <p:spPr>
          <a:xfrm>
            <a:off x="8055004" y="1180624"/>
            <a:ext cx="103499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SemQL 2.0 目标</a:t>
            </a:r>
          </a:p>
        </p:txBody>
      </p:sp>
      <p:sp>
        <p:nvSpPr>
          <p:cNvPr id="10" name="Rectangle 10"/>
          <p:cNvSpPr/>
          <p:nvPr/>
        </p:nvSpPr>
        <p:spPr>
          <a:xfrm>
            <a:off x="762000" y="1428750"/>
            <a:ext cx="10668000" cy="419100"/>
          </a:xfrm>
          <a:prstGeom prst="rect">
            <a:avLst/>
          </a:prstGeom>
          <a:solidFill>
            <a:srgbClr val="FFFFFF"/>
          </a:solidFill>
          <a:ln w="9525">
            <a:solidFill>
              <a:srgbClr val="D0D8E0"/>
            </a:solidFill>
          </a:ln>
        </p:spPr>
      </p:sp>
      <p:sp>
        <p:nvSpPr>
          <p:cNvPr id="11" name="TextBox 11"/>
          <p:cNvSpPr txBox="1"/>
          <p:nvPr/>
        </p:nvSpPr>
        <p:spPr>
          <a:xfrm>
            <a:off x="1515523" y="1598295"/>
            <a:ext cx="778955"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复杂意图表达</a:t>
            </a:r>
          </a:p>
        </p:txBody>
      </p:sp>
      <p:sp>
        <p:nvSpPr>
          <p:cNvPr id="12" name="TextBox 12"/>
          <p:cNvSpPr txBox="1"/>
          <p:nvPr/>
        </p:nvSpPr>
        <p:spPr>
          <a:xfrm>
            <a:off x="4401502" y="1598295"/>
            <a:ext cx="1102995"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关键词或向量相似度</a:t>
            </a:r>
          </a:p>
        </p:txBody>
      </p:sp>
      <p:sp>
        <p:nvSpPr>
          <p:cNvPr id="13" name="TextBox 13"/>
          <p:cNvSpPr txBox="1"/>
          <p:nvPr/>
        </p:nvSpPr>
        <p:spPr>
          <a:xfrm>
            <a:off x="7432929" y="1598295"/>
            <a:ext cx="2279142"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Surface / Relation / Intention 条件组合</a:t>
            </a:r>
          </a:p>
        </p:txBody>
      </p:sp>
      <p:sp>
        <p:nvSpPr>
          <p:cNvPr id="14" name="Rectangle 14"/>
          <p:cNvSpPr/>
          <p:nvPr/>
        </p:nvSpPr>
        <p:spPr>
          <a:xfrm>
            <a:off x="762000" y="1885950"/>
            <a:ext cx="10668000" cy="419100"/>
          </a:xfrm>
          <a:prstGeom prst="rect">
            <a:avLst/>
          </a:prstGeom>
          <a:solidFill>
            <a:srgbClr val="FFFFFF"/>
          </a:solidFill>
          <a:ln w="9525">
            <a:solidFill>
              <a:srgbClr val="D0D8E0"/>
            </a:solidFill>
          </a:ln>
        </p:spPr>
      </p:sp>
      <p:sp>
        <p:nvSpPr>
          <p:cNvPr id="15" name="TextBox 15"/>
          <p:cNvSpPr txBox="1"/>
          <p:nvPr/>
        </p:nvSpPr>
        <p:spPr>
          <a:xfrm>
            <a:off x="1452515" y="2055495"/>
            <a:ext cx="904970"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硬性约束与排除</a:t>
            </a:r>
          </a:p>
        </p:txBody>
      </p:sp>
      <p:sp>
        <p:nvSpPr>
          <p:cNvPr id="16" name="TextBox 16"/>
          <p:cNvSpPr txBox="1"/>
          <p:nvPr/>
        </p:nvSpPr>
        <p:spPr>
          <a:xfrm>
            <a:off x="4581525" y="2055495"/>
            <a:ext cx="742950"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依赖人工筛选</a:t>
            </a:r>
          </a:p>
        </p:txBody>
      </p:sp>
      <p:sp>
        <p:nvSpPr>
          <p:cNvPr id="17" name="TextBox 17"/>
          <p:cNvSpPr txBox="1"/>
          <p:nvPr/>
        </p:nvSpPr>
        <p:spPr>
          <a:xfrm>
            <a:off x="7558945" y="2055495"/>
            <a:ext cx="2027110"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include / exclude 与 NOT-Pushdown</a:t>
            </a:r>
          </a:p>
        </p:txBody>
      </p:sp>
      <p:sp>
        <p:nvSpPr>
          <p:cNvPr id="18" name="Rectangle 18"/>
          <p:cNvSpPr/>
          <p:nvPr/>
        </p:nvSpPr>
        <p:spPr>
          <a:xfrm>
            <a:off x="762000" y="2343150"/>
            <a:ext cx="10668000" cy="419100"/>
          </a:xfrm>
          <a:prstGeom prst="rect">
            <a:avLst/>
          </a:prstGeom>
          <a:solidFill>
            <a:srgbClr val="FFFFFF"/>
          </a:solidFill>
          <a:ln w="9525">
            <a:solidFill>
              <a:srgbClr val="D0D8E0"/>
            </a:solidFill>
          </a:ln>
        </p:spPr>
      </p:sp>
      <p:sp>
        <p:nvSpPr>
          <p:cNvPr id="19" name="TextBox 19"/>
          <p:cNvSpPr txBox="1"/>
          <p:nvPr/>
        </p:nvSpPr>
        <p:spPr>
          <a:xfrm>
            <a:off x="1515523" y="2512695"/>
            <a:ext cx="778955"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执行成本控制</a:t>
            </a:r>
          </a:p>
        </p:txBody>
      </p:sp>
      <p:sp>
        <p:nvSpPr>
          <p:cNvPr id="20" name="TextBox 20"/>
          <p:cNvSpPr txBox="1"/>
          <p:nvPr/>
        </p:nvSpPr>
        <p:spPr>
          <a:xfrm>
            <a:off x="4341495" y="2512695"/>
            <a:ext cx="1223010"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固定流程或逐候选判断</a:t>
            </a:r>
          </a:p>
        </p:txBody>
      </p:sp>
      <p:sp>
        <p:nvSpPr>
          <p:cNvPr id="21" name="TextBox 21"/>
          <p:cNvSpPr txBox="1"/>
          <p:nvPr/>
        </p:nvSpPr>
        <p:spPr>
          <a:xfrm>
            <a:off x="7771971" y="2512695"/>
            <a:ext cx="1601057"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RBO + CBO 自动规划执行顺序</a:t>
            </a:r>
          </a:p>
        </p:txBody>
      </p:sp>
      <p:sp>
        <p:nvSpPr>
          <p:cNvPr id="22" name="Rectangle 22"/>
          <p:cNvSpPr/>
          <p:nvPr/>
        </p:nvSpPr>
        <p:spPr>
          <a:xfrm>
            <a:off x="762000" y="2800350"/>
            <a:ext cx="10668000" cy="419100"/>
          </a:xfrm>
          <a:prstGeom prst="rect">
            <a:avLst/>
          </a:prstGeom>
          <a:solidFill>
            <a:srgbClr val="FFFFFF"/>
          </a:solidFill>
          <a:ln w="9525">
            <a:solidFill>
              <a:srgbClr val="D0D8E0"/>
            </a:solidFill>
          </a:ln>
        </p:spPr>
      </p:sp>
      <p:sp>
        <p:nvSpPr>
          <p:cNvPr id="23" name="TextBox 23"/>
          <p:cNvSpPr txBox="1"/>
          <p:nvPr/>
        </p:nvSpPr>
        <p:spPr>
          <a:xfrm>
            <a:off x="1578531" y="2969895"/>
            <a:ext cx="652939"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上下文组织</a:t>
            </a:r>
          </a:p>
        </p:txBody>
      </p:sp>
      <p:sp>
        <p:nvSpPr>
          <p:cNvPr id="24" name="TextBox 24"/>
          <p:cNvSpPr txBox="1"/>
          <p:nvPr/>
        </p:nvSpPr>
        <p:spPr>
          <a:xfrm>
            <a:off x="4521518" y="2969895"/>
            <a:ext cx="862965"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单元素独立返回</a:t>
            </a:r>
          </a:p>
        </p:txBody>
      </p:sp>
      <p:sp>
        <p:nvSpPr>
          <p:cNvPr id="25" name="TextBox 25"/>
          <p:cNvSpPr txBox="1"/>
          <p:nvPr/>
        </p:nvSpPr>
        <p:spPr>
          <a:xfrm>
            <a:off x="7810976" y="2969895"/>
            <a:ext cx="1523048"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Context Bundle 与协同重排</a:t>
            </a:r>
          </a:p>
        </p:txBody>
      </p:sp>
      <p:sp>
        <p:nvSpPr>
          <p:cNvPr id="26" name="Rectangle 26"/>
          <p:cNvSpPr/>
          <p:nvPr/>
        </p:nvSpPr>
        <p:spPr>
          <a:xfrm>
            <a:off x="762000" y="3429000"/>
            <a:ext cx="10668000" cy="381000"/>
          </a:xfrm>
          <a:prstGeom prst="roundRect">
            <a:avLst>
              <a:gd name="adj" fmla="val 15000"/>
            </a:avLst>
          </a:prstGeom>
          <a:solidFill>
            <a:srgbClr val="E8EDF2"/>
          </a:solidFill>
          <a:ln>
            <a:noFill/>
          </a:ln>
        </p:spPr>
      </p:sp>
      <p:sp>
        <p:nvSpPr>
          <p:cNvPr id="27" name="TextBox 27"/>
          <p:cNvSpPr txBox="1"/>
          <p:nvPr/>
        </p:nvSpPr>
        <p:spPr>
          <a:xfrm>
            <a:off x="2677517" y="3571399"/>
            <a:ext cx="6836966" cy="198120"/>
          </a:xfrm>
          <a:prstGeom prst="rect">
            <a:avLst/>
          </a:prstGeom>
          <a:noFill/>
          <a:ln>
            <a:noFill/>
          </a:ln>
        </p:spPr>
        <p:txBody>
          <a:bodyPr wrap="none" lIns="0" tIns="0" rIns="0" bIns="0" anchor="t" anchorCtr="0">
            <a:spAutoFit/>
          </a:bodyPr>
          <a:lstStyle/>
          <a:p>
            <a:pPr algn="ctr"/>
            <a:r>
              <a:rPr lang="zh-CN" sz="975" b="1" dirty="0">
                <a:solidFill>
                  <a:srgbClr val="2E7E94"/>
                </a:solidFill>
                <a:latin typeface="Arial"/>
                <a:ea typeface="Microsoft YaHei"/>
                <a:cs typeface="Arial"/>
              </a:rPr>
              <a:t>研究判断：只有把 Query 编译为可优化、可执行、可解释的结构化计划，才能支撑大型代码库中的 Agent 检索。</a:t>
            </a:r>
          </a:p>
        </p:txBody>
      </p:sp>
      <p:sp>
        <p:nvSpPr>
          <p:cNvPr id="28" name="TextBox 28"/>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Rectangle 3"/>
          <p:cNvSpPr/>
          <p:nvPr/>
        </p:nvSpPr>
        <p:spPr>
          <a:xfrm>
            <a:off x="0" y="0"/>
            <a:ext cx="12192000" cy="2667000"/>
          </a:xfrm>
          <a:prstGeom prst="rect">
            <a:avLst/>
          </a:prstGeom>
          <a:solidFill>
            <a:srgbClr val="223A48"/>
          </a:solidFill>
          <a:ln>
            <a:noFill/>
          </a:ln>
        </p:spPr>
      </p:sp>
      <p:sp>
        <p:nvSpPr>
          <p:cNvPr id="4" name="TextBox 4"/>
          <p:cNvSpPr txBox="1"/>
          <p:nvPr/>
        </p:nvSpPr>
        <p:spPr>
          <a:xfrm>
            <a:off x="708660" y="1165860"/>
            <a:ext cx="430120" cy="853440"/>
          </a:xfrm>
          <a:prstGeom prst="rect">
            <a:avLst/>
          </a:prstGeom>
          <a:noFill/>
          <a:ln>
            <a:noFill/>
          </a:ln>
        </p:spPr>
        <p:txBody>
          <a:bodyPr wrap="none" lIns="0" tIns="0" rIns="0" bIns="0" anchor="t" anchorCtr="0">
            <a:spAutoFit/>
          </a:bodyPr>
          <a:lstStyle/>
          <a:p>
            <a:pPr algn="l"/>
            <a:r>
              <a:rPr lang="zh-CN" sz="4200" b="1" dirty="0">
                <a:solidFill>
                  <a:srgbClr val="2E7E94"/>
                </a:solidFill>
                <a:latin typeface="Arial"/>
                <a:ea typeface="Microsoft YaHei"/>
                <a:cs typeface="Arial"/>
              </a:rPr>
              <a:t>2</a:t>
            </a:r>
          </a:p>
        </p:txBody>
      </p:sp>
      <p:sp>
        <p:nvSpPr>
          <p:cNvPr id="5" name="TextBox 5"/>
          <p:cNvSpPr txBox="1"/>
          <p:nvPr/>
        </p:nvSpPr>
        <p:spPr>
          <a:xfrm>
            <a:off x="1495425" y="1376362"/>
            <a:ext cx="2892504"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研究目标与总体方案</a:t>
            </a:r>
          </a:p>
        </p:txBody>
      </p:sp>
      <p:sp>
        <p:nvSpPr>
          <p:cNvPr id="6" name="Rectangle 6"/>
          <p:cNvSpPr/>
          <p:nvPr/>
        </p:nvSpPr>
        <p:spPr>
          <a:xfrm>
            <a:off x="952500" y="3429000"/>
            <a:ext cx="38100" cy="1714500"/>
          </a:xfrm>
          <a:prstGeom prst="roundRect">
            <a:avLst>
              <a:gd name="adj" fmla="val 50000"/>
            </a:avLst>
          </a:prstGeom>
          <a:solidFill>
            <a:srgbClr val="2E7E94"/>
          </a:solidFill>
          <a:ln>
            <a:noFill/>
          </a:ln>
        </p:spPr>
      </p:sp>
      <p:sp>
        <p:nvSpPr>
          <p:cNvPr id="7" name="TextBox 7"/>
          <p:cNvSpPr txBox="1"/>
          <p:nvPr/>
        </p:nvSpPr>
        <p:spPr>
          <a:xfrm>
            <a:off x="1234440" y="3901440"/>
            <a:ext cx="4126230" cy="365760"/>
          </a:xfrm>
          <a:prstGeom prst="rect">
            <a:avLst/>
          </a:prstGeom>
          <a:noFill/>
          <a:ln>
            <a:noFill/>
          </a:ln>
        </p:spPr>
        <p:txBody>
          <a:bodyPr wrap="none" lIns="0" tIns="0" rIns="0" bIns="0" anchor="t" anchorCtr="0">
            <a:spAutoFit/>
          </a:bodyPr>
          <a:lstStyle/>
          <a:p>
            <a:pPr algn="l"/>
            <a:r>
              <a:rPr lang="zh-CN" sz="1800" dirty="0">
                <a:solidFill>
                  <a:srgbClr val="223A48"/>
                </a:solidFill>
                <a:latin typeface="Arial"/>
                <a:ea typeface="Microsoft YaHei"/>
                <a:cs typeface="Arial"/>
              </a:rPr>
              <a:t>构建条件化查询语言与可优化执行引擎</a:t>
            </a:r>
          </a:p>
        </p:txBody>
      </p:sp>
      <p:sp>
        <p:nvSpPr>
          <p:cNvPr id="8" name="TextBox 8"/>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image">
                                      <p:cBhvr>
                                        <p:cTn id="7" dur="400"/>
                                        <p:tgtEl>
                                          <p:spTgt spid="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400"/>
                                        <p:tgtEl>
                                          <p:spTgt spid="3"/>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400"/>
                                        <p:tgtEl>
                                          <p:spTgt spid="4"/>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slide(fromBottom)">
                                      <p:cBhvr>
                                        <p:cTn id="19" dur="400"/>
                                        <p:tgtEl>
                                          <p:spTgt spid="5"/>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image">
                                      <p:cBhvr>
                                        <p:cTn id="23" dur="400"/>
                                        <p:tgtEl>
                                          <p:spTgt spid="6"/>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par>
                          <p:cTn id="28" fill="hold">
                            <p:stCondLst>
                              <p:cond delay="5400"/>
                            </p:stCondLst>
                            <p:childTnLst>
                              <p:par>
                                <p:cTn id="29" presetID="22" presetClass="entr" presetSubtype="1"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left)">
                                      <p:cBhvr>
                                        <p:cTn id="3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81940"/>
            <a:ext cx="4683100"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研究内容与目标：SemQL 2.0 的四项能力</a:t>
            </a:r>
          </a:p>
        </p:txBody>
      </p:sp>
      <p:sp>
        <p:nvSpPr>
          <p:cNvPr id="4" name="TextBox 4"/>
          <p:cNvSpPr txBox="1"/>
          <p:nvPr/>
        </p:nvSpPr>
        <p:spPr>
          <a:xfrm>
            <a:off x="748189" y="625554"/>
            <a:ext cx="7572553" cy="220980"/>
          </a:xfrm>
          <a:prstGeom prst="rect">
            <a:avLst/>
          </a:prstGeom>
          <a:noFill/>
          <a:ln>
            <a:noFill/>
          </a:ln>
        </p:spPr>
        <p:txBody>
          <a:bodyPr wrap="none" lIns="0" tIns="0" rIns="0" bIns="0" anchor="t" anchorCtr="0">
            <a:spAutoFit/>
          </a:bodyPr>
          <a:lstStyle/>
          <a:p>
            <a:pPr algn="l"/>
            <a:r>
              <a:rPr lang="zh-CN" sz="1088" b="1" dirty="0">
                <a:solidFill>
                  <a:srgbClr val="223A48"/>
                </a:solidFill>
                <a:latin typeface="Arial"/>
                <a:ea typeface="Microsoft YaHei"/>
                <a:cs typeface="Arial"/>
              </a:rPr>
              <a:t>设计并实现面向代码智能体的高级查询语言与执行引擎，使自然语言 Query 能够被结构化、优化、执行并解释。</a:t>
            </a:r>
          </a:p>
        </p:txBody>
      </p:sp>
      <p:sp>
        <p:nvSpPr>
          <p:cNvPr id="5" name="Rectangle 5"/>
          <p:cNvSpPr/>
          <p:nvPr/>
        </p:nvSpPr>
        <p:spPr>
          <a:xfrm>
            <a:off x="762000" y="1047750"/>
            <a:ext cx="2571750" cy="2286000"/>
          </a:xfrm>
          <a:prstGeom prst="roundRect">
            <a:avLst>
              <a:gd name="adj" fmla="val 3333"/>
            </a:avLst>
          </a:prstGeom>
          <a:solidFill>
            <a:srgbClr val="FFFFFF"/>
          </a:solidFill>
          <a:ln w="9525">
            <a:solidFill>
              <a:srgbClr val="D0D8E0"/>
            </a:solidFill>
          </a:ln>
        </p:spPr>
      </p:sp>
      <p:sp>
        <p:nvSpPr>
          <p:cNvPr id="6" name="Rectangle 6"/>
          <p:cNvSpPr/>
          <p:nvPr/>
        </p:nvSpPr>
        <p:spPr>
          <a:xfrm>
            <a:off x="762000" y="1047750"/>
            <a:ext cx="2571750" cy="57150"/>
          </a:xfrm>
          <a:prstGeom prst="rect">
            <a:avLst/>
          </a:prstGeom>
          <a:solidFill>
            <a:srgbClr val="2E7E94"/>
          </a:solidFill>
          <a:ln>
            <a:noFill/>
          </a:ln>
        </p:spPr>
      </p:sp>
      <p:sp>
        <p:nvSpPr>
          <p:cNvPr id="7" name="TextBox 7"/>
          <p:cNvSpPr txBox="1"/>
          <p:nvPr/>
        </p:nvSpPr>
        <p:spPr>
          <a:xfrm>
            <a:off x="1696593" y="1299210"/>
            <a:ext cx="702564" cy="243840"/>
          </a:xfrm>
          <a:prstGeom prst="rect">
            <a:avLst/>
          </a:prstGeom>
          <a:noFill/>
          <a:ln>
            <a:noFill/>
          </a:ln>
        </p:spPr>
        <p:txBody>
          <a:bodyPr wrap="none" lIns="0" tIns="0" rIns="0" bIns="0" anchor="t" anchorCtr="0">
            <a:spAutoFit/>
          </a:bodyPr>
          <a:lstStyle/>
          <a:p>
            <a:pPr algn="ctr"/>
            <a:r>
              <a:rPr lang="zh-CN" sz="1200" b="1" dirty="0">
                <a:solidFill>
                  <a:srgbClr val="2E7E94"/>
                </a:solidFill>
                <a:latin typeface="Arial"/>
                <a:ea typeface="Microsoft YaHei"/>
                <a:cs typeface="Arial"/>
              </a:rPr>
              <a:t>可组合性</a:t>
            </a:r>
          </a:p>
        </p:txBody>
      </p:sp>
      <p:sp>
        <p:nvSpPr>
          <p:cNvPr id="8" name="TextBox 8"/>
          <p:cNvSpPr txBox="1"/>
          <p:nvPr/>
        </p:nvSpPr>
        <p:spPr>
          <a:xfrm>
            <a:off x="940118" y="1704499"/>
            <a:ext cx="1591461"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支持 Surface、Relation、</a:t>
            </a:r>
          </a:p>
        </p:txBody>
      </p:sp>
      <p:sp>
        <p:nvSpPr>
          <p:cNvPr id="9" name="TextBox 9"/>
          <p:cNvSpPr txBox="1"/>
          <p:nvPr/>
        </p:nvSpPr>
        <p:spPr>
          <a:xfrm>
            <a:off x="940118" y="1952149"/>
            <a:ext cx="1422440"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Intention 等多类型条件</a:t>
            </a:r>
          </a:p>
        </p:txBody>
      </p:sp>
      <p:sp>
        <p:nvSpPr>
          <p:cNvPr id="10" name="TextBox 10"/>
          <p:cNvSpPr txBox="1"/>
          <p:nvPr/>
        </p:nvSpPr>
        <p:spPr>
          <a:xfrm>
            <a:off x="940118" y="2199799"/>
            <a:ext cx="1194911"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通过布尔逻辑组合，</a:t>
            </a:r>
          </a:p>
        </p:txBody>
      </p:sp>
      <p:sp>
        <p:nvSpPr>
          <p:cNvPr id="11" name="TextBox 11"/>
          <p:cNvSpPr txBox="1"/>
          <p:nvPr/>
        </p:nvSpPr>
        <p:spPr>
          <a:xfrm>
            <a:off x="940118" y="2447449"/>
            <a:ext cx="1194911"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表达复杂检索意图。</a:t>
            </a:r>
          </a:p>
        </p:txBody>
      </p:sp>
      <p:sp>
        <p:nvSpPr>
          <p:cNvPr id="12" name="Rectangle 12"/>
          <p:cNvSpPr/>
          <p:nvPr/>
        </p:nvSpPr>
        <p:spPr>
          <a:xfrm>
            <a:off x="3571875" y="1047750"/>
            <a:ext cx="2571750" cy="2286000"/>
          </a:xfrm>
          <a:prstGeom prst="roundRect">
            <a:avLst>
              <a:gd name="adj" fmla="val 3333"/>
            </a:avLst>
          </a:prstGeom>
          <a:solidFill>
            <a:srgbClr val="FFFFFF"/>
          </a:solidFill>
          <a:ln w="9525">
            <a:solidFill>
              <a:srgbClr val="D0D8E0"/>
            </a:solidFill>
          </a:ln>
        </p:spPr>
      </p:sp>
      <p:sp>
        <p:nvSpPr>
          <p:cNvPr id="13" name="Rectangle 13"/>
          <p:cNvSpPr/>
          <p:nvPr/>
        </p:nvSpPr>
        <p:spPr>
          <a:xfrm>
            <a:off x="3571875" y="1047750"/>
            <a:ext cx="2571750" cy="57150"/>
          </a:xfrm>
          <a:prstGeom prst="rect">
            <a:avLst/>
          </a:prstGeom>
          <a:solidFill>
            <a:srgbClr val="2E7E94"/>
          </a:solidFill>
          <a:ln>
            <a:noFill/>
          </a:ln>
        </p:spPr>
      </p:sp>
      <p:sp>
        <p:nvSpPr>
          <p:cNvPr id="14" name="TextBox 14"/>
          <p:cNvSpPr txBox="1"/>
          <p:nvPr/>
        </p:nvSpPr>
        <p:spPr>
          <a:xfrm>
            <a:off x="4506468" y="1299210"/>
            <a:ext cx="702564" cy="243840"/>
          </a:xfrm>
          <a:prstGeom prst="rect">
            <a:avLst/>
          </a:prstGeom>
          <a:noFill/>
          <a:ln>
            <a:noFill/>
          </a:ln>
        </p:spPr>
        <p:txBody>
          <a:bodyPr wrap="none" lIns="0" tIns="0" rIns="0" bIns="0" anchor="t" anchorCtr="0">
            <a:spAutoFit/>
          </a:bodyPr>
          <a:lstStyle/>
          <a:p>
            <a:pPr algn="ctr"/>
            <a:r>
              <a:rPr lang="zh-CN" sz="1200" b="1" dirty="0">
                <a:solidFill>
                  <a:srgbClr val="2E7E94"/>
                </a:solidFill>
                <a:latin typeface="Arial"/>
                <a:ea typeface="Microsoft YaHei"/>
                <a:cs typeface="Arial"/>
              </a:rPr>
              <a:t>可优化性</a:t>
            </a:r>
          </a:p>
        </p:txBody>
      </p:sp>
      <p:sp>
        <p:nvSpPr>
          <p:cNvPr id="15" name="TextBox 15"/>
          <p:cNvSpPr txBox="1"/>
          <p:nvPr/>
        </p:nvSpPr>
        <p:spPr>
          <a:xfrm>
            <a:off x="3749992" y="1704499"/>
            <a:ext cx="1584960"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引入规则优化与代价优化，</a:t>
            </a:r>
          </a:p>
        </p:txBody>
      </p:sp>
      <p:sp>
        <p:nvSpPr>
          <p:cNvPr id="16" name="TextBox 16"/>
          <p:cNvSpPr txBox="1"/>
          <p:nvPr/>
        </p:nvSpPr>
        <p:spPr>
          <a:xfrm>
            <a:off x="3749992" y="1952149"/>
            <a:ext cx="1454944"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在候选集规模和语义判断</a:t>
            </a:r>
          </a:p>
        </p:txBody>
      </p:sp>
      <p:sp>
        <p:nvSpPr>
          <p:cNvPr id="17" name="TextBox 17"/>
          <p:cNvSpPr txBox="1"/>
          <p:nvPr/>
        </p:nvSpPr>
        <p:spPr>
          <a:xfrm>
            <a:off x="3749992" y="2199799"/>
            <a:ext cx="1194911"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成本之间取得平衡。</a:t>
            </a:r>
          </a:p>
        </p:txBody>
      </p:sp>
      <p:sp>
        <p:nvSpPr>
          <p:cNvPr id="18" name="Rectangle 18"/>
          <p:cNvSpPr/>
          <p:nvPr/>
        </p:nvSpPr>
        <p:spPr>
          <a:xfrm>
            <a:off x="6381750" y="1047750"/>
            <a:ext cx="2571750" cy="2286000"/>
          </a:xfrm>
          <a:prstGeom prst="roundRect">
            <a:avLst>
              <a:gd name="adj" fmla="val 3333"/>
            </a:avLst>
          </a:prstGeom>
          <a:solidFill>
            <a:srgbClr val="FFFFFF"/>
          </a:solidFill>
          <a:ln w="9525">
            <a:solidFill>
              <a:srgbClr val="D0D8E0"/>
            </a:solidFill>
          </a:ln>
        </p:spPr>
      </p:sp>
      <p:sp>
        <p:nvSpPr>
          <p:cNvPr id="19" name="Rectangle 19"/>
          <p:cNvSpPr/>
          <p:nvPr/>
        </p:nvSpPr>
        <p:spPr>
          <a:xfrm>
            <a:off x="6381750" y="1047750"/>
            <a:ext cx="2571750" cy="57150"/>
          </a:xfrm>
          <a:prstGeom prst="rect">
            <a:avLst/>
          </a:prstGeom>
          <a:solidFill>
            <a:srgbClr val="2E7E94"/>
          </a:solidFill>
          <a:ln>
            <a:noFill/>
          </a:ln>
        </p:spPr>
      </p:sp>
      <p:sp>
        <p:nvSpPr>
          <p:cNvPr id="20" name="TextBox 20"/>
          <p:cNvSpPr txBox="1"/>
          <p:nvPr/>
        </p:nvSpPr>
        <p:spPr>
          <a:xfrm>
            <a:off x="7316343" y="1299210"/>
            <a:ext cx="702564" cy="243840"/>
          </a:xfrm>
          <a:prstGeom prst="rect">
            <a:avLst/>
          </a:prstGeom>
          <a:noFill/>
          <a:ln>
            <a:noFill/>
          </a:ln>
        </p:spPr>
        <p:txBody>
          <a:bodyPr wrap="none" lIns="0" tIns="0" rIns="0" bIns="0" anchor="t" anchorCtr="0">
            <a:spAutoFit/>
          </a:bodyPr>
          <a:lstStyle/>
          <a:p>
            <a:pPr algn="ctr"/>
            <a:r>
              <a:rPr lang="zh-CN" sz="1200" b="1" dirty="0">
                <a:solidFill>
                  <a:srgbClr val="2E7E94"/>
                </a:solidFill>
                <a:latin typeface="Arial"/>
                <a:ea typeface="Microsoft YaHei"/>
                <a:cs typeface="Arial"/>
              </a:rPr>
              <a:t>可解释性</a:t>
            </a:r>
          </a:p>
        </p:txBody>
      </p:sp>
      <p:sp>
        <p:nvSpPr>
          <p:cNvPr id="21" name="TextBox 21"/>
          <p:cNvSpPr txBox="1"/>
          <p:nvPr/>
        </p:nvSpPr>
        <p:spPr>
          <a:xfrm>
            <a:off x="6559868" y="1704499"/>
            <a:ext cx="1454944"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每个匹配结果携带词法、</a:t>
            </a:r>
          </a:p>
        </p:txBody>
      </p:sp>
      <p:sp>
        <p:nvSpPr>
          <p:cNvPr id="22" name="TextBox 22"/>
          <p:cNvSpPr txBox="1"/>
          <p:nvPr/>
        </p:nvSpPr>
        <p:spPr>
          <a:xfrm>
            <a:off x="6559868" y="1952149"/>
            <a:ext cx="1454944"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结构、语义等多维证据，</a:t>
            </a:r>
          </a:p>
        </p:txBody>
      </p:sp>
      <p:sp>
        <p:nvSpPr>
          <p:cNvPr id="23" name="TextBox 23"/>
          <p:cNvSpPr txBox="1"/>
          <p:nvPr/>
        </p:nvSpPr>
        <p:spPr>
          <a:xfrm>
            <a:off x="6559868" y="2199799"/>
            <a:ext cx="1370433"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便于 Agent 继续推理。</a:t>
            </a:r>
          </a:p>
        </p:txBody>
      </p:sp>
      <p:sp>
        <p:nvSpPr>
          <p:cNvPr id="24" name="Rectangle 24"/>
          <p:cNvSpPr/>
          <p:nvPr/>
        </p:nvSpPr>
        <p:spPr>
          <a:xfrm>
            <a:off x="762000" y="3524250"/>
            <a:ext cx="2571750" cy="2286000"/>
          </a:xfrm>
          <a:prstGeom prst="roundRect">
            <a:avLst>
              <a:gd name="adj" fmla="val 3333"/>
            </a:avLst>
          </a:prstGeom>
          <a:solidFill>
            <a:srgbClr val="FFFFFF"/>
          </a:solidFill>
          <a:ln w="9525">
            <a:solidFill>
              <a:srgbClr val="D0D8E0"/>
            </a:solidFill>
          </a:ln>
        </p:spPr>
      </p:sp>
      <p:sp>
        <p:nvSpPr>
          <p:cNvPr id="25" name="Rectangle 25"/>
          <p:cNvSpPr/>
          <p:nvPr/>
        </p:nvSpPr>
        <p:spPr>
          <a:xfrm>
            <a:off x="762000" y="3524250"/>
            <a:ext cx="2571750" cy="57150"/>
          </a:xfrm>
          <a:prstGeom prst="rect">
            <a:avLst/>
          </a:prstGeom>
          <a:solidFill>
            <a:srgbClr val="2E7E94"/>
          </a:solidFill>
          <a:ln>
            <a:noFill/>
          </a:ln>
        </p:spPr>
      </p:sp>
      <p:sp>
        <p:nvSpPr>
          <p:cNvPr id="26" name="TextBox 26"/>
          <p:cNvSpPr txBox="1"/>
          <p:nvPr/>
        </p:nvSpPr>
        <p:spPr>
          <a:xfrm>
            <a:off x="1612582" y="3775710"/>
            <a:ext cx="870585" cy="243840"/>
          </a:xfrm>
          <a:prstGeom prst="rect">
            <a:avLst/>
          </a:prstGeom>
          <a:noFill/>
          <a:ln>
            <a:noFill/>
          </a:ln>
        </p:spPr>
        <p:txBody>
          <a:bodyPr wrap="none" lIns="0" tIns="0" rIns="0" bIns="0" anchor="t" anchorCtr="0">
            <a:spAutoFit/>
          </a:bodyPr>
          <a:lstStyle/>
          <a:p>
            <a:pPr algn="ctr"/>
            <a:r>
              <a:rPr lang="zh-CN" sz="1200" b="1" dirty="0">
                <a:solidFill>
                  <a:srgbClr val="2E7E94"/>
                </a:solidFill>
                <a:latin typeface="Arial"/>
                <a:ea typeface="Microsoft YaHei"/>
                <a:cs typeface="Arial"/>
              </a:rPr>
              <a:t>上下文感知</a:t>
            </a:r>
          </a:p>
        </p:txBody>
      </p:sp>
      <p:sp>
        <p:nvSpPr>
          <p:cNvPr id="27" name="TextBox 27"/>
          <p:cNvSpPr txBox="1"/>
          <p:nvPr/>
        </p:nvSpPr>
        <p:spPr>
          <a:xfrm>
            <a:off x="940118" y="4180999"/>
            <a:ext cx="1194911"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从单点代码块扩展到</a:t>
            </a:r>
          </a:p>
        </p:txBody>
      </p:sp>
      <p:sp>
        <p:nvSpPr>
          <p:cNvPr id="28" name="TextBox 28"/>
          <p:cNvSpPr txBox="1"/>
          <p:nvPr/>
        </p:nvSpPr>
        <p:spPr>
          <a:xfrm>
            <a:off x="940118" y="4428649"/>
            <a:ext cx="1779984"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代码子图和 Context Bundle，</a:t>
            </a:r>
          </a:p>
        </p:txBody>
      </p:sp>
      <p:sp>
        <p:nvSpPr>
          <p:cNvPr id="29" name="TextBox 29"/>
          <p:cNvSpPr txBox="1"/>
          <p:nvPr/>
        </p:nvSpPr>
        <p:spPr>
          <a:xfrm>
            <a:off x="940118" y="4676299"/>
            <a:ext cx="1240417"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提高 Top-K 可用性。</a:t>
            </a:r>
          </a:p>
        </p:txBody>
      </p:sp>
      <p:sp>
        <p:nvSpPr>
          <p:cNvPr id="30" name="Rectangle 30"/>
          <p:cNvSpPr/>
          <p:nvPr/>
        </p:nvSpPr>
        <p:spPr>
          <a:xfrm>
            <a:off x="762000" y="6096000"/>
            <a:ext cx="10668000" cy="381000"/>
          </a:xfrm>
          <a:prstGeom prst="roundRect">
            <a:avLst>
              <a:gd name="adj" fmla="val 15000"/>
            </a:avLst>
          </a:prstGeom>
          <a:solidFill>
            <a:srgbClr val="E8EDF2"/>
          </a:solidFill>
          <a:ln>
            <a:noFill/>
          </a:ln>
        </p:spPr>
      </p:sp>
      <p:sp>
        <p:nvSpPr>
          <p:cNvPr id="31" name="TextBox 31"/>
          <p:cNvSpPr txBox="1"/>
          <p:nvPr/>
        </p:nvSpPr>
        <p:spPr>
          <a:xfrm>
            <a:off x="3329386" y="6238399"/>
            <a:ext cx="5533228" cy="198120"/>
          </a:xfrm>
          <a:prstGeom prst="rect">
            <a:avLst/>
          </a:prstGeom>
          <a:noFill/>
          <a:ln>
            <a:noFill/>
          </a:ln>
        </p:spPr>
        <p:txBody>
          <a:bodyPr wrap="none" lIns="0" tIns="0" rIns="0" bIns="0" anchor="t" anchorCtr="0">
            <a:spAutoFit/>
          </a:bodyPr>
          <a:lstStyle/>
          <a:p>
            <a:pPr algn="ctr"/>
            <a:r>
              <a:rPr lang="zh-CN" sz="975" b="1" dirty="0">
                <a:solidFill>
                  <a:srgbClr val="2E7E94"/>
                </a:solidFill>
                <a:latin typeface="Arial"/>
                <a:ea typeface="Microsoft YaHei"/>
                <a:cs typeface="Arial"/>
              </a:rPr>
              <a:t>最终目标：形成高召回、高精度、低成本、可解释的 Agent-Oriented Code Search 方法。</a:t>
            </a:r>
          </a:p>
        </p:txBody>
      </p:sp>
      <p:sp>
        <p:nvSpPr>
          <p:cNvPr id="32" name="TextBox 32"/>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Rectangle 3"/>
          <p:cNvSpPr/>
          <p:nvPr/>
        </p:nvSpPr>
        <p:spPr>
          <a:xfrm>
            <a:off x="0" y="0"/>
            <a:ext cx="12192000" cy="2667000"/>
          </a:xfrm>
          <a:prstGeom prst="rect">
            <a:avLst/>
          </a:prstGeom>
          <a:solidFill>
            <a:srgbClr val="223A48"/>
          </a:solidFill>
          <a:ln>
            <a:noFill/>
          </a:ln>
        </p:spPr>
      </p:sp>
      <p:sp>
        <p:nvSpPr>
          <p:cNvPr id="4" name="TextBox 4"/>
          <p:cNvSpPr txBox="1"/>
          <p:nvPr/>
        </p:nvSpPr>
        <p:spPr>
          <a:xfrm>
            <a:off x="708660" y="1165860"/>
            <a:ext cx="430120" cy="853440"/>
          </a:xfrm>
          <a:prstGeom prst="rect">
            <a:avLst/>
          </a:prstGeom>
          <a:noFill/>
          <a:ln>
            <a:noFill/>
          </a:ln>
        </p:spPr>
        <p:txBody>
          <a:bodyPr wrap="none" lIns="0" tIns="0" rIns="0" bIns="0" anchor="t" anchorCtr="0">
            <a:spAutoFit/>
          </a:bodyPr>
          <a:lstStyle/>
          <a:p>
            <a:pPr algn="l"/>
            <a:r>
              <a:rPr lang="zh-CN" sz="4200" b="1" dirty="0">
                <a:solidFill>
                  <a:srgbClr val="2E7E94"/>
                </a:solidFill>
                <a:latin typeface="Arial"/>
                <a:ea typeface="Microsoft YaHei"/>
                <a:cs typeface="Arial"/>
              </a:rPr>
              <a:t>3</a:t>
            </a:r>
          </a:p>
        </p:txBody>
      </p:sp>
      <p:sp>
        <p:nvSpPr>
          <p:cNvPr id="5" name="TextBox 5"/>
          <p:cNvSpPr txBox="1"/>
          <p:nvPr/>
        </p:nvSpPr>
        <p:spPr>
          <a:xfrm>
            <a:off x="1495425" y="1376362"/>
            <a:ext cx="2656225"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SemCon 与 SemQL</a:t>
            </a:r>
          </a:p>
        </p:txBody>
      </p:sp>
      <p:sp>
        <p:nvSpPr>
          <p:cNvPr id="6" name="Rectangle 6"/>
          <p:cNvSpPr/>
          <p:nvPr/>
        </p:nvSpPr>
        <p:spPr>
          <a:xfrm>
            <a:off x="952500" y="3429000"/>
            <a:ext cx="38100" cy="2095500"/>
          </a:xfrm>
          <a:prstGeom prst="roundRect">
            <a:avLst>
              <a:gd name="adj" fmla="val 50000"/>
            </a:avLst>
          </a:prstGeom>
          <a:solidFill>
            <a:srgbClr val="2E7E94"/>
          </a:solidFill>
          <a:ln>
            <a:noFill/>
          </a:ln>
        </p:spPr>
      </p:sp>
      <p:sp>
        <p:nvSpPr>
          <p:cNvPr id="7" name="TextBox 7"/>
          <p:cNvSpPr txBox="1"/>
          <p:nvPr/>
        </p:nvSpPr>
        <p:spPr>
          <a:xfrm>
            <a:off x="1236345" y="4012882"/>
            <a:ext cx="2664088" cy="335280"/>
          </a:xfrm>
          <a:prstGeom prst="rect">
            <a:avLst/>
          </a:prstGeom>
          <a:noFill/>
          <a:ln>
            <a:noFill/>
          </a:ln>
        </p:spPr>
        <p:txBody>
          <a:bodyPr wrap="none" lIns="0" tIns="0" rIns="0" bIns="0" anchor="t" anchorCtr="0">
            <a:spAutoFit/>
          </a:bodyPr>
          <a:lstStyle/>
          <a:p>
            <a:pPr algn="l"/>
            <a:r>
              <a:rPr lang="zh-CN" sz="1650" b="1" dirty="0">
                <a:solidFill>
                  <a:srgbClr val="223A48"/>
                </a:solidFill>
                <a:latin typeface="Arial"/>
                <a:ea typeface="Microsoft YaHei"/>
                <a:cs typeface="Arial"/>
              </a:rPr>
              <a:t>SemCon: 原子级语义条件</a:t>
            </a:r>
          </a:p>
        </p:txBody>
      </p:sp>
      <p:sp>
        <p:nvSpPr>
          <p:cNvPr id="8" name="TextBox 8"/>
          <p:cNvSpPr txBox="1"/>
          <p:nvPr/>
        </p:nvSpPr>
        <p:spPr>
          <a:xfrm>
            <a:off x="1242060" y="4442460"/>
            <a:ext cx="5631180" cy="243840"/>
          </a:xfrm>
          <a:prstGeom prst="rect">
            <a:avLst/>
          </a:prstGeom>
          <a:noFill/>
          <a:ln>
            <a:noFill/>
          </a:ln>
        </p:spPr>
        <p:txBody>
          <a:bodyPr wrap="none" lIns="0" tIns="0" rIns="0" bIns="0" anchor="t" anchorCtr="0">
            <a:spAutoFit/>
          </a:bodyPr>
          <a:lstStyle/>
          <a:p>
            <a:pPr algn="l"/>
            <a:r>
              <a:rPr lang="zh-CN" sz="1200" dirty="0">
                <a:solidFill>
                  <a:srgbClr val="485D6A"/>
                </a:solidFill>
                <a:latin typeface="Arial"/>
                <a:ea typeface="Microsoft YaHei"/>
                <a:cs typeface="Arial"/>
              </a:rPr>
              <a:t>Surface (表层词法特征) Relation (关系结构特征) Intention (意图语义特征)</a:t>
            </a:r>
          </a:p>
        </p:txBody>
      </p:sp>
      <p:sp>
        <p:nvSpPr>
          <p:cNvPr id="9" name="TextBox 9"/>
          <p:cNvSpPr txBox="1"/>
          <p:nvPr/>
        </p:nvSpPr>
        <p:spPr>
          <a:xfrm>
            <a:off x="1236345" y="4870132"/>
            <a:ext cx="2583228" cy="335280"/>
          </a:xfrm>
          <a:prstGeom prst="rect">
            <a:avLst/>
          </a:prstGeom>
          <a:noFill/>
          <a:ln>
            <a:noFill/>
          </a:ln>
        </p:spPr>
        <p:txBody>
          <a:bodyPr wrap="none" lIns="0" tIns="0" rIns="0" bIns="0" anchor="t" anchorCtr="0">
            <a:spAutoFit/>
          </a:bodyPr>
          <a:lstStyle/>
          <a:p>
            <a:pPr algn="l"/>
            <a:r>
              <a:rPr lang="zh-CN" sz="1650" b="1" dirty="0">
                <a:solidFill>
                  <a:srgbClr val="223A48"/>
                </a:solidFill>
                <a:latin typeface="Arial"/>
                <a:ea typeface="Microsoft YaHei"/>
                <a:cs typeface="Arial"/>
              </a:rPr>
              <a:t>SemQL: 条件逻辑组合层</a:t>
            </a:r>
          </a:p>
        </p:txBody>
      </p:sp>
      <p:sp>
        <p:nvSpPr>
          <p:cNvPr id="10" name="TextBox 10"/>
          <p:cNvSpPr txBox="1"/>
          <p:nvPr/>
        </p:nvSpPr>
        <p:spPr>
          <a:xfrm>
            <a:off x="1242060" y="5299710"/>
            <a:ext cx="3774948" cy="243840"/>
          </a:xfrm>
          <a:prstGeom prst="rect">
            <a:avLst/>
          </a:prstGeom>
          <a:noFill/>
          <a:ln>
            <a:noFill/>
          </a:ln>
        </p:spPr>
        <p:txBody>
          <a:bodyPr wrap="none" lIns="0" tIns="0" rIns="0" bIns="0" anchor="t" anchorCtr="0">
            <a:spAutoFit/>
          </a:bodyPr>
          <a:lstStyle/>
          <a:p>
            <a:pPr algn="l"/>
            <a:r>
              <a:rPr lang="zh-CN" sz="1200" dirty="0">
                <a:solidFill>
                  <a:srgbClr val="485D6A"/>
                </a:solidFill>
                <a:latin typeface="Arial"/>
                <a:ea typeface="Microsoft YaHei"/>
                <a:cs typeface="Arial"/>
              </a:rPr>
              <a:t>AND / OR / NOT 将原子条件组装为可执行的查询计划</a:t>
            </a:r>
          </a:p>
        </p:txBody>
      </p:sp>
      <p:sp>
        <p:nvSpPr>
          <p:cNvPr id="11" name="TextBox 11"/>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81940"/>
            <a:ext cx="3158309"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SemCon: 三类原子语义条件</a:t>
            </a:r>
          </a:p>
        </p:txBody>
      </p:sp>
      <p:sp>
        <p:nvSpPr>
          <p:cNvPr id="4" name="TextBox 4"/>
          <p:cNvSpPr txBox="1"/>
          <p:nvPr/>
        </p:nvSpPr>
        <p:spPr>
          <a:xfrm>
            <a:off x="748665" y="629602"/>
            <a:ext cx="5095303" cy="213360"/>
          </a:xfrm>
          <a:prstGeom prst="rect">
            <a:avLst/>
          </a:prstGeom>
          <a:noFill/>
          <a:ln>
            <a:noFill/>
          </a:ln>
        </p:spPr>
        <p:txBody>
          <a:bodyPr wrap="none" lIns="0" tIns="0" rIns="0" bIns="0" anchor="t" anchorCtr="0">
            <a:spAutoFit/>
          </a:bodyPr>
          <a:lstStyle/>
          <a:p>
            <a:pPr algn="l"/>
            <a:r>
              <a:rPr lang="zh-CN" sz="1050" dirty="0">
                <a:solidFill>
                  <a:srgbClr val="697A84"/>
                </a:solidFill>
                <a:latin typeface="Arial"/>
                <a:ea typeface="Microsoft YaHei"/>
                <a:cs typeface="Arial"/>
              </a:rPr>
              <a:t>按执行代价从低到高排列，对应 Surface -&gt; Relation -&gt; Intention 三级执行阶段</a:t>
            </a:r>
          </a:p>
        </p:txBody>
      </p:sp>
      <p:sp>
        <p:nvSpPr>
          <p:cNvPr id="5" name="Rectangle 5"/>
          <p:cNvSpPr/>
          <p:nvPr/>
        </p:nvSpPr>
        <p:spPr>
          <a:xfrm>
            <a:off x="762000" y="1000125"/>
            <a:ext cx="3476625" cy="5334000"/>
          </a:xfrm>
          <a:prstGeom prst="roundRect">
            <a:avLst>
              <a:gd name="adj" fmla="val 2192"/>
            </a:avLst>
          </a:prstGeom>
          <a:solidFill>
            <a:srgbClr val="FFFFFF"/>
          </a:solidFill>
          <a:ln w="9525">
            <a:solidFill>
              <a:srgbClr val="D0D8E0"/>
            </a:solidFill>
          </a:ln>
        </p:spPr>
      </p:sp>
      <p:sp>
        <p:nvSpPr>
          <p:cNvPr id="6" name="Rectangle 6"/>
          <p:cNvSpPr/>
          <p:nvPr/>
        </p:nvSpPr>
        <p:spPr>
          <a:xfrm>
            <a:off x="762000" y="1000125"/>
            <a:ext cx="3476625" cy="76200"/>
          </a:xfrm>
          <a:prstGeom prst="roundRect">
            <a:avLst>
              <a:gd name="adj" fmla="val 50000"/>
            </a:avLst>
          </a:prstGeom>
          <a:solidFill>
            <a:srgbClr val="2E7E94"/>
          </a:solidFill>
          <a:ln>
            <a:noFill/>
          </a:ln>
        </p:spPr>
      </p:sp>
      <p:sp>
        <p:nvSpPr>
          <p:cNvPr id="7" name="Rectangle 7"/>
          <p:cNvSpPr/>
          <p:nvPr/>
        </p:nvSpPr>
        <p:spPr>
          <a:xfrm>
            <a:off x="762000" y="1000125"/>
            <a:ext cx="3476625" cy="476250"/>
          </a:xfrm>
          <a:prstGeom prst="roundRect">
            <a:avLst>
              <a:gd name="adj" fmla="val 16000"/>
            </a:avLst>
          </a:prstGeom>
          <a:solidFill>
            <a:srgbClr val="E8EDF2"/>
          </a:solidFill>
          <a:ln>
            <a:noFill/>
          </a:ln>
        </p:spPr>
      </p:sp>
      <p:sp>
        <p:nvSpPr>
          <p:cNvPr id="8" name="TextBox 8"/>
          <p:cNvSpPr txBox="1"/>
          <p:nvPr/>
        </p:nvSpPr>
        <p:spPr>
          <a:xfrm>
            <a:off x="1665603" y="1168718"/>
            <a:ext cx="1659893" cy="274320"/>
          </a:xfrm>
          <a:prstGeom prst="rect">
            <a:avLst/>
          </a:prstGeom>
          <a:noFill/>
          <a:ln>
            <a:noFill/>
          </a:ln>
        </p:spPr>
        <p:txBody>
          <a:bodyPr wrap="none" lIns="0" tIns="0" rIns="0" bIns="0" anchor="t" anchorCtr="0">
            <a:spAutoFit/>
          </a:bodyPr>
          <a:lstStyle/>
          <a:p>
            <a:pPr algn="ctr"/>
            <a:r>
              <a:rPr lang="zh-CN" sz="1350" b="1" dirty="0">
                <a:solidFill>
                  <a:srgbClr val="223A48"/>
                </a:solidFill>
                <a:latin typeface="Arial"/>
                <a:ea typeface="Microsoft YaHei"/>
                <a:cs typeface="Arial"/>
              </a:rPr>
              <a:t>Surface Condition</a:t>
            </a:r>
          </a:p>
        </p:txBody>
      </p:sp>
      <p:sp>
        <p:nvSpPr>
          <p:cNvPr id="9" name="TextBox 9"/>
          <p:cNvSpPr txBox="1"/>
          <p:nvPr/>
        </p:nvSpPr>
        <p:spPr>
          <a:xfrm>
            <a:off x="2091773" y="1434941"/>
            <a:ext cx="807553"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表层 / 词法特征</a:t>
            </a:r>
          </a:p>
        </p:txBody>
      </p:sp>
      <p:sp>
        <p:nvSpPr>
          <p:cNvPr id="10" name="TextBox 10"/>
          <p:cNvSpPr txBox="1"/>
          <p:nvPr/>
        </p:nvSpPr>
        <p:spPr>
          <a:xfrm>
            <a:off x="902018" y="1656874"/>
            <a:ext cx="570833" cy="198120"/>
          </a:xfrm>
          <a:prstGeom prst="rect">
            <a:avLst/>
          </a:prstGeom>
          <a:noFill/>
          <a:ln>
            <a:noFill/>
          </a:ln>
        </p:spPr>
        <p:txBody>
          <a:bodyPr wrap="none" lIns="0" tIns="0" rIns="0" bIns="0" anchor="t" anchorCtr="0">
            <a:spAutoFit/>
          </a:bodyPr>
          <a:lstStyle/>
          <a:p>
            <a:pPr algn="l"/>
            <a:r>
              <a:rPr lang="zh-CN" sz="975" b="1" dirty="0">
                <a:solidFill>
                  <a:srgbClr val="2E7E94"/>
                </a:solidFill>
                <a:latin typeface="Arial"/>
                <a:ea typeface="Microsoft YaHei"/>
                <a:cs typeface="Arial"/>
              </a:rPr>
              <a:t>关键字段</a:t>
            </a:r>
          </a:p>
        </p:txBody>
      </p:sp>
      <p:sp>
        <p:nvSpPr>
          <p:cNvPr id="11" name="TextBox 11"/>
          <p:cNvSpPr txBox="1"/>
          <p:nvPr/>
        </p:nvSpPr>
        <p:spPr>
          <a:xfrm>
            <a:off x="960596" y="1878568"/>
            <a:ext cx="815507"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type: surface</a:t>
            </a:r>
          </a:p>
        </p:txBody>
      </p:sp>
      <p:sp>
        <p:nvSpPr>
          <p:cNvPr id="12" name="TextBox 12"/>
          <p:cNvSpPr txBox="1"/>
          <p:nvPr/>
        </p:nvSpPr>
        <p:spPr>
          <a:xfrm>
            <a:off x="960596" y="2069068"/>
            <a:ext cx="1528596"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property: include | exclude</a:t>
            </a:r>
          </a:p>
        </p:txBody>
      </p:sp>
      <p:sp>
        <p:nvSpPr>
          <p:cNvPr id="13" name="TextBox 13"/>
          <p:cNvSpPr txBox="1"/>
          <p:nvPr/>
        </p:nvSpPr>
        <p:spPr>
          <a:xfrm>
            <a:off x="960596" y="2259568"/>
            <a:ext cx="1448086"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keywords: ["login", ...]</a:t>
            </a:r>
          </a:p>
        </p:txBody>
      </p:sp>
      <p:sp>
        <p:nvSpPr>
          <p:cNvPr id="14" name="TextBox 14"/>
          <p:cNvSpPr txBox="1"/>
          <p:nvPr/>
        </p:nvSpPr>
        <p:spPr>
          <a:xfrm>
            <a:off x="960596" y="2450068"/>
            <a:ext cx="1545848"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synonyms: ["sign in", ...]</a:t>
            </a:r>
          </a:p>
        </p:txBody>
      </p:sp>
      <p:sp>
        <p:nvSpPr>
          <p:cNvPr id="15" name="TextBox 15"/>
          <p:cNvSpPr txBox="1"/>
          <p:nvPr/>
        </p:nvSpPr>
        <p:spPr>
          <a:xfrm>
            <a:off x="960596" y="2640568"/>
            <a:ext cx="2115169"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match_kind: code_element | code_line</a:t>
            </a:r>
          </a:p>
        </p:txBody>
      </p:sp>
      <p:sp>
        <p:nvSpPr>
          <p:cNvPr id="16" name="TextBox 16"/>
          <p:cNvSpPr txBox="1"/>
          <p:nvPr/>
        </p:nvSpPr>
        <p:spPr>
          <a:xfrm>
            <a:off x="960596" y="2831068"/>
            <a:ext cx="1833384"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code_element_type: func | class</a:t>
            </a:r>
          </a:p>
        </p:txBody>
      </p:sp>
      <p:sp>
        <p:nvSpPr>
          <p:cNvPr id="17" name="TextBox 17"/>
          <p:cNvSpPr txBox="1"/>
          <p:nvPr/>
        </p:nvSpPr>
        <p:spPr>
          <a:xfrm>
            <a:off x="902018" y="3085624"/>
            <a:ext cx="570833" cy="198120"/>
          </a:xfrm>
          <a:prstGeom prst="rect">
            <a:avLst/>
          </a:prstGeom>
          <a:noFill/>
          <a:ln>
            <a:noFill/>
          </a:ln>
        </p:spPr>
        <p:txBody>
          <a:bodyPr wrap="none" lIns="0" tIns="0" rIns="0" bIns="0" anchor="t" anchorCtr="0">
            <a:spAutoFit/>
          </a:bodyPr>
          <a:lstStyle/>
          <a:p>
            <a:pPr algn="l"/>
            <a:r>
              <a:rPr lang="zh-CN" sz="975" b="1" dirty="0">
                <a:solidFill>
                  <a:srgbClr val="2E7E94"/>
                </a:solidFill>
                <a:latin typeface="Arial"/>
                <a:ea typeface="Microsoft YaHei"/>
                <a:cs typeface="Arial"/>
              </a:rPr>
              <a:t>执行后端</a:t>
            </a:r>
          </a:p>
        </p:txBody>
      </p:sp>
      <p:sp>
        <p:nvSpPr>
          <p:cNvPr id="18" name="TextBox 18"/>
          <p:cNvSpPr txBox="1"/>
          <p:nvPr/>
        </p:nvSpPr>
        <p:spPr>
          <a:xfrm>
            <a:off x="903446" y="3307318"/>
            <a:ext cx="1586103"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exact search inverted index</a:t>
            </a:r>
          </a:p>
        </p:txBody>
      </p:sp>
      <p:sp>
        <p:nvSpPr>
          <p:cNvPr id="19" name="TextBox 19"/>
          <p:cNvSpPr txBox="1"/>
          <p:nvPr/>
        </p:nvSpPr>
        <p:spPr>
          <a:xfrm>
            <a:off x="903446" y="3497818"/>
            <a:ext cx="1948398"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ngram abbreviation fuzzy matcher</a:t>
            </a:r>
          </a:p>
        </p:txBody>
      </p:sp>
      <p:sp>
        <p:nvSpPr>
          <p:cNvPr id="20" name="TextBox 20"/>
          <p:cNvSpPr txBox="1"/>
          <p:nvPr/>
        </p:nvSpPr>
        <p:spPr>
          <a:xfrm>
            <a:off x="903446" y="3688318"/>
            <a:ext cx="1856387"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term embedding (FastText + ICF)</a:t>
            </a:r>
          </a:p>
        </p:txBody>
      </p:sp>
      <p:sp>
        <p:nvSpPr>
          <p:cNvPr id="21" name="Rectangle 21"/>
          <p:cNvSpPr/>
          <p:nvPr/>
        </p:nvSpPr>
        <p:spPr>
          <a:xfrm>
            <a:off x="4429125" y="1000125"/>
            <a:ext cx="3476625" cy="5334000"/>
          </a:xfrm>
          <a:prstGeom prst="roundRect">
            <a:avLst>
              <a:gd name="adj" fmla="val 2192"/>
            </a:avLst>
          </a:prstGeom>
          <a:solidFill>
            <a:srgbClr val="FFFFFF"/>
          </a:solidFill>
          <a:ln w="9525">
            <a:solidFill>
              <a:srgbClr val="D0D8E0"/>
            </a:solidFill>
          </a:ln>
        </p:spPr>
      </p:sp>
      <p:sp>
        <p:nvSpPr>
          <p:cNvPr id="22" name="Rectangle 22"/>
          <p:cNvSpPr/>
          <p:nvPr/>
        </p:nvSpPr>
        <p:spPr>
          <a:xfrm>
            <a:off x="4429125" y="1000125"/>
            <a:ext cx="3476625" cy="76200"/>
          </a:xfrm>
          <a:prstGeom prst="roundRect">
            <a:avLst>
              <a:gd name="adj" fmla="val 50000"/>
            </a:avLst>
          </a:prstGeom>
          <a:solidFill>
            <a:srgbClr val="4A90A4"/>
          </a:solidFill>
          <a:ln>
            <a:noFill/>
          </a:ln>
        </p:spPr>
      </p:sp>
      <p:sp>
        <p:nvSpPr>
          <p:cNvPr id="23" name="Rectangle 23"/>
          <p:cNvSpPr/>
          <p:nvPr/>
        </p:nvSpPr>
        <p:spPr>
          <a:xfrm>
            <a:off x="4429125" y="1000125"/>
            <a:ext cx="3476625" cy="476250"/>
          </a:xfrm>
          <a:prstGeom prst="roundRect">
            <a:avLst>
              <a:gd name="adj" fmla="val 16000"/>
            </a:avLst>
          </a:prstGeom>
          <a:solidFill>
            <a:srgbClr val="E8EDF2"/>
          </a:solidFill>
          <a:ln>
            <a:noFill/>
          </a:ln>
        </p:spPr>
      </p:sp>
      <p:sp>
        <p:nvSpPr>
          <p:cNvPr id="24" name="TextBox 24"/>
          <p:cNvSpPr txBox="1"/>
          <p:nvPr/>
        </p:nvSpPr>
        <p:spPr>
          <a:xfrm>
            <a:off x="5328003" y="1168718"/>
            <a:ext cx="1669344" cy="274320"/>
          </a:xfrm>
          <a:prstGeom prst="rect">
            <a:avLst/>
          </a:prstGeom>
          <a:noFill/>
          <a:ln>
            <a:noFill/>
          </a:ln>
        </p:spPr>
        <p:txBody>
          <a:bodyPr wrap="none" lIns="0" tIns="0" rIns="0" bIns="0" anchor="t" anchorCtr="0">
            <a:spAutoFit/>
          </a:bodyPr>
          <a:lstStyle/>
          <a:p>
            <a:pPr algn="ctr"/>
            <a:r>
              <a:rPr lang="zh-CN" sz="1350" b="1" dirty="0">
                <a:solidFill>
                  <a:srgbClr val="223A48"/>
                </a:solidFill>
                <a:latin typeface="Arial"/>
                <a:ea typeface="Microsoft YaHei"/>
                <a:cs typeface="Arial"/>
              </a:rPr>
              <a:t>Relation Condition</a:t>
            </a:r>
          </a:p>
        </p:txBody>
      </p:sp>
      <p:sp>
        <p:nvSpPr>
          <p:cNvPr id="25" name="TextBox 25"/>
          <p:cNvSpPr txBox="1"/>
          <p:nvPr/>
        </p:nvSpPr>
        <p:spPr>
          <a:xfrm>
            <a:off x="5758898" y="1434941"/>
            <a:ext cx="807553"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关系 / 结构特征</a:t>
            </a:r>
          </a:p>
        </p:txBody>
      </p:sp>
      <p:sp>
        <p:nvSpPr>
          <p:cNvPr id="26" name="TextBox 26"/>
          <p:cNvSpPr txBox="1"/>
          <p:nvPr/>
        </p:nvSpPr>
        <p:spPr>
          <a:xfrm>
            <a:off x="4569142" y="1656874"/>
            <a:ext cx="570833" cy="198120"/>
          </a:xfrm>
          <a:prstGeom prst="rect">
            <a:avLst/>
          </a:prstGeom>
          <a:noFill/>
          <a:ln>
            <a:noFill/>
          </a:ln>
        </p:spPr>
        <p:txBody>
          <a:bodyPr wrap="none" lIns="0" tIns="0" rIns="0" bIns="0" anchor="t" anchorCtr="0">
            <a:spAutoFit/>
          </a:bodyPr>
          <a:lstStyle/>
          <a:p>
            <a:pPr algn="l"/>
            <a:r>
              <a:rPr lang="zh-CN" sz="975" b="1" dirty="0">
                <a:solidFill>
                  <a:srgbClr val="4A90A4"/>
                </a:solidFill>
                <a:latin typeface="Arial"/>
                <a:ea typeface="Microsoft YaHei"/>
                <a:cs typeface="Arial"/>
              </a:rPr>
              <a:t>关键字段</a:t>
            </a:r>
          </a:p>
        </p:txBody>
      </p:sp>
      <p:sp>
        <p:nvSpPr>
          <p:cNvPr id="27" name="TextBox 27"/>
          <p:cNvSpPr txBox="1"/>
          <p:nvPr/>
        </p:nvSpPr>
        <p:spPr>
          <a:xfrm>
            <a:off x="4627721" y="1878568"/>
            <a:ext cx="821257"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type: relation</a:t>
            </a:r>
          </a:p>
        </p:txBody>
      </p:sp>
      <p:sp>
        <p:nvSpPr>
          <p:cNvPr id="28" name="TextBox 28"/>
          <p:cNvSpPr txBox="1"/>
          <p:nvPr/>
        </p:nvSpPr>
        <p:spPr>
          <a:xfrm>
            <a:off x="4627721" y="2069068"/>
            <a:ext cx="1833384"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code_element_type: func | class</a:t>
            </a:r>
          </a:p>
        </p:txBody>
      </p:sp>
      <p:sp>
        <p:nvSpPr>
          <p:cNvPr id="29" name="TextBox 29"/>
          <p:cNvSpPr txBox="1"/>
          <p:nvPr/>
        </p:nvSpPr>
        <p:spPr>
          <a:xfrm>
            <a:off x="4627721" y="2259568"/>
            <a:ext cx="1206556"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file_path / container</a:t>
            </a:r>
          </a:p>
        </p:txBody>
      </p:sp>
      <p:sp>
        <p:nvSpPr>
          <p:cNvPr id="30" name="TextBox 30"/>
          <p:cNvSpPr txBox="1"/>
          <p:nvPr/>
        </p:nvSpPr>
        <p:spPr>
          <a:xfrm>
            <a:off x="4627721" y="2450068"/>
            <a:ext cx="2126671"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graph_constraint: {anchor, rel, val}</a:t>
            </a:r>
          </a:p>
        </p:txBody>
      </p:sp>
      <p:sp>
        <p:nvSpPr>
          <p:cNvPr id="31" name="TextBox 31"/>
          <p:cNvSpPr txBox="1"/>
          <p:nvPr/>
        </p:nvSpPr>
        <p:spPr>
          <a:xfrm>
            <a:off x="4627721" y="2640568"/>
            <a:ext cx="798255"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caller / callee</a:t>
            </a:r>
          </a:p>
        </p:txBody>
      </p:sp>
      <p:sp>
        <p:nvSpPr>
          <p:cNvPr id="32" name="TextBox 32"/>
          <p:cNvSpPr txBox="1"/>
          <p:nvPr/>
        </p:nvSpPr>
        <p:spPr>
          <a:xfrm>
            <a:off x="4627721" y="2831068"/>
            <a:ext cx="1022533"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code_ql: ... | null</a:t>
            </a:r>
          </a:p>
        </p:txBody>
      </p:sp>
      <p:sp>
        <p:nvSpPr>
          <p:cNvPr id="33" name="TextBox 33"/>
          <p:cNvSpPr txBox="1"/>
          <p:nvPr/>
        </p:nvSpPr>
        <p:spPr>
          <a:xfrm>
            <a:off x="4569142" y="3085624"/>
            <a:ext cx="570833" cy="198120"/>
          </a:xfrm>
          <a:prstGeom prst="rect">
            <a:avLst/>
          </a:prstGeom>
          <a:noFill/>
          <a:ln>
            <a:noFill/>
          </a:ln>
        </p:spPr>
        <p:txBody>
          <a:bodyPr wrap="none" lIns="0" tIns="0" rIns="0" bIns="0" anchor="t" anchorCtr="0">
            <a:spAutoFit/>
          </a:bodyPr>
          <a:lstStyle/>
          <a:p>
            <a:pPr algn="l"/>
            <a:r>
              <a:rPr lang="zh-CN" sz="975" b="1" dirty="0">
                <a:solidFill>
                  <a:srgbClr val="4A90A4"/>
                </a:solidFill>
                <a:latin typeface="Arial"/>
                <a:ea typeface="Microsoft YaHei"/>
                <a:cs typeface="Arial"/>
              </a:rPr>
              <a:t>执行后端</a:t>
            </a:r>
          </a:p>
        </p:txBody>
      </p:sp>
      <p:sp>
        <p:nvSpPr>
          <p:cNvPr id="34" name="TextBox 34"/>
          <p:cNvSpPr txBox="1"/>
          <p:nvPr/>
        </p:nvSpPr>
        <p:spPr>
          <a:xfrm>
            <a:off x="4570571" y="3307318"/>
            <a:ext cx="1609106"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Tier 1: Symbol Index (&lt; 1ms)</a:t>
            </a:r>
          </a:p>
        </p:txBody>
      </p:sp>
      <p:sp>
        <p:nvSpPr>
          <p:cNvPr id="35" name="TextBox 35"/>
          <p:cNvSpPr txBox="1"/>
          <p:nvPr/>
        </p:nvSpPr>
        <p:spPr>
          <a:xfrm>
            <a:off x="4570571" y="3497818"/>
            <a:ext cx="1689616"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Tier 2: LSP Call Graph BFS/DFS</a:t>
            </a:r>
          </a:p>
        </p:txBody>
      </p:sp>
      <p:sp>
        <p:nvSpPr>
          <p:cNvPr id="36" name="TextBox 36"/>
          <p:cNvSpPr txBox="1"/>
          <p:nvPr/>
        </p:nvSpPr>
        <p:spPr>
          <a:xfrm>
            <a:off x="4570571" y="3688318"/>
            <a:ext cx="1563100"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Tier 3: CodeQL (秒级, 离线)</a:t>
            </a:r>
          </a:p>
        </p:txBody>
      </p:sp>
      <p:sp>
        <p:nvSpPr>
          <p:cNvPr id="37" name="Rectangle 37"/>
          <p:cNvSpPr/>
          <p:nvPr/>
        </p:nvSpPr>
        <p:spPr>
          <a:xfrm>
            <a:off x="8096250" y="1000125"/>
            <a:ext cx="3476625" cy="5334000"/>
          </a:xfrm>
          <a:prstGeom prst="roundRect">
            <a:avLst>
              <a:gd name="adj" fmla="val 2192"/>
            </a:avLst>
          </a:prstGeom>
          <a:solidFill>
            <a:srgbClr val="FFFFFF"/>
          </a:solidFill>
          <a:ln w="9525">
            <a:solidFill>
              <a:srgbClr val="D0D8E0"/>
            </a:solidFill>
          </a:ln>
        </p:spPr>
      </p:sp>
      <p:sp>
        <p:nvSpPr>
          <p:cNvPr id="38" name="Rectangle 38"/>
          <p:cNvSpPr/>
          <p:nvPr/>
        </p:nvSpPr>
        <p:spPr>
          <a:xfrm>
            <a:off x="8096250" y="1000125"/>
            <a:ext cx="3476625" cy="76200"/>
          </a:xfrm>
          <a:prstGeom prst="roundRect">
            <a:avLst>
              <a:gd name="adj" fmla="val 50000"/>
            </a:avLst>
          </a:prstGeom>
          <a:solidFill>
            <a:srgbClr val="4CAF50"/>
          </a:solidFill>
          <a:ln>
            <a:noFill/>
          </a:ln>
        </p:spPr>
      </p:sp>
      <p:sp>
        <p:nvSpPr>
          <p:cNvPr id="39" name="Rectangle 39"/>
          <p:cNvSpPr/>
          <p:nvPr/>
        </p:nvSpPr>
        <p:spPr>
          <a:xfrm>
            <a:off x="8096250" y="1000125"/>
            <a:ext cx="3476625" cy="476250"/>
          </a:xfrm>
          <a:prstGeom prst="roundRect">
            <a:avLst>
              <a:gd name="adj" fmla="val 16000"/>
            </a:avLst>
          </a:prstGeom>
          <a:solidFill>
            <a:srgbClr val="E8EDF2"/>
          </a:solidFill>
          <a:ln>
            <a:noFill/>
          </a:ln>
        </p:spPr>
      </p:sp>
      <p:sp>
        <p:nvSpPr>
          <p:cNvPr id="40" name="TextBox 40"/>
          <p:cNvSpPr txBox="1"/>
          <p:nvPr/>
        </p:nvSpPr>
        <p:spPr>
          <a:xfrm>
            <a:off x="8943146" y="1168718"/>
            <a:ext cx="1773307" cy="274320"/>
          </a:xfrm>
          <a:prstGeom prst="rect">
            <a:avLst/>
          </a:prstGeom>
          <a:noFill/>
          <a:ln>
            <a:noFill/>
          </a:ln>
        </p:spPr>
        <p:txBody>
          <a:bodyPr wrap="none" lIns="0" tIns="0" rIns="0" bIns="0" anchor="t" anchorCtr="0">
            <a:spAutoFit/>
          </a:bodyPr>
          <a:lstStyle/>
          <a:p>
            <a:pPr algn="ctr"/>
            <a:r>
              <a:rPr lang="zh-CN" sz="1350" b="1" dirty="0">
                <a:solidFill>
                  <a:srgbClr val="223A48"/>
                </a:solidFill>
                <a:latin typeface="Arial"/>
                <a:ea typeface="Microsoft YaHei"/>
                <a:cs typeface="Arial"/>
              </a:rPr>
              <a:t>Intention Condition</a:t>
            </a:r>
          </a:p>
        </p:txBody>
      </p:sp>
      <p:sp>
        <p:nvSpPr>
          <p:cNvPr id="41" name="TextBox 41"/>
          <p:cNvSpPr txBox="1"/>
          <p:nvPr/>
        </p:nvSpPr>
        <p:spPr>
          <a:xfrm>
            <a:off x="9426023" y="1434941"/>
            <a:ext cx="807553"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意图 / 语义特征</a:t>
            </a:r>
          </a:p>
        </p:txBody>
      </p:sp>
      <p:sp>
        <p:nvSpPr>
          <p:cNvPr id="42" name="TextBox 42"/>
          <p:cNvSpPr txBox="1"/>
          <p:nvPr/>
        </p:nvSpPr>
        <p:spPr>
          <a:xfrm>
            <a:off x="8236268" y="1656874"/>
            <a:ext cx="570833" cy="198120"/>
          </a:xfrm>
          <a:prstGeom prst="rect">
            <a:avLst/>
          </a:prstGeom>
          <a:noFill/>
          <a:ln>
            <a:noFill/>
          </a:ln>
        </p:spPr>
        <p:txBody>
          <a:bodyPr wrap="none" lIns="0" tIns="0" rIns="0" bIns="0" anchor="t" anchorCtr="0">
            <a:spAutoFit/>
          </a:bodyPr>
          <a:lstStyle/>
          <a:p>
            <a:pPr algn="l"/>
            <a:r>
              <a:rPr lang="zh-CN" sz="975" b="1" dirty="0">
                <a:solidFill>
                  <a:srgbClr val="4CAF50"/>
                </a:solidFill>
                <a:latin typeface="Arial"/>
                <a:ea typeface="Microsoft YaHei"/>
                <a:cs typeface="Arial"/>
              </a:rPr>
              <a:t>关键字段</a:t>
            </a:r>
          </a:p>
        </p:txBody>
      </p:sp>
      <p:sp>
        <p:nvSpPr>
          <p:cNvPr id="43" name="TextBox 43"/>
          <p:cNvSpPr txBox="1"/>
          <p:nvPr/>
        </p:nvSpPr>
        <p:spPr>
          <a:xfrm>
            <a:off x="8294846" y="1878568"/>
            <a:ext cx="884515"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type: intention</a:t>
            </a:r>
          </a:p>
        </p:txBody>
      </p:sp>
      <p:sp>
        <p:nvSpPr>
          <p:cNvPr id="44" name="TextBox 44"/>
          <p:cNvSpPr txBox="1"/>
          <p:nvPr/>
        </p:nvSpPr>
        <p:spPr>
          <a:xfrm>
            <a:off x="8294846" y="2069068"/>
            <a:ext cx="1465338"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intent: { action, object }</a:t>
            </a:r>
          </a:p>
        </p:txBody>
      </p:sp>
      <p:sp>
        <p:nvSpPr>
          <p:cNvPr id="45" name="TextBox 45"/>
          <p:cNvSpPr txBox="1"/>
          <p:nvPr/>
        </p:nvSpPr>
        <p:spPr>
          <a:xfrm>
            <a:off x="8294846" y="2259568"/>
            <a:ext cx="1632109"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intent_statement: "Yes/No"</a:t>
            </a:r>
          </a:p>
        </p:txBody>
      </p:sp>
      <p:sp>
        <p:nvSpPr>
          <p:cNvPr id="46" name="TextBox 46"/>
          <p:cNvSpPr txBox="1"/>
          <p:nvPr/>
        </p:nvSpPr>
        <p:spPr>
          <a:xfrm>
            <a:off x="8294846" y="2450068"/>
            <a:ext cx="1971401"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aspect: functional | non_f | domain</a:t>
            </a:r>
          </a:p>
        </p:txBody>
      </p:sp>
      <p:sp>
        <p:nvSpPr>
          <p:cNvPr id="47" name="TextBox 47"/>
          <p:cNvSpPr txBox="1"/>
          <p:nvPr/>
        </p:nvSpPr>
        <p:spPr>
          <a:xfrm>
            <a:off x="8294846" y="2640568"/>
            <a:ext cx="1810381"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non_functional_type: perf | sec</a:t>
            </a:r>
          </a:p>
        </p:txBody>
      </p:sp>
      <p:sp>
        <p:nvSpPr>
          <p:cNvPr id="48" name="TextBox 48"/>
          <p:cNvSpPr txBox="1"/>
          <p:nvPr/>
        </p:nvSpPr>
        <p:spPr>
          <a:xfrm>
            <a:off x="8236268" y="2895124"/>
            <a:ext cx="570833" cy="198120"/>
          </a:xfrm>
          <a:prstGeom prst="rect">
            <a:avLst/>
          </a:prstGeom>
          <a:noFill/>
          <a:ln>
            <a:noFill/>
          </a:ln>
        </p:spPr>
        <p:txBody>
          <a:bodyPr wrap="none" lIns="0" tIns="0" rIns="0" bIns="0" anchor="t" anchorCtr="0">
            <a:spAutoFit/>
          </a:bodyPr>
          <a:lstStyle/>
          <a:p>
            <a:pPr algn="l"/>
            <a:r>
              <a:rPr lang="zh-CN" sz="975" b="1" dirty="0">
                <a:solidFill>
                  <a:srgbClr val="4CAF50"/>
                </a:solidFill>
                <a:latin typeface="Arial"/>
                <a:ea typeface="Microsoft YaHei"/>
                <a:cs typeface="Arial"/>
              </a:rPr>
              <a:t>执行后端</a:t>
            </a:r>
          </a:p>
        </p:txBody>
      </p:sp>
      <p:sp>
        <p:nvSpPr>
          <p:cNvPr id="49" name="TextBox 49"/>
          <p:cNvSpPr txBox="1"/>
          <p:nvPr/>
        </p:nvSpPr>
        <p:spPr>
          <a:xfrm>
            <a:off x="8237696" y="3116818"/>
            <a:ext cx="1528596"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Cluster Filter (粗粒度过滤)</a:t>
            </a:r>
          </a:p>
        </p:txBody>
      </p:sp>
      <p:sp>
        <p:nvSpPr>
          <p:cNvPr id="50" name="TextBox 50"/>
          <p:cNvSpPr txBox="1"/>
          <p:nvPr/>
        </p:nvSpPr>
        <p:spPr>
          <a:xfrm>
            <a:off x="8237696" y="3307318"/>
            <a:ext cx="1678115"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Embedding Filter (细粒度过滤)</a:t>
            </a:r>
          </a:p>
        </p:txBody>
      </p:sp>
      <p:sp>
        <p:nvSpPr>
          <p:cNvPr id="51" name="TextBox 51"/>
          <p:cNvSpPr txBox="1"/>
          <p:nvPr/>
        </p:nvSpPr>
        <p:spPr>
          <a:xfrm>
            <a:off x="8237696" y="3497818"/>
            <a:ext cx="1666613"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LLM-as-a-Judge (大模型验证)</a:t>
            </a:r>
          </a:p>
        </p:txBody>
      </p:sp>
      <p:sp>
        <p:nvSpPr>
          <p:cNvPr id="52" name="TextBox 52"/>
          <p:cNvSpPr txBox="1"/>
          <p:nvPr/>
        </p:nvSpPr>
        <p:spPr>
          <a:xfrm>
            <a:off x="11618952" y="6593681"/>
            <a:ext cx="111085"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62890"/>
            <a:ext cx="4582287"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SemQL: 从原子条件到逻辑组合查询计划</a:t>
            </a:r>
          </a:p>
        </p:txBody>
      </p:sp>
      <p:sp>
        <p:nvSpPr>
          <p:cNvPr id="4" name="Rectangle 4"/>
          <p:cNvSpPr/>
          <p:nvPr/>
        </p:nvSpPr>
        <p:spPr>
          <a:xfrm>
            <a:off x="571500" y="685800"/>
            <a:ext cx="5143500" cy="5810250"/>
          </a:xfrm>
          <a:prstGeom prst="roundRect">
            <a:avLst>
              <a:gd name="adj" fmla="val 1852"/>
            </a:avLst>
          </a:prstGeom>
          <a:solidFill>
            <a:srgbClr val="FFFFFF"/>
          </a:solidFill>
          <a:ln w="9525">
            <a:solidFill>
              <a:srgbClr val="D0D8E0"/>
            </a:solidFill>
          </a:ln>
        </p:spPr>
      </p:sp>
      <p:sp>
        <p:nvSpPr>
          <p:cNvPr id="5" name="Rectangle 5"/>
          <p:cNvSpPr/>
          <p:nvPr/>
        </p:nvSpPr>
        <p:spPr>
          <a:xfrm>
            <a:off x="571500" y="685800"/>
            <a:ext cx="5143500" cy="400050"/>
          </a:xfrm>
          <a:prstGeom prst="roundRect">
            <a:avLst>
              <a:gd name="adj" fmla="val 23810"/>
            </a:avLst>
          </a:prstGeom>
          <a:solidFill>
            <a:srgbClr val="223A48"/>
          </a:solidFill>
          <a:ln>
            <a:noFill/>
          </a:ln>
        </p:spPr>
      </p:sp>
      <p:sp>
        <p:nvSpPr>
          <p:cNvPr id="6" name="TextBox 6"/>
          <p:cNvSpPr txBox="1"/>
          <p:nvPr/>
        </p:nvSpPr>
        <p:spPr>
          <a:xfrm>
            <a:off x="1846850" y="822960"/>
            <a:ext cx="2592800"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Step 1: SemCon 抽取 (LLM 驱动)</a:t>
            </a:r>
          </a:p>
        </p:txBody>
      </p:sp>
      <p:sp>
        <p:nvSpPr>
          <p:cNvPr id="7" name="Rectangle 7"/>
          <p:cNvSpPr/>
          <p:nvPr/>
        </p:nvSpPr>
        <p:spPr>
          <a:xfrm>
            <a:off x="762000" y="1219200"/>
            <a:ext cx="4762500" cy="381000"/>
          </a:xfrm>
          <a:prstGeom prst="roundRect">
            <a:avLst>
              <a:gd name="adj" fmla="val 15000"/>
            </a:avLst>
          </a:prstGeom>
          <a:solidFill>
            <a:srgbClr val="E8EDF2"/>
          </a:solidFill>
          <a:ln>
            <a:noFill/>
          </a:ln>
        </p:spPr>
      </p:sp>
      <p:sp>
        <p:nvSpPr>
          <p:cNvPr id="8" name="TextBox 8"/>
          <p:cNvSpPr txBox="1"/>
          <p:nvPr/>
        </p:nvSpPr>
        <p:spPr>
          <a:xfrm>
            <a:off x="902018" y="1228249"/>
            <a:ext cx="3171483"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Consolas"/>
                <a:ea typeface="Microsoft YaHei"/>
                <a:cs typeface="Consolas"/>
              </a:rPr>
              <a:t>Query: "Find the login function but not logout"</a:t>
            </a:r>
          </a:p>
        </p:txBody>
      </p:sp>
      <p:sp>
        <p:nvSpPr>
          <p:cNvPr id="9" name="Rectangle 9"/>
          <p:cNvSpPr/>
          <p:nvPr/>
        </p:nvSpPr>
        <p:spPr>
          <a:xfrm>
            <a:off x="762000" y="1733550"/>
            <a:ext cx="4762500" cy="1047750"/>
          </a:xfrm>
          <a:prstGeom prst="roundRect">
            <a:avLst>
              <a:gd name="adj" fmla="val 5455"/>
            </a:avLst>
          </a:prstGeom>
          <a:solidFill>
            <a:srgbClr val="FFFFFF"/>
          </a:solidFill>
          <a:ln w="19050">
            <a:solidFill>
              <a:srgbClr val="2E7E94"/>
            </a:solidFill>
          </a:ln>
        </p:spPr>
      </p:sp>
      <p:sp>
        <p:nvSpPr>
          <p:cNvPr id="10" name="Rectangle 10"/>
          <p:cNvSpPr/>
          <p:nvPr/>
        </p:nvSpPr>
        <p:spPr>
          <a:xfrm>
            <a:off x="762000" y="1733550"/>
            <a:ext cx="4762500" cy="285750"/>
          </a:xfrm>
          <a:prstGeom prst="roundRect">
            <a:avLst>
              <a:gd name="adj" fmla="val 20000"/>
            </a:avLst>
          </a:prstGeom>
          <a:solidFill>
            <a:srgbClr val="2E7E94"/>
          </a:solidFill>
          <a:ln>
            <a:noFill/>
          </a:ln>
        </p:spPr>
      </p:sp>
      <p:sp>
        <p:nvSpPr>
          <p:cNvPr id="11" name="TextBox 11"/>
          <p:cNvSpPr txBox="1"/>
          <p:nvPr/>
        </p:nvSpPr>
        <p:spPr>
          <a:xfrm>
            <a:off x="901065" y="1829752"/>
            <a:ext cx="2276051"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c1: Surface Condition (include)</a:t>
            </a:r>
          </a:p>
        </p:txBody>
      </p:sp>
      <p:sp>
        <p:nvSpPr>
          <p:cNvPr id="12" name="TextBox 12"/>
          <p:cNvSpPr txBox="1"/>
          <p:nvPr/>
        </p:nvSpPr>
        <p:spPr>
          <a:xfrm>
            <a:off x="903446" y="2116693"/>
            <a:ext cx="3880640"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type: "surface", keywords: ["login"], match_kind: "code_element"</a:t>
            </a:r>
          </a:p>
        </p:txBody>
      </p:sp>
      <p:sp>
        <p:nvSpPr>
          <p:cNvPr id="13" name="TextBox 13"/>
          <p:cNvSpPr txBox="1"/>
          <p:nvPr/>
        </p:nvSpPr>
        <p:spPr>
          <a:xfrm>
            <a:off x="902970" y="2379345"/>
            <a:ext cx="1132999" cy="182880"/>
          </a:xfrm>
          <a:prstGeom prst="rect">
            <a:avLst/>
          </a:prstGeom>
          <a:noFill/>
          <a:ln>
            <a:noFill/>
          </a:ln>
        </p:spPr>
        <p:txBody>
          <a:bodyPr wrap="none" lIns="0" tIns="0" rIns="0" bIns="0" anchor="t" anchorCtr="0">
            <a:spAutoFit/>
          </a:bodyPr>
          <a:lstStyle/>
          <a:p>
            <a:pPr algn="l"/>
            <a:r>
              <a:rPr lang="zh-CN" sz="900" dirty="0">
                <a:solidFill>
                  <a:srgbClr val="697A84"/>
                </a:solidFill>
                <a:latin typeface="Arial"/>
                <a:ea typeface="Microsoft YaHei"/>
                <a:cs typeface="Arial"/>
              </a:rPr>
              <a:t>-&gt; 匹配 login 函数名</a:t>
            </a:r>
          </a:p>
        </p:txBody>
      </p:sp>
      <p:sp>
        <p:nvSpPr>
          <p:cNvPr id="14" name="Rectangle 14"/>
          <p:cNvSpPr/>
          <p:nvPr/>
        </p:nvSpPr>
        <p:spPr>
          <a:xfrm>
            <a:off x="762000" y="2933700"/>
            <a:ext cx="4762500" cy="1047750"/>
          </a:xfrm>
          <a:prstGeom prst="roundRect">
            <a:avLst>
              <a:gd name="adj" fmla="val 5455"/>
            </a:avLst>
          </a:prstGeom>
          <a:solidFill>
            <a:srgbClr val="FFFFFF"/>
          </a:solidFill>
          <a:ln w="19050">
            <a:solidFill>
              <a:srgbClr val="4A90A4"/>
            </a:solidFill>
          </a:ln>
        </p:spPr>
      </p:sp>
      <p:sp>
        <p:nvSpPr>
          <p:cNvPr id="15" name="Rectangle 15"/>
          <p:cNvSpPr/>
          <p:nvPr/>
        </p:nvSpPr>
        <p:spPr>
          <a:xfrm>
            <a:off x="762000" y="2933700"/>
            <a:ext cx="4762500" cy="285750"/>
          </a:xfrm>
          <a:prstGeom prst="roundRect">
            <a:avLst>
              <a:gd name="adj" fmla="val 20000"/>
            </a:avLst>
          </a:prstGeom>
          <a:solidFill>
            <a:srgbClr val="4A90A4"/>
          </a:solidFill>
          <a:ln>
            <a:noFill/>
          </a:ln>
        </p:spPr>
      </p:sp>
      <p:sp>
        <p:nvSpPr>
          <p:cNvPr id="16" name="TextBox 16"/>
          <p:cNvSpPr txBox="1"/>
          <p:nvPr/>
        </p:nvSpPr>
        <p:spPr>
          <a:xfrm>
            <a:off x="901065" y="3029902"/>
            <a:ext cx="2283402"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c2: Relation Condition (include)</a:t>
            </a:r>
          </a:p>
        </p:txBody>
      </p:sp>
      <p:sp>
        <p:nvSpPr>
          <p:cNvPr id="17" name="TextBox 17"/>
          <p:cNvSpPr txBox="1"/>
          <p:nvPr/>
        </p:nvSpPr>
        <p:spPr>
          <a:xfrm>
            <a:off x="903446" y="3316843"/>
            <a:ext cx="2816757"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type: "relation", code_element_type: "function"</a:t>
            </a:r>
          </a:p>
        </p:txBody>
      </p:sp>
      <p:sp>
        <p:nvSpPr>
          <p:cNvPr id="18" name="TextBox 18"/>
          <p:cNvSpPr txBox="1"/>
          <p:nvPr/>
        </p:nvSpPr>
        <p:spPr>
          <a:xfrm>
            <a:off x="902970" y="3579495"/>
            <a:ext cx="1271016" cy="182880"/>
          </a:xfrm>
          <a:prstGeom prst="rect">
            <a:avLst/>
          </a:prstGeom>
          <a:noFill/>
          <a:ln>
            <a:noFill/>
          </a:ln>
        </p:spPr>
        <p:txBody>
          <a:bodyPr wrap="none" lIns="0" tIns="0" rIns="0" bIns="0" anchor="t" anchorCtr="0">
            <a:spAutoFit/>
          </a:bodyPr>
          <a:lstStyle/>
          <a:p>
            <a:pPr algn="l"/>
            <a:r>
              <a:rPr lang="zh-CN" sz="900" dirty="0">
                <a:solidFill>
                  <a:srgbClr val="697A84"/>
                </a:solidFill>
                <a:latin typeface="Arial"/>
                <a:ea typeface="Microsoft YaHei"/>
                <a:cs typeface="Arial"/>
              </a:rPr>
              <a:t>-&gt; 限定目标为函数类型</a:t>
            </a:r>
          </a:p>
        </p:txBody>
      </p:sp>
      <p:sp>
        <p:nvSpPr>
          <p:cNvPr id="19" name="Rectangle 19"/>
          <p:cNvSpPr/>
          <p:nvPr/>
        </p:nvSpPr>
        <p:spPr>
          <a:xfrm>
            <a:off x="762000" y="4133850"/>
            <a:ext cx="4762500" cy="1047750"/>
          </a:xfrm>
          <a:prstGeom prst="roundRect">
            <a:avLst>
              <a:gd name="adj" fmla="val 5455"/>
            </a:avLst>
          </a:prstGeom>
          <a:solidFill>
            <a:srgbClr val="FFFFFF"/>
          </a:solidFill>
          <a:ln w="19050">
            <a:solidFill>
              <a:srgbClr val="C0392B"/>
            </a:solidFill>
          </a:ln>
        </p:spPr>
      </p:sp>
      <p:sp>
        <p:nvSpPr>
          <p:cNvPr id="20" name="Rectangle 20"/>
          <p:cNvSpPr/>
          <p:nvPr/>
        </p:nvSpPr>
        <p:spPr>
          <a:xfrm>
            <a:off x="762000" y="4133850"/>
            <a:ext cx="4762500" cy="285750"/>
          </a:xfrm>
          <a:prstGeom prst="roundRect">
            <a:avLst>
              <a:gd name="adj" fmla="val 20000"/>
            </a:avLst>
          </a:prstGeom>
          <a:solidFill>
            <a:srgbClr val="C0392B"/>
          </a:solidFill>
          <a:ln>
            <a:noFill/>
          </a:ln>
        </p:spPr>
      </p:sp>
      <p:sp>
        <p:nvSpPr>
          <p:cNvPr id="21" name="TextBox 21"/>
          <p:cNvSpPr txBox="1"/>
          <p:nvPr/>
        </p:nvSpPr>
        <p:spPr>
          <a:xfrm>
            <a:off x="901065" y="4230052"/>
            <a:ext cx="240101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c3: Intention Condition (exclude)</a:t>
            </a:r>
          </a:p>
        </p:txBody>
      </p:sp>
      <p:sp>
        <p:nvSpPr>
          <p:cNvPr id="22" name="TextBox 22"/>
          <p:cNvSpPr txBox="1"/>
          <p:nvPr/>
        </p:nvSpPr>
        <p:spPr>
          <a:xfrm>
            <a:off x="903446" y="4516993"/>
            <a:ext cx="3581602" cy="175260"/>
          </a:xfrm>
          <a:prstGeom prst="rect">
            <a:avLst/>
          </a:prstGeom>
          <a:noFill/>
          <a:ln>
            <a:noFill/>
          </a:ln>
        </p:spPr>
        <p:txBody>
          <a:bodyPr wrap="none" lIns="0" tIns="0" rIns="0" bIns="0" anchor="t" anchorCtr="0">
            <a:spAutoFit/>
          </a:bodyPr>
          <a:lstStyle/>
          <a:p>
            <a:pPr algn="l"/>
            <a:r>
              <a:rPr lang="zh-CN" sz="862" dirty="0">
                <a:solidFill>
                  <a:srgbClr val="485D6A"/>
                </a:solidFill>
                <a:latin typeface="Consolas"/>
                <a:ea typeface="Microsoft YaHei"/>
                <a:cs typeface="Consolas"/>
              </a:rPr>
              <a:t>type: "intention", property: "exclude", keywords: ["logout"]</a:t>
            </a:r>
          </a:p>
        </p:txBody>
      </p:sp>
      <p:sp>
        <p:nvSpPr>
          <p:cNvPr id="23" name="TextBox 23"/>
          <p:cNvSpPr txBox="1"/>
          <p:nvPr/>
        </p:nvSpPr>
        <p:spPr>
          <a:xfrm>
            <a:off x="902970" y="4779645"/>
            <a:ext cx="1349026" cy="182880"/>
          </a:xfrm>
          <a:prstGeom prst="rect">
            <a:avLst/>
          </a:prstGeom>
          <a:noFill/>
          <a:ln>
            <a:noFill/>
          </a:ln>
        </p:spPr>
        <p:txBody>
          <a:bodyPr wrap="none" lIns="0" tIns="0" rIns="0" bIns="0" anchor="t" anchorCtr="0">
            <a:spAutoFit/>
          </a:bodyPr>
          <a:lstStyle/>
          <a:p>
            <a:pPr algn="l"/>
            <a:r>
              <a:rPr lang="zh-CN" sz="900" dirty="0">
                <a:solidFill>
                  <a:srgbClr val="697A84"/>
                </a:solidFill>
                <a:latin typeface="Arial"/>
                <a:ea typeface="Microsoft YaHei"/>
                <a:cs typeface="Arial"/>
              </a:rPr>
              <a:t>-&gt; 排除 logout 相关代码</a:t>
            </a:r>
          </a:p>
        </p:txBody>
      </p:sp>
      <p:sp>
        <p:nvSpPr>
          <p:cNvPr id="24" name="Rectangle 24"/>
          <p:cNvSpPr/>
          <p:nvPr/>
        </p:nvSpPr>
        <p:spPr>
          <a:xfrm>
            <a:off x="762000" y="5314950"/>
            <a:ext cx="4762500" cy="1028700"/>
          </a:xfrm>
          <a:prstGeom prst="roundRect">
            <a:avLst>
              <a:gd name="adj" fmla="val 5556"/>
            </a:avLst>
          </a:prstGeom>
          <a:solidFill>
            <a:srgbClr val="E8EDF2"/>
          </a:solidFill>
          <a:ln>
            <a:noFill/>
          </a:ln>
        </p:spPr>
      </p:sp>
      <p:sp>
        <p:nvSpPr>
          <p:cNvPr id="25" name="TextBox 25"/>
          <p:cNvSpPr txBox="1"/>
          <p:nvPr/>
        </p:nvSpPr>
        <p:spPr>
          <a:xfrm>
            <a:off x="902018" y="5438299"/>
            <a:ext cx="570833"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实现文件</a:t>
            </a:r>
          </a:p>
        </p:txBody>
      </p:sp>
      <p:sp>
        <p:nvSpPr>
          <p:cNvPr id="26" name="TextBox 26"/>
          <p:cNvSpPr txBox="1"/>
          <p:nvPr/>
        </p:nvSpPr>
        <p:spPr>
          <a:xfrm>
            <a:off x="902970" y="5674995"/>
            <a:ext cx="2453164" cy="182880"/>
          </a:xfrm>
          <a:prstGeom prst="rect">
            <a:avLst/>
          </a:prstGeom>
          <a:noFill/>
          <a:ln>
            <a:noFill/>
          </a:ln>
        </p:spPr>
        <p:txBody>
          <a:bodyPr wrap="none" lIns="0" tIns="0" rIns="0" bIns="0" anchor="t" anchorCtr="0">
            <a:spAutoFit/>
          </a:bodyPr>
          <a:lstStyle/>
          <a:p>
            <a:pPr algn="l"/>
            <a:r>
              <a:rPr lang="zh-CN" sz="900" dirty="0">
                <a:solidFill>
                  <a:srgbClr val="485D6A"/>
                </a:solidFill>
                <a:latin typeface="Consolas"/>
                <a:ea typeface="Microsoft YaHei"/>
                <a:cs typeface="Consolas"/>
              </a:rPr>
              <a:t>llm_semCon_extractor.py -&gt; semCon.json</a:t>
            </a:r>
          </a:p>
        </p:txBody>
      </p:sp>
      <p:sp>
        <p:nvSpPr>
          <p:cNvPr id="27" name="TextBox 27"/>
          <p:cNvSpPr txBox="1"/>
          <p:nvPr/>
        </p:nvSpPr>
        <p:spPr>
          <a:xfrm>
            <a:off x="902970" y="5884545"/>
            <a:ext cx="2099119" cy="182880"/>
          </a:xfrm>
          <a:prstGeom prst="rect">
            <a:avLst/>
          </a:prstGeom>
          <a:noFill/>
          <a:ln>
            <a:noFill/>
          </a:ln>
        </p:spPr>
        <p:txBody>
          <a:bodyPr wrap="none" lIns="0" tIns="0" rIns="0" bIns="0" anchor="t" anchorCtr="0">
            <a:spAutoFit/>
          </a:bodyPr>
          <a:lstStyle/>
          <a:p>
            <a:pPr algn="l"/>
            <a:r>
              <a:rPr lang="zh-CN" sz="900" dirty="0">
                <a:solidFill>
                  <a:srgbClr val="485D6A"/>
                </a:solidFill>
                <a:latin typeface="Consolas"/>
                <a:ea typeface="Microsoft YaHei"/>
                <a:cs typeface="Consolas"/>
              </a:rPr>
              <a:t>semQL_composer.py -&gt; semQL.json</a:t>
            </a:r>
          </a:p>
        </p:txBody>
      </p:sp>
      <p:sp>
        <p:nvSpPr>
          <p:cNvPr id="28" name="TextBox 28"/>
          <p:cNvSpPr txBox="1"/>
          <p:nvPr/>
        </p:nvSpPr>
        <p:spPr>
          <a:xfrm>
            <a:off x="903922" y="6102191"/>
            <a:ext cx="2490764" cy="167640"/>
          </a:xfrm>
          <a:prstGeom prst="rect">
            <a:avLst/>
          </a:prstGeom>
          <a:noFill/>
          <a:ln>
            <a:noFill/>
          </a:ln>
        </p:spPr>
        <p:txBody>
          <a:bodyPr wrap="none" lIns="0" tIns="0" rIns="0" bIns="0" anchor="t" anchorCtr="0">
            <a:spAutoFit/>
          </a:bodyPr>
          <a:lstStyle/>
          <a:p>
            <a:pPr algn="l"/>
            <a:r>
              <a:rPr lang="zh-CN" sz="825" dirty="0">
                <a:solidFill>
                  <a:srgbClr val="697A84"/>
                </a:solidFill>
                <a:latin typeface="Arial"/>
                <a:ea typeface="Microsoft YaHei"/>
                <a:cs typeface="Arial"/>
              </a:rPr>
              <a:t>执行逻辑由 Optimizer 动态规划，不在此阶段固化</a:t>
            </a:r>
          </a:p>
        </p:txBody>
      </p:sp>
      <p:sp>
        <p:nvSpPr>
          <p:cNvPr id="29" name="Rectangle 29"/>
          <p:cNvSpPr/>
          <p:nvPr/>
        </p:nvSpPr>
        <p:spPr>
          <a:xfrm>
            <a:off x="5905500" y="685800"/>
            <a:ext cx="5715000" cy="5810250"/>
          </a:xfrm>
          <a:prstGeom prst="roundRect">
            <a:avLst>
              <a:gd name="adj" fmla="val 1667"/>
            </a:avLst>
          </a:prstGeom>
          <a:solidFill>
            <a:srgbClr val="FFFFFF"/>
          </a:solidFill>
          <a:ln w="9525">
            <a:solidFill>
              <a:srgbClr val="D0D8E0"/>
            </a:solidFill>
          </a:ln>
        </p:spPr>
      </p:sp>
      <p:sp>
        <p:nvSpPr>
          <p:cNvPr id="30" name="Rectangle 30"/>
          <p:cNvSpPr/>
          <p:nvPr/>
        </p:nvSpPr>
        <p:spPr>
          <a:xfrm>
            <a:off x="5905500" y="685800"/>
            <a:ext cx="5715000" cy="400050"/>
          </a:xfrm>
          <a:prstGeom prst="roundRect">
            <a:avLst>
              <a:gd name="adj" fmla="val 23810"/>
            </a:avLst>
          </a:prstGeom>
          <a:solidFill>
            <a:srgbClr val="2E7E94"/>
          </a:solidFill>
          <a:ln>
            <a:noFill/>
          </a:ln>
        </p:spPr>
      </p:sp>
      <p:sp>
        <p:nvSpPr>
          <p:cNvPr id="31" name="TextBox 31"/>
          <p:cNvSpPr txBox="1"/>
          <p:nvPr/>
        </p:nvSpPr>
        <p:spPr>
          <a:xfrm>
            <a:off x="7231370" y="822960"/>
            <a:ext cx="3063259"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Step 2: SemQL 逻辑组合 (Agent/人工)</a:t>
            </a:r>
          </a:p>
        </p:txBody>
      </p:sp>
      <p:sp>
        <p:nvSpPr>
          <p:cNvPr id="32" name="Rectangle 32"/>
          <p:cNvSpPr/>
          <p:nvPr/>
        </p:nvSpPr>
        <p:spPr>
          <a:xfrm>
            <a:off x="6096000" y="1219200"/>
            <a:ext cx="5334000" cy="666750"/>
          </a:xfrm>
          <a:prstGeom prst="roundRect">
            <a:avLst>
              <a:gd name="adj" fmla="val 11429"/>
            </a:avLst>
          </a:prstGeom>
          <a:solidFill>
            <a:srgbClr val="223A48"/>
          </a:solidFill>
          <a:ln>
            <a:noFill/>
          </a:ln>
        </p:spPr>
      </p:sp>
      <p:sp>
        <p:nvSpPr>
          <p:cNvPr id="33" name="TextBox 33"/>
          <p:cNvSpPr txBox="1"/>
          <p:nvPr/>
        </p:nvSpPr>
        <p:spPr>
          <a:xfrm>
            <a:off x="7538009" y="1346835"/>
            <a:ext cx="2449982"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Consolas"/>
                <a:ea typeface="Microsoft YaHei"/>
                <a:cs typeface="Consolas"/>
              </a:rPr>
              <a:t>Logic: (c1 AND c2) AND NOT c3</a:t>
            </a:r>
          </a:p>
        </p:txBody>
      </p:sp>
      <p:sp>
        <p:nvSpPr>
          <p:cNvPr id="34" name="TextBox 34"/>
          <p:cNvSpPr txBox="1"/>
          <p:nvPr/>
        </p:nvSpPr>
        <p:spPr>
          <a:xfrm>
            <a:off x="7825550" y="1648778"/>
            <a:ext cx="1874901" cy="213360"/>
          </a:xfrm>
          <a:prstGeom prst="rect">
            <a:avLst/>
          </a:prstGeom>
          <a:noFill/>
          <a:ln>
            <a:noFill/>
          </a:ln>
        </p:spPr>
        <p:txBody>
          <a:bodyPr wrap="none" lIns="0" tIns="0" rIns="0" bIns="0" anchor="t" anchorCtr="0">
            <a:spAutoFit/>
          </a:bodyPr>
          <a:lstStyle/>
          <a:p>
            <a:pPr algn="ctr"/>
            <a:r>
              <a:rPr lang="zh-CN" sz="1050" dirty="0">
                <a:solidFill>
                  <a:srgbClr val="2E7E94"/>
                </a:solidFill>
                <a:latin typeface="Arial"/>
                <a:ea typeface="Microsoft YaHei"/>
                <a:cs typeface="Arial"/>
              </a:rPr>
              <a:t>匹配 login 函数，排除 logout</a:t>
            </a:r>
          </a:p>
        </p:txBody>
      </p:sp>
      <p:sp>
        <p:nvSpPr>
          <p:cNvPr id="35" name="TextBox 35"/>
          <p:cNvSpPr txBox="1"/>
          <p:nvPr/>
        </p:nvSpPr>
        <p:spPr>
          <a:xfrm>
            <a:off x="6557010" y="2061210"/>
            <a:ext cx="870585" cy="243840"/>
          </a:xfrm>
          <a:prstGeom prst="rect">
            <a:avLst/>
          </a:prstGeom>
          <a:noFill/>
          <a:ln>
            <a:noFill/>
          </a:ln>
        </p:spPr>
        <p:txBody>
          <a:bodyPr wrap="none" lIns="0" tIns="0" rIns="0" bIns="0" anchor="t" anchorCtr="0">
            <a:spAutoFit/>
          </a:bodyPr>
          <a:lstStyle/>
          <a:p>
            <a:pPr algn="l"/>
            <a:r>
              <a:rPr lang="zh-CN" sz="1200" b="1" dirty="0">
                <a:solidFill>
                  <a:srgbClr val="223A48"/>
                </a:solidFill>
                <a:latin typeface="Arial"/>
                <a:ea typeface="Microsoft YaHei"/>
                <a:cs typeface="Arial"/>
              </a:rPr>
              <a:t>逻辑树结构</a:t>
            </a:r>
          </a:p>
        </p:txBody>
      </p:sp>
      <p:sp>
        <p:nvSpPr>
          <p:cNvPr id="36" name="Rectangle 36"/>
          <p:cNvSpPr/>
          <p:nvPr/>
        </p:nvSpPr>
        <p:spPr>
          <a:xfrm>
            <a:off x="8477250" y="2362200"/>
            <a:ext cx="571500" cy="304800"/>
          </a:xfrm>
          <a:prstGeom prst="roundRect">
            <a:avLst>
              <a:gd name="adj" fmla="val 50000"/>
            </a:avLst>
          </a:prstGeom>
          <a:solidFill>
            <a:srgbClr val="2E7E94"/>
          </a:solidFill>
          <a:ln>
            <a:noFill/>
          </a:ln>
        </p:spPr>
      </p:sp>
      <p:sp>
        <p:nvSpPr>
          <p:cNvPr id="37" name="TextBox 37"/>
          <p:cNvSpPr txBox="1"/>
          <p:nvPr/>
        </p:nvSpPr>
        <p:spPr>
          <a:xfrm>
            <a:off x="8637991" y="2476024"/>
            <a:ext cx="25001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AND</a:t>
            </a:r>
          </a:p>
        </p:txBody>
      </p:sp>
      <p:sp>
        <p:nvSpPr>
          <p:cNvPr id="38" name="Line 38"/>
          <p:cNvSpPr/>
          <p:nvPr/>
        </p:nvSpPr>
        <p:spPr>
          <a:xfrm>
            <a:off x="8096250" y="2667000"/>
            <a:ext cx="381000" cy="285750"/>
          </a:xfrm>
          <a:custGeom>
            <a:avLst/>
            <a:gdLst/>
            <a:ahLst/>
            <a:cxnLst/>
            <a:rect l="l" t="t" r="r" b="b"/>
            <a:pathLst>
              <a:path w="381000" h="285750">
                <a:moveTo>
                  <a:pt x="381000" y="0"/>
                </a:moveTo>
                <a:lnTo>
                  <a:pt x="0" y="285750"/>
                </a:lnTo>
              </a:path>
            </a:pathLst>
          </a:custGeom>
          <a:noFill/>
          <a:ln w="19050">
            <a:solidFill>
              <a:srgbClr val="2E7E94"/>
            </a:solidFill>
          </a:ln>
        </p:spPr>
      </p:sp>
      <p:sp>
        <p:nvSpPr>
          <p:cNvPr id="39" name="Line 39"/>
          <p:cNvSpPr/>
          <p:nvPr/>
        </p:nvSpPr>
        <p:spPr>
          <a:xfrm>
            <a:off x="8763000" y="2667000"/>
            <a:ext cx="9525" cy="285750"/>
          </a:xfrm>
          <a:custGeom>
            <a:avLst/>
            <a:gdLst/>
            <a:ahLst/>
            <a:cxnLst/>
            <a:rect l="l" t="t" r="r" b="b"/>
            <a:pathLst>
              <a:path w="9525" h="285750">
                <a:moveTo>
                  <a:pt x="0" y="0"/>
                </a:moveTo>
                <a:lnTo>
                  <a:pt x="0" y="285750"/>
                </a:lnTo>
              </a:path>
            </a:pathLst>
          </a:custGeom>
          <a:noFill/>
          <a:ln w="19050">
            <a:solidFill>
              <a:srgbClr val="2E7E94"/>
            </a:solidFill>
          </a:ln>
        </p:spPr>
      </p:sp>
      <p:sp>
        <p:nvSpPr>
          <p:cNvPr id="40" name="Line 40"/>
          <p:cNvSpPr/>
          <p:nvPr/>
        </p:nvSpPr>
        <p:spPr>
          <a:xfrm>
            <a:off x="9048750" y="2667000"/>
            <a:ext cx="381000" cy="285750"/>
          </a:xfrm>
          <a:custGeom>
            <a:avLst/>
            <a:gdLst/>
            <a:ahLst/>
            <a:cxnLst/>
            <a:rect l="l" t="t" r="r" b="b"/>
            <a:pathLst>
              <a:path w="381000" h="285750">
                <a:moveTo>
                  <a:pt x="0" y="0"/>
                </a:moveTo>
                <a:lnTo>
                  <a:pt x="381000" y="285750"/>
                </a:lnTo>
              </a:path>
            </a:pathLst>
          </a:custGeom>
          <a:noFill/>
          <a:ln w="19050">
            <a:solidFill>
              <a:srgbClr val="2E7E94"/>
            </a:solidFill>
          </a:ln>
        </p:spPr>
      </p:sp>
      <p:sp>
        <p:nvSpPr>
          <p:cNvPr id="41" name="Rectangle 41"/>
          <p:cNvSpPr/>
          <p:nvPr/>
        </p:nvSpPr>
        <p:spPr>
          <a:xfrm>
            <a:off x="7581900" y="2990850"/>
            <a:ext cx="1028700" cy="304800"/>
          </a:xfrm>
          <a:prstGeom prst="roundRect">
            <a:avLst>
              <a:gd name="adj" fmla="val 18750"/>
            </a:avLst>
          </a:prstGeom>
          <a:solidFill>
            <a:srgbClr val="2E7E94"/>
          </a:solidFill>
          <a:ln>
            <a:noFill/>
          </a:ln>
        </p:spPr>
      </p:sp>
      <p:sp>
        <p:nvSpPr>
          <p:cNvPr id="42" name="TextBox 42"/>
          <p:cNvSpPr txBox="1"/>
          <p:nvPr/>
        </p:nvSpPr>
        <p:spPr>
          <a:xfrm>
            <a:off x="7722097" y="3104674"/>
            <a:ext cx="74830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onsolas"/>
                <a:ea typeface="Microsoft YaHei"/>
                <a:cs typeface="Consolas"/>
              </a:rPr>
              <a:t>c1: include</a:t>
            </a:r>
          </a:p>
        </p:txBody>
      </p:sp>
      <p:sp>
        <p:nvSpPr>
          <p:cNvPr id="43" name="Rectangle 43"/>
          <p:cNvSpPr/>
          <p:nvPr/>
        </p:nvSpPr>
        <p:spPr>
          <a:xfrm>
            <a:off x="8248650" y="2990850"/>
            <a:ext cx="1028700" cy="304800"/>
          </a:xfrm>
          <a:prstGeom prst="roundRect">
            <a:avLst>
              <a:gd name="adj" fmla="val 18750"/>
            </a:avLst>
          </a:prstGeom>
          <a:solidFill>
            <a:srgbClr val="4A90A4"/>
          </a:solidFill>
          <a:ln>
            <a:noFill/>
          </a:ln>
        </p:spPr>
      </p:sp>
      <p:sp>
        <p:nvSpPr>
          <p:cNvPr id="44" name="TextBox 44"/>
          <p:cNvSpPr txBox="1"/>
          <p:nvPr/>
        </p:nvSpPr>
        <p:spPr>
          <a:xfrm>
            <a:off x="8388847" y="3104674"/>
            <a:ext cx="74830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onsolas"/>
                <a:ea typeface="Microsoft YaHei"/>
                <a:cs typeface="Consolas"/>
              </a:rPr>
              <a:t>c2: include</a:t>
            </a:r>
          </a:p>
        </p:txBody>
      </p:sp>
      <p:sp>
        <p:nvSpPr>
          <p:cNvPr id="45" name="Rectangle 45"/>
          <p:cNvSpPr/>
          <p:nvPr/>
        </p:nvSpPr>
        <p:spPr>
          <a:xfrm>
            <a:off x="9144000" y="2990850"/>
            <a:ext cx="571500" cy="304800"/>
          </a:xfrm>
          <a:prstGeom prst="roundRect">
            <a:avLst>
              <a:gd name="adj" fmla="val 50000"/>
            </a:avLst>
          </a:prstGeom>
          <a:solidFill>
            <a:srgbClr val="C0392B"/>
          </a:solidFill>
          <a:ln>
            <a:noFill/>
          </a:ln>
        </p:spPr>
      </p:sp>
      <p:sp>
        <p:nvSpPr>
          <p:cNvPr id="46" name="TextBox 46"/>
          <p:cNvSpPr txBox="1"/>
          <p:nvPr/>
        </p:nvSpPr>
        <p:spPr>
          <a:xfrm>
            <a:off x="9291089" y="3104674"/>
            <a:ext cx="27732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NOT</a:t>
            </a:r>
          </a:p>
        </p:txBody>
      </p:sp>
      <p:sp>
        <p:nvSpPr>
          <p:cNvPr id="47" name="Line 47"/>
          <p:cNvSpPr/>
          <p:nvPr/>
        </p:nvSpPr>
        <p:spPr>
          <a:xfrm>
            <a:off x="9429750" y="3295650"/>
            <a:ext cx="9525" cy="285750"/>
          </a:xfrm>
          <a:custGeom>
            <a:avLst/>
            <a:gdLst/>
            <a:ahLst/>
            <a:cxnLst/>
            <a:rect l="l" t="t" r="r" b="b"/>
            <a:pathLst>
              <a:path w="9525" h="285750">
                <a:moveTo>
                  <a:pt x="0" y="0"/>
                </a:moveTo>
                <a:lnTo>
                  <a:pt x="0" y="285750"/>
                </a:lnTo>
              </a:path>
            </a:pathLst>
          </a:custGeom>
          <a:noFill/>
          <a:ln w="19050">
            <a:solidFill>
              <a:srgbClr val="2E7E94"/>
            </a:solidFill>
          </a:ln>
        </p:spPr>
      </p:sp>
      <p:sp>
        <p:nvSpPr>
          <p:cNvPr id="48" name="Rectangle 48"/>
          <p:cNvSpPr/>
          <p:nvPr/>
        </p:nvSpPr>
        <p:spPr>
          <a:xfrm>
            <a:off x="8915400" y="3619500"/>
            <a:ext cx="1028700" cy="304800"/>
          </a:xfrm>
          <a:prstGeom prst="roundRect">
            <a:avLst>
              <a:gd name="adj" fmla="val 18750"/>
            </a:avLst>
          </a:prstGeom>
          <a:solidFill>
            <a:srgbClr val="C0392B"/>
          </a:solidFill>
          <a:ln>
            <a:noFill/>
          </a:ln>
        </p:spPr>
      </p:sp>
      <p:sp>
        <p:nvSpPr>
          <p:cNvPr id="49" name="TextBox 49"/>
          <p:cNvSpPr txBox="1"/>
          <p:nvPr/>
        </p:nvSpPr>
        <p:spPr>
          <a:xfrm>
            <a:off x="9038533" y="3733324"/>
            <a:ext cx="78243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Consolas"/>
                <a:ea typeface="Microsoft YaHei"/>
                <a:cs typeface="Consolas"/>
              </a:rPr>
              <a:t>c3: exclude</a:t>
            </a:r>
          </a:p>
        </p:txBody>
      </p:sp>
      <p:sp>
        <p:nvSpPr>
          <p:cNvPr id="50" name="Rectangle 50"/>
          <p:cNvSpPr/>
          <p:nvPr/>
        </p:nvSpPr>
        <p:spPr>
          <a:xfrm>
            <a:off x="6096000" y="4191000"/>
            <a:ext cx="5334000" cy="2190750"/>
          </a:xfrm>
          <a:prstGeom prst="roundRect">
            <a:avLst>
              <a:gd name="adj" fmla="val 3478"/>
            </a:avLst>
          </a:prstGeom>
          <a:solidFill>
            <a:srgbClr val="E8EDF2"/>
          </a:solidFill>
          <a:ln>
            <a:noFill/>
          </a:ln>
        </p:spPr>
      </p:sp>
      <p:sp>
        <p:nvSpPr>
          <p:cNvPr id="51" name="TextBox 51"/>
          <p:cNvSpPr txBox="1"/>
          <p:nvPr/>
        </p:nvSpPr>
        <p:spPr>
          <a:xfrm>
            <a:off x="6272212" y="4336256"/>
            <a:ext cx="658654" cy="228600"/>
          </a:xfrm>
          <a:prstGeom prst="rect">
            <a:avLst/>
          </a:prstGeom>
          <a:noFill/>
          <a:ln>
            <a:noFill/>
          </a:ln>
        </p:spPr>
        <p:txBody>
          <a:bodyPr wrap="none" lIns="0" tIns="0" rIns="0" bIns="0" anchor="t" anchorCtr="0">
            <a:spAutoFit/>
          </a:bodyPr>
          <a:lstStyle/>
          <a:p>
            <a:pPr algn="l"/>
            <a:r>
              <a:rPr lang="zh-CN" sz="1125" b="1" dirty="0">
                <a:solidFill>
                  <a:srgbClr val="223A48"/>
                </a:solidFill>
                <a:latin typeface="Arial"/>
                <a:ea typeface="Microsoft YaHei"/>
                <a:cs typeface="Arial"/>
              </a:rPr>
              <a:t>设计原则</a:t>
            </a:r>
          </a:p>
        </p:txBody>
      </p:sp>
      <p:sp>
        <p:nvSpPr>
          <p:cNvPr id="52" name="TextBox 52"/>
          <p:cNvSpPr txBox="1"/>
          <p:nvPr/>
        </p:nvSpPr>
        <p:spPr>
          <a:xfrm>
            <a:off x="6273165" y="4630102"/>
            <a:ext cx="1937909" cy="213360"/>
          </a:xfrm>
          <a:prstGeom prst="rect">
            <a:avLst/>
          </a:prstGeom>
          <a:noFill/>
          <a:ln>
            <a:noFill/>
          </a:ln>
        </p:spPr>
        <p:txBody>
          <a:bodyPr wrap="none" lIns="0" tIns="0" rIns="0" bIns="0" anchor="t" anchorCtr="0">
            <a:spAutoFit/>
          </a:bodyPr>
          <a:lstStyle/>
          <a:p>
            <a:pPr algn="l"/>
            <a:r>
              <a:rPr lang="zh-CN" sz="1050" dirty="0">
                <a:solidFill>
                  <a:srgbClr val="485D6A"/>
                </a:solidFill>
                <a:latin typeface="Arial"/>
                <a:ea typeface="Microsoft YaHei"/>
                <a:cs typeface="Arial"/>
              </a:rPr>
              <a:t>- SemCon 表达单个条件是什么</a:t>
            </a:r>
          </a:p>
        </p:txBody>
      </p:sp>
      <p:sp>
        <p:nvSpPr>
          <p:cNvPr id="53" name="TextBox 53"/>
          <p:cNvSpPr txBox="1"/>
          <p:nvPr/>
        </p:nvSpPr>
        <p:spPr>
          <a:xfrm>
            <a:off x="6273165" y="4896802"/>
            <a:ext cx="1748885" cy="213360"/>
          </a:xfrm>
          <a:prstGeom prst="rect">
            <a:avLst/>
          </a:prstGeom>
          <a:noFill/>
          <a:ln>
            <a:noFill/>
          </a:ln>
        </p:spPr>
        <p:txBody>
          <a:bodyPr wrap="none" lIns="0" tIns="0" rIns="0" bIns="0" anchor="t" anchorCtr="0">
            <a:spAutoFit/>
          </a:bodyPr>
          <a:lstStyle/>
          <a:p>
            <a:pPr algn="l"/>
            <a:r>
              <a:rPr lang="zh-CN" sz="1050" dirty="0">
                <a:solidFill>
                  <a:srgbClr val="485D6A"/>
                </a:solidFill>
                <a:latin typeface="Arial"/>
                <a:ea typeface="Microsoft YaHei"/>
                <a:cs typeface="Arial"/>
              </a:rPr>
              <a:t>- SemQL 表达条件如何组合</a:t>
            </a:r>
          </a:p>
        </p:txBody>
      </p:sp>
      <p:sp>
        <p:nvSpPr>
          <p:cNvPr id="54" name="TextBox 54"/>
          <p:cNvSpPr txBox="1"/>
          <p:nvPr/>
        </p:nvSpPr>
        <p:spPr>
          <a:xfrm>
            <a:off x="6273165" y="5163502"/>
            <a:ext cx="1685877" cy="213360"/>
          </a:xfrm>
          <a:prstGeom prst="rect">
            <a:avLst/>
          </a:prstGeom>
          <a:noFill/>
          <a:ln>
            <a:noFill/>
          </a:ln>
        </p:spPr>
        <p:txBody>
          <a:bodyPr wrap="none" lIns="0" tIns="0" rIns="0" bIns="0" anchor="t" anchorCtr="0">
            <a:spAutoFit/>
          </a:bodyPr>
          <a:lstStyle/>
          <a:p>
            <a:pPr algn="l"/>
            <a:r>
              <a:rPr lang="zh-CN" sz="1050" dirty="0">
                <a:solidFill>
                  <a:srgbClr val="485D6A"/>
                </a:solidFill>
                <a:latin typeface="Arial"/>
                <a:ea typeface="Microsoft YaHei"/>
                <a:cs typeface="Arial"/>
              </a:rPr>
              <a:t>- 编译阶段不固化执行顺序</a:t>
            </a:r>
          </a:p>
        </p:txBody>
      </p:sp>
      <p:sp>
        <p:nvSpPr>
          <p:cNvPr id="55" name="TextBox 55"/>
          <p:cNvSpPr txBox="1"/>
          <p:nvPr/>
        </p:nvSpPr>
        <p:spPr>
          <a:xfrm>
            <a:off x="6273165" y="5430202"/>
            <a:ext cx="2581989" cy="213360"/>
          </a:xfrm>
          <a:prstGeom prst="rect">
            <a:avLst/>
          </a:prstGeom>
          <a:noFill/>
          <a:ln>
            <a:noFill/>
          </a:ln>
        </p:spPr>
        <p:txBody>
          <a:bodyPr wrap="none" lIns="0" tIns="0" rIns="0" bIns="0" anchor="t" anchorCtr="0">
            <a:spAutoFit/>
          </a:bodyPr>
          <a:lstStyle/>
          <a:p>
            <a:pPr algn="l"/>
            <a:r>
              <a:rPr lang="zh-CN" sz="1050" dirty="0">
                <a:solidFill>
                  <a:srgbClr val="485D6A"/>
                </a:solidFill>
                <a:latin typeface="Arial"/>
                <a:ea typeface="Microsoft YaHei"/>
                <a:cs typeface="Arial"/>
              </a:rPr>
              <a:t>- AND / OR / NOT 由后续优化器动态规划</a:t>
            </a:r>
          </a:p>
        </p:txBody>
      </p:sp>
      <p:sp>
        <p:nvSpPr>
          <p:cNvPr id="56" name="TextBox 56"/>
          <p:cNvSpPr txBox="1"/>
          <p:nvPr/>
        </p:nvSpPr>
        <p:spPr>
          <a:xfrm>
            <a:off x="6273165" y="5696902"/>
            <a:ext cx="2105930" cy="213360"/>
          </a:xfrm>
          <a:prstGeom prst="rect">
            <a:avLst/>
          </a:prstGeom>
          <a:noFill/>
          <a:ln>
            <a:noFill/>
          </a:ln>
        </p:spPr>
        <p:txBody>
          <a:bodyPr wrap="none" lIns="0" tIns="0" rIns="0" bIns="0" anchor="t" anchorCtr="0">
            <a:spAutoFit/>
          </a:bodyPr>
          <a:lstStyle/>
          <a:p>
            <a:pPr algn="l"/>
            <a:r>
              <a:rPr lang="zh-CN" sz="1050" dirty="0">
                <a:solidFill>
                  <a:srgbClr val="485D6A"/>
                </a:solidFill>
                <a:latin typeface="Arial"/>
                <a:ea typeface="Microsoft YaHei"/>
                <a:cs typeface="Arial"/>
              </a:rPr>
              <a:t>- 执行逻辑随候选规模自适应调整</a:t>
            </a:r>
          </a:p>
        </p:txBody>
      </p:sp>
      <p:sp>
        <p:nvSpPr>
          <p:cNvPr id="57" name="TextBox 57"/>
          <p:cNvSpPr txBox="1"/>
          <p:nvPr/>
        </p:nvSpPr>
        <p:spPr>
          <a:xfrm>
            <a:off x="6274118" y="6085999"/>
            <a:ext cx="3471821" cy="198120"/>
          </a:xfrm>
          <a:prstGeom prst="rect">
            <a:avLst/>
          </a:prstGeom>
          <a:noFill/>
          <a:ln>
            <a:noFill/>
          </a:ln>
        </p:spPr>
        <p:txBody>
          <a:bodyPr wrap="none" lIns="0" tIns="0" rIns="0" bIns="0" anchor="t" anchorCtr="0">
            <a:spAutoFit/>
          </a:bodyPr>
          <a:lstStyle/>
          <a:p>
            <a:pPr algn="l"/>
            <a:r>
              <a:rPr lang="zh-CN" sz="975" b="1" dirty="0">
                <a:solidFill>
                  <a:srgbClr val="2E7E94"/>
                </a:solidFill>
                <a:latin typeface="Arial"/>
                <a:ea typeface="Microsoft YaHei"/>
                <a:cs typeface="Arial"/>
              </a:rPr>
              <a:t>SemCon 提供可组合性，SemQL 提供可优化性与可解释性</a:t>
            </a:r>
          </a:p>
        </p:txBody>
      </p:sp>
      <p:sp>
        <p:nvSpPr>
          <p:cNvPr id="58" name="TextBox 58"/>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Rectangle 3"/>
          <p:cNvSpPr/>
          <p:nvPr/>
        </p:nvSpPr>
        <p:spPr>
          <a:xfrm>
            <a:off x="0" y="0"/>
            <a:ext cx="12192000" cy="2667000"/>
          </a:xfrm>
          <a:prstGeom prst="rect">
            <a:avLst/>
          </a:prstGeom>
          <a:solidFill>
            <a:srgbClr val="223A48"/>
          </a:solidFill>
          <a:ln>
            <a:noFill/>
          </a:ln>
        </p:spPr>
      </p:sp>
      <p:sp>
        <p:nvSpPr>
          <p:cNvPr id="4" name="TextBox 4"/>
          <p:cNvSpPr txBox="1"/>
          <p:nvPr/>
        </p:nvSpPr>
        <p:spPr>
          <a:xfrm>
            <a:off x="708660" y="1165860"/>
            <a:ext cx="430120" cy="853440"/>
          </a:xfrm>
          <a:prstGeom prst="rect">
            <a:avLst/>
          </a:prstGeom>
          <a:noFill/>
          <a:ln>
            <a:noFill/>
          </a:ln>
        </p:spPr>
        <p:txBody>
          <a:bodyPr wrap="none" lIns="0" tIns="0" rIns="0" bIns="0" anchor="t" anchorCtr="0">
            <a:spAutoFit/>
          </a:bodyPr>
          <a:lstStyle/>
          <a:p>
            <a:pPr algn="l"/>
            <a:r>
              <a:rPr lang="zh-CN" sz="4200" b="1" dirty="0">
                <a:solidFill>
                  <a:srgbClr val="2E7E94"/>
                </a:solidFill>
                <a:latin typeface="Arial"/>
                <a:ea typeface="Microsoft YaHei"/>
                <a:cs typeface="Arial"/>
              </a:rPr>
              <a:t>4</a:t>
            </a:r>
          </a:p>
        </p:txBody>
      </p:sp>
      <p:sp>
        <p:nvSpPr>
          <p:cNvPr id="5" name="TextBox 5"/>
          <p:cNvSpPr txBox="1"/>
          <p:nvPr/>
        </p:nvSpPr>
        <p:spPr>
          <a:xfrm>
            <a:off x="1495425" y="1376362"/>
            <a:ext cx="1317308"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方法流程</a:t>
            </a:r>
          </a:p>
        </p:txBody>
      </p:sp>
      <p:sp>
        <p:nvSpPr>
          <p:cNvPr id="6" name="Rectangle 6"/>
          <p:cNvSpPr/>
          <p:nvPr/>
        </p:nvSpPr>
        <p:spPr>
          <a:xfrm>
            <a:off x="952500" y="3429000"/>
            <a:ext cx="38100" cy="2095500"/>
          </a:xfrm>
          <a:prstGeom prst="roundRect">
            <a:avLst>
              <a:gd name="adj" fmla="val 50000"/>
            </a:avLst>
          </a:prstGeom>
          <a:solidFill>
            <a:srgbClr val="2E7E94"/>
          </a:solidFill>
          <a:ln>
            <a:noFill/>
          </a:ln>
        </p:spPr>
      </p:sp>
      <p:sp>
        <p:nvSpPr>
          <p:cNvPr id="7" name="TextBox 7"/>
          <p:cNvSpPr txBox="1"/>
          <p:nvPr/>
        </p:nvSpPr>
        <p:spPr>
          <a:xfrm>
            <a:off x="1234440" y="3996690"/>
            <a:ext cx="5086350" cy="365760"/>
          </a:xfrm>
          <a:prstGeom prst="rect">
            <a:avLst/>
          </a:prstGeom>
          <a:noFill/>
          <a:ln>
            <a:noFill/>
          </a:ln>
        </p:spPr>
        <p:txBody>
          <a:bodyPr wrap="none" lIns="0" tIns="0" rIns="0" bIns="0" anchor="t" anchorCtr="0">
            <a:spAutoFit/>
          </a:bodyPr>
          <a:lstStyle/>
          <a:p>
            <a:pPr algn="l"/>
            <a:r>
              <a:rPr lang="zh-CN" sz="1800" dirty="0">
                <a:solidFill>
                  <a:srgbClr val="223A48"/>
                </a:solidFill>
                <a:latin typeface="Arial"/>
                <a:ea typeface="Microsoft YaHei"/>
                <a:cs typeface="Arial"/>
              </a:rPr>
              <a:t>从自然语言到带证据代码子图的端到端执行架构</a:t>
            </a:r>
          </a:p>
        </p:txBody>
      </p:sp>
      <p:sp>
        <p:nvSpPr>
          <p:cNvPr id="8" name="TextBox 8"/>
          <p:cNvSpPr txBox="1"/>
          <p:nvPr/>
        </p:nvSpPr>
        <p:spPr>
          <a:xfrm>
            <a:off x="1241108" y="4529614"/>
            <a:ext cx="8388929" cy="259080"/>
          </a:xfrm>
          <a:prstGeom prst="rect">
            <a:avLst/>
          </a:prstGeom>
          <a:noFill/>
          <a:ln>
            <a:noFill/>
          </a:ln>
        </p:spPr>
        <p:txBody>
          <a:bodyPr wrap="none" lIns="0" tIns="0" rIns="0" bIns="0" anchor="t" anchorCtr="0">
            <a:spAutoFit/>
          </a:bodyPr>
          <a:lstStyle/>
          <a:p>
            <a:pPr algn="l"/>
            <a:r>
              <a:rPr lang="zh-CN" sz="1275" dirty="0">
                <a:solidFill>
                  <a:srgbClr val="485D6A"/>
                </a:solidFill>
                <a:latin typeface="Arial"/>
                <a:ea typeface="Microsoft YaHei"/>
                <a:cs typeface="Arial"/>
              </a:rPr>
              <a:t>Query Compiler -&gt; Query Optimizer (RBO/CBO) -&gt; Executor -&gt; Bundle Generator -&gt; Grouped Reranker</a:t>
            </a:r>
          </a:p>
        </p:txBody>
      </p:sp>
      <p:sp>
        <p:nvSpPr>
          <p:cNvPr id="9" name="TextBox 9"/>
          <p:cNvSpPr txBox="1"/>
          <p:nvPr/>
        </p:nvSpPr>
        <p:spPr>
          <a:xfrm>
            <a:off x="1242060" y="5013960"/>
            <a:ext cx="5183124" cy="243840"/>
          </a:xfrm>
          <a:prstGeom prst="rect">
            <a:avLst/>
          </a:prstGeom>
          <a:noFill/>
          <a:ln>
            <a:noFill/>
          </a:ln>
        </p:spPr>
        <p:txBody>
          <a:bodyPr wrap="none" lIns="0" tIns="0" rIns="0" bIns="0" anchor="t" anchorCtr="0">
            <a:spAutoFit/>
          </a:bodyPr>
          <a:lstStyle/>
          <a:p>
            <a:pPr algn="l"/>
            <a:r>
              <a:rPr lang="zh-CN" sz="1200" dirty="0">
                <a:solidFill>
                  <a:srgbClr val="697A84"/>
                </a:solidFill>
                <a:latin typeface="Arial"/>
                <a:ea typeface="Microsoft YaHei"/>
                <a:cs typeface="Arial"/>
              </a:rPr>
              <a:t>五阶段流水线，按 Surface -&gt; Relation -&gt; Intention 代价递增顺序执行</a:t>
            </a:r>
          </a:p>
        </p:txBody>
      </p:sp>
      <p:sp>
        <p:nvSpPr>
          <p:cNvPr id="10" name="TextBox 10"/>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43840"/>
            <a:ext cx="7543657"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端到端流程: NL -&gt; SemCon -&gt; SemQL -&gt; 分层执行 -&gt; Bundle 输出</a:t>
            </a:r>
          </a:p>
        </p:txBody>
      </p:sp>
      <p:sp>
        <p:nvSpPr>
          <p:cNvPr id="4" name="Rectangle 4"/>
          <p:cNvSpPr/>
          <p:nvPr/>
        </p:nvSpPr>
        <p:spPr>
          <a:xfrm>
            <a:off x="571500" y="647700"/>
            <a:ext cx="11049000" cy="361950"/>
          </a:xfrm>
          <a:prstGeom prst="roundRect">
            <a:avLst>
              <a:gd name="adj" fmla="val 15789"/>
            </a:avLst>
          </a:prstGeom>
          <a:solidFill>
            <a:srgbClr val="223A48"/>
          </a:solidFill>
          <a:ln>
            <a:noFill/>
          </a:ln>
        </p:spPr>
      </p:sp>
      <p:sp>
        <p:nvSpPr>
          <p:cNvPr id="5" name="TextBox 5"/>
          <p:cNvSpPr txBox="1"/>
          <p:nvPr/>
        </p:nvSpPr>
        <p:spPr>
          <a:xfrm>
            <a:off x="3813429" y="773906"/>
            <a:ext cx="4565142"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Arial"/>
                <a:ea typeface="Microsoft YaHei"/>
                <a:cs typeface="Arial"/>
              </a:rPr>
              <a:t>Natural Language Query -&gt; Final Results (带证据的分层输出)</a:t>
            </a:r>
          </a:p>
        </p:txBody>
      </p:sp>
      <p:sp>
        <p:nvSpPr>
          <p:cNvPr id="6" name="Rectangle 6"/>
          <p:cNvSpPr/>
          <p:nvPr/>
        </p:nvSpPr>
        <p:spPr>
          <a:xfrm>
            <a:off x="571500" y="1190625"/>
            <a:ext cx="11049000" cy="666750"/>
          </a:xfrm>
          <a:prstGeom prst="roundRect">
            <a:avLst>
              <a:gd name="adj" fmla="val 11429"/>
            </a:avLst>
          </a:prstGeom>
          <a:solidFill>
            <a:srgbClr val="FFFFFF"/>
          </a:solidFill>
          <a:ln w="19050">
            <a:solidFill>
              <a:srgbClr val="2E7E94"/>
            </a:solidFill>
          </a:ln>
        </p:spPr>
      </p:sp>
      <p:sp>
        <p:nvSpPr>
          <p:cNvPr id="7" name="Rectangle 7"/>
          <p:cNvSpPr/>
          <p:nvPr/>
        </p:nvSpPr>
        <p:spPr>
          <a:xfrm>
            <a:off x="571500" y="1190625"/>
            <a:ext cx="76200" cy="666750"/>
          </a:xfrm>
          <a:prstGeom prst="roundRect">
            <a:avLst>
              <a:gd name="adj" fmla="val 25000"/>
            </a:avLst>
          </a:prstGeom>
          <a:solidFill>
            <a:srgbClr val="2E7E94"/>
          </a:solidFill>
          <a:ln>
            <a:noFill/>
          </a:ln>
        </p:spPr>
      </p:sp>
      <p:sp>
        <p:nvSpPr>
          <p:cNvPr id="8" name="TextBox 8"/>
          <p:cNvSpPr txBox="1"/>
          <p:nvPr/>
        </p:nvSpPr>
        <p:spPr>
          <a:xfrm>
            <a:off x="802005" y="1311592"/>
            <a:ext cx="1423614" cy="274320"/>
          </a:xfrm>
          <a:prstGeom prst="rect">
            <a:avLst/>
          </a:prstGeom>
          <a:noFill/>
          <a:ln>
            <a:noFill/>
          </a:ln>
        </p:spPr>
        <p:txBody>
          <a:bodyPr wrap="none" lIns="0" tIns="0" rIns="0" bIns="0" anchor="t" anchorCtr="0">
            <a:spAutoFit/>
          </a:bodyPr>
          <a:lstStyle/>
          <a:p>
            <a:pPr algn="l"/>
            <a:r>
              <a:rPr lang="zh-CN" sz="1350" b="1" dirty="0">
                <a:solidFill>
                  <a:srgbClr val="2E7E94"/>
                </a:solidFill>
                <a:latin typeface="Arial"/>
                <a:ea typeface="Microsoft YaHei"/>
                <a:cs typeface="Arial"/>
              </a:rPr>
              <a:t>Query Compiler</a:t>
            </a:r>
          </a:p>
        </p:txBody>
      </p:sp>
      <p:sp>
        <p:nvSpPr>
          <p:cNvPr id="9" name="TextBox 9"/>
          <p:cNvSpPr txBox="1"/>
          <p:nvPr/>
        </p:nvSpPr>
        <p:spPr>
          <a:xfrm>
            <a:off x="4748212" y="1335881"/>
            <a:ext cx="1701284" cy="228600"/>
          </a:xfrm>
          <a:prstGeom prst="rect">
            <a:avLst/>
          </a:prstGeom>
          <a:noFill/>
          <a:ln>
            <a:noFill/>
          </a:ln>
        </p:spPr>
        <p:txBody>
          <a:bodyPr wrap="none" lIns="0" tIns="0" rIns="0" bIns="0" anchor="t" anchorCtr="0">
            <a:spAutoFit/>
          </a:bodyPr>
          <a:lstStyle/>
          <a:p>
            <a:pPr algn="l"/>
            <a:r>
              <a:rPr lang="zh-CN" sz="1125" dirty="0">
                <a:solidFill>
                  <a:srgbClr val="223A48"/>
                </a:solidFill>
                <a:latin typeface="Arial"/>
                <a:ea typeface="Microsoft YaHei"/>
                <a:cs typeface="Arial"/>
              </a:rPr>
              <a:t>NL -&gt; SemCon -&gt; SemQL</a:t>
            </a:r>
          </a:p>
        </p:txBody>
      </p:sp>
      <p:sp>
        <p:nvSpPr>
          <p:cNvPr id="10" name="TextBox 10"/>
          <p:cNvSpPr txBox="1"/>
          <p:nvPr/>
        </p:nvSpPr>
        <p:spPr>
          <a:xfrm>
            <a:off x="807244" y="1584722"/>
            <a:ext cx="4849416" cy="190500"/>
          </a:xfrm>
          <a:prstGeom prst="rect">
            <a:avLst/>
          </a:prstGeom>
          <a:noFill/>
          <a:ln>
            <a:noFill/>
          </a:ln>
        </p:spPr>
        <p:txBody>
          <a:bodyPr wrap="none" lIns="0" tIns="0" rIns="0" bIns="0" anchor="t" anchorCtr="0">
            <a:spAutoFit/>
          </a:bodyPr>
          <a:lstStyle/>
          <a:p>
            <a:pPr algn="l"/>
            <a:r>
              <a:rPr lang="zh-CN" sz="938" dirty="0">
                <a:solidFill>
                  <a:srgbClr val="697A84"/>
                </a:solidFill>
                <a:latin typeface="Arial"/>
                <a:ea typeface="Microsoft YaHei"/>
                <a:cs typeface="Arial"/>
              </a:rPr>
              <a:t>LLM 驱动 SemCon 抽取 (Surface / Relation / Intention) -&gt; Agent/人工组织 SemQL</a:t>
            </a:r>
          </a:p>
        </p:txBody>
      </p:sp>
      <p:sp>
        <p:nvSpPr>
          <p:cNvPr id="11" name="Polygon 11"/>
          <p:cNvSpPr/>
          <p:nvPr/>
        </p:nvSpPr>
        <p:spPr>
          <a:xfrm>
            <a:off x="6038850" y="1876425"/>
            <a:ext cx="114300" cy="57150"/>
          </a:xfrm>
          <a:custGeom>
            <a:avLst/>
            <a:gdLst/>
            <a:ahLst/>
            <a:cxnLst/>
            <a:rect l="l" t="t" r="r" b="b"/>
            <a:pathLst>
              <a:path w="114300" h="57150">
                <a:moveTo>
                  <a:pt x="57150" y="57150"/>
                </a:moveTo>
                <a:lnTo>
                  <a:pt x="0" y="0"/>
                </a:lnTo>
                <a:lnTo>
                  <a:pt x="114300" y="0"/>
                </a:lnTo>
                <a:close/>
              </a:path>
            </a:pathLst>
          </a:custGeom>
          <a:solidFill>
            <a:srgbClr val="2E7E94"/>
          </a:solidFill>
          <a:ln>
            <a:noFill/>
          </a:ln>
        </p:spPr>
      </p:sp>
      <p:sp>
        <p:nvSpPr>
          <p:cNvPr id="12" name="Rectangle 12"/>
          <p:cNvSpPr/>
          <p:nvPr/>
        </p:nvSpPr>
        <p:spPr>
          <a:xfrm>
            <a:off x="571500" y="2085975"/>
            <a:ext cx="11049000" cy="666750"/>
          </a:xfrm>
          <a:prstGeom prst="roundRect">
            <a:avLst>
              <a:gd name="adj" fmla="val 11429"/>
            </a:avLst>
          </a:prstGeom>
          <a:solidFill>
            <a:srgbClr val="FFFFFF"/>
          </a:solidFill>
          <a:ln w="19050">
            <a:solidFill>
              <a:srgbClr val="4A90A4"/>
            </a:solidFill>
          </a:ln>
        </p:spPr>
      </p:sp>
      <p:sp>
        <p:nvSpPr>
          <p:cNvPr id="13" name="Rectangle 13"/>
          <p:cNvSpPr/>
          <p:nvPr/>
        </p:nvSpPr>
        <p:spPr>
          <a:xfrm>
            <a:off x="571500" y="2085975"/>
            <a:ext cx="76200" cy="666750"/>
          </a:xfrm>
          <a:prstGeom prst="roundRect">
            <a:avLst>
              <a:gd name="adj" fmla="val 25000"/>
            </a:avLst>
          </a:prstGeom>
          <a:solidFill>
            <a:srgbClr val="4A90A4"/>
          </a:solidFill>
          <a:ln>
            <a:noFill/>
          </a:ln>
        </p:spPr>
      </p:sp>
      <p:sp>
        <p:nvSpPr>
          <p:cNvPr id="14" name="TextBox 14"/>
          <p:cNvSpPr txBox="1"/>
          <p:nvPr/>
        </p:nvSpPr>
        <p:spPr>
          <a:xfrm>
            <a:off x="802005" y="2206942"/>
            <a:ext cx="2633365" cy="274320"/>
          </a:xfrm>
          <a:prstGeom prst="rect">
            <a:avLst/>
          </a:prstGeom>
          <a:noFill/>
          <a:ln>
            <a:noFill/>
          </a:ln>
        </p:spPr>
        <p:txBody>
          <a:bodyPr wrap="none" lIns="0" tIns="0" rIns="0" bIns="0" anchor="t" anchorCtr="0">
            <a:spAutoFit/>
          </a:bodyPr>
          <a:lstStyle/>
          <a:p>
            <a:pPr algn="l"/>
            <a:r>
              <a:rPr lang="zh-CN" sz="1350" b="1" dirty="0">
                <a:solidFill>
                  <a:srgbClr val="4A90A4"/>
                </a:solidFill>
                <a:latin typeface="Arial"/>
                <a:ea typeface="Microsoft YaHei"/>
                <a:cs typeface="Arial"/>
              </a:rPr>
              <a:t>Query Optimizer (RBO/CBO)</a:t>
            </a:r>
          </a:p>
        </p:txBody>
      </p:sp>
      <p:sp>
        <p:nvSpPr>
          <p:cNvPr id="15" name="TextBox 15"/>
          <p:cNvSpPr txBox="1"/>
          <p:nvPr/>
        </p:nvSpPr>
        <p:spPr>
          <a:xfrm>
            <a:off x="4748212" y="2231231"/>
            <a:ext cx="1783794" cy="228600"/>
          </a:xfrm>
          <a:prstGeom prst="rect">
            <a:avLst/>
          </a:prstGeom>
          <a:noFill/>
          <a:ln>
            <a:noFill/>
          </a:ln>
        </p:spPr>
        <p:txBody>
          <a:bodyPr wrap="none" lIns="0" tIns="0" rIns="0" bIns="0" anchor="t" anchorCtr="0">
            <a:spAutoFit/>
          </a:bodyPr>
          <a:lstStyle/>
          <a:p>
            <a:pPr algn="l"/>
            <a:r>
              <a:rPr lang="zh-CN" sz="1125" dirty="0">
                <a:solidFill>
                  <a:srgbClr val="223A48"/>
                </a:solidFill>
                <a:latin typeface="Arial"/>
                <a:ea typeface="Microsoft YaHei"/>
                <a:cs typeface="Arial"/>
              </a:rPr>
              <a:t>逻辑计划 -&gt; 物理执行计划</a:t>
            </a:r>
          </a:p>
        </p:txBody>
      </p:sp>
      <p:sp>
        <p:nvSpPr>
          <p:cNvPr id="16" name="TextBox 16"/>
          <p:cNvSpPr txBox="1"/>
          <p:nvPr/>
        </p:nvSpPr>
        <p:spPr>
          <a:xfrm>
            <a:off x="807244" y="2480072"/>
            <a:ext cx="5880795" cy="190500"/>
          </a:xfrm>
          <a:prstGeom prst="rect">
            <a:avLst/>
          </a:prstGeom>
          <a:noFill/>
          <a:ln>
            <a:noFill/>
          </a:ln>
        </p:spPr>
        <p:txBody>
          <a:bodyPr wrap="none" lIns="0" tIns="0" rIns="0" bIns="0" anchor="t" anchorCtr="0">
            <a:spAutoFit/>
          </a:bodyPr>
          <a:lstStyle/>
          <a:p>
            <a:pPr algn="l"/>
            <a:r>
              <a:rPr lang="zh-CN" sz="938" dirty="0">
                <a:solidFill>
                  <a:srgbClr val="697A84"/>
                </a:solidFill>
                <a:latin typeface="Arial"/>
                <a:ea typeface="Microsoft YaHei"/>
                <a:cs typeface="Arial"/>
              </a:rPr>
              <a:t>RBO: Intention-Last / Surface-First / Dangling Ban / NOT-Pushdown | CBO: 选择性优先 · 动态截断</a:t>
            </a:r>
          </a:p>
        </p:txBody>
      </p:sp>
      <p:sp>
        <p:nvSpPr>
          <p:cNvPr id="17" name="Polygon 17"/>
          <p:cNvSpPr/>
          <p:nvPr/>
        </p:nvSpPr>
        <p:spPr>
          <a:xfrm>
            <a:off x="6038850" y="2771775"/>
            <a:ext cx="114300" cy="57150"/>
          </a:xfrm>
          <a:custGeom>
            <a:avLst/>
            <a:gdLst/>
            <a:ahLst/>
            <a:cxnLst/>
            <a:rect l="l" t="t" r="r" b="b"/>
            <a:pathLst>
              <a:path w="114300" h="57150">
                <a:moveTo>
                  <a:pt x="57150" y="57150"/>
                </a:moveTo>
                <a:lnTo>
                  <a:pt x="0" y="0"/>
                </a:lnTo>
                <a:lnTo>
                  <a:pt x="114300" y="0"/>
                </a:lnTo>
                <a:close/>
              </a:path>
            </a:pathLst>
          </a:custGeom>
          <a:solidFill>
            <a:srgbClr val="2E7E94"/>
          </a:solidFill>
          <a:ln>
            <a:noFill/>
          </a:ln>
        </p:spPr>
      </p:sp>
      <p:sp>
        <p:nvSpPr>
          <p:cNvPr id="18" name="Rectangle 18"/>
          <p:cNvSpPr/>
          <p:nvPr/>
        </p:nvSpPr>
        <p:spPr>
          <a:xfrm>
            <a:off x="571500" y="2981325"/>
            <a:ext cx="11049000" cy="1905000"/>
          </a:xfrm>
          <a:prstGeom prst="roundRect">
            <a:avLst>
              <a:gd name="adj" fmla="val 4000"/>
            </a:avLst>
          </a:prstGeom>
          <a:solidFill>
            <a:srgbClr val="FFFFFF"/>
          </a:solidFill>
          <a:ln w="19050">
            <a:solidFill>
              <a:srgbClr val="2E7E94"/>
            </a:solidFill>
          </a:ln>
        </p:spPr>
      </p:sp>
      <p:sp>
        <p:nvSpPr>
          <p:cNvPr id="19" name="Rectangle 19"/>
          <p:cNvSpPr/>
          <p:nvPr/>
        </p:nvSpPr>
        <p:spPr>
          <a:xfrm>
            <a:off x="571500" y="2981325"/>
            <a:ext cx="76200" cy="1905000"/>
          </a:xfrm>
          <a:prstGeom prst="roundRect">
            <a:avLst>
              <a:gd name="adj" fmla="val 25000"/>
            </a:avLst>
          </a:prstGeom>
          <a:solidFill>
            <a:srgbClr val="2E7E94"/>
          </a:solidFill>
          <a:ln>
            <a:noFill/>
          </a:ln>
        </p:spPr>
      </p:sp>
      <p:sp>
        <p:nvSpPr>
          <p:cNvPr id="20" name="TextBox 20"/>
          <p:cNvSpPr txBox="1"/>
          <p:nvPr/>
        </p:nvSpPr>
        <p:spPr>
          <a:xfrm>
            <a:off x="802005" y="3121342"/>
            <a:ext cx="2264769" cy="274320"/>
          </a:xfrm>
          <a:prstGeom prst="rect">
            <a:avLst/>
          </a:prstGeom>
          <a:noFill/>
          <a:ln>
            <a:noFill/>
          </a:ln>
        </p:spPr>
        <p:txBody>
          <a:bodyPr wrap="none" lIns="0" tIns="0" rIns="0" bIns="0" anchor="t" anchorCtr="0">
            <a:spAutoFit/>
          </a:bodyPr>
          <a:lstStyle/>
          <a:p>
            <a:pPr algn="l"/>
            <a:r>
              <a:rPr lang="zh-CN" sz="1350" b="1" dirty="0">
                <a:solidFill>
                  <a:srgbClr val="2E7E94"/>
                </a:solidFill>
                <a:latin typeface="Arial"/>
                <a:ea typeface="Microsoft YaHei"/>
                <a:cs typeface="Arial"/>
              </a:rPr>
              <a:t>Executor (三级执行引擎)</a:t>
            </a:r>
          </a:p>
        </p:txBody>
      </p:sp>
      <p:sp>
        <p:nvSpPr>
          <p:cNvPr id="21" name="TextBox 21"/>
          <p:cNvSpPr txBox="1"/>
          <p:nvPr/>
        </p:nvSpPr>
        <p:spPr>
          <a:xfrm>
            <a:off x="806768" y="3390424"/>
            <a:ext cx="4978384" cy="198120"/>
          </a:xfrm>
          <a:prstGeom prst="rect">
            <a:avLst/>
          </a:prstGeom>
          <a:noFill/>
          <a:ln>
            <a:noFill/>
          </a:ln>
        </p:spPr>
        <p:txBody>
          <a:bodyPr wrap="none" lIns="0" tIns="0" rIns="0" bIns="0" anchor="t" anchorCtr="0">
            <a:spAutoFit/>
          </a:bodyPr>
          <a:lstStyle/>
          <a:p>
            <a:pPr algn="l"/>
            <a:r>
              <a:rPr lang="zh-CN" sz="975" dirty="0">
                <a:solidFill>
                  <a:srgbClr val="697A84"/>
                </a:solidFill>
                <a:latin typeface="Arial"/>
                <a:ea typeface="Microsoft YaHei"/>
                <a:cs typeface="Arial"/>
              </a:rPr>
              <a:t>按 Surface -&gt; Relation -&gt; Intention 代价递增顺序执行 | 每级在前一级结果集上操作</a:t>
            </a:r>
          </a:p>
        </p:txBody>
      </p:sp>
      <p:sp>
        <p:nvSpPr>
          <p:cNvPr id="22" name="Rectangle 22"/>
          <p:cNvSpPr/>
          <p:nvPr/>
        </p:nvSpPr>
        <p:spPr>
          <a:xfrm>
            <a:off x="819150" y="3705225"/>
            <a:ext cx="3429000" cy="666750"/>
          </a:xfrm>
          <a:prstGeom prst="roundRect">
            <a:avLst>
              <a:gd name="adj" fmla="val 8571"/>
            </a:avLst>
          </a:prstGeom>
          <a:solidFill>
            <a:srgbClr val="E8EDF2"/>
          </a:solidFill>
          <a:ln>
            <a:noFill/>
          </a:ln>
        </p:spPr>
      </p:sp>
      <p:sp>
        <p:nvSpPr>
          <p:cNvPr id="23" name="TextBox 23"/>
          <p:cNvSpPr txBox="1"/>
          <p:nvPr/>
        </p:nvSpPr>
        <p:spPr>
          <a:xfrm>
            <a:off x="902018" y="3790474"/>
            <a:ext cx="1840442" cy="198120"/>
          </a:xfrm>
          <a:prstGeom prst="rect">
            <a:avLst/>
          </a:prstGeom>
          <a:noFill/>
          <a:ln>
            <a:noFill/>
          </a:ln>
        </p:spPr>
        <p:txBody>
          <a:bodyPr wrap="none" lIns="0" tIns="0" rIns="0" bIns="0" anchor="t" anchorCtr="0">
            <a:spAutoFit/>
          </a:bodyPr>
          <a:lstStyle/>
          <a:p>
            <a:pPr algn="l"/>
            <a:r>
              <a:rPr lang="zh-CN" sz="975" b="1" dirty="0">
                <a:solidFill>
                  <a:srgbClr val="2E7E94"/>
                </a:solidFill>
                <a:latin typeface="Arial"/>
                <a:ea typeface="Microsoft YaHei"/>
                <a:cs typeface="Arial"/>
              </a:rPr>
              <a:t>Stage 1: Surface Execution</a:t>
            </a:r>
          </a:p>
        </p:txBody>
      </p:sp>
      <p:sp>
        <p:nvSpPr>
          <p:cNvPr id="24" name="TextBox 24"/>
          <p:cNvSpPr txBox="1"/>
          <p:nvPr/>
        </p:nvSpPr>
        <p:spPr>
          <a:xfrm>
            <a:off x="903922" y="4016216"/>
            <a:ext cx="2688788" cy="167640"/>
          </a:xfrm>
          <a:prstGeom prst="rect">
            <a:avLst/>
          </a:prstGeom>
          <a:noFill/>
          <a:ln>
            <a:noFill/>
          </a:ln>
        </p:spPr>
        <p:txBody>
          <a:bodyPr wrap="none" lIns="0" tIns="0" rIns="0" bIns="0" anchor="t" anchorCtr="0">
            <a:spAutoFit/>
          </a:bodyPr>
          <a:lstStyle/>
          <a:p>
            <a:pPr algn="l"/>
            <a:r>
              <a:rPr lang="zh-CN" sz="825" dirty="0">
                <a:solidFill>
                  <a:srgbClr val="485D6A"/>
                </a:solidFill>
                <a:latin typeface="Arial"/>
                <a:ea typeface="Microsoft YaHei"/>
                <a:cs typeface="Arial"/>
              </a:rPr>
              <a:t>exact search / inverted index / ngram / term emb</a:t>
            </a:r>
          </a:p>
        </p:txBody>
      </p:sp>
      <p:sp>
        <p:nvSpPr>
          <p:cNvPr id="25" name="TextBox 25"/>
          <p:cNvSpPr txBox="1"/>
          <p:nvPr/>
        </p:nvSpPr>
        <p:spPr>
          <a:xfrm>
            <a:off x="3856475" y="3940016"/>
            <a:ext cx="402153" cy="167640"/>
          </a:xfrm>
          <a:prstGeom prst="rect">
            <a:avLst/>
          </a:prstGeom>
          <a:noFill/>
          <a:ln>
            <a:noFill/>
          </a:ln>
        </p:spPr>
        <p:txBody>
          <a:bodyPr wrap="none" lIns="0" tIns="0" rIns="0" bIns="0" anchor="t" anchorCtr="0">
            <a:spAutoFit/>
          </a:bodyPr>
          <a:lstStyle/>
          <a:p>
            <a:pPr algn="r"/>
            <a:r>
              <a:rPr lang="zh-CN" sz="825" b="1" dirty="0">
                <a:solidFill>
                  <a:srgbClr val="2E7E94"/>
                </a:solidFill>
                <a:latin typeface="Arial"/>
                <a:ea typeface="Microsoft YaHei"/>
                <a:cs typeface="Arial"/>
              </a:rPr>
              <a:t>~8,000</a:t>
            </a:r>
          </a:p>
        </p:txBody>
      </p:sp>
      <p:sp>
        <p:nvSpPr>
          <p:cNvPr id="26" name="TextBox 26"/>
          <p:cNvSpPr txBox="1"/>
          <p:nvPr/>
        </p:nvSpPr>
        <p:spPr>
          <a:xfrm>
            <a:off x="3328511" y="4138612"/>
            <a:ext cx="929164" cy="152400"/>
          </a:xfrm>
          <a:prstGeom prst="rect">
            <a:avLst/>
          </a:prstGeom>
          <a:noFill/>
          <a:ln>
            <a:noFill/>
          </a:ln>
        </p:spPr>
        <p:txBody>
          <a:bodyPr wrap="none" lIns="0" tIns="0" rIns="0" bIns="0" anchor="t" anchorCtr="0">
            <a:spAutoFit/>
          </a:bodyPr>
          <a:lstStyle/>
          <a:p>
            <a:pPr algn="r"/>
            <a:r>
              <a:rPr lang="zh-CN" sz="750" dirty="0">
                <a:solidFill>
                  <a:srgbClr val="697A84"/>
                </a:solidFill>
                <a:latin typeface="Arial"/>
                <a:ea typeface="Microsoft YaHei"/>
                <a:cs typeface="Arial"/>
              </a:rPr>
              <a:t>&lt; 200ms 快速高召回</a:t>
            </a:r>
          </a:p>
        </p:txBody>
      </p:sp>
      <p:sp>
        <p:nvSpPr>
          <p:cNvPr id="27" name="Polygon 27"/>
          <p:cNvSpPr/>
          <p:nvPr/>
        </p:nvSpPr>
        <p:spPr>
          <a:xfrm>
            <a:off x="4324350" y="3905250"/>
            <a:ext cx="133350" cy="76200"/>
          </a:xfrm>
          <a:custGeom>
            <a:avLst/>
            <a:gdLst/>
            <a:ahLst/>
            <a:cxnLst/>
            <a:rect l="l" t="t" r="r" b="b"/>
            <a:pathLst>
              <a:path w="133350" h="76200">
                <a:moveTo>
                  <a:pt x="0" y="76200"/>
                </a:moveTo>
                <a:lnTo>
                  <a:pt x="57150" y="0"/>
                </a:lnTo>
                <a:lnTo>
                  <a:pt x="133350" y="76200"/>
                </a:lnTo>
                <a:close/>
              </a:path>
            </a:pathLst>
          </a:custGeom>
          <a:solidFill>
            <a:srgbClr val="697A84"/>
          </a:solidFill>
          <a:ln>
            <a:noFill/>
          </a:ln>
        </p:spPr>
      </p:sp>
      <p:sp>
        <p:nvSpPr>
          <p:cNvPr id="28" name="Rectangle 28"/>
          <p:cNvSpPr/>
          <p:nvPr/>
        </p:nvSpPr>
        <p:spPr>
          <a:xfrm>
            <a:off x="4362450" y="3705225"/>
            <a:ext cx="3429000" cy="666750"/>
          </a:xfrm>
          <a:prstGeom prst="roundRect">
            <a:avLst>
              <a:gd name="adj" fmla="val 8571"/>
            </a:avLst>
          </a:prstGeom>
          <a:solidFill>
            <a:srgbClr val="E8EDF2"/>
          </a:solidFill>
          <a:ln>
            <a:noFill/>
          </a:ln>
        </p:spPr>
      </p:sp>
      <p:sp>
        <p:nvSpPr>
          <p:cNvPr id="29" name="TextBox 29"/>
          <p:cNvSpPr txBox="1"/>
          <p:nvPr/>
        </p:nvSpPr>
        <p:spPr>
          <a:xfrm>
            <a:off x="4445318" y="3790474"/>
            <a:ext cx="1847268" cy="198120"/>
          </a:xfrm>
          <a:prstGeom prst="rect">
            <a:avLst/>
          </a:prstGeom>
          <a:noFill/>
          <a:ln>
            <a:noFill/>
          </a:ln>
        </p:spPr>
        <p:txBody>
          <a:bodyPr wrap="none" lIns="0" tIns="0" rIns="0" bIns="0" anchor="t" anchorCtr="0">
            <a:spAutoFit/>
          </a:bodyPr>
          <a:lstStyle/>
          <a:p>
            <a:pPr algn="l"/>
            <a:r>
              <a:rPr lang="zh-CN" sz="975" b="1" dirty="0">
                <a:solidFill>
                  <a:srgbClr val="4A90A4"/>
                </a:solidFill>
                <a:latin typeface="Arial"/>
                <a:ea typeface="Microsoft YaHei"/>
                <a:cs typeface="Arial"/>
              </a:rPr>
              <a:t>Stage 2: Relation Execution</a:t>
            </a:r>
          </a:p>
        </p:txBody>
      </p:sp>
      <p:sp>
        <p:nvSpPr>
          <p:cNvPr id="30" name="TextBox 30"/>
          <p:cNvSpPr txBox="1"/>
          <p:nvPr/>
        </p:nvSpPr>
        <p:spPr>
          <a:xfrm>
            <a:off x="4447222" y="4016216"/>
            <a:ext cx="2408253" cy="167640"/>
          </a:xfrm>
          <a:prstGeom prst="rect">
            <a:avLst/>
          </a:prstGeom>
          <a:noFill/>
          <a:ln>
            <a:noFill/>
          </a:ln>
        </p:spPr>
        <p:txBody>
          <a:bodyPr wrap="none" lIns="0" tIns="0" rIns="0" bIns="0" anchor="t" anchorCtr="0">
            <a:spAutoFit/>
          </a:bodyPr>
          <a:lstStyle/>
          <a:p>
            <a:pPr algn="l"/>
            <a:r>
              <a:rPr lang="zh-CN" sz="825" dirty="0">
                <a:solidFill>
                  <a:srgbClr val="485D6A"/>
                </a:solidFill>
                <a:latin typeface="Arial"/>
                <a:ea typeface="Microsoft YaHei"/>
                <a:cs typeface="Arial"/>
              </a:rPr>
              <a:t>rule filter / LSP call graph BFS/DFS / CodeQL</a:t>
            </a:r>
          </a:p>
        </p:txBody>
      </p:sp>
      <p:sp>
        <p:nvSpPr>
          <p:cNvPr id="31" name="TextBox 31"/>
          <p:cNvSpPr txBox="1"/>
          <p:nvPr/>
        </p:nvSpPr>
        <p:spPr>
          <a:xfrm>
            <a:off x="7526841" y="3940016"/>
            <a:ext cx="275087" cy="167640"/>
          </a:xfrm>
          <a:prstGeom prst="rect">
            <a:avLst/>
          </a:prstGeom>
          <a:noFill/>
          <a:ln>
            <a:noFill/>
          </a:ln>
        </p:spPr>
        <p:txBody>
          <a:bodyPr wrap="none" lIns="0" tIns="0" rIns="0" bIns="0" anchor="t" anchorCtr="0">
            <a:spAutoFit/>
          </a:bodyPr>
          <a:lstStyle/>
          <a:p>
            <a:pPr algn="r"/>
            <a:r>
              <a:rPr lang="zh-CN" sz="825" b="1" dirty="0">
                <a:solidFill>
                  <a:srgbClr val="4A90A4"/>
                </a:solidFill>
                <a:latin typeface="Arial"/>
                <a:ea typeface="Microsoft YaHei"/>
                <a:cs typeface="Arial"/>
              </a:rPr>
              <a:t>~400</a:t>
            </a:r>
          </a:p>
        </p:txBody>
      </p:sp>
      <p:sp>
        <p:nvSpPr>
          <p:cNvPr id="32" name="TextBox 32"/>
          <p:cNvSpPr txBox="1"/>
          <p:nvPr/>
        </p:nvSpPr>
        <p:spPr>
          <a:xfrm>
            <a:off x="6771799" y="4138612"/>
            <a:ext cx="1029176" cy="152400"/>
          </a:xfrm>
          <a:prstGeom prst="rect">
            <a:avLst/>
          </a:prstGeom>
          <a:noFill/>
          <a:ln>
            <a:noFill/>
          </a:ln>
        </p:spPr>
        <p:txBody>
          <a:bodyPr wrap="none" lIns="0" tIns="0" rIns="0" bIns="0" anchor="t" anchorCtr="0">
            <a:spAutoFit/>
          </a:bodyPr>
          <a:lstStyle/>
          <a:p>
            <a:pPr algn="r"/>
            <a:r>
              <a:rPr lang="zh-CN" sz="750" dirty="0">
                <a:solidFill>
                  <a:srgbClr val="697A84"/>
                </a:solidFill>
                <a:latin typeface="Arial"/>
                <a:ea typeface="Microsoft YaHei"/>
                <a:cs typeface="Arial"/>
              </a:rPr>
              <a:t>&lt; 10ms~秒级 结构约束</a:t>
            </a:r>
          </a:p>
        </p:txBody>
      </p:sp>
      <p:sp>
        <p:nvSpPr>
          <p:cNvPr id="33" name="Polygon 33"/>
          <p:cNvSpPr/>
          <p:nvPr/>
        </p:nvSpPr>
        <p:spPr>
          <a:xfrm>
            <a:off x="7867650" y="3905250"/>
            <a:ext cx="133350" cy="76200"/>
          </a:xfrm>
          <a:custGeom>
            <a:avLst/>
            <a:gdLst/>
            <a:ahLst/>
            <a:cxnLst/>
            <a:rect l="l" t="t" r="r" b="b"/>
            <a:pathLst>
              <a:path w="133350" h="76200">
                <a:moveTo>
                  <a:pt x="0" y="76200"/>
                </a:moveTo>
                <a:lnTo>
                  <a:pt x="57150" y="0"/>
                </a:lnTo>
                <a:lnTo>
                  <a:pt x="133350" y="76200"/>
                </a:lnTo>
                <a:close/>
              </a:path>
            </a:pathLst>
          </a:custGeom>
          <a:solidFill>
            <a:srgbClr val="697A84"/>
          </a:solidFill>
          <a:ln>
            <a:noFill/>
          </a:ln>
        </p:spPr>
      </p:sp>
      <p:sp>
        <p:nvSpPr>
          <p:cNvPr id="34" name="Rectangle 34"/>
          <p:cNvSpPr/>
          <p:nvPr/>
        </p:nvSpPr>
        <p:spPr>
          <a:xfrm>
            <a:off x="7905750" y="3705225"/>
            <a:ext cx="3429000" cy="666750"/>
          </a:xfrm>
          <a:prstGeom prst="roundRect">
            <a:avLst>
              <a:gd name="adj" fmla="val 8571"/>
            </a:avLst>
          </a:prstGeom>
          <a:solidFill>
            <a:srgbClr val="E8EDF2"/>
          </a:solidFill>
          <a:ln>
            <a:noFill/>
          </a:ln>
        </p:spPr>
      </p:sp>
      <p:sp>
        <p:nvSpPr>
          <p:cNvPr id="35" name="TextBox 35"/>
          <p:cNvSpPr txBox="1"/>
          <p:nvPr/>
        </p:nvSpPr>
        <p:spPr>
          <a:xfrm>
            <a:off x="7988618" y="3790474"/>
            <a:ext cx="1922352" cy="198120"/>
          </a:xfrm>
          <a:prstGeom prst="rect">
            <a:avLst/>
          </a:prstGeom>
          <a:noFill/>
          <a:ln>
            <a:noFill/>
          </a:ln>
        </p:spPr>
        <p:txBody>
          <a:bodyPr wrap="none" lIns="0" tIns="0" rIns="0" bIns="0" anchor="t" anchorCtr="0">
            <a:spAutoFit/>
          </a:bodyPr>
          <a:lstStyle/>
          <a:p>
            <a:pPr algn="l"/>
            <a:r>
              <a:rPr lang="zh-CN" sz="975" b="1" dirty="0">
                <a:solidFill>
                  <a:srgbClr val="4CAF50"/>
                </a:solidFill>
                <a:latin typeface="Arial"/>
                <a:ea typeface="Microsoft YaHei"/>
                <a:cs typeface="Arial"/>
              </a:rPr>
              <a:t>Stage 3: Intention Execution</a:t>
            </a:r>
          </a:p>
        </p:txBody>
      </p:sp>
      <p:sp>
        <p:nvSpPr>
          <p:cNvPr id="36" name="TextBox 36"/>
          <p:cNvSpPr txBox="1"/>
          <p:nvPr/>
        </p:nvSpPr>
        <p:spPr>
          <a:xfrm>
            <a:off x="7990522" y="4016216"/>
            <a:ext cx="2430256" cy="167640"/>
          </a:xfrm>
          <a:prstGeom prst="rect">
            <a:avLst/>
          </a:prstGeom>
          <a:noFill/>
          <a:ln>
            <a:noFill/>
          </a:ln>
        </p:spPr>
        <p:txBody>
          <a:bodyPr wrap="none" lIns="0" tIns="0" rIns="0" bIns="0" anchor="t" anchorCtr="0">
            <a:spAutoFit/>
          </a:bodyPr>
          <a:lstStyle/>
          <a:p>
            <a:pPr algn="l"/>
            <a:r>
              <a:rPr lang="zh-CN" sz="825" dirty="0">
                <a:solidFill>
                  <a:srgbClr val="485D6A"/>
                </a:solidFill>
                <a:latin typeface="Arial"/>
                <a:ea typeface="Microsoft YaHei"/>
                <a:cs typeface="Arial"/>
              </a:rPr>
              <a:t>Cluster Filter / Embedding Filter / LLM Judge</a:t>
            </a:r>
          </a:p>
        </p:txBody>
      </p:sp>
      <p:sp>
        <p:nvSpPr>
          <p:cNvPr id="37" name="TextBox 37"/>
          <p:cNvSpPr txBox="1"/>
          <p:nvPr/>
        </p:nvSpPr>
        <p:spPr>
          <a:xfrm>
            <a:off x="11133674" y="3940016"/>
            <a:ext cx="211554" cy="167640"/>
          </a:xfrm>
          <a:prstGeom prst="rect">
            <a:avLst/>
          </a:prstGeom>
          <a:noFill/>
          <a:ln>
            <a:noFill/>
          </a:ln>
        </p:spPr>
        <p:txBody>
          <a:bodyPr wrap="none" lIns="0" tIns="0" rIns="0" bIns="0" anchor="t" anchorCtr="0">
            <a:spAutoFit/>
          </a:bodyPr>
          <a:lstStyle/>
          <a:p>
            <a:pPr algn="r"/>
            <a:r>
              <a:rPr lang="zh-CN" sz="825" b="1" dirty="0">
                <a:solidFill>
                  <a:srgbClr val="4CAF50"/>
                </a:solidFill>
                <a:latin typeface="Arial"/>
                <a:ea typeface="Microsoft YaHei"/>
                <a:cs typeface="Arial"/>
              </a:rPr>
              <a:t>~15</a:t>
            </a:r>
          </a:p>
        </p:txBody>
      </p:sp>
      <p:sp>
        <p:nvSpPr>
          <p:cNvPr id="38" name="TextBox 38"/>
          <p:cNvSpPr txBox="1"/>
          <p:nvPr/>
        </p:nvSpPr>
        <p:spPr>
          <a:xfrm>
            <a:off x="10400109" y="4138612"/>
            <a:ext cx="944166" cy="152400"/>
          </a:xfrm>
          <a:prstGeom prst="rect">
            <a:avLst/>
          </a:prstGeom>
          <a:noFill/>
          <a:ln>
            <a:noFill/>
          </a:ln>
        </p:spPr>
        <p:txBody>
          <a:bodyPr wrap="none" lIns="0" tIns="0" rIns="0" bIns="0" anchor="t" anchorCtr="0">
            <a:spAutoFit/>
          </a:bodyPr>
          <a:lstStyle/>
          <a:p>
            <a:pPr algn="r"/>
            <a:r>
              <a:rPr lang="zh-CN" sz="750" dirty="0">
                <a:solidFill>
                  <a:srgbClr val="697A84"/>
                </a:solidFill>
                <a:latin typeface="Arial"/>
                <a:ea typeface="Microsoft YaHei"/>
                <a:cs typeface="Arial"/>
              </a:rPr>
              <a:t>&lt; 3s 高成本后置判别</a:t>
            </a:r>
          </a:p>
        </p:txBody>
      </p:sp>
      <p:sp>
        <p:nvSpPr>
          <p:cNvPr id="39" name="TextBox 39"/>
          <p:cNvSpPr txBox="1"/>
          <p:nvPr/>
        </p:nvSpPr>
        <p:spPr>
          <a:xfrm>
            <a:off x="806768" y="4352449"/>
            <a:ext cx="4509351" cy="198120"/>
          </a:xfrm>
          <a:prstGeom prst="rect">
            <a:avLst/>
          </a:prstGeom>
          <a:noFill/>
          <a:ln>
            <a:noFill/>
          </a:ln>
        </p:spPr>
        <p:txBody>
          <a:bodyPr wrap="none" lIns="0" tIns="0" rIns="0" bIns="0" anchor="t" anchorCtr="0">
            <a:spAutoFit/>
          </a:bodyPr>
          <a:lstStyle/>
          <a:p>
            <a:pPr algn="l"/>
            <a:r>
              <a:rPr lang="zh-CN" sz="975" b="1" dirty="0">
                <a:solidFill>
                  <a:srgbClr val="2E7E94"/>
                </a:solidFill>
                <a:latin typeface="Arial"/>
                <a:ea typeface="Microsoft YaHei"/>
                <a:cs typeface="Arial"/>
              </a:rPr>
              <a:t>核心思想: 先用低成本条件收缩候选集，再把高成本语义判断用于少量候选</a:t>
            </a:r>
          </a:p>
        </p:txBody>
      </p:sp>
      <p:sp>
        <p:nvSpPr>
          <p:cNvPr id="40" name="Polygon 40"/>
          <p:cNvSpPr/>
          <p:nvPr/>
        </p:nvSpPr>
        <p:spPr>
          <a:xfrm>
            <a:off x="6038850" y="4905375"/>
            <a:ext cx="114300" cy="57150"/>
          </a:xfrm>
          <a:custGeom>
            <a:avLst/>
            <a:gdLst/>
            <a:ahLst/>
            <a:cxnLst/>
            <a:rect l="l" t="t" r="r" b="b"/>
            <a:pathLst>
              <a:path w="114300" h="57150">
                <a:moveTo>
                  <a:pt x="57150" y="57150"/>
                </a:moveTo>
                <a:lnTo>
                  <a:pt x="0" y="0"/>
                </a:lnTo>
                <a:lnTo>
                  <a:pt x="114300" y="0"/>
                </a:lnTo>
                <a:close/>
              </a:path>
            </a:pathLst>
          </a:custGeom>
          <a:solidFill>
            <a:srgbClr val="2E7E94"/>
          </a:solidFill>
          <a:ln>
            <a:noFill/>
          </a:ln>
        </p:spPr>
      </p:sp>
      <p:sp>
        <p:nvSpPr>
          <p:cNvPr id="41" name="Rectangle 41"/>
          <p:cNvSpPr/>
          <p:nvPr/>
        </p:nvSpPr>
        <p:spPr>
          <a:xfrm>
            <a:off x="571500" y="5067300"/>
            <a:ext cx="5334000" cy="666750"/>
          </a:xfrm>
          <a:prstGeom prst="roundRect">
            <a:avLst>
              <a:gd name="adj" fmla="val 11429"/>
            </a:avLst>
          </a:prstGeom>
          <a:solidFill>
            <a:srgbClr val="FFFFFF"/>
          </a:solidFill>
          <a:ln w="19050">
            <a:solidFill>
              <a:srgbClr val="2E7E94"/>
            </a:solidFill>
          </a:ln>
        </p:spPr>
      </p:sp>
      <p:sp>
        <p:nvSpPr>
          <p:cNvPr id="42" name="Rectangle 42"/>
          <p:cNvSpPr/>
          <p:nvPr/>
        </p:nvSpPr>
        <p:spPr>
          <a:xfrm>
            <a:off x="571500" y="5067300"/>
            <a:ext cx="76200" cy="666750"/>
          </a:xfrm>
          <a:prstGeom prst="roundRect">
            <a:avLst>
              <a:gd name="adj" fmla="val 25000"/>
            </a:avLst>
          </a:prstGeom>
          <a:solidFill>
            <a:srgbClr val="2E7E94"/>
          </a:solidFill>
          <a:ln>
            <a:noFill/>
          </a:ln>
        </p:spPr>
      </p:sp>
      <p:sp>
        <p:nvSpPr>
          <p:cNvPr id="43" name="TextBox 43"/>
          <p:cNvSpPr txBox="1"/>
          <p:nvPr/>
        </p:nvSpPr>
        <p:spPr>
          <a:xfrm>
            <a:off x="802005" y="5169218"/>
            <a:ext cx="1603186" cy="274320"/>
          </a:xfrm>
          <a:prstGeom prst="rect">
            <a:avLst/>
          </a:prstGeom>
          <a:noFill/>
          <a:ln>
            <a:noFill/>
          </a:ln>
        </p:spPr>
        <p:txBody>
          <a:bodyPr wrap="none" lIns="0" tIns="0" rIns="0" bIns="0" anchor="t" anchorCtr="0">
            <a:spAutoFit/>
          </a:bodyPr>
          <a:lstStyle/>
          <a:p>
            <a:pPr algn="l"/>
            <a:r>
              <a:rPr lang="zh-CN" sz="1350" b="1" dirty="0">
                <a:solidFill>
                  <a:srgbClr val="2E7E94"/>
                </a:solidFill>
                <a:latin typeface="Arial"/>
                <a:ea typeface="Microsoft YaHei"/>
                <a:cs typeface="Arial"/>
              </a:rPr>
              <a:t>Bundle Generator</a:t>
            </a:r>
          </a:p>
        </p:txBody>
      </p:sp>
      <p:sp>
        <p:nvSpPr>
          <p:cNvPr id="44" name="TextBox 44"/>
          <p:cNvSpPr txBox="1"/>
          <p:nvPr/>
        </p:nvSpPr>
        <p:spPr>
          <a:xfrm>
            <a:off x="2846070" y="5446395"/>
            <a:ext cx="3785330" cy="182880"/>
          </a:xfrm>
          <a:prstGeom prst="rect">
            <a:avLst/>
          </a:prstGeom>
          <a:noFill/>
          <a:ln>
            <a:noFill/>
          </a:ln>
        </p:spPr>
        <p:txBody>
          <a:bodyPr wrap="none" lIns="0" tIns="0" rIns="0" bIns="0" anchor="t" anchorCtr="0">
            <a:spAutoFit/>
          </a:bodyPr>
          <a:lstStyle/>
          <a:p>
            <a:pPr algn="l"/>
            <a:r>
              <a:rPr lang="zh-CN" sz="900" dirty="0">
                <a:solidFill>
                  <a:srgbClr val="697A84"/>
                </a:solidFill>
                <a:latin typeface="Arial"/>
                <a:ea typeface="Microsoft YaHei"/>
                <a:cs typeface="Arial"/>
              </a:rPr>
              <a:t>通过 direct_caller / callee / same_class / same_file 合并关联节点</a:t>
            </a:r>
          </a:p>
        </p:txBody>
      </p:sp>
      <p:sp>
        <p:nvSpPr>
          <p:cNvPr id="45" name="Rectangle 45"/>
          <p:cNvSpPr/>
          <p:nvPr/>
        </p:nvSpPr>
        <p:spPr>
          <a:xfrm>
            <a:off x="6286500" y="5067300"/>
            <a:ext cx="5334000" cy="666750"/>
          </a:xfrm>
          <a:prstGeom prst="roundRect">
            <a:avLst>
              <a:gd name="adj" fmla="val 11429"/>
            </a:avLst>
          </a:prstGeom>
          <a:solidFill>
            <a:srgbClr val="FFFFFF"/>
          </a:solidFill>
          <a:ln w="19050">
            <a:solidFill>
              <a:srgbClr val="2E7E94"/>
            </a:solidFill>
          </a:ln>
        </p:spPr>
      </p:sp>
      <p:sp>
        <p:nvSpPr>
          <p:cNvPr id="46" name="Rectangle 46"/>
          <p:cNvSpPr/>
          <p:nvPr/>
        </p:nvSpPr>
        <p:spPr>
          <a:xfrm>
            <a:off x="6286500" y="5067300"/>
            <a:ext cx="76200" cy="666750"/>
          </a:xfrm>
          <a:prstGeom prst="roundRect">
            <a:avLst>
              <a:gd name="adj" fmla="val 25000"/>
            </a:avLst>
          </a:prstGeom>
          <a:solidFill>
            <a:srgbClr val="2E7E94"/>
          </a:solidFill>
          <a:ln>
            <a:noFill/>
          </a:ln>
        </p:spPr>
      </p:sp>
      <p:sp>
        <p:nvSpPr>
          <p:cNvPr id="47" name="TextBox 47"/>
          <p:cNvSpPr txBox="1"/>
          <p:nvPr/>
        </p:nvSpPr>
        <p:spPr>
          <a:xfrm>
            <a:off x="6517005" y="5169218"/>
            <a:ext cx="1650442" cy="274320"/>
          </a:xfrm>
          <a:prstGeom prst="rect">
            <a:avLst/>
          </a:prstGeom>
          <a:noFill/>
          <a:ln>
            <a:noFill/>
          </a:ln>
        </p:spPr>
        <p:txBody>
          <a:bodyPr wrap="none" lIns="0" tIns="0" rIns="0" bIns="0" anchor="t" anchorCtr="0">
            <a:spAutoFit/>
          </a:bodyPr>
          <a:lstStyle/>
          <a:p>
            <a:pPr algn="l"/>
            <a:r>
              <a:rPr lang="zh-CN" sz="1350" b="1" dirty="0">
                <a:solidFill>
                  <a:srgbClr val="2E7E94"/>
                </a:solidFill>
                <a:latin typeface="Arial"/>
                <a:ea typeface="Microsoft YaHei"/>
                <a:cs typeface="Arial"/>
              </a:rPr>
              <a:t>Grouped Reranker</a:t>
            </a:r>
          </a:p>
        </p:txBody>
      </p:sp>
      <p:sp>
        <p:nvSpPr>
          <p:cNvPr id="48" name="TextBox 48"/>
          <p:cNvSpPr txBox="1"/>
          <p:nvPr/>
        </p:nvSpPr>
        <p:spPr>
          <a:xfrm>
            <a:off x="8561070" y="5446395"/>
            <a:ext cx="3875342" cy="182880"/>
          </a:xfrm>
          <a:prstGeom prst="rect">
            <a:avLst/>
          </a:prstGeom>
          <a:noFill/>
          <a:ln>
            <a:noFill/>
          </a:ln>
        </p:spPr>
        <p:txBody>
          <a:bodyPr wrap="none" lIns="0" tIns="0" rIns="0" bIns="0" anchor="t" anchorCtr="0">
            <a:spAutoFit/>
          </a:bodyPr>
          <a:lstStyle/>
          <a:p>
            <a:pPr algn="l"/>
            <a:r>
              <a:rPr lang="zh-CN" sz="900" dirty="0">
                <a:solidFill>
                  <a:srgbClr val="697A84"/>
                </a:solidFill>
                <a:latin typeface="Arial"/>
                <a:ea typeface="Microsoft YaHei"/>
                <a:cs typeface="Arial"/>
              </a:rPr>
              <a:t>BundleScore = mean(score_i) + alpha x synergy_bonus (alpha=0.3)</a:t>
            </a:r>
          </a:p>
        </p:txBody>
      </p:sp>
      <p:sp>
        <p:nvSpPr>
          <p:cNvPr id="49" name="TextBox 49"/>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12</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Rectangle 3"/>
          <p:cNvSpPr/>
          <p:nvPr/>
        </p:nvSpPr>
        <p:spPr>
          <a:xfrm>
            <a:off x="0" y="0"/>
            <a:ext cx="12192000" cy="2667000"/>
          </a:xfrm>
          <a:prstGeom prst="rect">
            <a:avLst/>
          </a:prstGeom>
          <a:solidFill>
            <a:srgbClr val="223A48"/>
          </a:solidFill>
          <a:ln>
            <a:noFill/>
          </a:ln>
        </p:spPr>
      </p:sp>
      <p:sp>
        <p:nvSpPr>
          <p:cNvPr id="4" name="TextBox 4"/>
          <p:cNvSpPr txBox="1"/>
          <p:nvPr/>
        </p:nvSpPr>
        <p:spPr>
          <a:xfrm>
            <a:off x="708660" y="1165860"/>
            <a:ext cx="430120" cy="853440"/>
          </a:xfrm>
          <a:prstGeom prst="rect">
            <a:avLst/>
          </a:prstGeom>
          <a:noFill/>
          <a:ln>
            <a:noFill/>
          </a:ln>
        </p:spPr>
        <p:txBody>
          <a:bodyPr wrap="none" lIns="0" tIns="0" rIns="0" bIns="0" anchor="t" anchorCtr="0">
            <a:spAutoFit/>
          </a:bodyPr>
          <a:lstStyle/>
          <a:p>
            <a:pPr algn="l"/>
            <a:r>
              <a:rPr lang="zh-CN" sz="4200" b="1" dirty="0">
                <a:solidFill>
                  <a:srgbClr val="2E7E94"/>
                </a:solidFill>
                <a:latin typeface="Arial"/>
                <a:ea typeface="Microsoft YaHei"/>
                <a:cs typeface="Arial"/>
              </a:rPr>
              <a:t>5</a:t>
            </a:r>
          </a:p>
        </p:txBody>
      </p:sp>
      <p:sp>
        <p:nvSpPr>
          <p:cNvPr id="5" name="TextBox 5"/>
          <p:cNvSpPr txBox="1"/>
          <p:nvPr/>
        </p:nvSpPr>
        <p:spPr>
          <a:xfrm>
            <a:off x="1495425" y="1376362"/>
            <a:ext cx="2892504"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实现现状与研发计划</a:t>
            </a:r>
          </a:p>
        </p:txBody>
      </p:sp>
      <p:sp>
        <p:nvSpPr>
          <p:cNvPr id="6" name="Rectangle 6"/>
          <p:cNvSpPr/>
          <p:nvPr/>
        </p:nvSpPr>
        <p:spPr>
          <a:xfrm>
            <a:off x="952500" y="3429000"/>
            <a:ext cx="38100" cy="1714500"/>
          </a:xfrm>
          <a:prstGeom prst="roundRect">
            <a:avLst>
              <a:gd name="adj" fmla="val 50000"/>
            </a:avLst>
          </a:prstGeom>
          <a:solidFill>
            <a:srgbClr val="2E7E94"/>
          </a:solidFill>
          <a:ln>
            <a:noFill/>
          </a:ln>
        </p:spPr>
      </p:sp>
      <p:sp>
        <p:nvSpPr>
          <p:cNvPr id="7" name="TextBox 7"/>
          <p:cNvSpPr txBox="1"/>
          <p:nvPr/>
        </p:nvSpPr>
        <p:spPr>
          <a:xfrm>
            <a:off x="1234440" y="3901440"/>
            <a:ext cx="3166110" cy="365760"/>
          </a:xfrm>
          <a:prstGeom prst="rect">
            <a:avLst/>
          </a:prstGeom>
          <a:noFill/>
          <a:ln>
            <a:noFill/>
          </a:ln>
        </p:spPr>
        <p:txBody>
          <a:bodyPr wrap="none" lIns="0" tIns="0" rIns="0" bIns="0" anchor="t" anchorCtr="0">
            <a:spAutoFit/>
          </a:bodyPr>
          <a:lstStyle/>
          <a:p>
            <a:pPr algn="l"/>
            <a:r>
              <a:rPr lang="zh-CN" sz="1800" dirty="0">
                <a:solidFill>
                  <a:srgbClr val="223A48"/>
                </a:solidFill>
                <a:latin typeface="Arial"/>
                <a:ea typeface="Microsoft YaHei"/>
                <a:cs typeface="Arial"/>
              </a:rPr>
              <a:t>从原型模块到可验证评测体系</a:t>
            </a:r>
          </a:p>
        </p:txBody>
      </p:sp>
      <p:sp>
        <p:nvSpPr>
          <p:cNvPr id="8" name="TextBox 8"/>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400"/>
                                        <p:tgtEl>
                                          <p:spTgt spid="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image">
                                      <p:cBhvr>
                                        <p:cTn id="11" dur="400"/>
                                        <p:tgtEl>
                                          <p:spTgt spid="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400"/>
                                        <p:tgtEl>
                                          <p:spTgt spid="4"/>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400"/>
                                        <p:tgtEl>
                                          <p:spTgt spid="5"/>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slide(fromBottom)">
                                      <p:cBhvr>
                                        <p:cTn id="23" dur="400"/>
                                        <p:tgtEl>
                                          <p:spTgt spid="6"/>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image">
                                      <p:cBhvr>
                                        <p:cTn id="27" dur="400"/>
                                        <p:tgtEl>
                                          <p:spTgt spid="7"/>
                                        </p:tgtEl>
                                      </p:cBhvr>
                                    </p:animEffect>
                                  </p:childTnLst>
                                </p:cTn>
                              </p:par>
                            </p:childTnLst>
                          </p:cTn>
                        </p:par>
                        <p:par>
                          <p:cTn id="28" fill="hold">
                            <p:stCondLst>
                              <p:cond delay="5400"/>
                            </p:stCondLst>
                            <p:childTnLst>
                              <p:par>
                                <p:cTn id="29" presetID="10" presetClass="entr" presetSubtype="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62890"/>
            <a:ext cx="2818066"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系统实现现状与研发计划</a:t>
            </a:r>
          </a:p>
        </p:txBody>
      </p:sp>
      <p:sp>
        <p:nvSpPr>
          <p:cNvPr id="4" name="TextBox 4"/>
          <p:cNvSpPr txBox="1"/>
          <p:nvPr/>
        </p:nvSpPr>
        <p:spPr>
          <a:xfrm>
            <a:off x="746760" y="708660"/>
            <a:ext cx="870585" cy="243840"/>
          </a:xfrm>
          <a:prstGeom prst="rect">
            <a:avLst/>
          </a:prstGeom>
          <a:noFill/>
          <a:ln>
            <a:noFill/>
          </a:ln>
        </p:spPr>
        <p:txBody>
          <a:bodyPr wrap="none" lIns="0" tIns="0" rIns="0" bIns="0" anchor="t" anchorCtr="0">
            <a:spAutoFit/>
          </a:bodyPr>
          <a:lstStyle/>
          <a:p>
            <a:pPr algn="l"/>
            <a:r>
              <a:rPr lang="zh-CN" sz="1200" b="1" dirty="0">
                <a:solidFill>
                  <a:srgbClr val="2E7E94"/>
                </a:solidFill>
                <a:latin typeface="Arial"/>
                <a:ea typeface="Microsoft YaHei"/>
                <a:cs typeface="Arial"/>
              </a:rPr>
              <a:t>已完成模块</a:t>
            </a:r>
          </a:p>
        </p:txBody>
      </p:sp>
      <p:sp>
        <p:nvSpPr>
          <p:cNvPr id="5" name="Rectangle 5"/>
          <p:cNvSpPr/>
          <p:nvPr/>
        </p:nvSpPr>
        <p:spPr>
          <a:xfrm>
            <a:off x="762000" y="1104900"/>
            <a:ext cx="4953000" cy="266700"/>
          </a:xfrm>
          <a:prstGeom prst="roundRect">
            <a:avLst>
              <a:gd name="adj" fmla="val 14286"/>
            </a:avLst>
          </a:prstGeom>
          <a:solidFill>
            <a:srgbClr val="FFFFFF"/>
          </a:solidFill>
          <a:ln w="9525">
            <a:solidFill>
              <a:srgbClr val="D0D8E0"/>
            </a:solidFill>
          </a:ln>
        </p:spPr>
      </p:sp>
      <p:sp>
        <p:nvSpPr>
          <p:cNvPr id="6" name="TextBox 6"/>
          <p:cNvSpPr txBox="1"/>
          <p:nvPr/>
        </p:nvSpPr>
        <p:spPr>
          <a:xfrm>
            <a:off x="902970" y="1198245"/>
            <a:ext cx="2195131"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离线解析与符号索引 (code_parser.py)</a:t>
            </a:r>
          </a:p>
        </p:txBody>
      </p:sp>
      <p:sp>
        <p:nvSpPr>
          <p:cNvPr id="7" name="Rectangle 7"/>
          <p:cNvSpPr/>
          <p:nvPr/>
        </p:nvSpPr>
        <p:spPr>
          <a:xfrm>
            <a:off x="762000" y="1409700"/>
            <a:ext cx="4953000" cy="266700"/>
          </a:xfrm>
          <a:prstGeom prst="roundRect">
            <a:avLst>
              <a:gd name="adj" fmla="val 14286"/>
            </a:avLst>
          </a:prstGeom>
          <a:solidFill>
            <a:srgbClr val="FFFFFF"/>
          </a:solidFill>
          <a:ln w="9525">
            <a:solidFill>
              <a:srgbClr val="D0D8E0"/>
            </a:solidFill>
          </a:ln>
        </p:spPr>
      </p:sp>
      <p:sp>
        <p:nvSpPr>
          <p:cNvPr id="8" name="TextBox 8"/>
          <p:cNvSpPr txBox="1"/>
          <p:nvPr/>
        </p:nvSpPr>
        <p:spPr>
          <a:xfrm>
            <a:off x="902970" y="1503045"/>
            <a:ext cx="1577054"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N-gram 拆分 + 倒排索引构建</a:t>
            </a:r>
          </a:p>
        </p:txBody>
      </p:sp>
      <p:sp>
        <p:nvSpPr>
          <p:cNvPr id="9" name="Rectangle 9"/>
          <p:cNvSpPr/>
          <p:nvPr/>
        </p:nvSpPr>
        <p:spPr>
          <a:xfrm>
            <a:off x="762000" y="1714500"/>
            <a:ext cx="4953000" cy="266700"/>
          </a:xfrm>
          <a:prstGeom prst="roundRect">
            <a:avLst>
              <a:gd name="adj" fmla="val 14286"/>
            </a:avLst>
          </a:prstGeom>
          <a:solidFill>
            <a:srgbClr val="FFFFFF"/>
          </a:solidFill>
          <a:ln w="9525">
            <a:solidFill>
              <a:srgbClr val="D0D8E0"/>
            </a:solidFill>
          </a:ln>
        </p:spPr>
      </p:sp>
      <p:sp>
        <p:nvSpPr>
          <p:cNvPr id="10" name="TextBox 10"/>
          <p:cNvSpPr txBox="1"/>
          <p:nvPr/>
        </p:nvSpPr>
        <p:spPr>
          <a:xfrm>
            <a:off x="902970" y="1807845"/>
            <a:ext cx="1757077"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FastText + ICF 共现 Embedding</a:t>
            </a:r>
          </a:p>
        </p:txBody>
      </p:sp>
      <p:sp>
        <p:nvSpPr>
          <p:cNvPr id="11" name="Rectangle 11"/>
          <p:cNvSpPr/>
          <p:nvPr/>
        </p:nvSpPr>
        <p:spPr>
          <a:xfrm>
            <a:off x="762000" y="2019300"/>
            <a:ext cx="4953000" cy="266700"/>
          </a:xfrm>
          <a:prstGeom prst="roundRect">
            <a:avLst>
              <a:gd name="adj" fmla="val 14286"/>
            </a:avLst>
          </a:prstGeom>
          <a:solidFill>
            <a:srgbClr val="FFFFFF"/>
          </a:solidFill>
          <a:ln w="9525">
            <a:solidFill>
              <a:srgbClr val="D0D8E0"/>
            </a:solidFill>
          </a:ln>
        </p:spPr>
      </p:sp>
      <p:sp>
        <p:nvSpPr>
          <p:cNvPr id="12" name="TextBox 12"/>
          <p:cNvSpPr txBox="1"/>
          <p:nvPr/>
        </p:nvSpPr>
        <p:spPr>
          <a:xfrm>
            <a:off x="902970" y="2112645"/>
            <a:ext cx="2201132"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SentenceTransformer 语义 Embedding</a:t>
            </a:r>
          </a:p>
        </p:txBody>
      </p:sp>
      <p:sp>
        <p:nvSpPr>
          <p:cNvPr id="13" name="Rectangle 13"/>
          <p:cNvSpPr/>
          <p:nvPr/>
        </p:nvSpPr>
        <p:spPr>
          <a:xfrm>
            <a:off x="762000" y="2324100"/>
            <a:ext cx="4953000" cy="266700"/>
          </a:xfrm>
          <a:prstGeom prst="roundRect">
            <a:avLst>
              <a:gd name="adj" fmla="val 14286"/>
            </a:avLst>
          </a:prstGeom>
          <a:solidFill>
            <a:srgbClr val="FFFFFF"/>
          </a:solidFill>
          <a:ln w="9525">
            <a:solidFill>
              <a:srgbClr val="D0D8E0"/>
            </a:solidFill>
          </a:ln>
        </p:spPr>
      </p:sp>
      <p:sp>
        <p:nvSpPr>
          <p:cNvPr id="14" name="TextBox 14"/>
          <p:cNvSpPr txBox="1"/>
          <p:nvPr/>
        </p:nvSpPr>
        <p:spPr>
          <a:xfrm>
            <a:off x="902970" y="2417445"/>
            <a:ext cx="1655064"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hybrid / pairwise 双通道融合</a:t>
            </a:r>
          </a:p>
        </p:txBody>
      </p:sp>
      <p:sp>
        <p:nvSpPr>
          <p:cNvPr id="15" name="Rectangle 15"/>
          <p:cNvSpPr/>
          <p:nvPr/>
        </p:nvSpPr>
        <p:spPr>
          <a:xfrm>
            <a:off x="762000" y="2628900"/>
            <a:ext cx="4953000" cy="266700"/>
          </a:xfrm>
          <a:prstGeom prst="roundRect">
            <a:avLst>
              <a:gd name="adj" fmla="val 14286"/>
            </a:avLst>
          </a:prstGeom>
          <a:solidFill>
            <a:srgbClr val="FFFFFF"/>
          </a:solidFill>
          <a:ln w="9525">
            <a:solidFill>
              <a:srgbClr val="D0D8E0"/>
            </a:solidFill>
          </a:ln>
        </p:spPr>
      </p:sp>
      <p:sp>
        <p:nvSpPr>
          <p:cNvPr id="16" name="TextBox 16"/>
          <p:cNvSpPr txBox="1"/>
          <p:nvPr/>
        </p:nvSpPr>
        <p:spPr>
          <a:xfrm>
            <a:off x="902970" y="2722245"/>
            <a:ext cx="1955101"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SemCon 抽取 (LLM) 与 SemQL 组织</a:t>
            </a:r>
          </a:p>
        </p:txBody>
      </p:sp>
      <p:sp>
        <p:nvSpPr>
          <p:cNvPr id="17" name="Rectangle 17"/>
          <p:cNvSpPr/>
          <p:nvPr/>
        </p:nvSpPr>
        <p:spPr>
          <a:xfrm>
            <a:off x="762000" y="2933700"/>
            <a:ext cx="4953000" cy="266700"/>
          </a:xfrm>
          <a:prstGeom prst="roundRect">
            <a:avLst>
              <a:gd name="adj" fmla="val 14286"/>
            </a:avLst>
          </a:prstGeom>
          <a:solidFill>
            <a:srgbClr val="FFFFFF"/>
          </a:solidFill>
          <a:ln w="9525">
            <a:solidFill>
              <a:srgbClr val="D0D8E0"/>
            </a:solidFill>
          </a:ln>
        </p:spPr>
      </p:sp>
      <p:sp>
        <p:nvSpPr>
          <p:cNvPr id="18" name="TextBox 18"/>
          <p:cNvSpPr txBox="1"/>
          <p:nvPr/>
        </p:nvSpPr>
        <p:spPr>
          <a:xfrm>
            <a:off x="902970" y="3027045"/>
            <a:ext cx="3743325"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Surface Executor: exact search / inverted index / fuzzy match</a:t>
            </a:r>
          </a:p>
        </p:txBody>
      </p:sp>
      <p:sp>
        <p:nvSpPr>
          <p:cNvPr id="19" name="Rectangle 19"/>
          <p:cNvSpPr/>
          <p:nvPr/>
        </p:nvSpPr>
        <p:spPr>
          <a:xfrm>
            <a:off x="762000" y="3238500"/>
            <a:ext cx="4953000" cy="266700"/>
          </a:xfrm>
          <a:prstGeom prst="roundRect">
            <a:avLst>
              <a:gd name="adj" fmla="val 14286"/>
            </a:avLst>
          </a:prstGeom>
          <a:solidFill>
            <a:srgbClr val="FFFFFF"/>
          </a:solidFill>
          <a:ln w="9525">
            <a:solidFill>
              <a:srgbClr val="D0D8E0"/>
            </a:solidFill>
          </a:ln>
        </p:spPr>
      </p:sp>
      <p:sp>
        <p:nvSpPr>
          <p:cNvPr id="20" name="TextBox 20"/>
          <p:cNvSpPr txBox="1"/>
          <p:nvPr/>
        </p:nvSpPr>
        <p:spPr>
          <a:xfrm>
            <a:off x="902970" y="3331845"/>
            <a:ext cx="2327148"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Relation Executor: rule-based filtering</a:t>
            </a:r>
          </a:p>
        </p:txBody>
      </p:sp>
      <p:sp>
        <p:nvSpPr>
          <p:cNvPr id="21" name="Rectangle 21"/>
          <p:cNvSpPr/>
          <p:nvPr/>
        </p:nvSpPr>
        <p:spPr>
          <a:xfrm>
            <a:off x="762000" y="3543300"/>
            <a:ext cx="4953000" cy="266700"/>
          </a:xfrm>
          <a:prstGeom prst="roundRect">
            <a:avLst>
              <a:gd name="adj" fmla="val 14286"/>
            </a:avLst>
          </a:prstGeom>
          <a:solidFill>
            <a:srgbClr val="FFFFFF"/>
          </a:solidFill>
          <a:ln w="9525">
            <a:solidFill>
              <a:srgbClr val="D0D8E0"/>
            </a:solidFill>
          </a:ln>
        </p:spPr>
      </p:sp>
      <p:sp>
        <p:nvSpPr>
          <p:cNvPr id="22" name="TextBox 22"/>
          <p:cNvSpPr txBox="1"/>
          <p:nvPr/>
        </p:nvSpPr>
        <p:spPr>
          <a:xfrm>
            <a:off x="902970" y="3636645"/>
            <a:ext cx="3125248"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Intention Executor: Cluster Filter / Embedding Filter</a:t>
            </a:r>
          </a:p>
        </p:txBody>
      </p:sp>
      <p:sp>
        <p:nvSpPr>
          <p:cNvPr id="23" name="TextBox 23"/>
          <p:cNvSpPr txBox="1"/>
          <p:nvPr/>
        </p:nvSpPr>
        <p:spPr>
          <a:xfrm>
            <a:off x="6271260" y="708660"/>
            <a:ext cx="870585" cy="243840"/>
          </a:xfrm>
          <a:prstGeom prst="rect">
            <a:avLst/>
          </a:prstGeom>
          <a:noFill/>
          <a:ln>
            <a:noFill/>
          </a:ln>
        </p:spPr>
        <p:txBody>
          <a:bodyPr wrap="none" lIns="0" tIns="0" rIns="0" bIns="0" anchor="t" anchorCtr="0">
            <a:spAutoFit/>
          </a:bodyPr>
          <a:lstStyle/>
          <a:p>
            <a:pPr algn="l"/>
            <a:r>
              <a:rPr lang="zh-CN" sz="1200" b="1" dirty="0">
                <a:solidFill>
                  <a:srgbClr val="C0392B"/>
                </a:solidFill>
                <a:latin typeface="Arial"/>
                <a:ea typeface="Microsoft YaHei"/>
                <a:cs typeface="Arial"/>
              </a:rPr>
              <a:t>待实现模块</a:t>
            </a:r>
          </a:p>
        </p:txBody>
      </p:sp>
      <p:sp>
        <p:nvSpPr>
          <p:cNvPr id="24" name="Rectangle 24"/>
          <p:cNvSpPr/>
          <p:nvPr/>
        </p:nvSpPr>
        <p:spPr>
          <a:xfrm>
            <a:off x="6096000" y="1104900"/>
            <a:ext cx="4953000" cy="266700"/>
          </a:xfrm>
          <a:prstGeom prst="roundRect">
            <a:avLst>
              <a:gd name="adj" fmla="val 14286"/>
            </a:avLst>
          </a:prstGeom>
          <a:solidFill>
            <a:srgbClr val="FFFFFF"/>
          </a:solidFill>
          <a:ln w="9525">
            <a:solidFill>
              <a:srgbClr val="D0D8E0"/>
            </a:solidFill>
          </a:ln>
        </p:spPr>
      </p:sp>
      <p:sp>
        <p:nvSpPr>
          <p:cNvPr id="25" name="TextBox 25"/>
          <p:cNvSpPr txBox="1"/>
          <p:nvPr/>
        </p:nvSpPr>
        <p:spPr>
          <a:xfrm>
            <a:off x="6236970" y="1198245"/>
            <a:ext cx="1241012"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RBO / CBO 查询优化器</a:t>
            </a:r>
          </a:p>
        </p:txBody>
      </p:sp>
      <p:sp>
        <p:nvSpPr>
          <p:cNvPr id="26" name="Rectangle 26"/>
          <p:cNvSpPr/>
          <p:nvPr/>
        </p:nvSpPr>
        <p:spPr>
          <a:xfrm>
            <a:off x="6096000" y="1409700"/>
            <a:ext cx="4953000" cy="266700"/>
          </a:xfrm>
          <a:prstGeom prst="roundRect">
            <a:avLst>
              <a:gd name="adj" fmla="val 14286"/>
            </a:avLst>
          </a:prstGeom>
          <a:solidFill>
            <a:srgbClr val="FFFFFF"/>
          </a:solidFill>
          <a:ln w="9525">
            <a:solidFill>
              <a:srgbClr val="D0D8E0"/>
            </a:solidFill>
          </a:ln>
        </p:spPr>
      </p:sp>
      <p:sp>
        <p:nvSpPr>
          <p:cNvPr id="27" name="TextBox 27"/>
          <p:cNvSpPr txBox="1"/>
          <p:nvPr/>
        </p:nvSpPr>
        <p:spPr>
          <a:xfrm>
            <a:off x="6236970" y="1503045"/>
            <a:ext cx="2591181"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内存调用图 BFS/DFS (graph_constraint 执行)</a:t>
            </a:r>
          </a:p>
        </p:txBody>
      </p:sp>
      <p:sp>
        <p:nvSpPr>
          <p:cNvPr id="28" name="Rectangle 28"/>
          <p:cNvSpPr/>
          <p:nvPr/>
        </p:nvSpPr>
        <p:spPr>
          <a:xfrm>
            <a:off x="6096000" y="1714500"/>
            <a:ext cx="4953000" cy="266700"/>
          </a:xfrm>
          <a:prstGeom prst="roundRect">
            <a:avLst>
              <a:gd name="adj" fmla="val 14286"/>
            </a:avLst>
          </a:prstGeom>
          <a:solidFill>
            <a:srgbClr val="FFFFFF"/>
          </a:solidFill>
          <a:ln w="9525">
            <a:solidFill>
              <a:srgbClr val="D0D8E0"/>
            </a:solidFill>
          </a:ln>
        </p:spPr>
      </p:sp>
      <p:sp>
        <p:nvSpPr>
          <p:cNvPr id="29" name="TextBox 29"/>
          <p:cNvSpPr txBox="1"/>
          <p:nvPr/>
        </p:nvSpPr>
        <p:spPr>
          <a:xfrm>
            <a:off x="6236970" y="1807845"/>
            <a:ext cx="1463040"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CodeQL 后端集成 (Tier 3)</a:t>
            </a:r>
          </a:p>
        </p:txBody>
      </p:sp>
      <p:sp>
        <p:nvSpPr>
          <p:cNvPr id="30" name="Rectangle 30"/>
          <p:cNvSpPr/>
          <p:nvPr/>
        </p:nvSpPr>
        <p:spPr>
          <a:xfrm>
            <a:off x="6096000" y="2019300"/>
            <a:ext cx="4953000" cy="266700"/>
          </a:xfrm>
          <a:prstGeom prst="roundRect">
            <a:avLst>
              <a:gd name="adj" fmla="val 14286"/>
            </a:avLst>
          </a:prstGeom>
          <a:solidFill>
            <a:srgbClr val="FFFFFF"/>
          </a:solidFill>
          <a:ln w="9525">
            <a:solidFill>
              <a:srgbClr val="D0D8E0"/>
            </a:solidFill>
          </a:ln>
        </p:spPr>
      </p:sp>
      <p:sp>
        <p:nvSpPr>
          <p:cNvPr id="31" name="TextBox 31"/>
          <p:cNvSpPr txBox="1"/>
          <p:nvPr/>
        </p:nvSpPr>
        <p:spPr>
          <a:xfrm>
            <a:off x="6236970" y="2112645"/>
            <a:ext cx="1979104"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LLM-as-a-Judge (大模型保底验证)</a:t>
            </a:r>
          </a:p>
        </p:txBody>
      </p:sp>
      <p:sp>
        <p:nvSpPr>
          <p:cNvPr id="32" name="Rectangle 32"/>
          <p:cNvSpPr/>
          <p:nvPr/>
        </p:nvSpPr>
        <p:spPr>
          <a:xfrm>
            <a:off x="6096000" y="2324100"/>
            <a:ext cx="4953000" cy="266700"/>
          </a:xfrm>
          <a:prstGeom prst="roundRect">
            <a:avLst>
              <a:gd name="adj" fmla="val 14286"/>
            </a:avLst>
          </a:prstGeom>
          <a:solidFill>
            <a:srgbClr val="FFFFFF"/>
          </a:solidFill>
          <a:ln w="9525">
            <a:solidFill>
              <a:srgbClr val="D0D8E0"/>
            </a:solidFill>
          </a:ln>
        </p:spPr>
      </p:sp>
      <p:sp>
        <p:nvSpPr>
          <p:cNvPr id="33" name="TextBox 33"/>
          <p:cNvSpPr txBox="1"/>
          <p:nvPr/>
        </p:nvSpPr>
        <p:spPr>
          <a:xfrm>
            <a:off x="6236970" y="2417445"/>
            <a:ext cx="2051113"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Bundle Generator + Synergy Scorer</a:t>
            </a:r>
          </a:p>
        </p:txBody>
      </p:sp>
      <p:sp>
        <p:nvSpPr>
          <p:cNvPr id="34" name="Rectangle 34"/>
          <p:cNvSpPr/>
          <p:nvPr/>
        </p:nvSpPr>
        <p:spPr>
          <a:xfrm>
            <a:off x="6096000" y="2628900"/>
            <a:ext cx="4953000" cy="266700"/>
          </a:xfrm>
          <a:prstGeom prst="roundRect">
            <a:avLst>
              <a:gd name="adj" fmla="val 14286"/>
            </a:avLst>
          </a:prstGeom>
          <a:solidFill>
            <a:srgbClr val="FFFFFF"/>
          </a:solidFill>
          <a:ln w="9525">
            <a:solidFill>
              <a:srgbClr val="D0D8E0"/>
            </a:solidFill>
          </a:ln>
        </p:spPr>
      </p:sp>
      <p:sp>
        <p:nvSpPr>
          <p:cNvPr id="35" name="TextBox 35"/>
          <p:cNvSpPr txBox="1"/>
          <p:nvPr/>
        </p:nvSpPr>
        <p:spPr>
          <a:xfrm>
            <a:off x="6236970" y="2722245"/>
            <a:ext cx="1517047" cy="182880"/>
          </a:xfrm>
          <a:prstGeom prst="rect">
            <a:avLst/>
          </a:prstGeom>
          <a:noFill/>
          <a:ln>
            <a:noFill/>
          </a:ln>
        </p:spPr>
        <p:txBody>
          <a:bodyPr wrap="none" lIns="0" tIns="0" rIns="0" bIns="0" anchor="t" anchorCtr="0">
            <a:spAutoFit/>
          </a:bodyPr>
          <a:lstStyle/>
          <a:p>
            <a:pPr algn="l"/>
            <a:r>
              <a:rPr lang="zh-CN" sz="900" dirty="0">
                <a:solidFill>
                  <a:srgbClr val="485D6A"/>
                </a:solidFill>
                <a:latin typeface="Arial"/>
                <a:ea typeface="Microsoft YaHei"/>
                <a:cs typeface="Arial"/>
              </a:rPr>
              <a:t>Benchmark 评测与消融实验</a:t>
            </a:r>
          </a:p>
        </p:txBody>
      </p:sp>
      <p:sp>
        <p:nvSpPr>
          <p:cNvPr id="36" name="TextBox 36"/>
          <p:cNvSpPr txBox="1"/>
          <p:nvPr/>
        </p:nvSpPr>
        <p:spPr>
          <a:xfrm>
            <a:off x="746760" y="3966210"/>
            <a:ext cx="702564" cy="243840"/>
          </a:xfrm>
          <a:prstGeom prst="rect">
            <a:avLst/>
          </a:prstGeom>
          <a:noFill/>
          <a:ln>
            <a:noFill/>
          </a:ln>
        </p:spPr>
        <p:txBody>
          <a:bodyPr wrap="none" lIns="0" tIns="0" rIns="0" bIns="0" anchor="t" anchorCtr="0">
            <a:spAutoFit/>
          </a:bodyPr>
          <a:lstStyle/>
          <a:p>
            <a:pPr algn="l"/>
            <a:r>
              <a:rPr lang="zh-CN" sz="1200" b="1" dirty="0">
                <a:solidFill>
                  <a:srgbClr val="223A48"/>
                </a:solidFill>
                <a:latin typeface="Arial"/>
                <a:ea typeface="Microsoft YaHei"/>
                <a:cs typeface="Arial"/>
              </a:rPr>
              <a:t>研发路径</a:t>
            </a:r>
          </a:p>
        </p:txBody>
      </p:sp>
      <p:sp>
        <p:nvSpPr>
          <p:cNvPr id="37" name="Rectangle 37"/>
          <p:cNvSpPr/>
          <p:nvPr/>
        </p:nvSpPr>
        <p:spPr>
          <a:xfrm>
            <a:off x="762000" y="4381500"/>
            <a:ext cx="2571750" cy="1333500"/>
          </a:xfrm>
          <a:prstGeom prst="roundRect">
            <a:avLst>
              <a:gd name="adj" fmla="val 5714"/>
            </a:avLst>
          </a:prstGeom>
          <a:solidFill>
            <a:srgbClr val="FFFFFF"/>
          </a:solidFill>
          <a:ln w="9525">
            <a:solidFill>
              <a:srgbClr val="D0D8E0"/>
            </a:solidFill>
          </a:ln>
        </p:spPr>
      </p:sp>
      <p:sp>
        <p:nvSpPr>
          <p:cNvPr id="38" name="Rectangle 38"/>
          <p:cNvSpPr/>
          <p:nvPr/>
        </p:nvSpPr>
        <p:spPr>
          <a:xfrm>
            <a:off x="762000" y="4381500"/>
            <a:ext cx="2571750" cy="57150"/>
          </a:xfrm>
          <a:prstGeom prst="roundRect">
            <a:avLst>
              <a:gd name="adj" fmla="val 50000"/>
            </a:avLst>
          </a:prstGeom>
          <a:solidFill>
            <a:srgbClr val="2E7E94"/>
          </a:solidFill>
          <a:ln>
            <a:noFill/>
          </a:ln>
        </p:spPr>
      </p:sp>
      <p:sp>
        <p:nvSpPr>
          <p:cNvPr id="39" name="TextBox 39"/>
          <p:cNvSpPr txBox="1"/>
          <p:nvPr/>
        </p:nvSpPr>
        <p:spPr>
          <a:xfrm>
            <a:off x="1769907" y="4630102"/>
            <a:ext cx="555936" cy="213360"/>
          </a:xfrm>
          <a:prstGeom prst="rect">
            <a:avLst/>
          </a:prstGeom>
          <a:noFill/>
          <a:ln>
            <a:noFill/>
          </a:ln>
        </p:spPr>
        <p:txBody>
          <a:bodyPr wrap="none" lIns="0" tIns="0" rIns="0" bIns="0" anchor="t" anchorCtr="0">
            <a:spAutoFit/>
          </a:bodyPr>
          <a:lstStyle/>
          <a:p>
            <a:pPr algn="ctr"/>
            <a:r>
              <a:rPr lang="zh-CN" sz="1050" b="1" dirty="0">
                <a:solidFill>
                  <a:srgbClr val="2E7E94"/>
                </a:solidFill>
                <a:latin typeface="Arial"/>
                <a:ea typeface="Microsoft YaHei"/>
                <a:cs typeface="Arial"/>
              </a:rPr>
              <a:t>Phase 1</a:t>
            </a:r>
          </a:p>
        </p:txBody>
      </p:sp>
      <p:sp>
        <p:nvSpPr>
          <p:cNvPr id="40" name="TextBox 40"/>
          <p:cNvSpPr txBox="1"/>
          <p:nvPr/>
        </p:nvSpPr>
        <p:spPr>
          <a:xfrm>
            <a:off x="1481376" y="4951095"/>
            <a:ext cx="1132999"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概念建模与 DSL 设计</a:t>
            </a:r>
          </a:p>
        </p:txBody>
      </p:sp>
      <p:sp>
        <p:nvSpPr>
          <p:cNvPr id="41" name="Rectangle 41"/>
          <p:cNvSpPr/>
          <p:nvPr/>
        </p:nvSpPr>
        <p:spPr>
          <a:xfrm>
            <a:off x="1743075" y="5334000"/>
            <a:ext cx="609600" cy="247650"/>
          </a:xfrm>
          <a:prstGeom prst="roundRect">
            <a:avLst>
              <a:gd name="adj" fmla="val 50000"/>
            </a:avLst>
          </a:prstGeom>
          <a:solidFill>
            <a:srgbClr val="2E7E94"/>
          </a:solidFill>
          <a:ln>
            <a:noFill/>
          </a:ln>
        </p:spPr>
      </p:sp>
      <p:sp>
        <p:nvSpPr>
          <p:cNvPr id="42" name="TextBox 42"/>
          <p:cNvSpPr txBox="1"/>
          <p:nvPr/>
        </p:nvSpPr>
        <p:spPr>
          <a:xfrm>
            <a:off x="1921883" y="5425916"/>
            <a:ext cx="25198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当前</a:t>
            </a:r>
          </a:p>
        </p:txBody>
      </p:sp>
      <p:sp>
        <p:nvSpPr>
          <p:cNvPr id="43" name="Rectangle 43"/>
          <p:cNvSpPr/>
          <p:nvPr/>
        </p:nvSpPr>
        <p:spPr>
          <a:xfrm>
            <a:off x="3524250" y="4381500"/>
            <a:ext cx="2571750" cy="1333500"/>
          </a:xfrm>
          <a:prstGeom prst="roundRect">
            <a:avLst>
              <a:gd name="adj" fmla="val 5714"/>
            </a:avLst>
          </a:prstGeom>
          <a:solidFill>
            <a:srgbClr val="FFFFFF"/>
          </a:solidFill>
          <a:ln w="9525">
            <a:solidFill>
              <a:srgbClr val="D0D8E0"/>
            </a:solidFill>
          </a:ln>
        </p:spPr>
      </p:sp>
      <p:sp>
        <p:nvSpPr>
          <p:cNvPr id="44" name="Rectangle 44"/>
          <p:cNvSpPr/>
          <p:nvPr/>
        </p:nvSpPr>
        <p:spPr>
          <a:xfrm>
            <a:off x="3524250" y="4381500"/>
            <a:ext cx="2571750" cy="57150"/>
          </a:xfrm>
          <a:prstGeom prst="roundRect">
            <a:avLst>
              <a:gd name="adj" fmla="val 50000"/>
            </a:avLst>
          </a:prstGeom>
          <a:solidFill>
            <a:srgbClr val="4A90A4"/>
          </a:solidFill>
          <a:ln>
            <a:noFill/>
          </a:ln>
        </p:spPr>
      </p:sp>
      <p:sp>
        <p:nvSpPr>
          <p:cNvPr id="45" name="TextBox 45"/>
          <p:cNvSpPr txBox="1"/>
          <p:nvPr/>
        </p:nvSpPr>
        <p:spPr>
          <a:xfrm>
            <a:off x="4532157" y="4630102"/>
            <a:ext cx="555936" cy="213360"/>
          </a:xfrm>
          <a:prstGeom prst="rect">
            <a:avLst/>
          </a:prstGeom>
          <a:noFill/>
          <a:ln>
            <a:noFill/>
          </a:ln>
        </p:spPr>
        <p:txBody>
          <a:bodyPr wrap="none" lIns="0" tIns="0" rIns="0" bIns="0" anchor="t" anchorCtr="0">
            <a:spAutoFit/>
          </a:bodyPr>
          <a:lstStyle/>
          <a:p>
            <a:pPr algn="ctr"/>
            <a:r>
              <a:rPr lang="zh-CN" sz="1050" b="1" dirty="0">
                <a:solidFill>
                  <a:srgbClr val="4A90A4"/>
                </a:solidFill>
                <a:latin typeface="Arial"/>
                <a:ea typeface="Microsoft YaHei"/>
                <a:cs typeface="Arial"/>
              </a:rPr>
              <a:t>Phase 2</a:t>
            </a:r>
          </a:p>
        </p:txBody>
      </p:sp>
      <p:sp>
        <p:nvSpPr>
          <p:cNvPr id="46" name="TextBox 46"/>
          <p:cNvSpPr txBox="1"/>
          <p:nvPr/>
        </p:nvSpPr>
        <p:spPr>
          <a:xfrm>
            <a:off x="4498658" y="4951095"/>
            <a:ext cx="622935"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查询优化器</a:t>
            </a:r>
          </a:p>
        </p:txBody>
      </p:sp>
      <p:sp>
        <p:nvSpPr>
          <p:cNvPr id="47" name="Rectangle 47"/>
          <p:cNvSpPr/>
          <p:nvPr/>
        </p:nvSpPr>
        <p:spPr>
          <a:xfrm>
            <a:off x="4505325" y="5334000"/>
            <a:ext cx="609600" cy="247650"/>
          </a:xfrm>
          <a:prstGeom prst="roundRect">
            <a:avLst>
              <a:gd name="adj" fmla="val 50000"/>
            </a:avLst>
          </a:prstGeom>
          <a:solidFill>
            <a:srgbClr val="4A90A4"/>
          </a:solidFill>
          <a:ln>
            <a:noFill/>
          </a:ln>
        </p:spPr>
      </p:sp>
      <p:sp>
        <p:nvSpPr>
          <p:cNvPr id="48" name="TextBox 48"/>
          <p:cNvSpPr txBox="1"/>
          <p:nvPr/>
        </p:nvSpPr>
        <p:spPr>
          <a:xfrm>
            <a:off x="4684133" y="5425916"/>
            <a:ext cx="25198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近期</a:t>
            </a:r>
          </a:p>
        </p:txBody>
      </p:sp>
      <p:sp>
        <p:nvSpPr>
          <p:cNvPr id="49" name="Rectangle 49"/>
          <p:cNvSpPr/>
          <p:nvPr/>
        </p:nvSpPr>
        <p:spPr>
          <a:xfrm>
            <a:off x="6286500" y="4381500"/>
            <a:ext cx="2571750" cy="1333500"/>
          </a:xfrm>
          <a:prstGeom prst="roundRect">
            <a:avLst>
              <a:gd name="adj" fmla="val 5714"/>
            </a:avLst>
          </a:prstGeom>
          <a:solidFill>
            <a:srgbClr val="FFFFFF"/>
          </a:solidFill>
          <a:ln w="9525">
            <a:solidFill>
              <a:srgbClr val="D0D8E0"/>
            </a:solidFill>
          </a:ln>
        </p:spPr>
      </p:sp>
      <p:sp>
        <p:nvSpPr>
          <p:cNvPr id="50" name="Rectangle 50"/>
          <p:cNvSpPr/>
          <p:nvPr/>
        </p:nvSpPr>
        <p:spPr>
          <a:xfrm>
            <a:off x="6286500" y="4381500"/>
            <a:ext cx="2571750" cy="57150"/>
          </a:xfrm>
          <a:prstGeom prst="roundRect">
            <a:avLst>
              <a:gd name="adj" fmla="val 50000"/>
            </a:avLst>
          </a:prstGeom>
          <a:solidFill>
            <a:srgbClr val="4CAF50"/>
          </a:solidFill>
          <a:ln>
            <a:noFill/>
          </a:ln>
        </p:spPr>
      </p:sp>
      <p:sp>
        <p:nvSpPr>
          <p:cNvPr id="51" name="TextBox 51"/>
          <p:cNvSpPr txBox="1"/>
          <p:nvPr/>
        </p:nvSpPr>
        <p:spPr>
          <a:xfrm>
            <a:off x="7294407" y="4630102"/>
            <a:ext cx="555936" cy="213360"/>
          </a:xfrm>
          <a:prstGeom prst="rect">
            <a:avLst/>
          </a:prstGeom>
          <a:noFill/>
          <a:ln>
            <a:noFill/>
          </a:ln>
        </p:spPr>
        <p:txBody>
          <a:bodyPr wrap="none" lIns="0" tIns="0" rIns="0" bIns="0" anchor="t" anchorCtr="0">
            <a:spAutoFit/>
          </a:bodyPr>
          <a:lstStyle/>
          <a:p>
            <a:pPr algn="ctr"/>
            <a:r>
              <a:rPr lang="zh-CN" sz="1050" b="1" dirty="0">
                <a:solidFill>
                  <a:srgbClr val="4CAF50"/>
                </a:solidFill>
                <a:latin typeface="Arial"/>
                <a:ea typeface="Microsoft YaHei"/>
                <a:cs typeface="Arial"/>
              </a:rPr>
              <a:t>Phase 3</a:t>
            </a:r>
          </a:p>
        </p:txBody>
      </p:sp>
      <p:sp>
        <p:nvSpPr>
          <p:cNvPr id="52" name="TextBox 52"/>
          <p:cNvSpPr txBox="1"/>
          <p:nvPr/>
        </p:nvSpPr>
        <p:spPr>
          <a:xfrm>
            <a:off x="7200900" y="4951095"/>
            <a:ext cx="742950"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执行引擎完善</a:t>
            </a:r>
          </a:p>
        </p:txBody>
      </p:sp>
      <p:sp>
        <p:nvSpPr>
          <p:cNvPr id="53" name="Rectangle 53"/>
          <p:cNvSpPr/>
          <p:nvPr/>
        </p:nvSpPr>
        <p:spPr>
          <a:xfrm>
            <a:off x="7267575" y="5334000"/>
            <a:ext cx="609600" cy="247650"/>
          </a:xfrm>
          <a:prstGeom prst="roundRect">
            <a:avLst>
              <a:gd name="adj" fmla="val 50000"/>
            </a:avLst>
          </a:prstGeom>
          <a:solidFill>
            <a:srgbClr val="4CAF50"/>
          </a:solidFill>
          <a:ln>
            <a:noFill/>
          </a:ln>
        </p:spPr>
      </p:sp>
      <p:sp>
        <p:nvSpPr>
          <p:cNvPr id="54" name="TextBox 54"/>
          <p:cNvSpPr txBox="1"/>
          <p:nvPr/>
        </p:nvSpPr>
        <p:spPr>
          <a:xfrm>
            <a:off x="7446383" y="5425916"/>
            <a:ext cx="25198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中期</a:t>
            </a:r>
          </a:p>
        </p:txBody>
      </p:sp>
      <p:sp>
        <p:nvSpPr>
          <p:cNvPr id="55" name="Rectangle 55"/>
          <p:cNvSpPr/>
          <p:nvPr/>
        </p:nvSpPr>
        <p:spPr>
          <a:xfrm>
            <a:off x="9048750" y="4381500"/>
            <a:ext cx="2571750" cy="1333500"/>
          </a:xfrm>
          <a:prstGeom prst="roundRect">
            <a:avLst>
              <a:gd name="adj" fmla="val 5714"/>
            </a:avLst>
          </a:prstGeom>
          <a:solidFill>
            <a:srgbClr val="FFFFFF"/>
          </a:solidFill>
          <a:ln w="9525">
            <a:solidFill>
              <a:srgbClr val="D0D8E0"/>
            </a:solidFill>
          </a:ln>
        </p:spPr>
      </p:sp>
      <p:sp>
        <p:nvSpPr>
          <p:cNvPr id="56" name="Rectangle 56"/>
          <p:cNvSpPr/>
          <p:nvPr/>
        </p:nvSpPr>
        <p:spPr>
          <a:xfrm>
            <a:off x="9048750" y="4381500"/>
            <a:ext cx="2571750" cy="57150"/>
          </a:xfrm>
          <a:prstGeom prst="roundRect">
            <a:avLst>
              <a:gd name="adj" fmla="val 50000"/>
            </a:avLst>
          </a:prstGeom>
          <a:solidFill>
            <a:srgbClr val="223A48"/>
          </a:solidFill>
          <a:ln>
            <a:noFill/>
          </a:ln>
        </p:spPr>
      </p:sp>
      <p:sp>
        <p:nvSpPr>
          <p:cNvPr id="57" name="TextBox 57"/>
          <p:cNvSpPr txBox="1"/>
          <p:nvPr/>
        </p:nvSpPr>
        <p:spPr>
          <a:xfrm>
            <a:off x="10056657" y="4630102"/>
            <a:ext cx="555936" cy="213360"/>
          </a:xfrm>
          <a:prstGeom prst="rect">
            <a:avLst/>
          </a:prstGeom>
          <a:noFill/>
          <a:ln>
            <a:noFill/>
          </a:ln>
        </p:spPr>
        <p:txBody>
          <a:bodyPr wrap="none" lIns="0" tIns="0" rIns="0" bIns="0" anchor="t" anchorCtr="0">
            <a:spAutoFit/>
          </a:bodyPr>
          <a:lstStyle/>
          <a:p>
            <a:pPr algn="ctr"/>
            <a:r>
              <a:rPr lang="zh-CN" sz="1050" b="1" dirty="0">
                <a:solidFill>
                  <a:srgbClr val="223A48"/>
                </a:solidFill>
                <a:latin typeface="Arial"/>
                <a:ea typeface="Microsoft YaHei"/>
                <a:cs typeface="Arial"/>
              </a:rPr>
              <a:t>Phase 4</a:t>
            </a:r>
          </a:p>
        </p:txBody>
      </p:sp>
      <p:sp>
        <p:nvSpPr>
          <p:cNvPr id="58" name="TextBox 58"/>
          <p:cNvSpPr txBox="1"/>
          <p:nvPr/>
        </p:nvSpPr>
        <p:spPr>
          <a:xfrm>
            <a:off x="9822132" y="4951095"/>
            <a:ext cx="1024985" cy="182880"/>
          </a:xfrm>
          <a:prstGeom prst="rect">
            <a:avLst/>
          </a:prstGeom>
          <a:noFill/>
          <a:ln>
            <a:noFill/>
          </a:ln>
        </p:spPr>
        <p:txBody>
          <a:bodyPr wrap="none" lIns="0" tIns="0" rIns="0" bIns="0" anchor="t" anchorCtr="0">
            <a:spAutoFit/>
          </a:bodyPr>
          <a:lstStyle/>
          <a:p>
            <a:pPr algn="ctr"/>
            <a:r>
              <a:rPr lang="zh-CN" sz="900" dirty="0">
                <a:solidFill>
                  <a:srgbClr val="485D6A"/>
                </a:solidFill>
                <a:latin typeface="Arial"/>
                <a:ea typeface="Microsoft YaHei"/>
                <a:cs typeface="Arial"/>
              </a:rPr>
              <a:t>Bundle 重排与评测</a:t>
            </a:r>
          </a:p>
        </p:txBody>
      </p:sp>
      <p:sp>
        <p:nvSpPr>
          <p:cNvPr id="59" name="Rectangle 59"/>
          <p:cNvSpPr/>
          <p:nvPr/>
        </p:nvSpPr>
        <p:spPr>
          <a:xfrm>
            <a:off x="10029825" y="5334000"/>
            <a:ext cx="609600" cy="247650"/>
          </a:xfrm>
          <a:prstGeom prst="roundRect">
            <a:avLst>
              <a:gd name="adj" fmla="val 50000"/>
            </a:avLst>
          </a:prstGeom>
          <a:solidFill>
            <a:srgbClr val="223A48"/>
          </a:solidFill>
          <a:ln>
            <a:noFill/>
          </a:ln>
        </p:spPr>
      </p:sp>
      <p:sp>
        <p:nvSpPr>
          <p:cNvPr id="60" name="TextBox 60"/>
          <p:cNvSpPr txBox="1"/>
          <p:nvPr/>
        </p:nvSpPr>
        <p:spPr>
          <a:xfrm>
            <a:off x="10208633" y="5425916"/>
            <a:ext cx="251984" cy="167640"/>
          </a:xfrm>
          <a:prstGeom prst="rect">
            <a:avLst/>
          </a:prstGeom>
          <a:noFill/>
          <a:ln>
            <a:noFill/>
          </a:ln>
        </p:spPr>
        <p:txBody>
          <a:bodyPr wrap="none" lIns="0" tIns="0" rIns="0" bIns="0" anchor="t" anchorCtr="0">
            <a:spAutoFit/>
          </a:bodyPr>
          <a:lstStyle/>
          <a:p>
            <a:pPr algn="ctr"/>
            <a:r>
              <a:rPr lang="zh-CN" sz="825" b="1" dirty="0">
                <a:solidFill>
                  <a:srgbClr val="FFFFFF"/>
                </a:solidFill>
                <a:latin typeface="Arial"/>
                <a:ea typeface="Microsoft YaHei"/>
                <a:cs typeface="Arial"/>
              </a:rPr>
              <a:t>后期</a:t>
            </a:r>
          </a:p>
        </p:txBody>
      </p:sp>
      <p:sp>
        <p:nvSpPr>
          <p:cNvPr id="61" name="Rectangle 61"/>
          <p:cNvSpPr/>
          <p:nvPr/>
        </p:nvSpPr>
        <p:spPr>
          <a:xfrm>
            <a:off x="762000" y="6000750"/>
            <a:ext cx="10668000" cy="323850"/>
          </a:xfrm>
          <a:prstGeom prst="roundRect">
            <a:avLst>
              <a:gd name="adj" fmla="val 17647"/>
            </a:avLst>
          </a:prstGeom>
          <a:solidFill>
            <a:srgbClr val="E8EDF2"/>
          </a:solidFill>
          <a:ln>
            <a:noFill/>
          </a:ln>
        </p:spPr>
      </p:sp>
      <p:sp>
        <p:nvSpPr>
          <p:cNvPr id="62" name="TextBox 62"/>
          <p:cNvSpPr txBox="1"/>
          <p:nvPr/>
        </p:nvSpPr>
        <p:spPr>
          <a:xfrm>
            <a:off x="3249216" y="6132195"/>
            <a:ext cx="5693569" cy="182880"/>
          </a:xfrm>
          <a:prstGeom prst="rect">
            <a:avLst/>
          </a:prstGeom>
          <a:noFill/>
          <a:ln>
            <a:noFill/>
          </a:ln>
        </p:spPr>
        <p:txBody>
          <a:bodyPr wrap="none" lIns="0" tIns="0" rIns="0" bIns="0" anchor="t" anchorCtr="0">
            <a:spAutoFit/>
          </a:bodyPr>
          <a:lstStyle/>
          <a:p>
            <a:pPr algn="ctr"/>
            <a:r>
              <a:rPr lang="zh-CN" sz="900" b="1" dirty="0">
                <a:solidFill>
                  <a:srgbClr val="2E7E94"/>
                </a:solidFill>
                <a:latin typeface="Arial"/>
                <a:ea typeface="Microsoft YaHei"/>
                <a:cs typeface="Arial"/>
              </a:rPr>
              <a:t>Benchmark: SWE-bench / CodeSearchNet / 内部 Agent Benchmark | 通过消融实验验证各阶段贡献</a:t>
            </a:r>
          </a:p>
        </p:txBody>
      </p:sp>
      <p:sp>
        <p:nvSpPr>
          <p:cNvPr id="63" name="TextBox 63"/>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14</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Rectangle 3"/>
          <p:cNvSpPr/>
          <p:nvPr/>
        </p:nvSpPr>
        <p:spPr>
          <a:xfrm>
            <a:off x="0" y="0"/>
            <a:ext cx="12192000" cy="2667000"/>
          </a:xfrm>
          <a:prstGeom prst="rect">
            <a:avLst/>
          </a:prstGeom>
          <a:solidFill>
            <a:srgbClr val="223A48"/>
          </a:solidFill>
          <a:ln>
            <a:noFill/>
          </a:ln>
        </p:spPr>
      </p:sp>
      <p:sp>
        <p:nvSpPr>
          <p:cNvPr id="4" name="TextBox 4"/>
          <p:cNvSpPr txBox="1"/>
          <p:nvPr/>
        </p:nvSpPr>
        <p:spPr>
          <a:xfrm>
            <a:off x="708660" y="1165860"/>
            <a:ext cx="430120" cy="853440"/>
          </a:xfrm>
          <a:prstGeom prst="rect">
            <a:avLst/>
          </a:prstGeom>
          <a:noFill/>
          <a:ln>
            <a:noFill/>
          </a:ln>
        </p:spPr>
        <p:txBody>
          <a:bodyPr wrap="none" lIns="0" tIns="0" rIns="0" bIns="0" anchor="t" anchorCtr="0">
            <a:spAutoFit/>
          </a:bodyPr>
          <a:lstStyle/>
          <a:p>
            <a:pPr algn="l"/>
            <a:r>
              <a:rPr lang="zh-CN" sz="4200" b="1" dirty="0">
                <a:solidFill>
                  <a:srgbClr val="2E7E94"/>
                </a:solidFill>
                <a:latin typeface="Arial"/>
                <a:ea typeface="Microsoft YaHei"/>
                <a:cs typeface="Arial"/>
              </a:rPr>
              <a:t>6</a:t>
            </a:r>
          </a:p>
        </p:txBody>
      </p:sp>
      <p:sp>
        <p:nvSpPr>
          <p:cNvPr id="5" name="TextBox 5"/>
          <p:cNvSpPr txBox="1"/>
          <p:nvPr/>
        </p:nvSpPr>
        <p:spPr>
          <a:xfrm>
            <a:off x="1495425" y="1376362"/>
            <a:ext cx="1632347" cy="457200"/>
          </a:xfrm>
          <a:prstGeom prst="rect">
            <a:avLst/>
          </a:prstGeom>
          <a:noFill/>
          <a:ln>
            <a:noFill/>
          </a:ln>
        </p:spPr>
        <p:txBody>
          <a:bodyPr wrap="none" lIns="0" tIns="0" rIns="0" bIns="0" anchor="t" anchorCtr="0">
            <a:spAutoFit/>
          </a:bodyPr>
          <a:lstStyle/>
          <a:p>
            <a:pPr algn="l"/>
            <a:r>
              <a:rPr lang="zh-CN" sz="2250" b="1" dirty="0">
                <a:solidFill>
                  <a:srgbClr val="FFFFFF"/>
                </a:solidFill>
                <a:latin typeface="Arial"/>
                <a:ea typeface="Microsoft YaHei"/>
                <a:cs typeface="Arial"/>
              </a:rPr>
              <a:t>实验与评测</a:t>
            </a:r>
          </a:p>
        </p:txBody>
      </p:sp>
      <p:sp>
        <p:nvSpPr>
          <p:cNvPr id="6" name="Rectangle 6"/>
          <p:cNvSpPr/>
          <p:nvPr/>
        </p:nvSpPr>
        <p:spPr>
          <a:xfrm>
            <a:off x="952500" y="3429000"/>
            <a:ext cx="38100" cy="2095500"/>
          </a:xfrm>
          <a:prstGeom prst="roundRect">
            <a:avLst>
              <a:gd name="adj" fmla="val 50000"/>
            </a:avLst>
          </a:prstGeom>
          <a:solidFill>
            <a:srgbClr val="2E7E94"/>
          </a:solidFill>
          <a:ln>
            <a:noFill/>
          </a:ln>
        </p:spPr>
      </p:sp>
      <p:sp>
        <p:nvSpPr>
          <p:cNvPr id="7" name="TextBox 7"/>
          <p:cNvSpPr txBox="1"/>
          <p:nvPr/>
        </p:nvSpPr>
        <p:spPr>
          <a:xfrm>
            <a:off x="1234440" y="3996690"/>
            <a:ext cx="5398389" cy="365760"/>
          </a:xfrm>
          <a:prstGeom prst="rect">
            <a:avLst/>
          </a:prstGeom>
          <a:noFill/>
          <a:ln>
            <a:noFill/>
          </a:ln>
        </p:spPr>
        <p:txBody>
          <a:bodyPr wrap="none" lIns="0" tIns="0" rIns="0" bIns="0" anchor="t" anchorCtr="0">
            <a:spAutoFit/>
          </a:bodyPr>
          <a:lstStyle/>
          <a:p>
            <a:pPr algn="l"/>
            <a:r>
              <a:rPr lang="zh-CN" sz="1800" dirty="0">
                <a:solidFill>
                  <a:srgbClr val="223A48"/>
                </a:solidFill>
                <a:latin typeface="Arial"/>
                <a:ea typeface="Microsoft YaHei"/>
                <a:cs typeface="Arial"/>
              </a:rPr>
              <a:t>检索质量、执行效率与 Benchmarks 的系统化验证</a:t>
            </a:r>
          </a:p>
        </p:txBody>
      </p:sp>
      <p:sp>
        <p:nvSpPr>
          <p:cNvPr id="8" name="TextBox 8"/>
          <p:cNvSpPr txBox="1"/>
          <p:nvPr/>
        </p:nvSpPr>
        <p:spPr>
          <a:xfrm>
            <a:off x="1240155" y="4521518"/>
            <a:ext cx="4795885" cy="274320"/>
          </a:xfrm>
          <a:prstGeom prst="rect">
            <a:avLst/>
          </a:prstGeom>
          <a:noFill/>
          <a:ln>
            <a:noFill/>
          </a:ln>
        </p:spPr>
        <p:txBody>
          <a:bodyPr wrap="none" lIns="0" tIns="0" rIns="0" bIns="0" anchor="t" anchorCtr="0">
            <a:spAutoFit/>
          </a:bodyPr>
          <a:lstStyle/>
          <a:p>
            <a:pPr algn="l"/>
            <a:r>
              <a:rPr lang="zh-CN" sz="1350" dirty="0">
                <a:solidFill>
                  <a:srgbClr val="485D6A"/>
                </a:solidFill>
                <a:latin typeface="Arial"/>
                <a:ea typeface="Microsoft YaHei"/>
                <a:cs typeface="Arial"/>
              </a:rPr>
              <a:t>Recall@K · Precision@K · MRR · nDCG@K · Bundle Hit Rate</a:t>
            </a:r>
          </a:p>
        </p:txBody>
      </p:sp>
      <p:sp>
        <p:nvSpPr>
          <p:cNvPr id="9" name="TextBox 9"/>
          <p:cNvSpPr txBox="1"/>
          <p:nvPr/>
        </p:nvSpPr>
        <p:spPr>
          <a:xfrm>
            <a:off x="1242060" y="5013960"/>
            <a:ext cx="4415028" cy="243840"/>
          </a:xfrm>
          <a:prstGeom prst="rect">
            <a:avLst/>
          </a:prstGeom>
          <a:noFill/>
          <a:ln>
            <a:noFill/>
          </a:ln>
        </p:spPr>
        <p:txBody>
          <a:bodyPr wrap="none" lIns="0" tIns="0" rIns="0" bIns="0" anchor="t" anchorCtr="0">
            <a:spAutoFit/>
          </a:bodyPr>
          <a:lstStyle/>
          <a:p>
            <a:pPr algn="l"/>
            <a:r>
              <a:rPr lang="zh-CN" sz="1200" dirty="0">
                <a:solidFill>
                  <a:srgbClr val="697A84"/>
                </a:solidFill>
                <a:latin typeface="Arial"/>
                <a:ea typeface="Microsoft YaHei"/>
                <a:cs typeface="Arial"/>
              </a:rPr>
              <a:t>SWE-bench · CodeSearchNet · 内部 Agent 任务 Benchmark</a:t>
            </a:r>
          </a:p>
        </p:txBody>
      </p:sp>
      <p:sp>
        <p:nvSpPr>
          <p:cNvPr id="10" name="TextBox 10"/>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81940"/>
            <a:ext cx="1557909"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评测指标体系</a:t>
            </a:r>
          </a:p>
        </p:txBody>
      </p:sp>
      <p:sp>
        <p:nvSpPr>
          <p:cNvPr id="4" name="Rectangle 4"/>
          <p:cNvSpPr/>
          <p:nvPr/>
        </p:nvSpPr>
        <p:spPr>
          <a:xfrm>
            <a:off x="571500" y="704850"/>
            <a:ext cx="5334000" cy="266700"/>
          </a:xfrm>
          <a:prstGeom prst="roundRect">
            <a:avLst>
              <a:gd name="adj" fmla="val 14286"/>
            </a:avLst>
          </a:prstGeom>
          <a:solidFill>
            <a:srgbClr val="2E7E94"/>
          </a:solidFill>
          <a:ln>
            <a:noFill/>
          </a:ln>
        </p:spPr>
      </p:sp>
      <p:sp>
        <p:nvSpPr>
          <p:cNvPr id="5" name="TextBox 5"/>
          <p:cNvSpPr txBox="1"/>
          <p:nvPr/>
        </p:nvSpPr>
        <p:spPr>
          <a:xfrm>
            <a:off x="2719197" y="7658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检索质量指标</a:t>
            </a:r>
          </a:p>
        </p:txBody>
      </p:sp>
      <p:sp>
        <p:nvSpPr>
          <p:cNvPr id="6" name="Rectangle 6"/>
          <p:cNvSpPr/>
          <p:nvPr/>
        </p:nvSpPr>
        <p:spPr>
          <a:xfrm>
            <a:off x="571500" y="1066800"/>
            <a:ext cx="5334000" cy="361950"/>
          </a:xfrm>
          <a:prstGeom prst="rect">
            <a:avLst/>
          </a:prstGeom>
          <a:solidFill>
            <a:srgbClr val="FFFFFF"/>
          </a:solidFill>
          <a:ln w="9525">
            <a:solidFill>
              <a:srgbClr val="D0D8E0"/>
            </a:solidFill>
          </a:ln>
        </p:spPr>
      </p:sp>
      <p:sp>
        <p:nvSpPr>
          <p:cNvPr id="7" name="TextBox 7"/>
          <p:cNvSpPr txBox="1"/>
          <p:nvPr/>
        </p:nvSpPr>
        <p:spPr>
          <a:xfrm>
            <a:off x="711518" y="1075849"/>
            <a:ext cx="557182" cy="198120"/>
          </a:xfrm>
          <a:prstGeom prst="rect">
            <a:avLst/>
          </a:prstGeom>
          <a:noFill/>
          <a:ln>
            <a:noFill/>
          </a:ln>
        </p:spPr>
        <p:txBody>
          <a:bodyPr wrap="none" lIns="0" tIns="0" rIns="0" bIns="0" anchor="t" anchorCtr="0">
            <a:spAutoFit/>
          </a:bodyPr>
          <a:lstStyle/>
          <a:p>
            <a:pPr algn="l"/>
            <a:r>
              <a:rPr lang="zh-CN" sz="975" b="1" dirty="0">
                <a:solidFill>
                  <a:srgbClr val="2E7E94"/>
                </a:solidFill>
                <a:latin typeface="Arial"/>
                <a:ea typeface="Microsoft YaHei"/>
                <a:cs typeface="Arial"/>
              </a:rPr>
              <a:t>Recall@K</a:t>
            </a:r>
          </a:p>
        </p:txBody>
      </p:sp>
      <p:sp>
        <p:nvSpPr>
          <p:cNvPr id="8" name="TextBox 8"/>
          <p:cNvSpPr txBox="1"/>
          <p:nvPr/>
        </p:nvSpPr>
        <p:spPr>
          <a:xfrm>
            <a:off x="712946" y="1278493"/>
            <a:ext cx="2471714"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前 K 个结果覆盖真实答案的比率 — 衡量召回能力</a:t>
            </a:r>
          </a:p>
        </p:txBody>
      </p:sp>
      <p:sp>
        <p:nvSpPr>
          <p:cNvPr id="9" name="Rectangle 9"/>
          <p:cNvSpPr/>
          <p:nvPr/>
        </p:nvSpPr>
        <p:spPr>
          <a:xfrm>
            <a:off x="571500" y="1466850"/>
            <a:ext cx="5334000" cy="361950"/>
          </a:xfrm>
          <a:prstGeom prst="rect">
            <a:avLst/>
          </a:prstGeom>
          <a:solidFill>
            <a:srgbClr val="FFFFFF"/>
          </a:solidFill>
          <a:ln w="9525">
            <a:solidFill>
              <a:srgbClr val="D0D8E0"/>
            </a:solidFill>
          </a:ln>
        </p:spPr>
      </p:sp>
      <p:sp>
        <p:nvSpPr>
          <p:cNvPr id="10" name="TextBox 10"/>
          <p:cNvSpPr txBox="1"/>
          <p:nvPr/>
        </p:nvSpPr>
        <p:spPr>
          <a:xfrm>
            <a:off x="711518" y="1475899"/>
            <a:ext cx="782435"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Precision@K</a:t>
            </a:r>
          </a:p>
        </p:txBody>
      </p:sp>
      <p:sp>
        <p:nvSpPr>
          <p:cNvPr id="11" name="TextBox 11"/>
          <p:cNvSpPr txBox="1"/>
          <p:nvPr/>
        </p:nvSpPr>
        <p:spPr>
          <a:xfrm>
            <a:off x="712946" y="1678543"/>
            <a:ext cx="2126671"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前 K 个结果中真实答案的比率 — 衡量精度</a:t>
            </a:r>
          </a:p>
        </p:txBody>
      </p:sp>
      <p:sp>
        <p:nvSpPr>
          <p:cNvPr id="12" name="Rectangle 12"/>
          <p:cNvSpPr/>
          <p:nvPr/>
        </p:nvSpPr>
        <p:spPr>
          <a:xfrm>
            <a:off x="571500" y="1866900"/>
            <a:ext cx="5334000" cy="361950"/>
          </a:xfrm>
          <a:prstGeom prst="rect">
            <a:avLst/>
          </a:prstGeom>
          <a:solidFill>
            <a:srgbClr val="FFFFFF"/>
          </a:solidFill>
          <a:ln w="9525">
            <a:solidFill>
              <a:srgbClr val="D0D8E0"/>
            </a:solidFill>
          </a:ln>
        </p:spPr>
      </p:sp>
      <p:sp>
        <p:nvSpPr>
          <p:cNvPr id="13" name="TextBox 13"/>
          <p:cNvSpPr txBox="1"/>
          <p:nvPr/>
        </p:nvSpPr>
        <p:spPr>
          <a:xfrm>
            <a:off x="711518" y="1875949"/>
            <a:ext cx="277322"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MRR</a:t>
            </a:r>
          </a:p>
        </p:txBody>
      </p:sp>
      <p:sp>
        <p:nvSpPr>
          <p:cNvPr id="14" name="TextBox 14"/>
          <p:cNvSpPr txBox="1"/>
          <p:nvPr/>
        </p:nvSpPr>
        <p:spPr>
          <a:xfrm>
            <a:off x="712946" y="2078593"/>
            <a:ext cx="2937522"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第一个正确结果位置的倒数均值 — Mean Reciprocal Rank</a:t>
            </a:r>
          </a:p>
        </p:txBody>
      </p:sp>
      <p:sp>
        <p:nvSpPr>
          <p:cNvPr id="15" name="Rectangle 15"/>
          <p:cNvSpPr/>
          <p:nvPr/>
        </p:nvSpPr>
        <p:spPr>
          <a:xfrm>
            <a:off x="571500" y="2266950"/>
            <a:ext cx="5334000" cy="361950"/>
          </a:xfrm>
          <a:prstGeom prst="rect">
            <a:avLst/>
          </a:prstGeom>
          <a:solidFill>
            <a:srgbClr val="FFFFFF"/>
          </a:solidFill>
          <a:ln w="9525">
            <a:solidFill>
              <a:srgbClr val="D0D8E0"/>
            </a:solidFill>
          </a:ln>
        </p:spPr>
      </p:sp>
      <p:sp>
        <p:nvSpPr>
          <p:cNvPr id="16" name="TextBox 16"/>
          <p:cNvSpPr txBox="1"/>
          <p:nvPr/>
        </p:nvSpPr>
        <p:spPr>
          <a:xfrm>
            <a:off x="711518" y="2275999"/>
            <a:ext cx="475271"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nDCG@K</a:t>
            </a:r>
          </a:p>
        </p:txBody>
      </p:sp>
      <p:sp>
        <p:nvSpPr>
          <p:cNvPr id="17" name="TextBox 17"/>
          <p:cNvSpPr txBox="1"/>
          <p:nvPr/>
        </p:nvSpPr>
        <p:spPr>
          <a:xfrm>
            <a:off x="712946" y="2478643"/>
            <a:ext cx="1747123"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考虑结果位置权重的排序质量指标</a:t>
            </a:r>
          </a:p>
        </p:txBody>
      </p:sp>
      <p:sp>
        <p:nvSpPr>
          <p:cNvPr id="18" name="Rectangle 18"/>
          <p:cNvSpPr/>
          <p:nvPr/>
        </p:nvSpPr>
        <p:spPr>
          <a:xfrm>
            <a:off x="571500" y="2667000"/>
            <a:ext cx="5334000" cy="361950"/>
          </a:xfrm>
          <a:prstGeom prst="rect">
            <a:avLst/>
          </a:prstGeom>
          <a:solidFill>
            <a:srgbClr val="FFFFFF"/>
          </a:solidFill>
          <a:ln w="9525">
            <a:solidFill>
              <a:srgbClr val="D0D8E0"/>
            </a:solidFill>
          </a:ln>
        </p:spPr>
      </p:sp>
      <p:sp>
        <p:nvSpPr>
          <p:cNvPr id="19" name="TextBox 19"/>
          <p:cNvSpPr txBox="1"/>
          <p:nvPr/>
        </p:nvSpPr>
        <p:spPr>
          <a:xfrm>
            <a:off x="711518" y="2676049"/>
            <a:ext cx="1123727" cy="198120"/>
          </a:xfrm>
          <a:prstGeom prst="rect">
            <a:avLst/>
          </a:prstGeom>
          <a:noFill/>
          <a:ln>
            <a:noFill/>
          </a:ln>
        </p:spPr>
        <p:txBody>
          <a:bodyPr wrap="none" lIns="0" tIns="0" rIns="0" bIns="0" anchor="t" anchorCtr="0">
            <a:spAutoFit/>
          </a:bodyPr>
          <a:lstStyle/>
          <a:p>
            <a:pPr algn="l"/>
            <a:r>
              <a:rPr lang="zh-CN" sz="975" b="1" dirty="0">
                <a:solidFill>
                  <a:srgbClr val="2E7E94"/>
                </a:solidFill>
                <a:latin typeface="Arial"/>
                <a:ea typeface="Microsoft YaHei"/>
                <a:cs typeface="Arial"/>
              </a:rPr>
              <a:t>Bundle Relevance</a:t>
            </a:r>
          </a:p>
        </p:txBody>
      </p:sp>
      <p:sp>
        <p:nvSpPr>
          <p:cNvPr id="20" name="TextBox 20"/>
          <p:cNvSpPr txBox="1"/>
          <p:nvPr/>
        </p:nvSpPr>
        <p:spPr>
          <a:xfrm>
            <a:off x="712946" y="2878693"/>
            <a:ext cx="2816757"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Bundle 内所有节点对 Query 的平均相关性 (人工标注)</a:t>
            </a:r>
          </a:p>
        </p:txBody>
      </p:sp>
      <p:sp>
        <p:nvSpPr>
          <p:cNvPr id="21" name="Rectangle 21"/>
          <p:cNvSpPr/>
          <p:nvPr/>
        </p:nvSpPr>
        <p:spPr>
          <a:xfrm>
            <a:off x="571500" y="3067050"/>
            <a:ext cx="5334000" cy="361950"/>
          </a:xfrm>
          <a:prstGeom prst="rect">
            <a:avLst/>
          </a:prstGeom>
          <a:solidFill>
            <a:srgbClr val="FFFFFF"/>
          </a:solidFill>
          <a:ln w="9525">
            <a:solidFill>
              <a:srgbClr val="D0D8E0"/>
            </a:solidFill>
          </a:ln>
        </p:spPr>
      </p:sp>
      <p:sp>
        <p:nvSpPr>
          <p:cNvPr id="22" name="TextBox 22"/>
          <p:cNvSpPr txBox="1"/>
          <p:nvPr/>
        </p:nvSpPr>
        <p:spPr>
          <a:xfrm>
            <a:off x="711518" y="3076099"/>
            <a:ext cx="1014514"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Bundle Hit Rate</a:t>
            </a:r>
          </a:p>
        </p:txBody>
      </p:sp>
      <p:sp>
        <p:nvSpPr>
          <p:cNvPr id="23" name="TextBox 23"/>
          <p:cNvSpPr txBox="1"/>
          <p:nvPr/>
        </p:nvSpPr>
        <p:spPr>
          <a:xfrm>
            <a:off x="712946" y="3278743"/>
            <a:ext cx="2713244"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正确 Bundle (含全部必要节点) 出现在 Top-K 的比率</a:t>
            </a:r>
          </a:p>
        </p:txBody>
      </p:sp>
      <p:sp>
        <p:nvSpPr>
          <p:cNvPr id="24" name="Rectangle 24"/>
          <p:cNvSpPr/>
          <p:nvPr/>
        </p:nvSpPr>
        <p:spPr>
          <a:xfrm>
            <a:off x="6096000" y="704850"/>
            <a:ext cx="5524500" cy="266700"/>
          </a:xfrm>
          <a:prstGeom prst="roundRect">
            <a:avLst>
              <a:gd name="adj" fmla="val 14286"/>
            </a:avLst>
          </a:prstGeom>
          <a:solidFill>
            <a:srgbClr val="4CAF50"/>
          </a:solidFill>
          <a:ln>
            <a:noFill/>
          </a:ln>
        </p:spPr>
      </p:sp>
      <p:sp>
        <p:nvSpPr>
          <p:cNvPr id="25" name="TextBox 25"/>
          <p:cNvSpPr txBox="1"/>
          <p:nvPr/>
        </p:nvSpPr>
        <p:spPr>
          <a:xfrm>
            <a:off x="8338947" y="765810"/>
            <a:ext cx="1038606"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执行效率指标</a:t>
            </a:r>
          </a:p>
        </p:txBody>
      </p:sp>
      <p:sp>
        <p:nvSpPr>
          <p:cNvPr id="26" name="Rectangle 26"/>
          <p:cNvSpPr/>
          <p:nvPr/>
        </p:nvSpPr>
        <p:spPr>
          <a:xfrm>
            <a:off x="6096000" y="1066800"/>
            <a:ext cx="5524500" cy="419100"/>
          </a:xfrm>
          <a:prstGeom prst="rect">
            <a:avLst/>
          </a:prstGeom>
          <a:solidFill>
            <a:srgbClr val="E8EDF2"/>
          </a:solidFill>
          <a:ln w="19050">
            <a:solidFill>
              <a:srgbClr val="D0D8E0"/>
            </a:solidFill>
          </a:ln>
        </p:spPr>
      </p:sp>
      <p:sp>
        <p:nvSpPr>
          <p:cNvPr id="27" name="TextBox 27"/>
          <p:cNvSpPr txBox="1"/>
          <p:nvPr/>
        </p:nvSpPr>
        <p:spPr>
          <a:xfrm>
            <a:off x="6236018" y="1094899"/>
            <a:ext cx="1355806" cy="198120"/>
          </a:xfrm>
          <a:prstGeom prst="rect">
            <a:avLst/>
          </a:prstGeom>
          <a:noFill/>
          <a:ln>
            <a:noFill/>
          </a:ln>
        </p:spPr>
        <p:txBody>
          <a:bodyPr wrap="none" lIns="0" tIns="0" rIns="0" bIns="0" anchor="t" anchorCtr="0">
            <a:spAutoFit/>
          </a:bodyPr>
          <a:lstStyle/>
          <a:p>
            <a:pPr algn="l"/>
            <a:r>
              <a:rPr lang="zh-CN" sz="975" b="1" dirty="0">
                <a:solidFill>
                  <a:srgbClr val="4CAF50"/>
                </a:solidFill>
                <a:latin typeface="Arial"/>
                <a:ea typeface="Microsoft YaHei"/>
                <a:cs typeface="Arial"/>
              </a:rPr>
              <a:t>P50 / P99 端到端延迟</a:t>
            </a:r>
          </a:p>
        </p:txBody>
      </p:sp>
      <p:sp>
        <p:nvSpPr>
          <p:cNvPr id="28" name="TextBox 28"/>
          <p:cNvSpPr txBox="1"/>
          <p:nvPr/>
        </p:nvSpPr>
        <p:spPr>
          <a:xfrm>
            <a:off x="6237446" y="1316593"/>
            <a:ext cx="2511969"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Surface-only &lt; 200ms | 含 Intention 阶段 &lt; 3s</a:t>
            </a:r>
          </a:p>
        </p:txBody>
      </p:sp>
      <p:sp>
        <p:nvSpPr>
          <p:cNvPr id="29" name="Rectangle 29"/>
          <p:cNvSpPr/>
          <p:nvPr/>
        </p:nvSpPr>
        <p:spPr>
          <a:xfrm>
            <a:off x="6096000" y="1524000"/>
            <a:ext cx="5524500" cy="419100"/>
          </a:xfrm>
          <a:prstGeom prst="rect">
            <a:avLst/>
          </a:prstGeom>
          <a:solidFill>
            <a:srgbClr val="FFFFFF"/>
          </a:solidFill>
          <a:ln w="9525">
            <a:solidFill>
              <a:srgbClr val="D0D8E0"/>
            </a:solidFill>
          </a:ln>
        </p:spPr>
      </p:sp>
      <p:sp>
        <p:nvSpPr>
          <p:cNvPr id="30" name="TextBox 30"/>
          <p:cNvSpPr txBox="1"/>
          <p:nvPr/>
        </p:nvSpPr>
        <p:spPr>
          <a:xfrm>
            <a:off x="6236018" y="1552099"/>
            <a:ext cx="1355806"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Intention 命中缓存率</a:t>
            </a:r>
          </a:p>
        </p:txBody>
      </p:sp>
      <p:sp>
        <p:nvSpPr>
          <p:cNvPr id="31" name="TextBox 31"/>
          <p:cNvSpPr txBox="1"/>
          <p:nvPr/>
        </p:nvSpPr>
        <p:spPr>
          <a:xfrm>
            <a:off x="6237446" y="1773793"/>
            <a:ext cx="1183553"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&gt; 60% (重复查询场景)</a:t>
            </a:r>
          </a:p>
        </p:txBody>
      </p:sp>
      <p:sp>
        <p:nvSpPr>
          <p:cNvPr id="32" name="Rectangle 32"/>
          <p:cNvSpPr/>
          <p:nvPr/>
        </p:nvSpPr>
        <p:spPr>
          <a:xfrm>
            <a:off x="6096000" y="1981200"/>
            <a:ext cx="5524500" cy="419100"/>
          </a:xfrm>
          <a:prstGeom prst="rect">
            <a:avLst/>
          </a:prstGeom>
          <a:solidFill>
            <a:srgbClr val="FFFFFF"/>
          </a:solidFill>
          <a:ln w="9525">
            <a:solidFill>
              <a:srgbClr val="D0D8E0"/>
            </a:solidFill>
          </a:ln>
        </p:spPr>
      </p:sp>
      <p:sp>
        <p:nvSpPr>
          <p:cNvPr id="33" name="TextBox 33"/>
          <p:cNvSpPr txBox="1"/>
          <p:nvPr/>
        </p:nvSpPr>
        <p:spPr>
          <a:xfrm>
            <a:off x="6236018" y="2009299"/>
            <a:ext cx="1526453"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LLM API 调用次数 / 查询</a:t>
            </a:r>
          </a:p>
        </p:txBody>
      </p:sp>
      <p:sp>
        <p:nvSpPr>
          <p:cNvPr id="34" name="TextBox 34"/>
          <p:cNvSpPr txBox="1"/>
          <p:nvPr/>
        </p:nvSpPr>
        <p:spPr>
          <a:xfrm>
            <a:off x="6237446" y="2230993"/>
            <a:ext cx="1971401"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大型项目平均 &lt; 50 次 (依赖前置过滤)</a:t>
            </a:r>
          </a:p>
        </p:txBody>
      </p:sp>
      <p:sp>
        <p:nvSpPr>
          <p:cNvPr id="35" name="Rectangle 35"/>
          <p:cNvSpPr/>
          <p:nvPr/>
        </p:nvSpPr>
        <p:spPr>
          <a:xfrm>
            <a:off x="6096000" y="2438400"/>
            <a:ext cx="5524500" cy="419100"/>
          </a:xfrm>
          <a:prstGeom prst="rect">
            <a:avLst/>
          </a:prstGeom>
          <a:solidFill>
            <a:srgbClr val="FFFFFF"/>
          </a:solidFill>
          <a:ln w="9525">
            <a:solidFill>
              <a:srgbClr val="D0D8E0"/>
            </a:solidFill>
          </a:ln>
        </p:spPr>
      </p:sp>
      <p:sp>
        <p:nvSpPr>
          <p:cNvPr id="36" name="TextBox 36"/>
          <p:cNvSpPr txBox="1"/>
          <p:nvPr/>
        </p:nvSpPr>
        <p:spPr>
          <a:xfrm>
            <a:off x="6236018" y="2466499"/>
            <a:ext cx="843867" cy="198120"/>
          </a:xfrm>
          <a:prstGeom prst="rect">
            <a:avLst/>
          </a:prstGeom>
          <a:noFill/>
          <a:ln>
            <a:noFill/>
          </a:ln>
        </p:spPr>
        <p:txBody>
          <a:bodyPr wrap="none" lIns="0" tIns="0" rIns="0" bIns="0" anchor="t" anchorCtr="0">
            <a:spAutoFit/>
          </a:bodyPr>
          <a:lstStyle/>
          <a:p>
            <a:pPr algn="l"/>
            <a:r>
              <a:rPr lang="zh-CN" sz="975" b="1" dirty="0">
                <a:solidFill>
                  <a:srgbClr val="223A48"/>
                </a:solidFill>
                <a:latin typeface="Arial"/>
                <a:ea typeface="Microsoft YaHei"/>
                <a:cs typeface="Arial"/>
              </a:rPr>
              <a:t>候选集截断率</a:t>
            </a:r>
          </a:p>
        </p:txBody>
      </p:sp>
      <p:sp>
        <p:nvSpPr>
          <p:cNvPr id="37" name="TextBox 37"/>
          <p:cNvSpPr txBox="1"/>
          <p:nvPr/>
        </p:nvSpPr>
        <p:spPr>
          <a:xfrm>
            <a:off x="6237446" y="2688193"/>
            <a:ext cx="2908768" cy="175260"/>
          </a:xfrm>
          <a:prstGeom prst="rect">
            <a:avLst/>
          </a:prstGeom>
          <a:noFill/>
          <a:ln>
            <a:noFill/>
          </a:ln>
        </p:spPr>
        <p:txBody>
          <a:bodyPr wrap="none" lIns="0" tIns="0" rIns="0" bIns="0" anchor="t" anchorCtr="0">
            <a:spAutoFit/>
          </a:bodyPr>
          <a:lstStyle/>
          <a:p>
            <a:pPr algn="l"/>
            <a:r>
              <a:rPr lang="zh-CN" sz="862" dirty="0">
                <a:solidFill>
                  <a:srgbClr val="485D6A"/>
                </a:solidFill>
                <a:latin typeface="Arial"/>
                <a:ea typeface="Microsoft YaHei"/>
                <a:cs typeface="Arial"/>
              </a:rPr>
              <a:t>进入 Intention 阶段候选 &lt; 100 (大型项目 &lt; 0.2% 全库)</a:t>
            </a:r>
          </a:p>
        </p:txBody>
      </p:sp>
      <p:sp>
        <p:nvSpPr>
          <p:cNvPr id="38" name="Rectangle 38"/>
          <p:cNvSpPr/>
          <p:nvPr/>
        </p:nvSpPr>
        <p:spPr>
          <a:xfrm>
            <a:off x="571500" y="3448050"/>
            <a:ext cx="11049000" cy="1428750"/>
          </a:xfrm>
          <a:prstGeom prst="roundRect">
            <a:avLst>
              <a:gd name="adj" fmla="val 5333"/>
            </a:avLst>
          </a:prstGeom>
          <a:solidFill>
            <a:srgbClr val="FFFFFF"/>
          </a:solidFill>
          <a:ln w="9525">
            <a:solidFill>
              <a:srgbClr val="D0D8E0"/>
            </a:solidFill>
          </a:ln>
        </p:spPr>
      </p:sp>
      <p:sp>
        <p:nvSpPr>
          <p:cNvPr id="39" name="Rectangle 39"/>
          <p:cNvSpPr/>
          <p:nvPr/>
        </p:nvSpPr>
        <p:spPr>
          <a:xfrm>
            <a:off x="571500" y="3448050"/>
            <a:ext cx="11049000" cy="342900"/>
          </a:xfrm>
          <a:prstGeom prst="roundRect">
            <a:avLst>
              <a:gd name="adj" fmla="val 22222"/>
            </a:avLst>
          </a:prstGeom>
          <a:solidFill>
            <a:srgbClr val="2E7E94"/>
          </a:solidFill>
          <a:ln>
            <a:noFill/>
          </a:ln>
        </p:spPr>
      </p:sp>
      <p:sp>
        <p:nvSpPr>
          <p:cNvPr id="40" name="TextBox 40"/>
          <p:cNvSpPr txBox="1"/>
          <p:nvPr/>
        </p:nvSpPr>
        <p:spPr>
          <a:xfrm>
            <a:off x="5370871" y="3566160"/>
            <a:ext cx="145025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a:ea typeface="Microsoft YaHei"/>
                <a:cs typeface="Arial"/>
              </a:rPr>
              <a:t>Benchmark 数据集</a:t>
            </a:r>
          </a:p>
        </p:txBody>
      </p:sp>
      <p:sp>
        <p:nvSpPr>
          <p:cNvPr id="41" name="TextBox 41"/>
          <p:cNvSpPr txBox="1"/>
          <p:nvPr/>
        </p:nvSpPr>
        <p:spPr>
          <a:xfrm>
            <a:off x="938212" y="3955256"/>
            <a:ext cx="839801" cy="228600"/>
          </a:xfrm>
          <a:prstGeom prst="rect">
            <a:avLst/>
          </a:prstGeom>
          <a:noFill/>
          <a:ln>
            <a:noFill/>
          </a:ln>
        </p:spPr>
        <p:txBody>
          <a:bodyPr wrap="none" lIns="0" tIns="0" rIns="0" bIns="0" anchor="t" anchorCtr="0">
            <a:spAutoFit/>
          </a:bodyPr>
          <a:lstStyle/>
          <a:p>
            <a:pPr algn="l"/>
            <a:r>
              <a:rPr lang="zh-CN" sz="1125" b="1" dirty="0">
                <a:solidFill>
                  <a:srgbClr val="2E7E94"/>
                </a:solidFill>
                <a:latin typeface="Arial"/>
                <a:ea typeface="Microsoft YaHei"/>
                <a:cs typeface="Arial"/>
              </a:rPr>
              <a:t>SWE-bench</a:t>
            </a:r>
          </a:p>
        </p:txBody>
      </p:sp>
      <p:sp>
        <p:nvSpPr>
          <p:cNvPr id="42" name="TextBox 42"/>
          <p:cNvSpPr txBox="1"/>
          <p:nvPr/>
        </p:nvSpPr>
        <p:spPr>
          <a:xfrm>
            <a:off x="940118" y="4238149"/>
            <a:ext cx="4679347"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从 GitHub Issue 到代码定位，天然 Agent 检索场景，覆盖多跳推理和调用链发现</a:t>
            </a:r>
          </a:p>
        </p:txBody>
      </p:sp>
      <p:sp>
        <p:nvSpPr>
          <p:cNvPr id="43" name="TextBox 43"/>
          <p:cNvSpPr txBox="1"/>
          <p:nvPr/>
        </p:nvSpPr>
        <p:spPr>
          <a:xfrm>
            <a:off x="4557712" y="3955256"/>
            <a:ext cx="1154841" cy="228600"/>
          </a:xfrm>
          <a:prstGeom prst="rect">
            <a:avLst/>
          </a:prstGeom>
          <a:noFill/>
          <a:ln>
            <a:noFill/>
          </a:ln>
        </p:spPr>
        <p:txBody>
          <a:bodyPr wrap="none" lIns="0" tIns="0" rIns="0" bIns="0" anchor="t" anchorCtr="0">
            <a:spAutoFit/>
          </a:bodyPr>
          <a:lstStyle/>
          <a:p>
            <a:pPr algn="l"/>
            <a:r>
              <a:rPr lang="zh-CN" sz="1125" b="1" dirty="0">
                <a:solidFill>
                  <a:srgbClr val="2E7E94"/>
                </a:solidFill>
                <a:latin typeface="Arial"/>
                <a:ea typeface="Microsoft YaHei"/>
                <a:cs typeface="Arial"/>
              </a:rPr>
              <a:t>CodeSearchNet</a:t>
            </a:r>
          </a:p>
        </p:txBody>
      </p:sp>
      <p:sp>
        <p:nvSpPr>
          <p:cNvPr id="44" name="TextBox 44"/>
          <p:cNvSpPr txBox="1"/>
          <p:nvPr/>
        </p:nvSpPr>
        <p:spPr>
          <a:xfrm>
            <a:off x="4559618" y="4238149"/>
            <a:ext cx="3541705"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标准代码语义搜索基准，用于 Surface + Intention 联合评测</a:t>
            </a:r>
          </a:p>
        </p:txBody>
      </p:sp>
      <p:sp>
        <p:nvSpPr>
          <p:cNvPr id="45" name="TextBox 45"/>
          <p:cNvSpPr txBox="1"/>
          <p:nvPr/>
        </p:nvSpPr>
        <p:spPr>
          <a:xfrm>
            <a:off x="8748712" y="3955256"/>
            <a:ext cx="1682532" cy="228600"/>
          </a:xfrm>
          <a:prstGeom prst="rect">
            <a:avLst/>
          </a:prstGeom>
          <a:noFill/>
          <a:ln>
            <a:noFill/>
          </a:ln>
        </p:spPr>
        <p:txBody>
          <a:bodyPr wrap="none" lIns="0" tIns="0" rIns="0" bIns="0" anchor="t" anchorCtr="0">
            <a:spAutoFit/>
          </a:bodyPr>
          <a:lstStyle/>
          <a:p>
            <a:pPr algn="l"/>
            <a:r>
              <a:rPr lang="zh-CN" sz="1125" b="1" dirty="0">
                <a:solidFill>
                  <a:srgbClr val="2E7E94"/>
                </a:solidFill>
                <a:latin typeface="Arial"/>
                <a:ea typeface="Microsoft YaHei"/>
                <a:cs typeface="Arial"/>
              </a:rPr>
              <a:t>内部 Agent Benchmark</a:t>
            </a:r>
          </a:p>
        </p:txBody>
      </p:sp>
      <p:sp>
        <p:nvSpPr>
          <p:cNvPr id="46" name="TextBox 46"/>
          <p:cNvSpPr txBox="1"/>
          <p:nvPr/>
        </p:nvSpPr>
        <p:spPr>
          <a:xfrm>
            <a:off x="8750618" y="4238149"/>
            <a:ext cx="5550456" cy="198120"/>
          </a:xfrm>
          <a:prstGeom prst="rect">
            <a:avLst/>
          </a:prstGeom>
          <a:noFill/>
          <a:ln>
            <a:noFill/>
          </a:ln>
        </p:spPr>
        <p:txBody>
          <a:bodyPr wrap="none" lIns="0" tIns="0" rIns="0" bIns="0" anchor="t" anchorCtr="0">
            <a:spAutoFit/>
          </a:bodyPr>
          <a:lstStyle/>
          <a:p>
            <a:pPr algn="l"/>
            <a:r>
              <a:rPr lang="zh-CN" sz="975" dirty="0">
                <a:solidFill>
                  <a:srgbClr val="485D6A"/>
                </a:solidFill>
                <a:latin typeface="Arial"/>
                <a:ea typeface="Microsoft YaHei"/>
                <a:cs typeface="Arial"/>
              </a:rPr>
              <a:t>从真实 Agent 任务 (Debug / Feature addition / Refactor) 收集 NL Query 与正确代码元素对</a:t>
            </a:r>
          </a:p>
        </p:txBody>
      </p:sp>
      <p:sp>
        <p:nvSpPr>
          <p:cNvPr id="47" name="Rectangle 47"/>
          <p:cNvSpPr/>
          <p:nvPr/>
        </p:nvSpPr>
        <p:spPr>
          <a:xfrm>
            <a:off x="571500" y="5048250"/>
            <a:ext cx="11049000" cy="381000"/>
          </a:xfrm>
          <a:prstGeom prst="roundRect">
            <a:avLst>
              <a:gd name="adj" fmla="val 15000"/>
            </a:avLst>
          </a:prstGeom>
          <a:solidFill>
            <a:srgbClr val="E8EDF2"/>
          </a:solidFill>
          <a:ln>
            <a:noFill/>
          </a:ln>
        </p:spPr>
      </p:sp>
      <p:sp>
        <p:nvSpPr>
          <p:cNvPr id="48" name="TextBox 48"/>
          <p:cNvSpPr txBox="1"/>
          <p:nvPr/>
        </p:nvSpPr>
        <p:spPr>
          <a:xfrm>
            <a:off x="3353276" y="5190649"/>
            <a:ext cx="5485447" cy="198120"/>
          </a:xfrm>
          <a:prstGeom prst="rect">
            <a:avLst/>
          </a:prstGeom>
          <a:noFill/>
          <a:ln>
            <a:noFill/>
          </a:ln>
        </p:spPr>
        <p:txBody>
          <a:bodyPr wrap="none" lIns="0" tIns="0" rIns="0" bIns="0" anchor="t" anchorCtr="0">
            <a:spAutoFit/>
          </a:bodyPr>
          <a:lstStyle/>
          <a:p>
            <a:pPr algn="ctr"/>
            <a:r>
              <a:rPr lang="zh-CN" sz="975" b="1" dirty="0">
                <a:solidFill>
                  <a:srgbClr val="2E7E94"/>
                </a:solidFill>
                <a:latin typeface="Arial"/>
                <a:ea typeface="Microsoft YaHei"/>
                <a:cs typeface="Arial"/>
              </a:rPr>
              <a:t>通过消融实验验证各执行阶段 (Surface / Relation / Intention / Bundle Rerank) 的贡献</a:t>
            </a:r>
          </a:p>
        </p:txBody>
      </p:sp>
      <p:sp>
        <p:nvSpPr>
          <p:cNvPr id="49" name="TextBox 49"/>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16</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3F5F8"/>
          </a:solidFill>
          <a:ln>
            <a:noFill/>
          </a:ln>
        </p:spPr>
      </p:sp>
      <p:sp>
        <p:nvSpPr>
          <p:cNvPr id="3" name="TextBox 3"/>
          <p:cNvSpPr txBox="1"/>
          <p:nvPr/>
        </p:nvSpPr>
        <p:spPr>
          <a:xfrm>
            <a:off x="739140" y="262890"/>
            <a:ext cx="1809941" cy="365760"/>
          </a:xfrm>
          <a:prstGeom prst="rect">
            <a:avLst/>
          </a:prstGeom>
          <a:noFill/>
          <a:ln>
            <a:noFill/>
          </a:ln>
        </p:spPr>
        <p:txBody>
          <a:bodyPr wrap="none" lIns="0" tIns="0" rIns="0" bIns="0" anchor="t" anchorCtr="0">
            <a:spAutoFit/>
          </a:bodyPr>
          <a:lstStyle/>
          <a:p>
            <a:pPr algn="l"/>
            <a:r>
              <a:rPr lang="zh-CN" sz="1800" b="1" dirty="0">
                <a:solidFill>
                  <a:srgbClr val="223A48"/>
                </a:solidFill>
                <a:latin typeface="Arial"/>
                <a:ea typeface="Microsoft YaHei"/>
                <a:cs typeface="Arial"/>
              </a:rPr>
              <a:t>与传统方案对比</a:t>
            </a:r>
          </a:p>
        </p:txBody>
      </p:sp>
      <p:sp>
        <p:nvSpPr>
          <p:cNvPr id="4" name="TextBox 4"/>
          <p:cNvSpPr txBox="1"/>
          <p:nvPr/>
        </p:nvSpPr>
        <p:spPr>
          <a:xfrm>
            <a:off x="748665" y="629602"/>
            <a:ext cx="4423220" cy="213360"/>
          </a:xfrm>
          <a:prstGeom prst="rect">
            <a:avLst/>
          </a:prstGeom>
          <a:noFill/>
          <a:ln>
            <a:noFill/>
          </a:ln>
        </p:spPr>
        <p:txBody>
          <a:bodyPr wrap="none" lIns="0" tIns="0" rIns="0" bIns="0" anchor="t" anchorCtr="0">
            <a:spAutoFit/>
          </a:bodyPr>
          <a:lstStyle/>
          <a:p>
            <a:pPr algn="l"/>
            <a:r>
              <a:rPr lang="zh-CN" sz="1050" dirty="0">
                <a:solidFill>
                  <a:srgbClr val="697A84"/>
                </a:solidFill>
                <a:latin typeface="Arial"/>
                <a:ea typeface="Microsoft YaHei"/>
                <a:cs typeface="Arial"/>
              </a:rPr>
              <a:t>SemQL 2.0 将多类检索能力组织成可执行、可优化、可解释的查询系统</a:t>
            </a:r>
          </a:p>
        </p:txBody>
      </p:sp>
      <p:sp>
        <p:nvSpPr>
          <p:cNvPr id="5" name="Rectangle 5"/>
          <p:cNvSpPr/>
          <p:nvPr/>
        </p:nvSpPr>
        <p:spPr>
          <a:xfrm>
            <a:off x="571500" y="914400"/>
            <a:ext cx="1905000" cy="342900"/>
          </a:xfrm>
          <a:prstGeom prst="roundRect">
            <a:avLst>
              <a:gd name="adj" fmla="val 11111"/>
            </a:avLst>
          </a:prstGeom>
          <a:solidFill>
            <a:srgbClr val="223A48"/>
          </a:solidFill>
          <a:ln>
            <a:noFill/>
          </a:ln>
        </p:spPr>
      </p:sp>
      <p:sp>
        <p:nvSpPr>
          <p:cNvPr id="6" name="TextBox 6"/>
          <p:cNvSpPr txBox="1"/>
          <p:nvPr/>
        </p:nvSpPr>
        <p:spPr>
          <a:xfrm>
            <a:off x="1238583" y="1047274"/>
            <a:ext cx="5708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检索能力</a:t>
            </a:r>
          </a:p>
        </p:txBody>
      </p:sp>
      <p:sp>
        <p:nvSpPr>
          <p:cNvPr id="7" name="Rectangle 7"/>
          <p:cNvSpPr/>
          <p:nvPr/>
        </p:nvSpPr>
        <p:spPr>
          <a:xfrm>
            <a:off x="2552700" y="914400"/>
            <a:ext cx="1600200" cy="342900"/>
          </a:xfrm>
          <a:prstGeom prst="roundRect">
            <a:avLst>
              <a:gd name="adj" fmla="val 11111"/>
            </a:avLst>
          </a:prstGeom>
          <a:solidFill>
            <a:srgbClr val="223A48"/>
          </a:solidFill>
          <a:ln>
            <a:noFill/>
          </a:ln>
        </p:spPr>
      </p:sp>
      <p:sp>
        <p:nvSpPr>
          <p:cNvPr id="8" name="TextBox 8"/>
          <p:cNvSpPr txBox="1"/>
          <p:nvPr/>
        </p:nvSpPr>
        <p:spPr>
          <a:xfrm>
            <a:off x="3190249" y="1047274"/>
            <a:ext cx="32510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Grep</a:t>
            </a:r>
          </a:p>
        </p:txBody>
      </p:sp>
      <p:sp>
        <p:nvSpPr>
          <p:cNvPr id="9" name="Rectangle 9"/>
          <p:cNvSpPr/>
          <p:nvPr/>
        </p:nvSpPr>
        <p:spPr>
          <a:xfrm>
            <a:off x="4229100" y="914400"/>
            <a:ext cx="1809750" cy="342900"/>
          </a:xfrm>
          <a:prstGeom prst="roundRect">
            <a:avLst>
              <a:gd name="adj" fmla="val 11111"/>
            </a:avLst>
          </a:prstGeom>
          <a:solidFill>
            <a:srgbClr val="223A48"/>
          </a:solidFill>
          <a:ln>
            <a:noFill/>
          </a:ln>
        </p:spPr>
      </p:sp>
      <p:sp>
        <p:nvSpPr>
          <p:cNvPr id="10" name="TextBox 10"/>
          <p:cNvSpPr txBox="1"/>
          <p:nvPr/>
        </p:nvSpPr>
        <p:spPr>
          <a:xfrm>
            <a:off x="4688151" y="1047274"/>
            <a:ext cx="89164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Dense Search</a:t>
            </a:r>
          </a:p>
        </p:txBody>
      </p:sp>
      <p:sp>
        <p:nvSpPr>
          <p:cNvPr id="11" name="Rectangle 11"/>
          <p:cNvSpPr/>
          <p:nvPr/>
        </p:nvSpPr>
        <p:spPr>
          <a:xfrm>
            <a:off x="6115050" y="914400"/>
            <a:ext cx="5429250" cy="342900"/>
          </a:xfrm>
          <a:prstGeom prst="roundRect">
            <a:avLst>
              <a:gd name="adj" fmla="val 11111"/>
            </a:avLst>
          </a:prstGeom>
          <a:solidFill>
            <a:srgbClr val="2E7E94"/>
          </a:solidFill>
          <a:ln>
            <a:noFill/>
          </a:ln>
        </p:spPr>
      </p:sp>
      <p:sp>
        <p:nvSpPr>
          <p:cNvPr id="12" name="TextBox 12"/>
          <p:cNvSpPr txBox="1"/>
          <p:nvPr/>
        </p:nvSpPr>
        <p:spPr>
          <a:xfrm>
            <a:off x="8469174" y="1047274"/>
            <a:ext cx="72100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SemQL 2.0</a:t>
            </a:r>
          </a:p>
        </p:txBody>
      </p:sp>
      <p:sp>
        <p:nvSpPr>
          <p:cNvPr id="13" name="Rectangle 13"/>
          <p:cNvSpPr/>
          <p:nvPr/>
        </p:nvSpPr>
        <p:spPr>
          <a:xfrm>
            <a:off x="571500" y="1314450"/>
            <a:ext cx="1905000" cy="857250"/>
          </a:xfrm>
          <a:prstGeom prst="rect">
            <a:avLst/>
          </a:prstGeom>
          <a:solidFill>
            <a:srgbClr val="FFFFFF"/>
          </a:solidFill>
          <a:ln w="9525">
            <a:solidFill>
              <a:srgbClr val="D0D8E0"/>
            </a:solidFill>
          </a:ln>
        </p:spPr>
      </p:sp>
      <p:sp>
        <p:nvSpPr>
          <p:cNvPr id="14" name="TextBox 14"/>
          <p:cNvSpPr txBox="1"/>
          <p:nvPr/>
        </p:nvSpPr>
        <p:spPr>
          <a:xfrm>
            <a:off x="1134523" y="1541145"/>
            <a:ext cx="778955"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语义等价召回</a:t>
            </a:r>
          </a:p>
        </p:txBody>
      </p:sp>
      <p:sp>
        <p:nvSpPr>
          <p:cNvPr id="15" name="Rectangle 15"/>
          <p:cNvSpPr/>
          <p:nvPr/>
        </p:nvSpPr>
        <p:spPr>
          <a:xfrm>
            <a:off x="2552700" y="1314450"/>
            <a:ext cx="1600200" cy="857250"/>
          </a:xfrm>
          <a:prstGeom prst="rect">
            <a:avLst/>
          </a:prstGeom>
          <a:solidFill>
            <a:srgbClr val="FFFFFF"/>
          </a:solidFill>
          <a:ln w="9525">
            <a:solidFill>
              <a:srgbClr val="D0D8E0"/>
            </a:solidFill>
          </a:ln>
        </p:spPr>
      </p:sp>
      <p:sp>
        <p:nvSpPr>
          <p:cNvPr id="16" name="TextBox 16"/>
          <p:cNvSpPr txBox="1"/>
          <p:nvPr/>
        </p:nvSpPr>
        <p:spPr>
          <a:xfrm>
            <a:off x="2555724" y="1549241"/>
            <a:ext cx="1594152"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名称不含关键词 的函数无法召回</a:t>
            </a:r>
          </a:p>
        </p:txBody>
      </p:sp>
      <p:sp>
        <p:nvSpPr>
          <p:cNvPr id="17" name="Rectangle 17"/>
          <p:cNvSpPr/>
          <p:nvPr/>
        </p:nvSpPr>
        <p:spPr>
          <a:xfrm>
            <a:off x="4229100" y="1314450"/>
            <a:ext cx="1809750" cy="857250"/>
          </a:xfrm>
          <a:prstGeom prst="rect">
            <a:avLst/>
          </a:prstGeom>
          <a:solidFill>
            <a:srgbClr val="FFFFFF"/>
          </a:solidFill>
          <a:ln w="9525">
            <a:solidFill>
              <a:srgbClr val="D0D8E0"/>
            </a:solidFill>
          </a:ln>
        </p:spPr>
      </p:sp>
      <p:sp>
        <p:nvSpPr>
          <p:cNvPr id="18" name="TextBox 18"/>
          <p:cNvSpPr txBox="1"/>
          <p:nvPr/>
        </p:nvSpPr>
        <p:spPr>
          <a:xfrm>
            <a:off x="4848463" y="1549241"/>
            <a:ext cx="571024"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排名不稳定</a:t>
            </a:r>
          </a:p>
        </p:txBody>
      </p:sp>
      <p:sp>
        <p:nvSpPr>
          <p:cNvPr id="19" name="Rectangle 19"/>
          <p:cNvSpPr/>
          <p:nvPr/>
        </p:nvSpPr>
        <p:spPr>
          <a:xfrm>
            <a:off x="6115050" y="1314450"/>
            <a:ext cx="5429250" cy="857250"/>
          </a:xfrm>
          <a:prstGeom prst="rect">
            <a:avLst/>
          </a:prstGeom>
          <a:solidFill>
            <a:srgbClr val="E8EDF2"/>
          </a:solidFill>
          <a:ln w="19050">
            <a:solidFill>
              <a:srgbClr val="2E7E94"/>
            </a:solidFill>
          </a:ln>
        </p:spPr>
      </p:sp>
      <p:sp>
        <p:nvSpPr>
          <p:cNvPr id="20" name="TextBox 20"/>
          <p:cNvSpPr txBox="1"/>
          <p:nvPr/>
        </p:nvSpPr>
        <p:spPr>
          <a:xfrm>
            <a:off x="7823573" y="1549241"/>
            <a:ext cx="2012204" cy="167640"/>
          </a:xfrm>
          <a:prstGeom prst="rect">
            <a:avLst/>
          </a:prstGeom>
          <a:noFill/>
          <a:ln>
            <a:noFill/>
          </a:ln>
        </p:spPr>
        <p:txBody>
          <a:bodyPr wrap="none" lIns="0" tIns="0" rIns="0" bIns="0" anchor="t" anchorCtr="0">
            <a:spAutoFit/>
          </a:bodyPr>
          <a:lstStyle/>
          <a:p>
            <a:pPr algn="ctr"/>
            <a:r>
              <a:rPr lang="zh-CN" sz="825" dirty="0">
                <a:solidFill>
                  <a:srgbClr val="223A48"/>
                </a:solidFill>
                <a:latin typeface="Arial"/>
                <a:ea typeface="Microsoft YaHei"/>
                <a:cs typeface="Arial"/>
              </a:rPr>
              <a:t>term_embed 膨胀 + Intention 后置验证</a:t>
            </a:r>
          </a:p>
        </p:txBody>
      </p:sp>
      <p:sp>
        <p:nvSpPr>
          <p:cNvPr id="21" name="Rectangle 21"/>
          <p:cNvSpPr/>
          <p:nvPr/>
        </p:nvSpPr>
        <p:spPr>
          <a:xfrm>
            <a:off x="571500" y="2209800"/>
            <a:ext cx="1905000" cy="857250"/>
          </a:xfrm>
          <a:prstGeom prst="rect">
            <a:avLst/>
          </a:prstGeom>
          <a:solidFill>
            <a:srgbClr val="FFFFFF"/>
          </a:solidFill>
          <a:ln w="9525">
            <a:solidFill>
              <a:srgbClr val="D0D8E0"/>
            </a:solidFill>
          </a:ln>
        </p:spPr>
      </p:sp>
      <p:sp>
        <p:nvSpPr>
          <p:cNvPr id="22" name="TextBox 22"/>
          <p:cNvSpPr txBox="1"/>
          <p:nvPr/>
        </p:nvSpPr>
        <p:spPr>
          <a:xfrm>
            <a:off x="1134523" y="2436495"/>
            <a:ext cx="778955"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硬性排除约束</a:t>
            </a:r>
          </a:p>
        </p:txBody>
      </p:sp>
      <p:sp>
        <p:nvSpPr>
          <p:cNvPr id="23" name="Rectangle 23"/>
          <p:cNvSpPr/>
          <p:nvPr/>
        </p:nvSpPr>
        <p:spPr>
          <a:xfrm>
            <a:off x="2552700" y="2209800"/>
            <a:ext cx="1600200" cy="857250"/>
          </a:xfrm>
          <a:prstGeom prst="rect">
            <a:avLst/>
          </a:prstGeom>
          <a:solidFill>
            <a:srgbClr val="FFFFFF"/>
          </a:solidFill>
          <a:ln w="9525">
            <a:solidFill>
              <a:srgbClr val="D0D8E0"/>
            </a:solidFill>
          </a:ln>
        </p:spPr>
      </p:sp>
      <p:sp>
        <p:nvSpPr>
          <p:cNvPr id="24" name="TextBox 24"/>
          <p:cNvSpPr txBox="1"/>
          <p:nvPr/>
        </p:nvSpPr>
        <p:spPr>
          <a:xfrm>
            <a:off x="3045285" y="2444591"/>
            <a:ext cx="615029"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需手动加 -v</a:t>
            </a:r>
          </a:p>
        </p:txBody>
      </p:sp>
      <p:sp>
        <p:nvSpPr>
          <p:cNvPr id="25" name="Rectangle 25"/>
          <p:cNvSpPr/>
          <p:nvPr/>
        </p:nvSpPr>
        <p:spPr>
          <a:xfrm>
            <a:off x="4229100" y="2209800"/>
            <a:ext cx="1809750" cy="857250"/>
          </a:xfrm>
          <a:prstGeom prst="rect">
            <a:avLst/>
          </a:prstGeom>
          <a:solidFill>
            <a:srgbClr val="FFFFFF"/>
          </a:solidFill>
          <a:ln w="9525">
            <a:solidFill>
              <a:srgbClr val="D0D8E0"/>
            </a:solidFill>
          </a:ln>
        </p:spPr>
      </p:sp>
      <p:sp>
        <p:nvSpPr>
          <p:cNvPr id="26" name="TextBox 26"/>
          <p:cNvSpPr txBox="1"/>
          <p:nvPr/>
        </p:nvSpPr>
        <p:spPr>
          <a:xfrm>
            <a:off x="4903470" y="2444591"/>
            <a:ext cx="461010"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无法保证</a:t>
            </a:r>
          </a:p>
        </p:txBody>
      </p:sp>
      <p:sp>
        <p:nvSpPr>
          <p:cNvPr id="27" name="Rectangle 27"/>
          <p:cNvSpPr/>
          <p:nvPr/>
        </p:nvSpPr>
        <p:spPr>
          <a:xfrm>
            <a:off x="6115050" y="2209800"/>
            <a:ext cx="5429250" cy="857250"/>
          </a:xfrm>
          <a:prstGeom prst="rect">
            <a:avLst/>
          </a:prstGeom>
          <a:solidFill>
            <a:srgbClr val="E8EDF2"/>
          </a:solidFill>
          <a:ln w="19050">
            <a:solidFill>
              <a:srgbClr val="2E7E94"/>
            </a:solidFill>
          </a:ln>
        </p:spPr>
      </p:sp>
      <p:sp>
        <p:nvSpPr>
          <p:cNvPr id="28" name="TextBox 28"/>
          <p:cNvSpPr txBox="1"/>
          <p:nvPr/>
        </p:nvSpPr>
        <p:spPr>
          <a:xfrm>
            <a:off x="7732812" y="2444591"/>
            <a:ext cx="2193727" cy="167640"/>
          </a:xfrm>
          <a:prstGeom prst="rect">
            <a:avLst/>
          </a:prstGeom>
          <a:noFill/>
          <a:ln>
            <a:noFill/>
          </a:ln>
        </p:spPr>
        <p:txBody>
          <a:bodyPr wrap="none" lIns="0" tIns="0" rIns="0" bIns="0" anchor="t" anchorCtr="0">
            <a:spAutoFit/>
          </a:bodyPr>
          <a:lstStyle/>
          <a:p>
            <a:pPr algn="ctr"/>
            <a:r>
              <a:rPr lang="zh-CN" sz="825" dirty="0">
                <a:solidFill>
                  <a:srgbClr val="223A48"/>
                </a:solidFill>
                <a:latin typeface="Arial"/>
                <a:ea typeface="Microsoft YaHei"/>
                <a:cs typeface="Arial"/>
              </a:rPr>
              <a:t>exclude property + NOT-Pushdown 硬过滤</a:t>
            </a:r>
          </a:p>
        </p:txBody>
      </p:sp>
      <p:sp>
        <p:nvSpPr>
          <p:cNvPr id="29" name="Rectangle 29"/>
          <p:cNvSpPr/>
          <p:nvPr/>
        </p:nvSpPr>
        <p:spPr>
          <a:xfrm>
            <a:off x="571500" y="3105150"/>
            <a:ext cx="1905000" cy="857250"/>
          </a:xfrm>
          <a:prstGeom prst="rect">
            <a:avLst/>
          </a:prstGeom>
          <a:solidFill>
            <a:srgbClr val="FFFFFF"/>
          </a:solidFill>
          <a:ln w="9525">
            <a:solidFill>
              <a:srgbClr val="D0D8E0"/>
            </a:solidFill>
          </a:ln>
        </p:spPr>
      </p:sp>
      <p:sp>
        <p:nvSpPr>
          <p:cNvPr id="30" name="TextBox 30"/>
          <p:cNvSpPr txBox="1"/>
          <p:nvPr/>
        </p:nvSpPr>
        <p:spPr>
          <a:xfrm>
            <a:off x="1071515" y="3331845"/>
            <a:ext cx="904970"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调用图距离约束</a:t>
            </a:r>
          </a:p>
        </p:txBody>
      </p:sp>
      <p:sp>
        <p:nvSpPr>
          <p:cNvPr id="31" name="Rectangle 31"/>
          <p:cNvSpPr/>
          <p:nvPr/>
        </p:nvSpPr>
        <p:spPr>
          <a:xfrm>
            <a:off x="2552700" y="3105150"/>
            <a:ext cx="1600200" cy="857250"/>
          </a:xfrm>
          <a:prstGeom prst="rect">
            <a:avLst/>
          </a:prstGeom>
          <a:solidFill>
            <a:srgbClr val="FFFFFF"/>
          </a:solidFill>
          <a:ln w="9525">
            <a:solidFill>
              <a:srgbClr val="D0D8E0"/>
            </a:solidFill>
          </a:ln>
        </p:spPr>
      </p:sp>
      <p:sp>
        <p:nvSpPr>
          <p:cNvPr id="32" name="TextBox 32"/>
          <p:cNvSpPr txBox="1"/>
          <p:nvPr/>
        </p:nvSpPr>
        <p:spPr>
          <a:xfrm>
            <a:off x="3122295" y="3339941"/>
            <a:ext cx="461010"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无法表达</a:t>
            </a:r>
          </a:p>
        </p:txBody>
      </p:sp>
      <p:sp>
        <p:nvSpPr>
          <p:cNvPr id="33" name="Rectangle 33"/>
          <p:cNvSpPr/>
          <p:nvPr/>
        </p:nvSpPr>
        <p:spPr>
          <a:xfrm>
            <a:off x="4229100" y="3105150"/>
            <a:ext cx="1809750" cy="857250"/>
          </a:xfrm>
          <a:prstGeom prst="rect">
            <a:avLst/>
          </a:prstGeom>
          <a:solidFill>
            <a:srgbClr val="FFFFFF"/>
          </a:solidFill>
          <a:ln w="9525">
            <a:solidFill>
              <a:srgbClr val="D0D8E0"/>
            </a:solidFill>
          </a:ln>
        </p:spPr>
      </p:sp>
      <p:sp>
        <p:nvSpPr>
          <p:cNvPr id="34" name="TextBox 34"/>
          <p:cNvSpPr txBox="1"/>
          <p:nvPr/>
        </p:nvSpPr>
        <p:spPr>
          <a:xfrm>
            <a:off x="4903470" y="3339941"/>
            <a:ext cx="461010"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无法表达</a:t>
            </a:r>
          </a:p>
        </p:txBody>
      </p:sp>
      <p:sp>
        <p:nvSpPr>
          <p:cNvPr id="35" name="Rectangle 35"/>
          <p:cNvSpPr/>
          <p:nvPr/>
        </p:nvSpPr>
        <p:spPr>
          <a:xfrm>
            <a:off x="6115050" y="3105150"/>
            <a:ext cx="5429250" cy="857250"/>
          </a:xfrm>
          <a:prstGeom prst="rect">
            <a:avLst/>
          </a:prstGeom>
          <a:solidFill>
            <a:srgbClr val="E8EDF2"/>
          </a:solidFill>
          <a:ln w="19050">
            <a:solidFill>
              <a:srgbClr val="2E7E94"/>
            </a:solidFill>
          </a:ln>
        </p:spPr>
      </p:sp>
      <p:sp>
        <p:nvSpPr>
          <p:cNvPr id="36" name="TextBox 36"/>
          <p:cNvSpPr txBox="1"/>
          <p:nvPr/>
        </p:nvSpPr>
        <p:spPr>
          <a:xfrm>
            <a:off x="7925336" y="3339941"/>
            <a:ext cx="1808678" cy="167640"/>
          </a:xfrm>
          <a:prstGeom prst="rect">
            <a:avLst/>
          </a:prstGeom>
          <a:noFill/>
          <a:ln>
            <a:noFill/>
          </a:ln>
        </p:spPr>
        <p:txBody>
          <a:bodyPr wrap="none" lIns="0" tIns="0" rIns="0" bIns="0" anchor="t" anchorCtr="0">
            <a:spAutoFit/>
          </a:bodyPr>
          <a:lstStyle/>
          <a:p>
            <a:pPr algn="ctr"/>
            <a:r>
              <a:rPr lang="zh-CN" sz="825" dirty="0">
                <a:solidFill>
                  <a:srgbClr val="223A48"/>
                </a:solidFill>
                <a:latin typeface="Arial"/>
                <a:ea typeface="Microsoft YaHei"/>
                <a:cs typeface="Arial"/>
              </a:rPr>
              <a:t>graph_constraint BFS/DFS &lt; 10ms</a:t>
            </a:r>
          </a:p>
        </p:txBody>
      </p:sp>
      <p:sp>
        <p:nvSpPr>
          <p:cNvPr id="37" name="Rectangle 37"/>
          <p:cNvSpPr/>
          <p:nvPr/>
        </p:nvSpPr>
        <p:spPr>
          <a:xfrm>
            <a:off x="571500" y="4000500"/>
            <a:ext cx="1905000" cy="857250"/>
          </a:xfrm>
          <a:prstGeom prst="rect">
            <a:avLst/>
          </a:prstGeom>
          <a:solidFill>
            <a:srgbClr val="FFFFFF"/>
          </a:solidFill>
          <a:ln w="9525">
            <a:solidFill>
              <a:srgbClr val="D0D8E0"/>
            </a:solidFill>
          </a:ln>
        </p:spPr>
      </p:sp>
      <p:sp>
        <p:nvSpPr>
          <p:cNvPr id="38" name="TextBox 38"/>
          <p:cNvSpPr txBox="1"/>
          <p:nvPr/>
        </p:nvSpPr>
        <p:spPr>
          <a:xfrm>
            <a:off x="1008507" y="4227195"/>
            <a:ext cx="1030986"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关联节点整体返回</a:t>
            </a:r>
          </a:p>
        </p:txBody>
      </p:sp>
      <p:sp>
        <p:nvSpPr>
          <p:cNvPr id="39" name="Rectangle 39"/>
          <p:cNvSpPr/>
          <p:nvPr/>
        </p:nvSpPr>
        <p:spPr>
          <a:xfrm>
            <a:off x="2552700" y="4000500"/>
            <a:ext cx="1600200" cy="857250"/>
          </a:xfrm>
          <a:prstGeom prst="rect">
            <a:avLst/>
          </a:prstGeom>
          <a:solidFill>
            <a:srgbClr val="FFFFFF"/>
          </a:solidFill>
          <a:ln w="9525">
            <a:solidFill>
              <a:srgbClr val="D0D8E0"/>
            </a:solidFill>
          </a:ln>
        </p:spPr>
      </p:sp>
      <p:sp>
        <p:nvSpPr>
          <p:cNvPr id="40" name="TextBox 40"/>
          <p:cNvSpPr txBox="1"/>
          <p:nvPr/>
        </p:nvSpPr>
        <p:spPr>
          <a:xfrm>
            <a:off x="3012281" y="4235291"/>
            <a:ext cx="681038"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各自独立返回</a:t>
            </a:r>
          </a:p>
        </p:txBody>
      </p:sp>
      <p:sp>
        <p:nvSpPr>
          <p:cNvPr id="41" name="Rectangle 41"/>
          <p:cNvSpPr/>
          <p:nvPr/>
        </p:nvSpPr>
        <p:spPr>
          <a:xfrm>
            <a:off x="4229100" y="4000500"/>
            <a:ext cx="1809750" cy="857250"/>
          </a:xfrm>
          <a:prstGeom prst="rect">
            <a:avLst/>
          </a:prstGeom>
          <a:solidFill>
            <a:srgbClr val="FFFFFF"/>
          </a:solidFill>
          <a:ln w="9525">
            <a:solidFill>
              <a:srgbClr val="D0D8E0"/>
            </a:solidFill>
          </a:ln>
        </p:spPr>
      </p:sp>
      <p:sp>
        <p:nvSpPr>
          <p:cNvPr id="42" name="TextBox 42"/>
          <p:cNvSpPr txBox="1"/>
          <p:nvPr/>
        </p:nvSpPr>
        <p:spPr>
          <a:xfrm>
            <a:off x="4793456" y="4235291"/>
            <a:ext cx="681038"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各自独立返回</a:t>
            </a:r>
          </a:p>
        </p:txBody>
      </p:sp>
      <p:sp>
        <p:nvSpPr>
          <p:cNvPr id="43" name="Rectangle 43"/>
          <p:cNvSpPr/>
          <p:nvPr/>
        </p:nvSpPr>
        <p:spPr>
          <a:xfrm>
            <a:off x="6115050" y="4000500"/>
            <a:ext cx="5429250" cy="857250"/>
          </a:xfrm>
          <a:prstGeom prst="rect">
            <a:avLst/>
          </a:prstGeom>
          <a:solidFill>
            <a:srgbClr val="E8EDF2"/>
          </a:solidFill>
          <a:ln w="19050">
            <a:solidFill>
              <a:srgbClr val="2E7E94"/>
            </a:solidFill>
          </a:ln>
        </p:spPr>
      </p:sp>
      <p:sp>
        <p:nvSpPr>
          <p:cNvPr id="44" name="TextBox 44"/>
          <p:cNvSpPr txBox="1"/>
          <p:nvPr/>
        </p:nvSpPr>
        <p:spPr>
          <a:xfrm>
            <a:off x="7862078" y="4235291"/>
            <a:ext cx="1935194" cy="167640"/>
          </a:xfrm>
          <a:prstGeom prst="rect">
            <a:avLst/>
          </a:prstGeom>
          <a:noFill/>
          <a:ln>
            <a:noFill/>
          </a:ln>
        </p:spPr>
        <p:txBody>
          <a:bodyPr wrap="none" lIns="0" tIns="0" rIns="0" bIns="0" anchor="t" anchorCtr="0">
            <a:spAutoFit/>
          </a:bodyPr>
          <a:lstStyle/>
          <a:p>
            <a:pPr algn="ctr"/>
            <a:r>
              <a:rPr lang="zh-CN" sz="825" dirty="0">
                <a:solidFill>
                  <a:srgbClr val="223A48"/>
                </a:solidFill>
                <a:latin typeface="Arial"/>
                <a:ea typeface="Microsoft YaHei"/>
                <a:cs typeface="Arial"/>
              </a:rPr>
              <a:t>Bundle 协同评分 direct_caller/callee</a:t>
            </a:r>
          </a:p>
        </p:txBody>
      </p:sp>
      <p:sp>
        <p:nvSpPr>
          <p:cNvPr id="45" name="Rectangle 45"/>
          <p:cNvSpPr/>
          <p:nvPr/>
        </p:nvSpPr>
        <p:spPr>
          <a:xfrm>
            <a:off x="571500" y="4895850"/>
            <a:ext cx="1905000" cy="857250"/>
          </a:xfrm>
          <a:prstGeom prst="rect">
            <a:avLst/>
          </a:prstGeom>
          <a:solidFill>
            <a:srgbClr val="FFFFFF"/>
          </a:solidFill>
          <a:ln w="9525">
            <a:solidFill>
              <a:srgbClr val="D0D8E0"/>
            </a:solidFill>
          </a:ln>
        </p:spPr>
      </p:sp>
      <p:sp>
        <p:nvSpPr>
          <p:cNvPr id="46" name="TextBox 46"/>
          <p:cNvSpPr txBox="1"/>
          <p:nvPr/>
        </p:nvSpPr>
        <p:spPr>
          <a:xfrm>
            <a:off x="1134523" y="5122545"/>
            <a:ext cx="778955" cy="182880"/>
          </a:xfrm>
          <a:prstGeom prst="rect">
            <a:avLst/>
          </a:prstGeom>
          <a:noFill/>
          <a:ln>
            <a:noFill/>
          </a:ln>
        </p:spPr>
        <p:txBody>
          <a:bodyPr wrap="none" lIns="0" tIns="0" rIns="0" bIns="0" anchor="t" anchorCtr="0">
            <a:spAutoFit/>
          </a:bodyPr>
          <a:lstStyle/>
          <a:p>
            <a:pPr algn="ctr"/>
            <a:r>
              <a:rPr lang="zh-CN" sz="900" b="1" dirty="0">
                <a:solidFill>
                  <a:srgbClr val="223A48"/>
                </a:solidFill>
                <a:latin typeface="Arial"/>
                <a:ea typeface="Microsoft YaHei"/>
                <a:cs typeface="Arial"/>
              </a:rPr>
              <a:t>结果可解释性</a:t>
            </a:r>
          </a:p>
        </p:txBody>
      </p:sp>
      <p:sp>
        <p:nvSpPr>
          <p:cNvPr id="47" name="Rectangle 47"/>
          <p:cNvSpPr/>
          <p:nvPr/>
        </p:nvSpPr>
        <p:spPr>
          <a:xfrm>
            <a:off x="2552700" y="4895850"/>
            <a:ext cx="1600200" cy="857250"/>
          </a:xfrm>
          <a:prstGeom prst="rect">
            <a:avLst/>
          </a:prstGeom>
          <a:solidFill>
            <a:srgbClr val="FFFFFF"/>
          </a:solidFill>
          <a:ln w="9525">
            <a:solidFill>
              <a:srgbClr val="D0D8E0"/>
            </a:solidFill>
          </a:ln>
        </p:spPr>
      </p:sp>
      <p:sp>
        <p:nvSpPr>
          <p:cNvPr id="48" name="TextBox 48"/>
          <p:cNvSpPr txBox="1"/>
          <p:nvPr/>
        </p:nvSpPr>
        <p:spPr>
          <a:xfrm>
            <a:off x="3232309" y="5130641"/>
            <a:ext cx="240982" cy="167640"/>
          </a:xfrm>
          <a:prstGeom prst="rect">
            <a:avLst/>
          </a:prstGeom>
          <a:noFill/>
          <a:ln>
            <a:noFill/>
          </a:ln>
        </p:spPr>
        <p:txBody>
          <a:bodyPr wrap="none" lIns="0" tIns="0" rIns="0" bIns="0" anchor="t" anchorCtr="0">
            <a:spAutoFit/>
          </a:bodyPr>
          <a:lstStyle/>
          <a:p>
            <a:pPr algn="ctr"/>
            <a:r>
              <a:rPr lang="zh-CN" sz="825" dirty="0">
                <a:solidFill>
                  <a:srgbClr val="C0392B"/>
                </a:solidFill>
                <a:latin typeface="Arial"/>
                <a:ea typeface="Microsoft YaHei"/>
                <a:cs typeface="Arial"/>
              </a:rPr>
              <a:t>行号</a:t>
            </a:r>
          </a:p>
        </p:txBody>
      </p:sp>
      <p:sp>
        <p:nvSpPr>
          <p:cNvPr id="49" name="Rectangle 49"/>
          <p:cNvSpPr/>
          <p:nvPr/>
        </p:nvSpPr>
        <p:spPr>
          <a:xfrm>
            <a:off x="4229100" y="4895850"/>
            <a:ext cx="1809750" cy="857250"/>
          </a:xfrm>
          <a:prstGeom prst="rect">
            <a:avLst/>
          </a:prstGeom>
          <a:solidFill>
            <a:srgbClr val="FFFFFF"/>
          </a:solidFill>
          <a:ln w="9525">
            <a:solidFill>
              <a:srgbClr val="D0D8E0"/>
            </a:solidFill>
          </a:ln>
        </p:spPr>
      </p:sp>
      <p:sp>
        <p:nvSpPr>
          <p:cNvPr id="50" name="TextBox 50"/>
          <p:cNvSpPr txBox="1"/>
          <p:nvPr/>
        </p:nvSpPr>
        <p:spPr>
          <a:xfrm>
            <a:off x="4848463" y="5130641"/>
            <a:ext cx="571024" cy="167640"/>
          </a:xfrm>
          <a:prstGeom prst="rect">
            <a:avLst/>
          </a:prstGeom>
          <a:noFill/>
          <a:ln>
            <a:noFill/>
          </a:ln>
        </p:spPr>
        <p:txBody>
          <a:bodyPr wrap="none" lIns="0" tIns="0" rIns="0" bIns="0" anchor="t" anchorCtr="0">
            <a:spAutoFit/>
          </a:bodyPr>
          <a:lstStyle/>
          <a:p>
            <a:pPr algn="ctr"/>
            <a:r>
              <a:rPr lang="zh-CN" sz="825" dirty="0">
                <a:solidFill>
                  <a:srgbClr val="697A84"/>
                </a:solidFill>
                <a:latin typeface="Arial"/>
                <a:ea typeface="Microsoft YaHei"/>
                <a:cs typeface="Arial"/>
              </a:rPr>
              <a:t>余弦相似度</a:t>
            </a:r>
          </a:p>
        </p:txBody>
      </p:sp>
      <p:sp>
        <p:nvSpPr>
          <p:cNvPr id="51" name="Rectangle 51"/>
          <p:cNvSpPr/>
          <p:nvPr/>
        </p:nvSpPr>
        <p:spPr>
          <a:xfrm>
            <a:off x="6115050" y="4895850"/>
            <a:ext cx="5429250" cy="857250"/>
          </a:xfrm>
          <a:prstGeom prst="rect">
            <a:avLst/>
          </a:prstGeom>
          <a:solidFill>
            <a:srgbClr val="E8EDF2"/>
          </a:solidFill>
          <a:ln w="19050">
            <a:solidFill>
              <a:srgbClr val="2E7E94"/>
            </a:solidFill>
          </a:ln>
        </p:spPr>
      </p:sp>
      <p:sp>
        <p:nvSpPr>
          <p:cNvPr id="52" name="TextBox 52"/>
          <p:cNvSpPr txBox="1"/>
          <p:nvPr/>
        </p:nvSpPr>
        <p:spPr>
          <a:xfrm>
            <a:off x="8159115" y="5130641"/>
            <a:ext cx="1341120" cy="167640"/>
          </a:xfrm>
          <a:prstGeom prst="rect">
            <a:avLst/>
          </a:prstGeom>
          <a:noFill/>
          <a:ln>
            <a:noFill/>
          </a:ln>
        </p:spPr>
        <p:txBody>
          <a:bodyPr wrap="none" lIns="0" tIns="0" rIns="0" bIns="0" anchor="t" anchorCtr="0">
            <a:spAutoFit/>
          </a:bodyPr>
          <a:lstStyle/>
          <a:p>
            <a:pPr algn="ctr"/>
            <a:r>
              <a:rPr lang="zh-CN" sz="825" dirty="0">
                <a:solidFill>
                  <a:srgbClr val="223A48"/>
                </a:solidFill>
                <a:latin typeface="Arial"/>
                <a:ea typeface="Microsoft YaHei"/>
                <a:cs typeface="Arial"/>
              </a:rPr>
              <a:t>多维证据 + LLM reasoning</a:t>
            </a:r>
          </a:p>
        </p:txBody>
      </p:sp>
      <p:sp>
        <p:nvSpPr>
          <p:cNvPr id="53" name="Rectangle 53"/>
          <p:cNvSpPr/>
          <p:nvPr/>
        </p:nvSpPr>
        <p:spPr>
          <a:xfrm>
            <a:off x="571500" y="5867400"/>
            <a:ext cx="10972800" cy="323850"/>
          </a:xfrm>
          <a:prstGeom prst="roundRect">
            <a:avLst>
              <a:gd name="adj" fmla="val 17647"/>
            </a:avLst>
          </a:prstGeom>
          <a:solidFill>
            <a:srgbClr val="223A48"/>
          </a:solidFill>
          <a:ln>
            <a:noFill/>
          </a:ln>
        </p:spPr>
      </p:sp>
      <p:sp>
        <p:nvSpPr>
          <p:cNvPr id="54" name="TextBox 54"/>
          <p:cNvSpPr txBox="1"/>
          <p:nvPr/>
        </p:nvSpPr>
        <p:spPr>
          <a:xfrm>
            <a:off x="3622897" y="5990749"/>
            <a:ext cx="4946205"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LLM 语义判别代价受控: 前置过滤后候选 &lt; 100 (大型项目 &lt; 0.2% 全库代码元素)</a:t>
            </a:r>
          </a:p>
        </p:txBody>
      </p:sp>
      <p:sp>
        <p:nvSpPr>
          <p:cNvPr id="55" name="TextBox 55"/>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17</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223A48"/>
          </a:solidFill>
          <a:ln>
            <a:noFill/>
          </a:ln>
        </p:spPr>
      </p:sp>
      <p:sp>
        <p:nvSpPr>
          <p:cNvPr id="3" name="TextBox 3"/>
          <p:cNvSpPr txBox="1"/>
          <p:nvPr/>
        </p:nvSpPr>
        <p:spPr>
          <a:xfrm>
            <a:off x="5042154" y="2087880"/>
            <a:ext cx="2107692" cy="731520"/>
          </a:xfrm>
          <a:prstGeom prst="rect">
            <a:avLst/>
          </a:prstGeom>
          <a:noFill/>
          <a:ln>
            <a:noFill/>
          </a:ln>
        </p:spPr>
        <p:txBody>
          <a:bodyPr wrap="none" lIns="0" tIns="0" rIns="0" bIns="0" anchor="t" anchorCtr="0">
            <a:spAutoFit/>
          </a:bodyPr>
          <a:lstStyle/>
          <a:p>
            <a:pPr algn="ctr"/>
            <a:r>
              <a:rPr lang="zh-CN" sz="3600" b="1" dirty="0">
                <a:solidFill>
                  <a:srgbClr val="FFFFFF"/>
                </a:solidFill>
                <a:latin typeface="Arial"/>
                <a:ea typeface="Microsoft YaHei"/>
                <a:cs typeface="Arial"/>
              </a:rPr>
              <a:t>感谢聆听</a:t>
            </a:r>
          </a:p>
        </p:txBody>
      </p:sp>
      <p:sp>
        <p:nvSpPr>
          <p:cNvPr id="4" name="TextBox 4"/>
          <p:cNvSpPr txBox="1"/>
          <p:nvPr/>
        </p:nvSpPr>
        <p:spPr>
          <a:xfrm>
            <a:off x="4836986" y="3044190"/>
            <a:ext cx="2518029" cy="365760"/>
          </a:xfrm>
          <a:prstGeom prst="rect">
            <a:avLst/>
          </a:prstGeom>
          <a:noFill/>
          <a:ln>
            <a:noFill/>
          </a:ln>
        </p:spPr>
        <p:txBody>
          <a:bodyPr wrap="none" lIns="0" tIns="0" rIns="0" bIns="0" anchor="t" anchorCtr="0">
            <a:spAutoFit/>
          </a:bodyPr>
          <a:lstStyle/>
          <a:p>
            <a:pPr algn="ctr"/>
            <a:r>
              <a:rPr lang="zh-CN" sz="1800" dirty="0">
                <a:solidFill>
                  <a:srgbClr val="2E7E94"/>
                </a:solidFill>
                <a:latin typeface="Arial"/>
                <a:ea typeface="Microsoft YaHei"/>
                <a:cs typeface="Arial"/>
              </a:rPr>
              <a:t>敬请各位老师批评指正!</a:t>
            </a:r>
          </a:p>
        </p:txBody>
      </p:sp>
      <p:sp>
        <p:nvSpPr>
          <p:cNvPr id="5" name="TextBox 5"/>
          <p:cNvSpPr txBox="1"/>
          <p:nvPr/>
        </p:nvSpPr>
        <p:spPr>
          <a:xfrm>
            <a:off x="4818698" y="3950018"/>
            <a:ext cx="2554605"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汇报人: 黄卓谌 指导老师: 彭鑫</a:t>
            </a:r>
          </a:p>
        </p:txBody>
      </p:sp>
      <p:sp>
        <p:nvSpPr>
          <p:cNvPr id="6" name="TextBox 6"/>
          <p:cNvSpPr txBox="1"/>
          <p:nvPr/>
        </p:nvSpPr>
        <p:spPr>
          <a:xfrm>
            <a:off x="3492436" y="4632960"/>
            <a:ext cx="5207127" cy="243840"/>
          </a:xfrm>
          <a:prstGeom prst="rect">
            <a:avLst/>
          </a:prstGeom>
          <a:noFill/>
          <a:ln>
            <a:noFill/>
          </a:ln>
        </p:spPr>
        <p:txBody>
          <a:bodyPr wrap="none" lIns="0" tIns="0" rIns="0" bIns="0" anchor="t" anchorCtr="0">
            <a:spAutoFit/>
          </a:bodyPr>
          <a:lstStyle/>
          <a:p>
            <a:pPr algn="ctr"/>
            <a:r>
              <a:rPr lang="zh-CN" sz="1200" dirty="0">
                <a:solidFill>
                  <a:srgbClr val="485D6A"/>
                </a:solidFill>
                <a:latin typeface="Arial"/>
                <a:ea typeface="Microsoft YaHei"/>
                <a:cs typeface="Arial"/>
              </a:rPr>
              <a:t>后续将围绕查询优化器、执行引擎、Bundle 重排与系统化评测继续推进。</a:t>
            </a:r>
          </a:p>
        </p:txBody>
      </p:sp>
      <p:sp>
        <p:nvSpPr>
          <p:cNvPr id="7" name="TextBox 7"/>
          <p:cNvSpPr txBox="1"/>
          <p:nvPr/>
        </p:nvSpPr>
        <p:spPr>
          <a:xfrm>
            <a:off x="11536442" y="6593681"/>
            <a:ext cx="193596" cy="228600"/>
          </a:xfrm>
          <a:prstGeom prst="rect">
            <a:avLst/>
          </a:prstGeom>
          <a:noFill/>
          <a:ln>
            <a:noFill/>
          </a:ln>
        </p:spPr>
        <p:txBody>
          <a:bodyPr wrap="none" lIns="0" tIns="0" rIns="0" bIns="0" anchor="t" anchorCtr="0">
            <a:spAutoFit/>
          </a:bodyPr>
          <a:lstStyle/>
          <a:p>
            <a:pPr algn="r"/>
            <a:r>
              <a:rPr lang="zh-CN" sz="1125" dirty="0">
                <a:solidFill>
                  <a:srgbClr val="697A84"/>
                </a:solidFill>
                <a:latin typeface="Arial"/>
                <a:ea typeface="Microsoft YaHei"/>
                <a:cs typeface="Arial"/>
              </a:rPr>
              <a:t>18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400"/>
                                        <p:tgtEl>
                                          <p:spTgt spid="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400"/>
                                        <p:tgtEl>
                                          <p:spTgt spid="3"/>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image">
                                      <p:cBhvr>
                                        <p:cTn id="15" dur="400"/>
                                        <p:tgtEl>
                                          <p:spTgt spid="4"/>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00"/>
                                        <p:tgtEl>
                                          <p:spTgt spid="5"/>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lide(fromBottom)">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18</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2026-06-12T19:36:37Z</dcterms:created>
  <dcterms:modified xsi:type="dcterms:W3CDTF">2026-06-12T19:36:37Z</dcterms:modified>
  <cp:category/>
  <cp:contentStatus/>
</cp:coreProperties>
</file>