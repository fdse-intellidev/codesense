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
  </p:notesMasterIdLst>
  <p:handoutMasterIdLst>
    <p:handoutMasterId r:id="rId22"/>
  </p:handoutMasterIdLst>
  <p:sldIdLst>
    <p:sldId id="256" r:id="rId3"/>
    <p:sldId id="287" r:id="rId5"/>
    <p:sldId id="288" r:id="rId6"/>
    <p:sldId id="289" r:id="rId7"/>
    <p:sldId id="296" r:id="rId8"/>
    <p:sldId id="847" r:id="rId9"/>
    <p:sldId id="293" r:id="rId10"/>
    <p:sldId id="849" r:id="rId11"/>
    <p:sldId id="791" r:id="rId12"/>
    <p:sldId id="794" r:id="rId13"/>
    <p:sldId id="850" r:id="rId14"/>
    <p:sldId id="795" r:id="rId15"/>
    <p:sldId id="851" r:id="rId16"/>
    <p:sldId id="790" r:id="rId17"/>
    <p:sldId id="852" r:id="rId18"/>
    <p:sldId id="290" r:id="rId19"/>
    <p:sldId id="280" r:id="rId20"/>
    <p:sldId id="286" r:id="rId21"/>
  </p:sldIdLst>
  <p:sldSz cx="12192000" cy="6858000"/>
  <p:notesSz cx="6858000" cy="9144000"/>
  <p:embeddedFontLst>
    <p:embeddedFont>
      <p:font typeface="PingFang SC" panose="020B0400000000000000" charset="-122"/>
      <p:regular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4924"/>
    <a:srgbClr val="BFBFBF"/>
    <a:srgbClr val="22222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660" autoAdjust="0"/>
    <p:restoredTop sz="94660" autoAdjust="0"/>
  </p:normalViewPr>
  <p:slideViewPr>
    <p:cSldViewPr snapToGrid="0">
      <p:cViewPr varScale="1">
        <p:scale>
          <a:sx n="101" d="100"/>
          <a:sy n="101" d="100"/>
        </p:scale>
        <p:origin x="354" y="10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47" d="100"/>
        <a:sy n="47" d="100"/>
      </p:scale>
      <p:origin x="0" y="0"/>
    </p:cViewPr>
  </p:sorterViewPr>
  <p:notesViewPr>
    <p:cSldViewPr snapToGrid="0">
      <p:cViewPr varScale="1">
        <p:scale>
          <a:sx n="81" d="100"/>
          <a:sy n="81" d="100"/>
        </p:scale>
        <p:origin x="3894"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6" Type="http://schemas.openxmlformats.org/officeDocument/2006/relationships/font" Target="fonts/font1.fntdata"/><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handoutMaster" Target="handoutMasters/handoutMaster1.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1CF01E-7679-46AD-BD36-A23A11BF84AB}"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735F92-EA63-496E-83CB-B20A02D636E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F23912-F76B-44AA-AEEC-D62510CEF69C}"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7025F4-21EF-435D-81ED-3E98BA65D948}"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各位老师好，我是黄卓谌。本次中期答辩汇报题目是面向编码智能体的语义化代码检索方法研究。</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本次汇报将从背景、目标、技术路线、阶段成果、后续计划和总结六个部分展开。</a:t>
            </a:r>
            <a:endParaRPr lang="en-US" dirty="0"/>
          </a:p>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第一部分介绍研究背景与问题定义，重点说明 Agent Query 相比传统关键词检索带来的新挑战。</a:t>
            </a:r>
            <a:endParaRPr lang="zh-CN" altLang="en-US"/>
          </a:p>
          <a:p>
            <a:endParaRPr lang="zh-CN" altLang="en-US"/>
          </a:p>
          <a:p>
            <a:endParaRPr lang="zh-CN" altLang="en-US"/>
          </a:p>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Agent Query 通常不仅包含关键词，还包含动作、对象、约束和排除项，因此需要更结构化的检索流程。</a:t>
            </a:r>
            <a:endParaRPr lang="zh-CN" altLang="en-US"/>
          </a:p>
          <a:p>
            <a:endParaRPr lang="zh-CN" altLang="en-US"/>
          </a:p>
          <a:p>
            <a:endParaRPr lang="zh-CN" altLang="en-US"/>
          </a:p>
          <a:p>
            <a:endParaRPr lang="zh-CN" altLang="en-US"/>
          </a:p>
          <a:p>
            <a:endParaRPr lang="zh-CN" altLang="en-US">
              <a:latin typeface="+mn-ea"/>
            </a:endParaRPr>
          </a:p>
          <a:p>
            <a:endParaRPr lang="zh-CN" altLang="en-US">
              <a:sym typeface="+mn-ea"/>
            </a:endParaRPr>
          </a:p>
          <a:p>
            <a:endParaRPr lang="zh-CN" altLang="en-US">
              <a:sym typeface="+mn-ea"/>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现有方法各有优势，但在 Agent 场景下还缺少稳定的数据契约和可控的端到端 pipeline。</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sym typeface="+mn-ea"/>
              </a:rPr>
              <a:t>第二部分介绍研究内容与目标，核心是用 SemQL 连接 query 理解、候选过滤和结果排序。</a:t>
            </a:r>
            <a:br>
              <a:rPr lang="zh-CN" altLang="en-US">
                <a:sym typeface="+mn-ea"/>
              </a:rPr>
            </a:br>
            <a:endParaRPr lang="zh-CN" altLang="en-US"/>
          </a:p>
          <a:p>
            <a:endParaRPr lang="zh-CN" altLang="en-US"/>
          </a:p>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本研究以 SemQL 为核心接口，目标是在召回、过滤、重排三个层面共同提升代码检索质量。</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en-US" altLang="zh-CN" dirty="0">
                <a:sym typeface="微软雅黑" panose="020B0503020204020204" pitchFamily="34" charset="-122"/>
              </a:rPr>
              <a:t>第三部分介绍技术路线与系统方法，包括整体 pipeline 和三个关键技术模块。</a:t>
            </a:r>
            <a:endParaRPr lang="en-US" altLang="zh-CN" dirty="0">
              <a:sym typeface="微软雅黑" panose="020B0503020204020204" pitchFamily="34" charset="-122"/>
            </a:endParaRPr>
          </a:p>
          <a:p>
            <a:endParaRPr lang="zh-CN" altLang="en-US" dirty="0">
              <a:sym typeface="微软雅黑" panose="020B0503020204020204" pitchFamily="34" charset="-122"/>
            </a:endParaRPr>
          </a:p>
          <a:p>
            <a:endParaRPr lang="zh-CN" altLang="en-US" dirty="0">
              <a:sym typeface="微软雅黑" panose="020B0503020204020204" pitchFamily="34" charset="-122"/>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整体流程从自然语言 query 开始，经过 SemQL 解析、多路召回、分层过滤和双阶段重排。</a:t>
            </a:r>
            <a:endParaRPr lang="zh-CN" altLang="en-US"/>
          </a:p>
          <a:p>
            <a:endParaRPr lang="en-US" altLang="zh-CN"/>
          </a:p>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三个关键路线分别对应 query 理解、候选收敛和排序优化，其中聚类过滤作为 filtering 的新子步骤。</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第四部分汇报阶段成果与实验进展，说明目前已经完成的设计、原型和正在推进的工作。</a:t>
            </a:r>
            <a:endParaRPr lang="zh-CN" altLang="en-US"/>
          </a:p>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目前已完成 SemQL 设计和例会版 pipeline 汇报，并正在把聚类过滤集成到过滤模块中。</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第五部分介绍后续研究计划与风险控制，重点围绕实验评测、系统实现和论文工作推进。</a:t>
            </a:r>
            <a:endParaRPr lang="zh-CN" altLang="en-US"/>
          </a:p>
        </p:txBody>
      </p:sp>
      <p:sp>
        <p:nvSpPr>
          <p:cNvPr id="4" name="灯片编号占位符 3"/>
          <p:cNvSpPr>
            <a:spLocks noGrp="1"/>
          </p:cNvSpPr>
          <p:nvPr>
            <p:ph type="sldNum" sz="quarter" idx="10"/>
          </p:nvPr>
        </p:nvSpPr>
        <p:spPr/>
        <p:txBody>
          <a:bodyPr/>
          <a:lstStyle/>
          <a:p>
            <a:fld id="{FD1E3519-AA41-4C8F-81B1-98F81BDCD14B}"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后续计划重点是完成聚类过滤实现、构建评测集、补齐消融实验和论文写作。</a:t>
            </a:r>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最后一部分总结当前阶段工作，并说明后续的研究展望。</a:t>
            </a:r>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总结来说，本阶段形成了方法主线和系统结构，后续会围绕实验评测和工程稳定性继续推进。</a:t>
            </a:r>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参考文献包括程序理解、代码检索、预训练代码模型以及本项目当前阶段材料。</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5" Type="http://schemas.openxmlformats.org/officeDocument/2006/relationships/image" Target="../media/image4.png"/><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rcRect b="36641"/>
          <a:stretch>
            <a:fillRect/>
          </a:stretch>
        </p:blipFill>
        <p:spPr>
          <a:xfrm>
            <a:off x="0" y="0"/>
            <a:ext cx="12192000" cy="4379495"/>
          </a:xfrm>
          <a:custGeom>
            <a:avLst/>
            <a:gdLst>
              <a:gd name="connsiteX0" fmla="*/ 0 w 12192000"/>
              <a:gd name="connsiteY0" fmla="*/ 0 h 4379495"/>
              <a:gd name="connsiteX1" fmla="*/ 12192000 w 12192000"/>
              <a:gd name="connsiteY1" fmla="*/ 0 h 4379495"/>
              <a:gd name="connsiteX2" fmla="*/ 12192000 w 12192000"/>
              <a:gd name="connsiteY2" fmla="*/ 3783931 h 4379495"/>
              <a:gd name="connsiteX3" fmla="*/ 11450408 w 12192000"/>
              <a:gd name="connsiteY3" fmla="*/ 3921789 h 4379495"/>
              <a:gd name="connsiteX4" fmla="*/ 6096001 w 12192000"/>
              <a:gd name="connsiteY4" fmla="*/ 4379495 h 4379495"/>
              <a:gd name="connsiteX5" fmla="*/ 0 w 12192000"/>
              <a:gd name="connsiteY5" fmla="*/ 3783931 h 4379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379495">
                <a:moveTo>
                  <a:pt x="0" y="0"/>
                </a:moveTo>
                <a:lnTo>
                  <a:pt x="12192000" y="0"/>
                </a:lnTo>
                <a:lnTo>
                  <a:pt x="12192000" y="3783931"/>
                </a:lnTo>
                <a:lnTo>
                  <a:pt x="11450408" y="3921789"/>
                </a:lnTo>
                <a:cubicBezTo>
                  <a:pt x="9712586" y="4222897"/>
                  <a:pt x="7923339" y="4379495"/>
                  <a:pt x="6096001" y="4379495"/>
                </a:cubicBezTo>
                <a:cubicBezTo>
                  <a:pt x="4007614" y="4379495"/>
                  <a:pt x="1968980" y="4173754"/>
                  <a:pt x="0" y="3783931"/>
                </a:cubicBezTo>
                <a:close/>
              </a:path>
            </a:pathLst>
          </a:custGeom>
        </p:spPr>
      </p:pic>
      <p:sp>
        <p:nvSpPr>
          <p:cNvPr id="5" name="任意多边形: 形状 4"/>
          <p:cNvSpPr/>
          <p:nvPr userDrawn="1"/>
        </p:nvSpPr>
        <p:spPr>
          <a:xfrm>
            <a:off x="0" y="0"/>
            <a:ext cx="12192000" cy="4379494"/>
          </a:xfrm>
          <a:custGeom>
            <a:avLst/>
            <a:gdLst>
              <a:gd name="connsiteX0" fmla="*/ 0 w 12194487"/>
              <a:gd name="connsiteY0" fmla="*/ 0 h 4379494"/>
              <a:gd name="connsiteX1" fmla="*/ 0 w 12194487"/>
              <a:gd name="connsiteY1" fmla="*/ 3783931 h 4379494"/>
              <a:gd name="connsiteX2" fmla="*/ 6097244 w 12194487"/>
              <a:gd name="connsiteY2" fmla="*/ 4379495 h 4379494"/>
              <a:gd name="connsiteX3" fmla="*/ 12194488 w 12194487"/>
              <a:gd name="connsiteY3" fmla="*/ 3783931 h 4379494"/>
              <a:gd name="connsiteX4" fmla="*/ 12194488 w 12194487"/>
              <a:gd name="connsiteY4" fmla="*/ 0 h 4379494"/>
              <a:gd name="connsiteX5" fmla="*/ 0 w 12194487"/>
              <a:gd name="connsiteY5" fmla="*/ 0 h 4379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4487" h="4379494">
                <a:moveTo>
                  <a:pt x="0" y="0"/>
                </a:moveTo>
                <a:lnTo>
                  <a:pt x="0" y="3783931"/>
                </a:lnTo>
                <a:cubicBezTo>
                  <a:pt x="1969381" y="4173754"/>
                  <a:pt x="4008431" y="4379495"/>
                  <a:pt x="6097244" y="4379495"/>
                </a:cubicBezTo>
                <a:cubicBezTo>
                  <a:pt x="8186057" y="4379495"/>
                  <a:pt x="10225107" y="4174958"/>
                  <a:pt x="12194488" y="3783931"/>
                </a:cubicBezTo>
                <a:lnTo>
                  <a:pt x="12194488" y="0"/>
                </a:lnTo>
                <a:lnTo>
                  <a:pt x="0" y="0"/>
                </a:lnTo>
                <a:close/>
              </a:path>
            </a:pathLst>
          </a:custGeom>
          <a:solidFill>
            <a:schemeClr val="accent1">
              <a:alpha val="85000"/>
            </a:schemeClr>
          </a:solidFill>
          <a:ln w="124408" cap="flat">
            <a:noFill/>
            <a:prstDash val="solid"/>
            <a:miter/>
          </a:ln>
        </p:spPr>
        <p:txBody>
          <a:bodyPr rtlCol="0" anchor="ctr"/>
          <a:lstStyle/>
          <a:p>
            <a:endParaRPr lang="zh-CN" altLang="en-US" dirty="0"/>
          </a:p>
        </p:txBody>
      </p:sp>
      <p:sp>
        <p:nvSpPr>
          <p:cNvPr id="10" name="任意多边形: 形状 9"/>
          <p:cNvSpPr/>
          <p:nvPr userDrawn="1"/>
        </p:nvSpPr>
        <p:spPr>
          <a:xfrm>
            <a:off x="1155700" y="833663"/>
            <a:ext cx="9880600" cy="4986565"/>
          </a:xfrm>
          <a:custGeom>
            <a:avLst/>
            <a:gdLst>
              <a:gd name="connsiteX0" fmla="*/ 8813284 w 9880600"/>
              <a:gd name="connsiteY0" fmla="*/ 0 h 4986565"/>
              <a:gd name="connsiteX1" fmla="*/ 9191737 w 9880600"/>
              <a:gd name="connsiteY1" fmla="*/ 156760 h 4986565"/>
              <a:gd name="connsiteX2" fmla="*/ 9244274 w 9880600"/>
              <a:gd name="connsiteY2" fmla="*/ 220436 h 4986565"/>
              <a:gd name="connsiteX3" fmla="*/ 9804771 w 9880600"/>
              <a:gd name="connsiteY3" fmla="*/ 220436 h 4986565"/>
              <a:gd name="connsiteX4" fmla="*/ 9880600 w 9880600"/>
              <a:gd name="connsiteY4" fmla="*/ 296265 h 4986565"/>
              <a:gd name="connsiteX5" fmla="*/ 9880600 w 9880600"/>
              <a:gd name="connsiteY5" fmla="*/ 4910736 h 4986565"/>
              <a:gd name="connsiteX6" fmla="*/ 9804771 w 9880600"/>
              <a:gd name="connsiteY6" fmla="*/ 4986565 h 4986565"/>
              <a:gd name="connsiteX7" fmla="*/ 75829 w 9880600"/>
              <a:gd name="connsiteY7" fmla="*/ 4986565 h 4986565"/>
              <a:gd name="connsiteX8" fmla="*/ 0 w 9880600"/>
              <a:gd name="connsiteY8" fmla="*/ 4910736 h 4986565"/>
              <a:gd name="connsiteX9" fmla="*/ 0 w 9880600"/>
              <a:gd name="connsiteY9" fmla="*/ 296265 h 4986565"/>
              <a:gd name="connsiteX10" fmla="*/ 75829 w 9880600"/>
              <a:gd name="connsiteY10" fmla="*/ 220436 h 4986565"/>
              <a:gd name="connsiteX11" fmla="*/ 8382294 w 9880600"/>
              <a:gd name="connsiteY11" fmla="*/ 220436 h 4986565"/>
              <a:gd name="connsiteX12" fmla="*/ 8434831 w 9880600"/>
              <a:gd name="connsiteY12" fmla="*/ 156760 h 4986565"/>
              <a:gd name="connsiteX13" fmla="*/ 8813284 w 9880600"/>
              <a:gd name="connsiteY13" fmla="*/ 0 h 498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80600" h="4986565">
                <a:moveTo>
                  <a:pt x="8813284" y="0"/>
                </a:moveTo>
                <a:cubicBezTo>
                  <a:pt x="8961079" y="0"/>
                  <a:pt x="9094882" y="59906"/>
                  <a:pt x="9191737" y="156760"/>
                </a:cubicBezTo>
                <a:lnTo>
                  <a:pt x="9244274" y="220436"/>
                </a:lnTo>
                <a:lnTo>
                  <a:pt x="9804771" y="220436"/>
                </a:lnTo>
                <a:cubicBezTo>
                  <a:pt x="9846650" y="220436"/>
                  <a:pt x="9880600" y="254386"/>
                  <a:pt x="9880600" y="296265"/>
                </a:cubicBezTo>
                <a:lnTo>
                  <a:pt x="9880600" y="4910736"/>
                </a:lnTo>
                <a:cubicBezTo>
                  <a:pt x="9880600" y="4952615"/>
                  <a:pt x="9846650" y="4986565"/>
                  <a:pt x="9804771" y="4986565"/>
                </a:cubicBezTo>
                <a:lnTo>
                  <a:pt x="75829" y="4986565"/>
                </a:lnTo>
                <a:cubicBezTo>
                  <a:pt x="33950" y="4986565"/>
                  <a:pt x="0" y="4952615"/>
                  <a:pt x="0" y="4910736"/>
                </a:cubicBezTo>
                <a:lnTo>
                  <a:pt x="0" y="296265"/>
                </a:lnTo>
                <a:cubicBezTo>
                  <a:pt x="0" y="254386"/>
                  <a:pt x="33950" y="220436"/>
                  <a:pt x="75829" y="220436"/>
                </a:cubicBezTo>
                <a:lnTo>
                  <a:pt x="8382294" y="220436"/>
                </a:lnTo>
                <a:lnTo>
                  <a:pt x="8434831" y="156760"/>
                </a:lnTo>
                <a:cubicBezTo>
                  <a:pt x="8531686" y="59906"/>
                  <a:pt x="8665489" y="0"/>
                  <a:pt x="8813284" y="0"/>
                </a:cubicBezTo>
                <a:close/>
              </a:path>
            </a:pathLst>
          </a:custGeom>
          <a:solidFill>
            <a:schemeClr val="bg1"/>
          </a:solidFill>
          <a:ln w="19050">
            <a:solidFill>
              <a:schemeClr val="accent1"/>
            </a:solidFill>
          </a:ln>
          <a:effectLst>
            <a:outerShdw blurRad="254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pic>
        <p:nvPicPr>
          <p:cNvPr id="2" name="图片 1"/>
          <p:cNvPicPr>
            <a:picLocks noChangeAspect="1"/>
          </p:cNvPicPr>
          <p:nvPr userDrawn="1"/>
        </p:nvPicPr>
        <p:blipFill rotWithShape="1">
          <a:blip r:embed="rId3">
            <a:alphaModFix amt="22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l="11159" t="15006" r="11159" b="45391"/>
          <a:stretch>
            <a:fillRect/>
          </a:stretch>
        </p:blipFill>
        <p:spPr>
          <a:xfrm>
            <a:off x="1173480" y="1786519"/>
            <a:ext cx="9845041" cy="4025355"/>
          </a:xfrm>
          <a:prstGeom prst="rect">
            <a:avLst/>
          </a:prstGeom>
        </p:spPr>
      </p:pic>
      <p:pic>
        <p:nvPicPr>
          <p:cNvPr id="11" name="logo"/>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551340" y="951232"/>
            <a:ext cx="835288" cy="835288"/>
          </a:xfrm>
          <a:prstGeom prst="rect">
            <a:avLst/>
          </a:prstGeom>
        </p:spPr>
      </p:pic>
      <p:sp>
        <p:nvSpPr>
          <p:cNvPr id="3" name="矩形 2"/>
          <p:cNvSpPr/>
          <p:nvPr userDrawn="1"/>
        </p:nvSpPr>
        <p:spPr>
          <a:xfrm>
            <a:off x="1173480" y="2620183"/>
            <a:ext cx="9845040" cy="2950267"/>
          </a:xfrm>
          <a:prstGeom prst="rect">
            <a:avLst/>
          </a:prstGeom>
          <a:gradFill>
            <a:gsLst>
              <a:gs pos="63000">
                <a:schemeClr val="bg1"/>
              </a:gs>
              <a:gs pos="0">
                <a:schemeClr val="bg1">
                  <a:alpha val="0"/>
                </a:scheme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正文">
    <p:spTree>
      <p:nvGrpSpPr>
        <p:cNvPr id="1" name=""/>
        <p:cNvGrpSpPr/>
        <p:nvPr/>
      </p:nvGrpSpPr>
      <p:grpSpPr>
        <a:xfrm>
          <a:off x="0" y="0"/>
          <a:ext cx="0" cy="0"/>
          <a:chOff x="0" y="0"/>
          <a:chExt cx="0" cy="0"/>
        </a:xfrm>
      </p:grpSpPr>
      <p:sp>
        <p:nvSpPr>
          <p:cNvPr id="17" name="标题 16"/>
          <p:cNvSpPr>
            <a:spLocks noGrp="1"/>
          </p:cNvSpPr>
          <p:nvPr>
            <p:ph type="title"/>
          </p:nvPr>
        </p:nvSpPr>
        <p:spPr>
          <a:xfrm>
            <a:off x="870222" y="192542"/>
            <a:ext cx="10066818" cy="443198"/>
          </a:xfrm>
          <a:prstGeom prst="rect">
            <a:avLst/>
          </a:prstGeom>
          <a:noFill/>
        </p:spPr>
        <p:txBody>
          <a:bodyPr wrap="square" lIns="0" tIns="0" rIns="0" bIns="0" rtlCol="0">
            <a:spAutoFit/>
          </a:bodyPr>
          <a:lstStyle>
            <a:lvl1pPr>
              <a:defRPr lang="zh-CN" altLang="en-US" sz="3200" b="1" dirty="0">
                <a:solidFill>
                  <a:schemeClr val="bg1"/>
                </a:solidFill>
                <a:latin typeface="微软雅黑" panose="020B0503020204020204" pitchFamily="34" charset="-122"/>
                <a:ea typeface="微软雅黑" panose="020B0503020204020204" pitchFamily="34" charset="-122"/>
                <a:cs typeface="+mn-cs"/>
              </a:defRPr>
            </a:lvl1pPr>
          </a:lstStyle>
          <a:p>
            <a:pPr marL="0" lvl="0" defTabSz="457200"/>
            <a:r>
              <a:rPr lang="zh-CN" altLang="en-US" dirty="0"/>
              <a:t>单击此处编辑母版标题样式</a:t>
            </a:r>
            <a:endParaRPr lang="zh-CN" altLang="en-US" dirty="0"/>
          </a:p>
        </p:txBody>
      </p:sp>
      <p:sp>
        <p:nvSpPr>
          <p:cNvPr id="31" name="文本占位符 30"/>
          <p:cNvSpPr>
            <a:spLocks noGrp="1"/>
          </p:cNvSpPr>
          <p:nvPr>
            <p:ph type="body" sz="quarter" idx="11"/>
          </p:nvPr>
        </p:nvSpPr>
        <p:spPr>
          <a:xfrm>
            <a:off x="479425" y="1235748"/>
            <a:ext cx="11233150" cy="2184400"/>
          </a:xfrm>
          <a:prstGeom prst="rect">
            <a:avLst/>
          </a:prstGeom>
        </p:spPr>
        <p:txBody>
          <a:bodyPr vert="horz" lIns="91440" tIns="45720" rIns="91440" bIns="45720" rtlCol="0">
            <a:normAutofit/>
          </a:bodyPr>
          <a:lstStyle>
            <a:lvl1pPr marL="0" indent="0">
              <a:buNone/>
              <a:defRPr lang="zh-CN" altLang="en-US" smtClean="0">
                <a:latin typeface="Arial" panose="020B0604020202020204" pitchFamily="34" charset="0"/>
                <a:ea typeface="微软雅黑" panose="020B0503020204020204" pitchFamily="34" charset="-122"/>
              </a:defRPr>
            </a:lvl1pPr>
            <a:lvl2pPr marL="457200" indent="0">
              <a:buNone/>
              <a:defRPr lang="zh-CN" altLang="en-US" smtClean="0"/>
            </a:lvl2pPr>
            <a:lvl3pPr marL="914400" indent="0">
              <a:buNone/>
              <a:defRPr lang="zh-CN" altLang="en-US" smtClean="0"/>
            </a:lvl3pPr>
            <a:lvl4pPr marL="1371600" indent="0">
              <a:buNone/>
              <a:defRPr lang="zh-CN" altLang="en-US" smtClean="0"/>
            </a:lvl4pPr>
            <a:lvl5pPr marL="1828800" indent="0">
              <a:buNone/>
              <a:defRPr lang="zh-CN" altLang="en-US"/>
            </a:lvl5p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userDrawn="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图片排版1">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4418294"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9" name="图片占位符 5"/>
          <p:cNvSpPr>
            <a:spLocks noGrp="1"/>
          </p:cNvSpPr>
          <p:nvPr>
            <p:ph type="pic" sz="quarter" idx="12"/>
          </p:nvPr>
        </p:nvSpPr>
        <p:spPr>
          <a:xfrm>
            <a:off x="8356600"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0" name="标题 9"/>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图片排版2">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1157968" y="1650617"/>
            <a:ext cx="4635664"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6398369" y="1650617"/>
            <a:ext cx="4658632"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4" name="标题 3"/>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图片排版3">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4" y="1656442"/>
            <a:ext cx="4635664" cy="41637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3" name="标题 2"/>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78657" y="2766316"/>
            <a:ext cx="2221946" cy="2221946"/>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排版5">
    <p:spTree>
      <p:nvGrpSpPr>
        <p:cNvPr id="1" name=""/>
        <p:cNvGrpSpPr/>
        <p:nvPr/>
      </p:nvGrpSpPr>
      <p:grpSpPr>
        <a:xfrm>
          <a:off x="0" y="0"/>
          <a:ext cx="0" cy="0"/>
          <a:chOff x="0" y="0"/>
          <a:chExt cx="0" cy="0"/>
        </a:xfrm>
      </p:grpSpPr>
      <p:sp>
        <p:nvSpPr>
          <p:cNvPr id="12" name="图片占位符 5"/>
          <p:cNvSpPr>
            <a:spLocks noGrp="1"/>
          </p:cNvSpPr>
          <p:nvPr>
            <p:ph type="pic" sz="quarter" idx="12"/>
          </p:nvPr>
        </p:nvSpPr>
        <p:spPr>
          <a:xfrm>
            <a:off x="9465944"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4" name="图片占位符 5"/>
          <p:cNvSpPr>
            <a:spLocks noGrp="1"/>
          </p:cNvSpPr>
          <p:nvPr>
            <p:ph type="pic" sz="quarter" idx="14"/>
          </p:nvPr>
        </p:nvSpPr>
        <p:spPr>
          <a:xfrm>
            <a:off x="7219315" y="3937087"/>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6" name="图片占位符 5"/>
          <p:cNvSpPr>
            <a:spLocks noGrp="1"/>
          </p:cNvSpPr>
          <p:nvPr>
            <p:ph type="pic" sz="quarter" idx="10"/>
          </p:nvPr>
        </p:nvSpPr>
        <p:spPr>
          <a:xfrm>
            <a:off x="479425"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11" name="图片占位符 5"/>
          <p:cNvSpPr>
            <a:spLocks noGrp="1"/>
          </p:cNvSpPr>
          <p:nvPr>
            <p:ph type="pic" sz="quarter" idx="11"/>
          </p:nvPr>
        </p:nvSpPr>
        <p:spPr>
          <a:xfrm>
            <a:off x="4972683"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3" name="图片占位符 5"/>
          <p:cNvSpPr>
            <a:spLocks noGrp="1"/>
          </p:cNvSpPr>
          <p:nvPr>
            <p:ph type="pic" sz="quarter" idx="13"/>
          </p:nvPr>
        </p:nvSpPr>
        <p:spPr>
          <a:xfrm>
            <a:off x="2726054" y="3937087"/>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排版6">
    <p:spTree>
      <p:nvGrpSpPr>
        <p:cNvPr id="1" name=""/>
        <p:cNvGrpSpPr/>
        <p:nvPr/>
      </p:nvGrpSpPr>
      <p:grpSpPr>
        <a:xfrm>
          <a:off x="0" y="0"/>
          <a:ext cx="0" cy="0"/>
          <a:chOff x="0" y="0"/>
          <a:chExt cx="0" cy="0"/>
        </a:xfrm>
      </p:grpSpPr>
      <p:sp>
        <p:nvSpPr>
          <p:cNvPr id="6" name="图片占位符 5"/>
          <p:cNvSpPr>
            <a:spLocks noGrp="1"/>
          </p:cNvSpPr>
          <p:nvPr userDrawn="1">
            <p:ph type="pic" sz="quarter" idx="10"/>
          </p:nvPr>
        </p:nvSpPr>
        <p:spPr>
          <a:xfrm>
            <a:off x="479426" y="1762233"/>
            <a:ext cx="4435319"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userDrawn="1">
            <p:ph type="pic" sz="quarter" idx="11"/>
          </p:nvPr>
        </p:nvSpPr>
        <p:spPr>
          <a:xfrm>
            <a:off x="502093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3" name="图片占位符 5"/>
          <p:cNvSpPr>
            <a:spLocks noGrp="1"/>
          </p:cNvSpPr>
          <p:nvPr>
            <p:ph type="pic" sz="quarter" idx="12"/>
          </p:nvPr>
        </p:nvSpPr>
        <p:spPr>
          <a:xfrm>
            <a:off x="728376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4" name="图片占位符 5"/>
          <p:cNvSpPr>
            <a:spLocks noGrp="1"/>
          </p:cNvSpPr>
          <p:nvPr>
            <p:ph type="pic" sz="quarter" idx="13"/>
          </p:nvPr>
        </p:nvSpPr>
        <p:spPr>
          <a:xfrm>
            <a:off x="954659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5" name="图片占位符 5"/>
          <p:cNvSpPr>
            <a:spLocks noGrp="1"/>
          </p:cNvSpPr>
          <p:nvPr>
            <p:ph type="pic" sz="quarter" idx="14"/>
          </p:nvPr>
        </p:nvSpPr>
        <p:spPr>
          <a:xfrm>
            <a:off x="49527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6" name="图片占位符 5"/>
          <p:cNvSpPr>
            <a:spLocks noGrp="1"/>
          </p:cNvSpPr>
          <p:nvPr>
            <p:ph type="pic" sz="quarter" idx="15"/>
          </p:nvPr>
        </p:nvSpPr>
        <p:spPr>
          <a:xfrm>
            <a:off x="275810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7" name="图片占位符 5"/>
          <p:cNvSpPr>
            <a:spLocks noGrp="1"/>
          </p:cNvSpPr>
          <p:nvPr>
            <p:ph type="pic" sz="quarter" idx="16"/>
          </p:nvPr>
        </p:nvSpPr>
        <p:spPr>
          <a:xfrm>
            <a:off x="502093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userDrawn="1">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排版7">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2263694"/>
            <a:ext cx="1677600" cy="16776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479425" y="4401480"/>
            <a:ext cx="1677600"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排版8">
    <p:spTree>
      <p:nvGrpSpPr>
        <p:cNvPr id="1" name=""/>
        <p:cNvGrpSpPr/>
        <p:nvPr/>
      </p:nvGrpSpPr>
      <p:grpSpPr>
        <a:xfrm>
          <a:off x="0" y="0"/>
          <a:ext cx="0" cy="0"/>
          <a:chOff x="0" y="0"/>
          <a:chExt cx="0" cy="0"/>
        </a:xfrm>
      </p:grpSpPr>
      <p:sp>
        <p:nvSpPr>
          <p:cNvPr id="9" name="图片占位符 5"/>
          <p:cNvSpPr>
            <a:spLocks noGrp="1"/>
          </p:cNvSpPr>
          <p:nvPr>
            <p:ph type="pic" sz="quarter" idx="12"/>
          </p:nvPr>
        </p:nvSpPr>
        <p:spPr>
          <a:xfrm>
            <a:off x="497413" y="4652631"/>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0" name="图片占位符 5"/>
          <p:cNvSpPr>
            <a:spLocks noGrp="1"/>
          </p:cNvSpPr>
          <p:nvPr>
            <p:ph type="pic" sz="quarter" idx="13"/>
          </p:nvPr>
        </p:nvSpPr>
        <p:spPr>
          <a:xfrm>
            <a:off x="9854975" y="4652631"/>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6" name="图片占位符 5"/>
          <p:cNvSpPr>
            <a:spLocks noGrp="1"/>
          </p:cNvSpPr>
          <p:nvPr>
            <p:ph type="pic" sz="quarter" idx="10"/>
          </p:nvPr>
        </p:nvSpPr>
        <p:spPr>
          <a:xfrm>
            <a:off x="497413" y="2460462"/>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9854975" y="2460462"/>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排版9">
    <p:spTree>
      <p:nvGrpSpPr>
        <p:cNvPr id="1" name=""/>
        <p:cNvGrpSpPr/>
        <p:nvPr/>
      </p:nvGrpSpPr>
      <p:grpSpPr>
        <a:xfrm>
          <a:off x="0" y="0"/>
          <a:ext cx="0" cy="0"/>
          <a:chOff x="0" y="0"/>
          <a:chExt cx="0" cy="0"/>
        </a:xfrm>
      </p:grpSpPr>
      <p:sp>
        <p:nvSpPr>
          <p:cNvPr id="17" name="图片占位符 16"/>
          <p:cNvSpPr>
            <a:spLocks noGrp="1"/>
          </p:cNvSpPr>
          <p:nvPr>
            <p:ph type="pic" sz="quarter" idx="10"/>
          </p:nvPr>
        </p:nvSpPr>
        <p:spPr>
          <a:xfrm>
            <a:off x="726287" y="2032086"/>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8" name="图片占位符 17"/>
          <p:cNvSpPr>
            <a:spLocks noGrp="1"/>
          </p:cNvSpPr>
          <p:nvPr>
            <p:ph type="pic" sz="quarter" idx="11"/>
          </p:nvPr>
        </p:nvSpPr>
        <p:spPr>
          <a:xfrm>
            <a:off x="5661164" y="2032086"/>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9" name="图片占位符 18"/>
          <p:cNvSpPr>
            <a:spLocks noGrp="1"/>
          </p:cNvSpPr>
          <p:nvPr>
            <p:ph type="pic" sz="quarter" idx="12"/>
          </p:nvPr>
        </p:nvSpPr>
        <p:spPr>
          <a:xfrm>
            <a:off x="2553839" y="4339871"/>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0" name="图片占位符 19"/>
          <p:cNvSpPr>
            <a:spLocks noGrp="1"/>
          </p:cNvSpPr>
          <p:nvPr>
            <p:ph type="pic" sz="quarter" idx="13"/>
          </p:nvPr>
        </p:nvSpPr>
        <p:spPr>
          <a:xfrm>
            <a:off x="7488716" y="4339871"/>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78657" y="2918523"/>
            <a:ext cx="2221946" cy="2221946"/>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排版10">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1952213"/>
            <a:ext cx="11233150" cy="2532700"/>
          </a:xfrm>
          <a:blipFill dpi="0" rotWithShape="1">
            <a:blip r:embed="rId2"/>
            <a:srcRect/>
            <a:tile tx="0" ty="0" sx="80000" sy="8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图片排版3">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5597525" y="1687908"/>
            <a:ext cx="5121194" cy="41637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3" name="标题 2"/>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17534"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7" name="图片占位符 3"/>
          <p:cNvSpPr>
            <a:spLocks noGrp="1"/>
          </p:cNvSpPr>
          <p:nvPr>
            <p:ph type="pic" sz="quarter" idx="11"/>
          </p:nvPr>
        </p:nvSpPr>
        <p:spPr>
          <a:xfrm>
            <a:off x="1091151"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8" name="图片占位符 3"/>
          <p:cNvSpPr>
            <a:spLocks noGrp="1"/>
          </p:cNvSpPr>
          <p:nvPr>
            <p:ph type="pic" sz="quarter" idx="12"/>
          </p:nvPr>
        </p:nvSpPr>
        <p:spPr>
          <a:xfrm>
            <a:off x="8743917"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图片排版4">
    <p:spTree>
      <p:nvGrpSpPr>
        <p:cNvPr id="1" name=""/>
        <p:cNvGrpSpPr/>
        <p:nvPr/>
      </p:nvGrpSpPr>
      <p:grpSpPr>
        <a:xfrm>
          <a:off x="0" y="0"/>
          <a:ext cx="0" cy="0"/>
          <a:chOff x="0" y="0"/>
          <a:chExt cx="0" cy="0"/>
        </a:xfrm>
      </p:grpSpPr>
      <p:sp>
        <p:nvSpPr>
          <p:cNvPr id="13" name="图片占位符 12"/>
          <p:cNvSpPr>
            <a:spLocks noGrp="1"/>
          </p:cNvSpPr>
          <p:nvPr>
            <p:ph type="pic" sz="quarter" idx="10"/>
          </p:nvPr>
        </p:nvSpPr>
        <p:spPr>
          <a:xfrm>
            <a:off x="689128"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4" name="图片占位符 13"/>
          <p:cNvSpPr>
            <a:spLocks noGrp="1"/>
          </p:cNvSpPr>
          <p:nvPr>
            <p:ph type="pic" sz="quarter" idx="11"/>
          </p:nvPr>
        </p:nvSpPr>
        <p:spPr>
          <a:xfrm>
            <a:off x="689128"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5" name="图片占位符 14"/>
          <p:cNvSpPr>
            <a:spLocks noGrp="1"/>
          </p:cNvSpPr>
          <p:nvPr>
            <p:ph type="pic" sz="quarter" idx="12"/>
          </p:nvPr>
        </p:nvSpPr>
        <p:spPr>
          <a:xfrm>
            <a:off x="4394005"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6" name="图片占位符 15"/>
          <p:cNvSpPr>
            <a:spLocks noGrp="1"/>
          </p:cNvSpPr>
          <p:nvPr>
            <p:ph type="pic" sz="quarter" idx="13"/>
          </p:nvPr>
        </p:nvSpPr>
        <p:spPr>
          <a:xfrm>
            <a:off x="4394005"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7" name="图片占位符 16"/>
          <p:cNvSpPr>
            <a:spLocks noGrp="1"/>
          </p:cNvSpPr>
          <p:nvPr>
            <p:ph type="pic" sz="quarter" idx="14"/>
          </p:nvPr>
        </p:nvSpPr>
        <p:spPr>
          <a:xfrm>
            <a:off x="8098854"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8" name="图片占位符 17"/>
          <p:cNvSpPr>
            <a:spLocks noGrp="1"/>
          </p:cNvSpPr>
          <p:nvPr>
            <p:ph type="pic" sz="quarter" idx="15"/>
          </p:nvPr>
        </p:nvSpPr>
        <p:spPr>
          <a:xfrm>
            <a:off x="8098854"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image" Target="../media/image4.pn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8" name="矩形 17"/>
          <p:cNvSpPr/>
          <p:nvPr userDrawn="1"/>
        </p:nvSpPr>
        <p:spPr>
          <a:xfrm>
            <a:off x="0" y="0"/>
            <a:ext cx="12192000" cy="787400"/>
          </a:xfrm>
          <a:prstGeom prst="rect">
            <a:avLst/>
          </a:prstGeom>
          <a:solidFill>
            <a:schemeClr val="accent1"/>
          </a:solidFill>
          <a:ln w="124408" cap="flat">
            <a:noFill/>
            <a:prstDash val="solid"/>
            <a:miter/>
          </a:ln>
        </p:spPr>
        <p:txBody>
          <a:bodyPr rtlCol="0" anchor="ctr"/>
          <a:lstStyle/>
          <a:p>
            <a:endParaRPr lang="zh-CN" altLang="en-US" dirty="0"/>
          </a:p>
        </p:txBody>
      </p:sp>
      <p:sp>
        <p:nvSpPr>
          <p:cNvPr id="2" name="Title Placeholder 1"/>
          <p:cNvSpPr>
            <a:spLocks noGrp="1"/>
          </p:cNvSpPr>
          <p:nvPr>
            <p:ph type="title"/>
          </p:nvPr>
        </p:nvSpPr>
        <p:spPr>
          <a:xfrm>
            <a:off x="870222" y="192542"/>
            <a:ext cx="10515600" cy="443198"/>
          </a:xfrm>
          <a:prstGeom prst="rect">
            <a:avLst/>
          </a:prstGeom>
          <a:noFill/>
        </p:spPr>
        <p:txBody>
          <a:bodyPr wrap="square" lIns="0" tIns="0" rIns="0" bIns="0" rtlCol="0">
            <a:spAutoFit/>
          </a:bodyPr>
          <a:lstStyle/>
          <a:p>
            <a:pPr marL="0" lvl="0" defTabSz="457200"/>
            <a:r>
              <a:rPr lang="zh-CN" altLang="en-US" dirty="0"/>
              <a:t>单击此处编辑母版标题样式</a:t>
            </a:r>
            <a:endParaRPr lang="en-US" dirty="0"/>
          </a:p>
        </p:txBody>
      </p:sp>
      <p:sp>
        <p:nvSpPr>
          <p:cNvPr id="3" name="Text Placeholder 2"/>
          <p:cNvSpPr>
            <a:spLocks noGrp="1"/>
          </p:cNvSpPr>
          <p:nvPr>
            <p:ph type="body" idx="1"/>
          </p:nvPr>
        </p:nvSpPr>
        <p:spPr>
          <a:xfrm>
            <a:off x="838200" y="1395135"/>
            <a:ext cx="10515600" cy="4351338"/>
          </a:xfrm>
          <a:prstGeom prst="rect">
            <a:avLst/>
          </a:prstGeom>
        </p:spPr>
        <p:txBody>
          <a:bodyPr vert="horz" lIns="91440" tIns="45720" rIns="91440" bIns="45720" rtlCol="0">
            <a:normAutofit/>
          </a:bodyPr>
          <a:lstStyle/>
          <a:p>
            <a:pPr marL="0" lvl="0" indent="0">
              <a:buNone/>
            </a:pPr>
            <a:r>
              <a:rPr lang="zh-CN" altLang="en-US" dirty="0"/>
              <a:t>单击此处编辑母版文本样式</a:t>
            </a:r>
            <a:endParaRPr lang="zh-CN" altLang="en-US" dirty="0"/>
          </a:p>
          <a:p>
            <a:pPr marL="457200" lvl="1" indent="0">
              <a:buNone/>
            </a:pPr>
            <a:r>
              <a:rPr lang="zh-CN" altLang="en-US" dirty="0"/>
              <a:t>二级</a:t>
            </a:r>
            <a:endParaRPr lang="zh-CN" altLang="en-US" dirty="0"/>
          </a:p>
          <a:p>
            <a:pPr marL="914400" lvl="2" indent="0">
              <a:buNone/>
            </a:pPr>
            <a:r>
              <a:rPr lang="zh-CN" altLang="en-US" dirty="0"/>
              <a:t>三级</a:t>
            </a:r>
            <a:endParaRPr lang="zh-CN" altLang="en-US" dirty="0"/>
          </a:p>
          <a:p>
            <a:pPr marL="1371600" lvl="3" indent="0">
              <a:buNone/>
            </a:pPr>
            <a:r>
              <a:rPr lang="zh-CN" altLang="en-US" dirty="0"/>
              <a:t>四级</a:t>
            </a:r>
            <a:endParaRPr lang="zh-CN" altLang="en-US" dirty="0"/>
          </a:p>
          <a:p>
            <a:pPr marL="1828800" lvl="4" indent="0">
              <a:buNone/>
            </a:pPr>
            <a:r>
              <a:rPr lang="zh-CN" altLang="en-US" dirty="0"/>
              <a:t>五级</a:t>
            </a:r>
            <a:endParaRPr lang="en-US" dirty="0"/>
          </a:p>
        </p:txBody>
      </p:sp>
      <p:sp>
        <p:nvSpPr>
          <p:cNvPr id="4" name="Date Placeholder 3"/>
          <p:cNvSpPr>
            <a:spLocks noGrp="1"/>
          </p:cNvSpPr>
          <p:nvPr>
            <p:ph type="dt" sz="half" idx="2"/>
          </p:nvPr>
        </p:nvSpPr>
        <p:spPr>
          <a:xfrm>
            <a:off x="9398000" y="132016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7C6FF8-5235-4F96-9E93-E1F714947AAE}" type="datetimeFigureOut">
              <a:rPr lang="zh-CN" altLang="en-US" smtClean="0"/>
            </a:fld>
            <a:endParaRPr lang="zh-CN" altLang="en-US"/>
          </a:p>
        </p:txBody>
      </p:sp>
      <p:sp>
        <p:nvSpPr>
          <p:cNvPr id="5" name="Footer Placeholder 4"/>
          <p:cNvSpPr>
            <a:spLocks noGrp="1"/>
          </p:cNvSpPr>
          <p:nvPr>
            <p:ph type="ftr" sz="quarter" idx="3"/>
          </p:nvPr>
        </p:nvSpPr>
        <p:spPr>
          <a:xfrm>
            <a:off x="12598400" y="132016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17170400" y="132016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2AD28B-1317-466D-9CEA-DD6AA477B169}" type="slidenum">
              <a:rPr lang="zh-CN" altLang="en-US" smtClean="0"/>
            </a:fld>
            <a:endParaRPr lang="zh-CN" altLang="en-US"/>
          </a:p>
        </p:txBody>
      </p:sp>
      <p:sp>
        <p:nvSpPr>
          <p:cNvPr id="20" name="椭圆 19"/>
          <p:cNvSpPr/>
          <p:nvPr userDrawn="1"/>
        </p:nvSpPr>
        <p:spPr>
          <a:xfrm>
            <a:off x="11023762" y="399052"/>
            <a:ext cx="789573" cy="78957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logo"/>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11110484" y="485774"/>
            <a:ext cx="616129" cy="616129"/>
          </a:xfrm>
          <a:prstGeom prst="rect">
            <a:avLst/>
          </a:prstGeom>
        </p:spPr>
      </p:pic>
      <p:sp>
        <p:nvSpPr>
          <p:cNvPr id="23" name="文本框 22"/>
          <p:cNvSpPr txBox="1"/>
          <p:nvPr userDrawn="1"/>
        </p:nvSpPr>
        <p:spPr>
          <a:xfrm>
            <a:off x="479425" y="6522651"/>
            <a:ext cx="3119444" cy="215444"/>
          </a:xfrm>
          <a:prstGeom prst="rect">
            <a:avLst/>
          </a:prstGeom>
          <a:noFill/>
        </p:spPr>
        <p:txBody>
          <a:bodyPr wrap="none" lIns="0" tIns="0" rIns="0" bIns="0" rtlCol="0">
            <a:spAutoFit/>
          </a:bodyPr>
          <a:lstStyle/>
          <a:p>
            <a:r>
              <a:rPr lang="zh-CN" altLang="en-US" sz="1400" dirty="0">
                <a:solidFill>
                  <a:schemeClr val="bg1">
                    <a:lumMod val="65000"/>
                  </a:schemeClr>
                </a:solidFill>
                <a:latin typeface="微软雅黑" panose="020B0503020204020204" pitchFamily="34" charset="-122"/>
                <a:ea typeface="微软雅黑" panose="020B0503020204020204" pitchFamily="34" charset="-122"/>
              </a:rPr>
              <a:t>论文答辩 </a:t>
            </a:r>
            <a:r>
              <a:rPr lang="en-US" altLang="zh-CN" sz="1400" dirty="0">
                <a:solidFill>
                  <a:schemeClr val="bg1">
                    <a:lumMod val="65000"/>
                  </a:schemeClr>
                </a:solidFill>
                <a:latin typeface="微软雅黑" panose="020B0503020204020204" pitchFamily="34" charset="-122"/>
                <a:ea typeface="微软雅黑" panose="020B0503020204020204" pitchFamily="34" charset="-122"/>
              </a:rPr>
              <a:t>| Graduation thesis defense</a:t>
            </a:r>
            <a:endParaRPr lang="zh-CN" altLang="en-US" sz="1400" dirty="0">
              <a:solidFill>
                <a:schemeClr val="bg1">
                  <a:lumMod val="65000"/>
                </a:schemeClr>
              </a:solidFill>
              <a:latin typeface="微软雅黑" panose="020B0503020204020204" pitchFamily="34" charset="-122"/>
              <a:ea typeface="微软雅黑" panose="020B0503020204020204" pitchFamily="34" charset="-122"/>
            </a:endParaRPr>
          </a:p>
        </p:txBody>
      </p:sp>
      <p:sp>
        <p:nvSpPr>
          <p:cNvPr id="24" name="文本框 23"/>
          <p:cNvSpPr txBox="1"/>
          <p:nvPr userDrawn="1"/>
        </p:nvSpPr>
        <p:spPr>
          <a:xfrm>
            <a:off x="9613151" y="6522651"/>
            <a:ext cx="1999073" cy="215444"/>
          </a:xfrm>
          <a:prstGeom prst="rect">
            <a:avLst/>
          </a:prstGeom>
          <a:noFill/>
        </p:spPr>
        <p:txBody>
          <a:bodyPr wrap="none" lIns="0" tIns="0" rIns="0" bIns="0" rtlCol="0">
            <a:spAutoFit/>
          </a:bodyPr>
          <a:lstStyle/>
          <a:p>
            <a:pPr algn="r"/>
            <a:r>
              <a:rPr lang="en-US" altLang="zh-CN" sz="1400" dirty="0">
                <a:solidFill>
                  <a:schemeClr val="bg1">
                    <a:lumMod val="65000"/>
                  </a:schemeClr>
                </a:solidFill>
                <a:latin typeface="微软雅黑" panose="020B0503020204020204" pitchFamily="34" charset="-122"/>
                <a:ea typeface="微软雅黑" panose="020B0503020204020204" pitchFamily="34" charset="-122"/>
              </a:rPr>
              <a:t>www.pptgenius.com  |  </a:t>
            </a:r>
            <a:endParaRPr lang="zh-CN" altLang="en-US" sz="1400" dirty="0">
              <a:solidFill>
                <a:schemeClr val="bg1">
                  <a:lumMod val="65000"/>
                </a:schemeClr>
              </a:solidFill>
              <a:latin typeface="微软雅黑" panose="020B0503020204020204" pitchFamily="34" charset="-122"/>
              <a:ea typeface="微软雅黑" panose="020B0503020204020204" pitchFamily="34" charset="-122"/>
            </a:endParaRPr>
          </a:p>
        </p:txBody>
      </p:sp>
      <p:sp>
        <p:nvSpPr>
          <p:cNvPr id="25" name="page"/>
          <p:cNvSpPr txBox="1"/>
          <p:nvPr userDrawn="1"/>
        </p:nvSpPr>
        <p:spPr>
          <a:xfrm>
            <a:off x="11571963" y="6522651"/>
            <a:ext cx="218009" cy="215444"/>
          </a:xfrm>
          <a:prstGeom prst="rect">
            <a:avLst/>
          </a:prstGeom>
          <a:noFill/>
        </p:spPr>
        <p:txBody>
          <a:bodyPr vert="horz" wrap="none" lIns="0" tIns="0" rIns="0" bIns="0" rtlCol="0" anchor="ctr">
            <a:spAutoFit/>
          </a:bodyP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A48DBFAF-01A5-47DE-A33F-834723B47D4E}" type="slidenum">
              <a:rPr lang="ja-JP" altLang="en-US" sz="1400" b="0" smtClean="0">
                <a:solidFill>
                  <a:schemeClr val="bg1">
                    <a:lumMod val="65000"/>
                  </a:schemeClr>
                </a:solidFill>
                <a:latin typeface="Arial" panose="020B0604020202020204" pitchFamily="34" charset="0"/>
                <a:ea typeface="微软雅黑" panose="020B0503020204020204" pitchFamily="34" charset="-122"/>
                <a:cs typeface="Arial" panose="020B0604020202020204" pitchFamily="34" charset="0"/>
              </a:rPr>
            </a:fld>
            <a:endParaRPr lang="ja-JP" altLang="en-US" sz="1400" b="0" dirty="0">
              <a:solidFill>
                <a:schemeClr val="bg1">
                  <a:lumMod val="65000"/>
                </a:schemeClr>
              </a:solidFill>
              <a:latin typeface="Arial" panose="020B0604020202020204" pitchFamily="34" charset="0"/>
              <a:ea typeface="微软雅黑" panose="020B0503020204020204" pitchFamily="34" charset="-122"/>
              <a:cs typeface="Arial" panose="020B0604020202020204" pitchFamily="34" charset="0"/>
            </a:endParaRPr>
          </a:p>
        </p:txBody>
      </p:sp>
      <p:grpSp>
        <p:nvGrpSpPr>
          <p:cNvPr id="7" name="组合 6"/>
          <p:cNvGrpSpPr/>
          <p:nvPr userDrawn="1"/>
        </p:nvGrpSpPr>
        <p:grpSpPr>
          <a:xfrm>
            <a:off x="479425" y="270358"/>
            <a:ext cx="257460" cy="246808"/>
            <a:chOff x="4429388" y="3847436"/>
            <a:chExt cx="248220" cy="237949"/>
          </a:xfrm>
          <a:solidFill>
            <a:schemeClr val="bg1"/>
          </a:solidFill>
        </p:grpSpPr>
        <p:sp>
          <p:nvSpPr>
            <p:cNvPr id="8" name="任意多边形: 形状 7"/>
            <p:cNvSpPr/>
            <p:nvPr/>
          </p:nvSpPr>
          <p:spPr>
            <a:xfrm>
              <a:off x="4429388" y="3847436"/>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sp>
          <p:nvSpPr>
            <p:cNvPr id="9" name="任意多边形: 形状 8"/>
            <p:cNvSpPr/>
            <p:nvPr/>
          </p:nvSpPr>
          <p:spPr>
            <a:xfrm>
              <a:off x="4593727" y="3847436"/>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sp>
          <p:nvSpPr>
            <p:cNvPr id="10" name="任意多边形: 形状 9"/>
            <p:cNvSpPr/>
            <p:nvPr/>
          </p:nvSpPr>
          <p:spPr>
            <a:xfrm>
              <a:off x="4429388" y="4001504"/>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dirty="0"/>
            </a:p>
          </p:txBody>
        </p:sp>
        <p:sp>
          <p:nvSpPr>
            <p:cNvPr id="11" name="任意多边形: 形状 10"/>
            <p:cNvSpPr/>
            <p:nvPr/>
          </p:nvSpPr>
          <p:spPr>
            <a:xfrm>
              <a:off x="4593727" y="4001504"/>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lang="en-US" altLang="en-US" sz="3200" b="1" kern="1200" dirty="0">
          <a:solidFill>
            <a:schemeClr val="bg1"/>
          </a:solidFill>
          <a:latin typeface="微软雅黑" panose="020B0503020204020204" pitchFamily="34" charset="-122"/>
          <a:ea typeface="微软雅黑" panose="020B0503020204020204" pitchFamily="34" charset="-122"/>
          <a:cs typeface="+mn-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zh-CN" altLang="en-US" sz="2800" kern="1200" dirty="0">
          <a:solidFill>
            <a:schemeClr val="tx1"/>
          </a:solidFill>
          <a:latin typeface="Arial" panose="020B0604020202020204" pitchFamily="34" charset="0"/>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zh-CN" altLang="en-US" sz="2400" kern="1200" dirty="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zh-CN" altLang="en-US" sz="2000" kern="1200" dirty="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zh-CN" altLang="en-US" sz="1800" kern="1200" dirty="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en-US" altLang="en-US" sz="18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3.xml"/><Relationship Id="rId2" Type="http://schemas.openxmlformats.org/officeDocument/2006/relationships/image" Target="../media/image4.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school"/>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4" name="任意多边形: 形状 23"/>
          <p:cNvSpPr/>
          <p:nvPr/>
        </p:nvSpPr>
        <p:spPr>
          <a:xfrm>
            <a:off x="0" y="0"/>
            <a:ext cx="12192000" cy="4379494"/>
          </a:xfrm>
          <a:custGeom>
            <a:avLst/>
            <a:gdLst>
              <a:gd name="connsiteX0" fmla="*/ 0 w 12194487"/>
              <a:gd name="connsiteY0" fmla="*/ 0 h 4379494"/>
              <a:gd name="connsiteX1" fmla="*/ 0 w 12194487"/>
              <a:gd name="connsiteY1" fmla="*/ 3783931 h 4379494"/>
              <a:gd name="connsiteX2" fmla="*/ 6097244 w 12194487"/>
              <a:gd name="connsiteY2" fmla="*/ 4379495 h 4379494"/>
              <a:gd name="connsiteX3" fmla="*/ 12194488 w 12194487"/>
              <a:gd name="connsiteY3" fmla="*/ 3783931 h 4379494"/>
              <a:gd name="connsiteX4" fmla="*/ 12194488 w 12194487"/>
              <a:gd name="connsiteY4" fmla="*/ 0 h 4379494"/>
              <a:gd name="connsiteX5" fmla="*/ 0 w 12194487"/>
              <a:gd name="connsiteY5" fmla="*/ 0 h 4379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4487" h="4379494">
                <a:moveTo>
                  <a:pt x="0" y="0"/>
                </a:moveTo>
                <a:lnTo>
                  <a:pt x="0" y="3783931"/>
                </a:lnTo>
                <a:cubicBezTo>
                  <a:pt x="1969381" y="4173754"/>
                  <a:pt x="4008431" y="4379495"/>
                  <a:pt x="6097244" y="4379495"/>
                </a:cubicBezTo>
                <a:cubicBezTo>
                  <a:pt x="8186057" y="4379495"/>
                  <a:pt x="10225107" y="4174958"/>
                  <a:pt x="12194488" y="3783931"/>
                </a:cubicBezTo>
                <a:lnTo>
                  <a:pt x="12194488" y="0"/>
                </a:lnTo>
                <a:lnTo>
                  <a:pt x="0" y="0"/>
                </a:lnTo>
                <a:close/>
              </a:path>
            </a:pathLst>
          </a:custGeom>
          <a:solidFill>
            <a:schemeClr val="accent1">
              <a:alpha val="85000"/>
            </a:schemeClr>
          </a:solidFill>
          <a:ln w="124408" cap="flat">
            <a:noFill/>
            <a:prstDash val="solid"/>
            <a:miter/>
          </a:ln>
        </p:spPr>
        <p:txBody>
          <a:bodyPr rtlCol="0" anchor="ctr"/>
          <a:lstStyle/>
          <a:p>
            <a:endParaRPr lang="zh-CN" altLang="en-US" dirty="0"/>
          </a:p>
        </p:txBody>
      </p:sp>
      <p:sp>
        <p:nvSpPr>
          <p:cNvPr id="25" name="任意多边形: 形状 24"/>
          <p:cNvSpPr/>
          <p:nvPr/>
        </p:nvSpPr>
        <p:spPr>
          <a:xfrm>
            <a:off x="-3109" y="3729790"/>
            <a:ext cx="12198219" cy="3128210"/>
          </a:xfrm>
          <a:custGeom>
            <a:avLst/>
            <a:gdLst>
              <a:gd name="connsiteX0" fmla="*/ 0 w 12193244"/>
              <a:gd name="connsiteY0" fmla="*/ 0 h 3128210"/>
              <a:gd name="connsiteX1" fmla="*/ 0 w 12193244"/>
              <a:gd name="connsiteY1" fmla="*/ 3128210 h 3128210"/>
              <a:gd name="connsiteX2" fmla="*/ 12193244 w 12193244"/>
              <a:gd name="connsiteY2" fmla="*/ 3128210 h 3128210"/>
              <a:gd name="connsiteX3" fmla="*/ 12193244 w 12193244"/>
              <a:gd name="connsiteY3" fmla="*/ 0 h 3128210"/>
              <a:gd name="connsiteX4" fmla="*/ 6096000 w 12193244"/>
              <a:gd name="connsiteY4" fmla="*/ 595563 h 3128210"/>
              <a:gd name="connsiteX5" fmla="*/ 0 w 12193244"/>
              <a:gd name="connsiteY5" fmla="*/ 0 h 3128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3244" h="3128210">
                <a:moveTo>
                  <a:pt x="0" y="0"/>
                </a:moveTo>
                <a:lnTo>
                  <a:pt x="0" y="3128210"/>
                </a:lnTo>
                <a:lnTo>
                  <a:pt x="12193244" y="3128210"/>
                </a:lnTo>
                <a:lnTo>
                  <a:pt x="12193244" y="0"/>
                </a:lnTo>
                <a:cubicBezTo>
                  <a:pt x="10223863" y="389823"/>
                  <a:pt x="8184813" y="595563"/>
                  <a:pt x="6096000" y="595563"/>
                </a:cubicBezTo>
                <a:cubicBezTo>
                  <a:pt x="4007187" y="595563"/>
                  <a:pt x="1969381" y="391026"/>
                  <a:pt x="0" y="0"/>
                </a:cubicBezTo>
                <a:close/>
              </a:path>
            </a:pathLst>
          </a:custGeom>
          <a:solidFill>
            <a:srgbClr val="FFFFFF"/>
          </a:solidFill>
          <a:ln w="124408" cap="flat">
            <a:noFill/>
            <a:prstDash val="solid"/>
            <a:miter/>
          </a:ln>
        </p:spPr>
        <p:txBody>
          <a:bodyPr rtlCol="0" anchor="ctr"/>
          <a:lstStyle/>
          <a:p>
            <a:endParaRPr lang="zh-CN" altLang="en-US"/>
          </a:p>
        </p:txBody>
      </p:sp>
      <p:sp>
        <p:nvSpPr>
          <p:cNvPr id="11" name="文本框 10"/>
          <p:cNvSpPr txBox="1"/>
          <p:nvPr/>
        </p:nvSpPr>
        <p:spPr>
          <a:xfrm>
            <a:off x="2184400" y="4048335"/>
            <a:ext cx="6096000" cy="1156407"/>
          </a:xfrm>
          <a:prstGeom prst="rect">
            <a:avLst/>
          </a:prstGeom>
          <a:noFill/>
        </p:spPr>
        <p:txBody>
          <a:bodyPr wrap="square">
            <a:spAutoFit/>
          </a:bodyPr>
          <a:lstStyle/>
          <a:p>
            <a:pPr>
              <a:lnSpc>
                <a:spcPct val="150000"/>
              </a:lnSpc>
              <a:defRPr sz="1500" b="0">
                <a:solidFill>
                  <a:srgbClr val="213448"/>
                </a:solidFill>
                <a:latin typeface="微软雅黑"/>
              </a:defRPr>
            </a:pPr>
            <a:r>
              <a:t>硕士中期答辩</a:t>
            </a:r>
            <a:br/>
            <a:r>
              <a:t>学生姓名：黄卓谌</a:t>
            </a:r>
            <a:br/>
            <a:r>
              <a:t>指导教师：彭鑫</a:t>
            </a:r>
            <a:br/>
            <a:r>
              <a:t>答辩日期：2026年5月</a:t>
            </a:r>
            <a:endParaRPr lang="zh-CN" altLang="en-US" sz="1600" dirty="0">
              <a:solidFill>
                <a:schemeClr val="bg1">
                  <a:lumMod val="50000"/>
                </a:schemeClr>
              </a:solidFill>
              <a:latin typeface="Arial" panose="020B0604020202020204" pitchFamily="34" charset="0"/>
              <a:ea typeface="微软雅黑" panose="020B0503020204020204" pitchFamily="34" charset="-122"/>
              <a:sym typeface="Arial" panose="020B0604020202020204" pitchFamily="34" charset="0"/>
            </a:endParaRPr>
          </a:p>
        </p:txBody>
      </p:sp>
      <p:grpSp>
        <p:nvGrpSpPr>
          <p:cNvPr id="70" name="组合 69"/>
          <p:cNvGrpSpPr/>
          <p:nvPr/>
        </p:nvGrpSpPr>
        <p:grpSpPr>
          <a:xfrm>
            <a:off x="1155700" y="604838"/>
            <a:ext cx="9880600" cy="5215390"/>
            <a:chOff x="1155700" y="604838"/>
            <a:chExt cx="9880600" cy="5215390"/>
          </a:xfrm>
          <a:effectLst>
            <a:outerShdw blurRad="254000" dist="38100" dir="5400000" algn="t" rotWithShape="0">
              <a:prstClr val="black">
                <a:alpha val="40000"/>
              </a:prstClr>
            </a:outerShdw>
          </a:effectLst>
        </p:grpSpPr>
        <p:sp>
          <p:nvSpPr>
            <p:cNvPr id="29" name="椭圆 28"/>
            <p:cNvSpPr/>
            <p:nvPr/>
          </p:nvSpPr>
          <p:spPr>
            <a:xfrm>
              <a:off x="5331962" y="604838"/>
              <a:ext cx="1528076" cy="152807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3" name="组合 42"/>
            <p:cNvGrpSpPr/>
            <p:nvPr/>
          </p:nvGrpSpPr>
          <p:grpSpPr>
            <a:xfrm>
              <a:off x="1155700" y="1054099"/>
              <a:ext cx="9880600" cy="4766129"/>
              <a:chOff x="1130300" y="1054099"/>
              <a:chExt cx="9880600" cy="4766129"/>
            </a:xfrm>
            <a:effectLst/>
          </p:grpSpPr>
          <p:sp>
            <p:nvSpPr>
              <p:cNvPr id="28" name="矩形: 圆角 27"/>
              <p:cNvSpPr/>
              <p:nvPr/>
            </p:nvSpPr>
            <p:spPr>
              <a:xfrm>
                <a:off x="1130300" y="1054099"/>
                <a:ext cx="9880600" cy="4766129"/>
              </a:xfrm>
              <a:prstGeom prst="roundRect">
                <a:avLst>
                  <a:gd name="adj" fmla="val 1591"/>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0" name="矩形: 圆顶角 29"/>
              <p:cNvSpPr/>
              <p:nvPr/>
            </p:nvSpPr>
            <p:spPr>
              <a:xfrm>
                <a:off x="1130300" y="5688904"/>
                <a:ext cx="9880600" cy="131324"/>
              </a:xfrm>
              <a:prstGeom prst="round2SameRect">
                <a:avLst>
                  <a:gd name="adj1" fmla="val 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3" name="组合 2"/>
          <p:cNvGrpSpPr/>
          <p:nvPr/>
        </p:nvGrpSpPr>
        <p:grpSpPr>
          <a:xfrm>
            <a:off x="1517474" y="2824831"/>
            <a:ext cx="8597062" cy="598939"/>
            <a:chOff x="4100899" y="2405731"/>
            <a:chExt cx="8597062" cy="598939"/>
          </a:xfrm>
        </p:grpSpPr>
        <p:grpSp>
          <p:nvGrpSpPr>
            <p:cNvPr id="6" name="组合 5"/>
            <p:cNvGrpSpPr/>
            <p:nvPr/>
          </p:nvGrpSpPr>
          <p:grpSpPr>
            <a:xfrm>
              <a:off x="4100899" y="2454786"/>
              <a:ext cx="708766" cy="549884"/>
              <a:chOff x="4149211" y="2442855"/>
              <a:chExt cx="752258" cy="583627"/>
            </a:xfrm>
            <a:solidFill>
              <a:schemeClr val="accent1"/>
            </a:solidFill>
          </p:grpSpPr>
          <p:sp>
            <p:nvSpPr>
              <p:cNvPr id="4" name="任意多边形: 形状 3"/>
              <p:cNvSpPr/>
              <p:nvPr/>
            </p:nvSpPr>
            <p:spPr>
              <a:xfrm>
                <a:off x="4149211" y="2442855"/>
                <a:ext cx="752258" cy="430447"/>
              </a:xfrm>
              <a:custGeom>
                <a:avLst/>
                <a:gdLst>
                  <a:gd name="connsiteX0" fmla="*/ 750857 w 752258"/>
                  <a:gd name="connsiteY0" fmla="*/ 215925 h 430447"/>
                  <a:gd name="connsiteX1" fmla="*/ 731227 w 752258"/>
                  <a:gd name="connsiteY1" fmla="*/ 182274 h 430447"/>
                  <a:gd name="connsiteX2" fmla="*/ 393319 w 752258"/>
                  <a:gd name="connsiteY2" fmla="*/ 4206 h 430447"/>
                  <a:gd name="connsiteX3" fmla="*/ 359668 w 752258"/>
                  <a:gd name="connsiteY3" fmla="*/ 4206 h 430447"/>
                  <a:gd name="connsiteX4" fmla="*/ 20357 w 752258"/>
                  <a:gd name="connsiteY4" fmla="*/ 169655 h 430447"/>
                  <a:gd name="connsiteX5" fmla="*/ 3532 w 752258"/>
                  <a:gd name="connsiteY5" fmla="*/ 218729 h 430447"/>
                  <a:gd name="connsiteX6" fmla="*/ 20357 w 752258"/>
                  <a:gd name="connsiteY6" fmla="*/ 235554 h 430447"/>
                  <a:gd name="connsiteX7" fmla="*/ 358266 w 752258"/>
                  <a:gd name="connsiteY7" fmla="*/ 402406 h 430447"/>
                  <a:gd name="connsiteX8" fmla="*/ 375091 w 752258"/>
                  <a:gd name="connsiteY8" fmla="*/ 406612 h 430447"/>
                  <a:gd name="connsiteX9" fmla="*/ 390514 w 752258"/>
                  <a:gd name="connsiteY9" fmla="*/ 403808 h 430447"/>
                  <a:gd name="connsiteX10" fmla="*/ 677947 w 752258"/>
                  <a:gd name="connsiteY10" fmla="*/ 263597 h 430447"/>
                  <a:gd name="connsiteX11" fmla="*/ 677947 w 752258"/>
                  <a:gd name="connsiteY11" fmla="*/ 395395 h 430447"/>
                  <a:gd name="connsiteX12" fmla="*/ 717206 w 752258"/>
                  <a:gd name="connsiteY12" fmla="*/ 430448 h 430447"/>
                  <a:gd name="connsiteX13" fmla="*/ 752259 w 752258"/>
                  <a:gd name="connsiteY13" fmla="*/ 395395 h 430447"/>
                  <a:gd name="connsiteX14" fmla="*/ 752259 w 752258"/>
                  <a:gd name="connsiteY14" fmla="*/ 217327 h 430447"/>
                  <a:gd name="connsiteX15" fmla="*/ 752259 w 752258"/>
                  <a:gd name="connsiteY15" fmla="*/ 217327 h 430447"/>
                  <a:gd name="connsiteX16" fmla="*/ 376493 w 752258"/>
                  <a:gd name="connsiteY16" fmla="*/ 328094 h 430447"/>
                  <a:gd name="connsiteX17" fmla="*/ 121309 w 752258"/>
                  <a:gd name="connsiteY17" fmla="*/ 203306 h 430447"/>
                  <a:gd name="connsiteX18" fmla="*/ 375091 w 752258"/>
                  <a:gd name="connsiteY18" fmla="*/ 78518 h 430447"/>
                  <a:gd name="connsiteX19" fmla="*/ 630275 w 752258"/>
                  <a:gd name="connsiteY19" fmla="*/ 213121 h 430447"/>
                  <a:gd name="connsiteX20" fmla="*/ 376493 w 752258"/>
                  <a:gd name="connsiteY20" fmla="*/ 329496 h 4304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52258" h="430447">
                    <a:moveTo>
                      <a:pt x="750857" y="215925"/>
                    </a:moveTo>
                    <a:cubicBezTo>
                      <a:pt x="750857" y="201904"/>
                      <a:pt x="743846" y="189285"/>
                      <a:pt x="731227" y="182274"/>
                    </a:cubicBezTo>
                    <a:lnTo>
                      <a:pt x="393319" y="4206"/>
                    </a:lnTo>
                    <a:cubicBezTo>
                      <a:pt x="382102" y="-1402"/>
                      <a:pt x="370885" y="-1402"/>
                      <a:pt x="359668" y="4206"/>
                    </a:cubicBezTo>
                    <a:lnTo>
                      <a:pt x="20357" y="169655"/>
                    </a:lnTo>
                    <a:cubicBezTo>
                      <a:pt x="2130" y="179470"/>
                      <a:pt x="-4881" y="200502"/>
                      <a:pt x="3532" y="218729"/>
                    </a:cubicBezTo>
                    <a:cubicBezTo>
                      <a:pt x="7738" y="225740"/>
                      <a:pt x="13347" y="231348"/>
                      <a:pt x="20357" y="235554"/>
                    </a:cubicBezTo>
                    <a:lnTo>
                      <a:pt x="358266" y="402406"/>
                    </a:lnTo>
                    <a:cubicBezTo>
                      <a:pt x="358266" y="402406"/>
                      <a:pt x="369483" y="406612"/>
                      <a:pt x="375091" y="406612"/>
                    </a:cubicBezTo>
                    <a:cubicBezTo>
                      <a:pt x="380700" y="406612"/>
                      <a:pt x="384906" y="406612"/>
                      <a:pt x="390514" y="403808"/>
                    </a:cubicBezTo>
                    <a:lnTo>
                      <a:pt x="677947" y="263597"/>
                    </a:lnTo>
                    <a:lnTo>
                      <a:pt x="677947" y="395395"/>
                    </a:lnTo>
                    <a:cubicBezTo>
                      <a:pt x="677947" y="415025"/>
                      <a:pt x="696174" y="430448"/>
                      <a:pt x="717206" y="430448"/>
                    </a:cubicBezTo>
                    <a:cubicBezTo>
                      <a:pt x="735433" y="430448"/>
                      <a:pt x="750857" y="415025"/>
                      <a:pt x="752259" y="395395"/>
                    </a:cubicBezTo>
                    <a:lnTo>
                      <a:pt x="752259" y="217327"/>
                    </a:lnTo>
                    <a:cubicBezTo>
                      <a:pt x="752259" y="217327"/>
                      <a:pt x="752259" y="217327"/>
                      <a:pt x="752259" y="217327"/>
                    </a:cubicBezTo>
                    <a:close/>
                    <a:moveTo>
                      <a:pt x="376493" y="328094"/>
                    </a:moveTo>
                    <a:lnTo>
                      <a:pt x="121309" y="203306"/>
                    </a:lnTo>
                    <a:lnTo>
                      <a:pt x="375091" y="78518"/>
                    </a:lnTo>
                    <a:lnTo>
                      <a:pt x="630275" y="213121"/>
                    </a:lnTo>
                    <a:lnTo>
                      <a:pt x="376493" y="329496"/>
                    </a:lnTo>
                    <a:close/>
                  </a:path>
                </a:pathLst>
              </a:custGeom>
              <a:grpFill/>
              <a:ln w="139065" cap="flat">
                <a:noFill/>
                <a:prstDash val="solid"/>
                <a:miter/>
              </a:ln>
            </p:spPr>
            <p:txBody>
              <a:bodyPr rtlCol="0" anchor="ctr"/>
              <a:lstStyle/>
              <a:p>
                <a:endParaRPr lang="zh-CN" altLang="en-US"/>
              </a:p>
            </p:txBody>
          </p:sp>
          <p:sp>
            <p:nvSpPr>
              <p:cNvPr id="5" name="任意多边形: 形状 4"/>
              <p:cNvSpPr/>
              <p:nvPr/>
            </p:nvSpPr>
            <p:spPr>
              <a:xfrm>
                <a:off x="4285220" y="2854203"/>
                <a:ext cx="475493" cy="172279"/>
              </a:xfrm>
              <a:custGeom>
                <a:avLst/>
                <a:gdLst>
                  <a:gd name="connsiteX0" fmla="*/ 425563 w 475493"/>
                  <a:gd name="connsiteY0" fmla="*/ 14892 h 172279"/>
                  <a:gd name="connsiteX1" fmla="*/ 422759 w 475493"/>
                  <a:gd name="connsiteY1" fmla="*/ 14892 h 172279"/>
                  <a:gd name="connsiteX2" fmla="*/ 419954 w 475493"/>
                  <a:gd name="connsiteY2" fmla="*/ 14892 h 172279"/>
                  <a:gd name="connsiteX3" fmla="*/ 419954 w 475493"/>
                  <a:gd name="connsiteY3" fmla="*/ 14892 h 172279"/>
                  <a:gd name="connsiteX4" fmla="*/ 240484 w 475493"/>
                  <a:gd name="connsiteY4" fmla="*/ 96215 h 172279"/>
                  <a:gd name="connsiteX5" fmla="*/ 49797 w 475493"/>
                  <a:gd name="connsiteY5" fmla="*/ 2274 h 172279"/>
                  <a:gd name="connsiteX6" fmla="*/ 2126 w 475493"/>
                  <a:gd name="connsiteY6" fmla="*/ 23305 h 172279"/>
                  <a:gd name="connsiteX7" fmla="*/ 17549 w 475493"/>
                  <a:gd name="connsiteY7" fmla="*/ 66771 h 172279"/>
                  <a:gd name="connsiteX8" fmla="*/ 223659 w 475493"/>
                  <a:gd name="connsiteY8" fmla="*/ 169125 h 172279"/>
                  <a:gd name="connsiteX9" fmla="*/ 254505 w 475493"/>
                  <a:gd name="connsiteY9" fmla="*/ 169125 h 172279"/>
                  <a:gd name="connsiteX10" fmla="*/ 450801 w 475493"/>
                  <a:gd name="connsiteY10" fmla="*/ 80792 h 172279"/>
                  <a:gd name="connsiteX11" fmla="*/ 473235 w 475493"/>
                  <a:gd name="connsiteY11" fmla="*/ 33120 h 172279"/>
                  <a:gd name="connsiteX12" fmla="*/ 425563 w 475493"/>
                  <a:gd name="connsiteY12" fmla="*/ 10686 h 172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75493" h="172279">
                    <a:moveTo>
                      <a:pt x="425563" y="14892"/>
                    </a:moveTo>
                    <a:cubicBezTo>
                      <a:pt x="425563" y="14892"/>
                      <a:pt x="424161" y="14892"/>
                      <a:pt x="422759" y="14892"/>
                    </a:cubicBezTo>
                    <a:lnTo>
                      <a:pt x="419954" y="14892"/>
                    </a:lnTo>
                    <a:cubicBezTo>
                      <a:pt x="419954" y="14892"/>
                      <a:pt x="419954" y="14892"/>
                      <a:pt x="419954" y="14892"/>
                    </a:cubicBezTo>
                    <a:lnTo>
                      <a:pt x="240484" y="96215"/>
                    </a:lnTo>
                    <a:lnTo>
                      <a:pt x="49797" y="2274"/>
                    </a:lnTo>
                    <a:cubicBezTo>
                      <a:pt x="30168" y="-4737"/>
                      <a:pt x="9136" y="5078"/>
                      <a:pt x="2126" y="23305"/>
                    </a:cubicBezTo>
                    <a:cubicBezTo>
                      <a:pt x="-3483" y="40130"/>
                      <a:pt x="2126" y="58358"/>
                      <a:pt x="17549" y="66771"/>
                    </a:cubicBezTo>
                    <a:lnTo>
                      <a:pt x="223659" y="169125"/>
                    </a:lnTo>
                    <a:cubicBezTo>
                      <a:pt x="233474" y="173331"/>
                      <a:pt x="244691" y="173331"/>
                      <a:pt x="254505" y="169125"/>
                    </a:cubicBezTo>
                    <a:lnTo>
                      <a:pt x="450801" y="80792"/>
                    </a:lnTo>
                    <a:cubicBezTo>
                      <a:pt x="470430" y="73781"/>
                      <a:pt x="480245" y="52749"/>
                      <a:pt x="473235" y="33120"/>
                    </a:cubicBezTo>
                    <a:cubicBezTo>
                      <a:pt x="466224" y="13490"/>
                      <a:pt x="445192" y="3676"/>
                      <a:pt x="425563" y="10686"/>
                    </a:cubicBezTo>
                    <a:close/>
                  </a:path>
                </a:pathLst>
              </a:custGeom>
              <a:grpFill/>
              <a:ln w="139065" cap="flat">
                <a:noFill/>
                <a:prstDash val="solid"/>
                <a:miter/>
              </a:ln>
            </p:spPr>
            <p:txBody>
              <a:bodyPr rtlCol="0" anchor="ctr"/>
              <a:lstStyle/>
              <a:p>
                <a:endParaRPr lang="zh-CN" altLang="en-US"/>
              </a:p>
            </p:txBody>
          </p:sp>
        </p:grpSp>
        <p:sp>
          <p:nvSpPr>
            <p:cNvPr id="40" name="文本框 39"/>
            <p:cNvSpPr txBox="1"/>
            <p:nvPr/>
          </p:nvSpPr>
          <p:spPr>
            <a:xfrm>
              <a:off x="4964296" y="2405731"/>
              <a:ext cx="7733665" cy="49212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pPr algn="l">
                <a:defRPr sz="2400" b="1">
                  <a:solidFill>
                    <a:srgbClr val="FFFFFF"/>
                  </a:solidFill>
                  <a:latin typeface="微软雅黑"/>
                </a:defRPr>
              </a:pPr>
              <a:r>
                <a:rPr sz="3200">
                  <a:solidFill>
                    <a:schemeClr val="tx1"/>
                  </a:solidFill>
                </a:rPr>
                <a:t>面向编码智能体的语义化代码检索方法研究</a:t>
              </a:r>
              <a:endParaRPr lang="zh-CN" altLang="en-US" sz="3200" b="1" dirty="0">
                <a:solidFill>
                  <a:schemeClr val="tx1"/>
                </a:solidFill>
                <a:sym typeface="Arial" panose="020B0604020202020204" pitchFamily="34" charset="0"/>
              </a:endParaRPr>
            </a:p>
          </p:txBody>
        </p:sp>
      </p:grpSp>
      <p:sp>
        <p:nvSpPr>
          <p:cNvPr id="7" name="图形 46"/>
          <p:cNvSpPr/>
          <p:nvPr/>
        </p:nvSpPr>
        <p:spPr>
          <a:xfrm>
            <a:off x="4100899" y="4640647"/>
            <a:ext cx="206755" cy="234587"/>
          </a:xfrm>
          <a:custGeom>
            <a:avLst/>
            <a:gdLst>
              <a:gd name="connsiteX0" fmla="*/ 149765 w 206755"/>
              <a:gd name="connsiteY0" fmla="*/ 129885 h 234587"/>
              <a:gd name="connsiteX1" fmla="*/ 177598 w 206755"/>
              <a:gd name="connsiteY1" fmla="*/ 72895 h 234587"/>
              <a:gd name="connsiteX2" fmla="*/ 104703 w 206755"/>
              <a:gd name="connsiteY2" fmla="*/ 0 h 234587"/>
              <a:gd name="connsiteX3" fmla="*/ 30483 w 206755"/>
              <a:gd name="connsiteY3" fmla="*/ 71569 h 234587"/>
              <a:gd name="connsiteX4" fmla="*/ 58316 w 206755"/>
              <a:gd name="connsiteY4" fmla="*/ 128559 h 234587"/>
              <a:gd name="connsiteX5" fmla="*/ 0 w 206755"/>
              <a:gd name="connsiteY5" fmla="*/ 221334 h 234587"/>
              <a:gd name="connsiteX6" fmla="*/ 13254 w 206755"/>
              <a:gd name="connsiteY6" fmla="*/ 234588 h 234587"/>
              <a:gd name="connsiteX7" fmla="*/ 26507 w 206755"/>
              <a:gd name="connsiteY7" fmla="*/ 221334 h 234587"/>
              <a:gd name="connsiteX8" fmla="*/ 103378 w 206755"/>
              <a:gd name="connsiteY8" fmla="*/ 144464 h 234587"/>
              <a:gd name="connsiteX9" fmla="*/ 180248 w 206755"/>
              <a:gd name="connsiteY9" fmla="*/ 221334 h 234587"/>
              <a:gd name="connsiteX10" fmla="*/ 193502 w 206755"/>
              <a:gd name="connsiteY10" fmla="*/ 234588 h 234587"/>
              <a:gd name="connsiteX11" fmla="*/ 206755 w 206755"/>
              <a:gd name="connsiteY11" fmla="*/ 221334 h 234587"/>
              <a:gd name="connsiteX12" fmla="*/ 148440 w 206755"/>
              <a:gd name="connsiteY12" fmla="*/ 128559 h 234587"/>
              <a:gd name="connsiteX13" fmla="*/ 103378 w 206755"/>
              <a:gd name="connsiteY13" fmla="*/ 25182 h 234587"/>
              <a:gd name="connsiteX14" fmla="*/ 149765 w 206755"/>
              <a:gd name="connsiteY14" fmla="*/ 71569 h 234587"/>
              <a:gd name="connsiteX15" fmla="*/ 103378 w 206755"/>
              <a:gd name="connsiteY15" fmla="*/ 117957 h 234587"/>
              <a:gd name="connsiteX16" fmla="*/ 56990 w 206755"/>
              <a:gd name="connsiteY16" fmla="*/ 71569 h 234587"/>
              <a:gd name="connsiteX17" fmla="*/ 103378 w 206755"/>
              <a:gd name="connsiteY17" fmla="*/ 25182 h 234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755" h="234587">
                <a:moveTo>
                  <a:pt x="149765" y="129885"/>
                </a:moveTo>
                <a:cubicBezTo>
                  <a:pt x="166995" y="116631"/>
                  <a:pt x="177598" y="95426"/>
                  <a:pt x="177598" y="72895"/>
                </a:cubicBezTo>
                <a:cubicBezTo>
                  <a:pt x="177598" y="31809"/>
                  <a:pt x="144464" y="0"/>
                  <a:pt x="104703" y="0"/>
                </a:cubicBezTo>
                <a:cubicBezTo>
                  <a:pt x="64942" y="0"/>
                  <a:pt x="30483" y="31809"/>
                  <a:pt x="30483" y="71569"/>
                </a:cubicBezTo>
                <a:cubicBezTo>
                  <a:pt x="30483" y="95426"/>
                  <a:pt x="41086" y="115306"/>
                  <a:pt x="58316" y="128559"/>
                </a:cubicBezTo>
                <a:cubicBezTo>
                  <a:pt x="23856" y="145789"/>
                  <a:pt x="0" y="180248"/>
                  <a:pt x="0" y="221334"/>
                </a:cubicBezTo>
                <a:cubicBezTo>
                  <a:pt x="0" y="229286"/>
                  <a:pt x="6627" y="234588"/>
                  <a:pt x="13254" y="234588"/>
                </a:cubicBezTo>
                <a:cubicBezTo>
                  <a:pt x="19880" y="234588"/>
                  <a:pt x="26507" y="227961"/>
                  <a:pt x="26507" y="221334"/>
                </a:cubicBezTo>
                <a:cubicBezTo>
                  <a:pt x="26507" y="178923"/>
                  <a:pt x="60966" y="144464"/>
                  <a:pt x="103378" y="144464"/>
                </a:cubicBezTo>
                <a:cubicBezTo>
                  <a:pt x="145789" y="144464"/>
                  <a:pt x="180248" y="178923"/>
                  <a:pt x="180248" y="221334"/>
                </a:cubicBezTo>
                <a:cubicBezTo>
                  <a:pt x="180248" y="229286"/>
                  <a:pt x="186875" y="234588"/>
                  <a:pt x="193502" y="234588"/>
                </a:cubicBezTo>
                <a:cubicBezTo>
                  <a:pt x="200129" y="234588"/>
                  <a:pt x="206755" y="227961"/>
                  <a:pt x="206755" y="221334"/>
                </a:cubicBezTo>
                <a:cubicBezTo>
                  <a:pt x="206755" y="180248"/>
                  <a:pt x="182899" y="145789"/>
                  <a:pt x="148440" y="128559"/>
                </a:cubicBezTo>
                <a:close/>
                <a:moveTo>
                  <a:pt x="103378" y="25182"/>
                </a:moveTo>
                <a:cubicBezTo>
                  <a:pt x="128559" y="25182"/>
                  <a:pt x="149765" y="46387"/>
                  <a:pt x="149765" y="71569"/>
                </a:cubicBezTo>
                <a:cubicBezTo>
                  <a:pt x="149765" y="96751"/>
                  <a:pt x="128559" y="117957"/>
                  <a:pt x="103378" y="117957"/>
                </a:cubicBezTo>
                <a:cubicBezTo>
                  <a:pt x="78196" y="117957"/>
                  <a:pt x="56990" y="96751"/>
                  <a:pt x="56990" y="71569"/>
                </a:cubicBezTo>
                <a:cubicBezTo>
                  <a:pt x="56990" y="46387"/>
                  <a:pt x="78196" y="25182"/>
                  <a:pt x="103378" y="25182"/>
                </a:cubicBezTo>
                <a:close/>
              </a:path>
            </a:pathLst>
          </a:custGeom>
          <a:solidFill>
            <a:schemeClr val="tx1">
              <a:lumMod val="75000"/>
              <a:lumOff val="25000"/>
            </a:schemeClr>
          </a:solidFill>
          <a:ln w="128588" cap="flat">
            <a:noFill/>
            <a:prstDash val="solid"/>
            <a:miter/>
          </a:ln>
        </p:spPr>
        <p:txBody>
          <a:bodyPr rtlCol="0" anchor="ctr"/>
          <a:lstStyle/>
          <a:p>
            <a:endParaRPr lang="zh-CN" altLang="en-US"/>
          </a:p>
        </p:txBody>
      </p:sp>
      <p:grpSp>
        <p:nvGrpSpPr>
          <p:cNvPr id="12" name="组合 11"/>
          <p:cNvGrpSpPr/>
          <p:nvPr/>
        </p:nvGrpSpPr>
        <p:grpSpPr>
          <a:xfrm>
            <a:off x="6143603" y="4601132"/>
            <a:ext cx="317636" cy="269002"/>
            <a:chOff x="6143603" y="4601132"/>
            <a:chExt cx="317636" cy="269002"/>
          </a:xfrm>
          <a:solidFill>
            <a:schemeClr val="tx1">
              <a:lumMod val="75000"/>
              <a:lumOff val="25000"/>
            </a:schemeClr>
          </a:solidFill>
        </p:grpSpPr>
        <p:sp>
          <p:nvSpPr>
            <p:cNvPr id="9" name="任意多边形: 形状 8"/>
            <p:cNvSpPr/>
            <p:nvPr/>
          </p:nvSpPr>
          <p:spPr>
            <a:xfrm>
              <a:off x="6224152" y="4601132"/>
              <a:ext cx="237087" cy="269002"/>
            </a:xfrm>
            <a:custGeom>
              <a:avLst/>
              <a:gdLst>
                <a:gd name="connsiteX0" fmla="*/ 171736 w 237087"/>
                <a:gd name="connsiteY0" fmla="*/ 148939 h 269002"/>
                <a:gd name="connsiteX1" fmla="*/ 203652 w 237087"/>
                <a:gd name="connsiteY1" fmla="*/ 83588 h 269002"/>
                <a:gd name="connsiteX2" fmla="*/ 120063 w 237087"/>
                <a:gd name="connsiteY2" fmla="*/ 0 h 269002"/>
                <a:gd name="connsiteX3" fmla="*/ 34955 w 237087"/>
                <a:gd name="connsiteY3" fmla="*/ 82069 h 269002"/>
                <a:gd name="connsiteX4" fmla="*/ 66871 w 237087"/>
                <a:gd name="connsiteY4" fmla="*/ 147420 h 269002"/>
                <a:gd name="connsiteX5" fmla="*/ 0 w 237087"/>
                <a:gd name="connsiteY5" fmla="*/ 253805 h 269002"/>
                <a:gd name="connsiteX6" fmla="*/ 15198 w 237087"/>
                <a:gd name="connsiteY6" fmla="*/ 269003 h 269002"/>
                <a:gd name="connsiteX7" fmla="*/ 30396 w 237087"/>
                <a:gd name="connsiteY7" fmla="*/ 253805 h 269002"/>
                <a:gd name="connsiteX8" fmla="*/ 118544 w 237087"/>
                <a:gd name="connsiteY8" fmla="*/ 165657 h 269002"/>
                <a:gd name="connsiteX9" fmla="*/ 206691 w 237087"/>
                <a:gd name="connsiteY9" fmla="*/ 253805 h 269002"/>
                <a:gd name="connsiteX10" fmla="*/ 221889 w 237087"/>
                <a:gd name="connsiteY10" fmla="*/ 269003 h 269002"/>
                <a:gd name="connsiteX11" fmla="*/ 237087 w 237087"/>
                <a:gd name="connsiteY11" fmla="*/ 253805 h 269002"/>
                <a:gd name="connsiteX12" fmla="*/ 170216 w 237087"/>
                <a:gd name="connsiteY12" fmla="*/ 147420 h 269002"/>
                <a:gd name="connsiteX13" fmla="*/ 120063 w 237087"/>
                <a:gd name="connsiteY13" fmla="*/ 136781 h 269002"/>
                <a:gd name="connsiteX14" fmla="*/ 66871 w 237087"/>
                <a:gd name="connsiteY14" fmla="*/ 83588 h 269002"/>
                <a:gd name="connsiteX15" fmla="*/ 120063 w 237087"/>
                <a:gd name="connsiteY15" fmla="*/ 30396 h 269002"/>
                <a:gd name="connsiteX16" fmla="*/ 173256 w 237087"/>
                <a:gd name="connsiteY16" fmla="*/ 83588 h 269002"/>
                <a:gd name="connsiteX17" fmla="*/ 120063 w 237087"/>
                <a:gd name="connsiteY17" fmla="*/ 136781 h 269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37087" h="269002">
                  <a:moveTo>
                    <a:pt x="171736" y="148939"/>
                  </a:moveTo>
                  <a:cubicBezTo>
                    <a:pt x="191494" y="133742"/>
                    <a:pt x="203652" y="109425"/>
                    <a:pt x="203652" y="83588"/>
                  </a:cubicBezTo>
                  <a:cubicBezTo>
                    <a:pt x="203652" y="36475"/>
                    <a:pt x="165657" y="0"/>
                    <a:pt x="120063" y="0"/>
                  </a:cubicBezTo>
                  <a:cubicBezTo>
                    <a:pt x="74470" y="0"/>
                    <a:pt x="34955" y="36475"/>
                    <a:pt x="34955" y="82069"/>
                  </a:cubicBezTo>
                  <a:cubicBezTo>
                    <a:pt x="34955" y="109425"/>
                    <a:pt x="47113" y="132222"/>
                    <a:pt x="66871" y="147420"/>
                  </a:cubicBezTo>
                  <a:cubicBezTo>
                    <a:pt x="27356" y="167177"/>
                    <a:pt x="0" y="206691"/>
                    <a:pt x="0" y="253805"/>
                  </a:cubicBezTo>
                  <a:cubicBezTo>
                    <a:pt x="0" y="262924"/>
                    <a:pt x="7599" y="269003"/>
                    <a:pt x="15198" y="269003"/>
                  </a:cubicBezTo>
                  <a:cubicBezTo>
                    <a:pt x="22797" y="269003"/>
                    <a:pt x="30396" y="261404"/>
                    <a:pt x="30396" y="253805"/>
                  </a:cubicBezTo>
                  <a:cubicBezTo>
                    <a:pt x="30396" y="205172"/>
                    <a:pt x="69910" y="165657"/>
                    <a:pt x="118544" y="165657"/>
                  </a:cubicBezTo>
                  <a:cubicBezTo>
                    <a:pt x="167177" y="165657"/>
                    <a:pt x="206691" y="205172"/>
                    <a:pt x="206691" y="253805"/>
                  </a:cubicBezTo>
                  <a:cubicBezTo>
                    <a:pt x="206691" y="262924"/>
                    <a:pt x="214290" y="269003"/>
                    <a:pt x="221889" y="269003"/>
                  </a:cubicBezTo>
                  <a:cubicBezTo>
                    <a:pt x="229488" y="269003"/>
                    <a:pt x="237087" y="261404"/>
                    <a:pt x="237087" y="253805"/>
                  </a:cubicBezTo>
                  <a:cubicBezTo>
                    <a:pt x="237087" y="206691"/>
                    <a:pt x="209731" y="167177"/>
                    <a:pt x="170216" y="147420"/>
                  </a:cubicBezTo>
                  <a:close/>
                  <a:moveTo>
                    <a:pt x="120063" y="136781"/>
                  </a:moveTo>
                  <a:cubicBezTo>
                    <a:pt x="91187" y="136781"/>
                    <a:pt x="66871" y="112464"/>
                    <a:pt x="66871" y="83588"/>
                  </a:cubicBezTo>
                  <a:cubicBezTo>
                    <a:pt x="66871" y="54712"/>
                    <a:pt x="91187" y="30396"/>
                    <a:pt x="120063" y="30396"/>
                  </a:cubicBezTo>
                  <a:cubicBezTo>
                    <a:pt x="148939" y="30396"/>
                    <a:pt x="173256" y="54712"/>
                    <a:pt x="173256" y="83588"/>
                  </a:cubicBezTo>
                  <a:cubicBezTo>
                    <a:pt x="173256" y="112464"/>
                    <a:pt x="148939" y="136781"/>
                    <a:pt x="120063" y="136781"/>
                  </a:cubicBezTo>
                  <a:close/>
                </a:path>
              </a:pathLst>
            </a:custGeom>
            <a:grpFill/>
            <a:ln w="147638" cap="flat">
              <a:noFill/>
              <a:prstDash val="solid"/>
              <a:miter/>
            </a:ln>
          </p:spPr>
          <p:txBody>
            <a:bodyPr rtlCol="0" anchor="ctr"/>
            <a:lstStyle/>
            <a:p>
              <a:endParaRPr lang="zh-CN" altLang="en-US"/>
            </a:p>
          </p:txBody>
        </p:sp>
        <p:sp>
          <p:nvSpPr>
            <p:cNvPr id="10" name="任意多边形: 形状 9"/>
            <p:cNvSpPr/>
            <p:nvPr/>
          </p:nvSpPr>
          <p:spPr>
            <a:xfrm>
              <a:off x="6143603" y="4640647"/>
              <a:ext cx="106385" cy="194533"/>
            </a:xfrm>
            <a:custGeom>
              <a:avLst/>
              <a:gdLst>
                <a:gd name="connsiteX0" fmla="*/ 97267 w 106385"/>
                <a:gd name="connsiteY0" fmla="*/ 113984 h 194533"/>
                <a:gd name="connsiteX1" fmla="*/ 97267 w 106385"/>
                <a:gd name="connsiteY1" fmla="*/ 107905 h 194533"/>
                <a:gd name="connsiteX2" fmla="*/ 82069 w 106385"/>
                <a:gd name="connsiteY2" fmla="*/ 92707 h 194533"/>
                <a:gd name="connsiteX3" fmla="*/ 51673 w 106385"/>
                <a:gd name="connsiteY3" fmla="*/ 62311 h 194533"/>
                <a:gd name="connsiteX4" fmla="*/ 82069 w 106385"/>
                <a:gd name="connsiteY4" fmla="*/ 31916 h 194533"/>
                <a:gd name="connsiteX5" fmla="*/ 92707 w 106385"/>
                <a:gd name="connsiteY5" fmla="*/ 33435 h 194533"/>
                <a:gd name="connsiteX6" fmla="*/ 98786 w 106385"/>
                <a:gd name="connsiteY6" fmla="*/ 33435 h 194533"/>
                <a:gd name="connsiteX7" fmla="*/ 106385 w 106385"/>
                <a:gd name="connsiteY7" fmla="*/ 4559 h 194533"/>
                <a:gd name="connsiteX8" fmla="*/ 103346 w 106385"/>
                <a:gd name="connsiteY8" fmla="*/ 3040 h 194533"/>
                <a:gd name="connsiteX9" fmla="*/ 83588 w 106385"/>
                <a:gd name="connsiteY9" fmla="*/ 0 h 194533"/>
                <a:gd name="connsiteX10" fmla="*/ 22797 w 106385"/>
                <a:gd name="connsiteY10" fmla="*/ 62311 h 194533"/>
                <a:gd name="connsiteX11" fmla="*/ 41034 w 106385"/>
                <a:gd name="connsiteY11" fmla="*/ 106385 h 194533"/>
                <a:gd name="connsiteX12" fmla="*/ 0 w 106385"/>
                <a:gd name="connsiteY12" fmla="*/ 179335 h 194533"/>
                <a:gd name="connsiteX13" fmla="*/ 15198 w 106385"/>
                <a:gd name="connsiteY13" fmla="*/ 194533 h 194533"/>
                <a:gd name="connsiteX14" fmla="*/ 30396 w 106385"/>
                <a:gd name="connsiteY14" fmla="*/ 179335 h 194533"/>
                <a:gd name="connsiteX15" fmla="*/ 85108 w 106385"/>
                <a:gd name="connsiteY15" fmla="*/ 124623 h 194533"/>
                <a:gd name="connsiteX16" fmla="*/ 98786 w 106385"/>
                <a:gd name="connsiteY16" fmla="*/ 115504 h 19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6385" h="194533">
                  <a:moveTo>
                    <a:pt x="97267" y="113984"/>
                  </a:moveTo>
                  <a:cubicBezTo>
                    <a:pt x="97267" y="113984"/>
                    <a:pt x="97267" y="109425"/>
                    <a:pt x="97267" y="107905"/>
                  </a:cubicBezTo>
                  <a:cubicBezTo>
                    <a:pt x="97267" y="98786"/>
                    <a:pt x="89668" y="92707"/>
                    <a:pt x="82069" y="92707"/>
                  </a:cubicBezTo>
                  <a:cubicBezTo>
                    <a:pt x="65351" y="92707"/>
                    <a:pt x="51673" y="79029"/>
                    <a:pt x="51673" y="62311"/>
                  </a:cubicBezTo>
                  <a:cubicBezTo>
                    <a:pt x="51673" y="45594"/>
                    <a:pt x="65351" y="31916"/>
                    <a:pt x="82069" y="31916"/>
                  </a:cubicBezTo>
                  <a:cubicBezTo>
                    <a:pt x="85108" y="31916"/>
                    <a:pt x="88148" y="31916"/>
                    <a:pt x="92707" y="33435"/>
                  </a:cubicBezTo>
                  <a:cubicBezTo>
                    <a:pt x="94227" y="33435"/>
                    <a:pt x="97267" y="33435"/>
                    <a:pt x="98786" y="33435"/>
                  </a:cubicBezTo>
                  <a:cubicBezTo>
                    <a:pt x="98786" y="22797"/>
                    <a:pt x="101826" y="13678"/>
                    <a:pt x="106385" y="4559"/>
                  </a:cubicBezTo>
                  <a:cubicBezTo>
                    <a:pt x="106385" y="4559"/>
                    <a:pt x="104866" y="4559"/>
                    <a:pt x="103346" y="3040"/>
                  </a:cubicBezTo>
                  <a:cubicBezTo>
                    <a:pt x="97267" y="0"/>
                    <a:pt x="89668" y="0"/>
                    <a:pt x="83588" y="0"/>
                  </a:cubicBezTo>
                  <a:cubicBezTo>
                    <a:pt x="50153" y="0"/>
                    <a:pt x="22797" y="27356"/>
                    <a:pt x="22797" y="62311"/>
                  </a:cubicBezTo>
                  <a:cubicBezTo>
                    <a:pt x="22797" y="79029"/>
                    <a:pt x="30396" y="94227"/>
                    <a:pt x="41034" y="106385"/>
                  </a:cubicBezTo>
                  <a:cubicBezTo>
                    <a:pt x="16718" y="121583"/>
                    <a:pt x="0" y="148939"/>
                    <a:pt x="0" y="179335"/>
                  </a:cubicBezTo>
                  <a:cubicBezTo>
                    <a:pt x="0" y="188454"/>
                    <a:pt x="7599" y="194533"/>
                    <a:pt x="15198" y="194533"/>
                  </a:cubicBezTo>
                  <a:cubicBezTo>
                    <a:pt x="22797" y="194533"/>
                    <a:pt x="30396" y="186934"/>
                    <a:pt x="30396" y="179335"/>
                  </a:cubicBezTo>
                  <a:cubicBezTo>
                    <a:pt x="30396" y="148939"/>
                    <a:pt x="54712" y="124623"/>
                    <a:pt x="85108" y="124623"/>
                  </a:cubicBezTo>
                  <a:cubicBezTo>
                    <a:pt x="91187" y="124623"/>
                    <a:pt x="97267" y="120063"/>
                    <a:pt x="98786" y="115504"/>
                  </a:cubicBezTo>
                  <a:close/>
                </a:path>
              </a:pathLst>
            </a:custGeom>
            <a:grpFill/>
            <a:ln w="147638" cap="flat">
              <a:noFill/>
              <a:prstDash val="solid"/>
              <a:miter/>
            </a:ln>
          </p:spPr>
          <p:txBody>
            <a:bodyPr rtlCol="0" anchor="ctr"/>
            <a:lstStyle/>
            <a:p>
              <a:endParaRPr lang="zh-CN" altLang="en-US"/>
            </a:p>
          </p:txBody>
        </p:sp>
      </p:grpSp>
      <p:sp>
        <p:nvSpPr>
          <p:cNvPr id="51" name="文本框 50"/>
          <p:cNvSpPr txBox="1"/>
          <p:nvPr/>
        </p:nvSpPr>
        <p:spPr>
          <a:xfrm>
            <a:off x="4390608" y="4657283"/>
            <a:ext cx="1066800" cy="184150"/>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pPr>
              <a:defRPr sz="1000" b="0">
                <a:solidFill>
                  <a:srgbClr val="213448"/>
                </a:solidFill>
                <a:latin typeface="微软雅黑"/>
              </a:defRPr>
            </a:pPr>
            <a:r>
              <a:rPr sz="1200"/>
              <a:t>汇报人：黄卓谌</a:t>
            </a:r>
            <a:endParaRPr lang="zh-CN" altLang="en-US" sz="1200" b="1" dirty="0">
              <a:solidFill>
                <a:schemeClr val="tx1">
                  <a:lumMod val="75000"/>
                  <a:lumOff val="25000"/>
                </a:schemeClr>
              </a:solidFill>
              <a:sym typeface="Arial" panose="020B0604020202020204" pitchFamily="34" charset="0"/>
            </a:endParaRPr>
          </a:p>
        </p:txBody>
      </p:sp>
      <p:sp>
        <p:nvSpPr>
          <p:cNvPr id="53" name="文本框 52"/>
          <p:cNvSpPr txBox="1"/>
          <p:nvPr/>
        </p:nvSpPr>
        <p:spPr>
          <a:xfrm>
            <a:off x="6547980" y="4657283"/>
            <a:ext cx="1066800" cy="184150"/>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pPr>
              <a:defRPr sz="1000" b="0">
                <a:solidFill>
                  <a:srgbClr val="213448"/>
                </a:solidFill>
                <a:latin typeface="微软雅黑"/>
              </a:defRPr>
            </a:pPr>
            <a:r>
              <a:rPr sz="1200"/>
              <a:t>指导老师：彭鑫</a:t>
            </a:r>
            <a:endParaRPr lang="zh-CN" altLang="en-US" sz="1200" b="1" dirty="0">
              <a:solidFill>
                <a:schemeClr val="tx1">
                  <a:lumMod val="75000"/>
                  <a:lumOff val="25000"/>
                </a:schemeClr>
              </a:solidFill>
              <a:sym typeface="Arial" panose="020B0604020202020204" pitchFamily="34" charset="0"/>
            </a:endParaRPr>
          </a:p>
        </p:txBody>
      </p:sp>
      <p:pic>
        <p:nvPicPr>
          <p:cNvPr id="2" name="logo"/>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67562" y="740438"/>
            <a:ext cx="1256876" cy="1256876"/>
          </a:xfrm>
          <a:prstGeom prst="rect">
            <a:avLst/>
          </a:prstGeom>
        </p:spPr>
      </p:pic>
      <p:sp>
        <p:nvSpPr>
          <p:cNvPr id="8" name="矩形 7"/>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a:t>
            </a:r>
            <a:endParaRPr kumimoji="1" lang="en-US" altLang="zh-CN">
              <a:solidFill>
                <a:schemeClr val="tx1">
                  <a:lumMod val="50000"/>
                  <a:lumOff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nvSpPr>
        <p:spPr>
          <a:xfrm>
            <a:off x="2569406" y="1592187"/>
            <a:ext cx="1133966" cy="578882"/>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rIns="180000" rtlCol="0" anchor="ctr">
            <a:spAutoFit/>
          </a:bodyPr>
          <a:lstStyle/>
          <a:p>
            <a:pPr algn="ctr"/>
            <a:r>
              <a:rPr lang="zh-CN" altLang="en-US" sz="2800" dirty="0">
                <a:latin typeface="微软雅黑" panose="020B0503020204020204" pitchFamily="34" charset="-122"/>
                <a:ea typeface="微软雅黑" panose="020B0503020204020204" pitchFamily="34" charset="-122"/>
              </a:rPr>
              <a:t>目录</a:t>
            </a:r>
            <a:endParaRPr lang="zh-CN" altLang="en-US" sz="2800" dirty="0">
              <a:latin typeface="微软雅黑" panose="020B0503020204020204" pitchFamily="34" charset="-122"/>
              <a:ea typeface="微软雅黑" panose="020B0503020204020204" pitchFamily="34" charset="-122"/>
            </a:endParaRPr>
          </a:p>
        </p:txBody>
      </p:sp>
      <p:sp>
        <p:nvSpPr>
          <p:cNvPr id="3" name="文本框 2"/>
          <p:cNvSpPr txBox="1"/>
          <p:nvPr/>
        </p:nvSpPr>
        <p:spPr>
          <a:xfrm>
            <a:off x="3808729" y="1573852"/>
            <a:ext cx="2818079" cy="615553"/>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r>
              <a:rPr lang="en-US" altLang="zh-CN" b="1" dirty="0">
                <a:solidFill>
                  <a:schemeClr val="accent1"/>
                </a:solidFill>
                <a:sym typeface="Arial" panose="020B0604020202020204" pitchFamily="34" charset="0"/>
              </a:rPr>
              <a:t>CONTENTS</a:t>
            </a:r>
            <a:endParaRPr lang="zh-CN" altLang="en-US" b="1" dirty="0">
              <a:solidFill>
                <a:schemeClr val="accent1"/>
              </a:solidFill>
              <a:sym typeface="Arial" panose="020B0604020202020204" pitchFamily="34" charset="0"/>
            </a:endParaRPr>
          </a:p>
        </p:txBody>
      </p:sp>
      <p:sp>
        <p:nvSpPr>
          <p:cNvPr id="5" name="文本框 4"/>
          <p:cNvSpPr txBox="1"/>
          <p:nvPr/>
        </p:nvSpPr>
        <p:spPr>
          <a:xfrm>
            <a:off x="3427095" y="2472055"/>
            <a:ext cx="3024505" cy="321945"/>
          </a:xfrm>
          <a:prstGeom prst="rect">
            <a:avLst/>
          </a:prstGeom>
          <a:noFill/>
        </p:spPr>
        <p:txBody>
          <a:bodyPr wrap="square" rtlCol="0">
            <a:spAutoFit/>
          </a:bodyPr>
          <a:lstStyle/>
          <a:p>
            <a:pPr marL="0" indent="0" algn="l">
              <a:lnSpc>
                <a:spcPts val="1800"/>
              </a:lnSpc>
              <a:buNone/>
              <a:defRPr sz="1600" b="0">
                <a:solidFill>
                  <a:srgbClr val="213448"/>
                </a:solidFill>
                <a:latin typeface="微软雅黑"/>
              </a:defRPr>
            </a:pPr>
            <a:r>
              <a:t>研究背景与问题定义</a:t>
            </a:r>
            <a:endParaRPr lang="zh-CN" altLang="en-US" sz="2400" b="1" dirty="0" err="1">
              <a:solidFill>
                <a:srgbClr val="333333"/>
              </a:solidFill>
              <a:latin typeface="微软雅黑" panose="020B0503020204020204" pitchFamily="34" charset="-122"/>
              <a:ea typeface="微软雅黑" panose="020B0503020204020204" pitchFamily="34" charset="-122"/>
              <a:cs typeface="ui-sans-serif" pitchFamily="34" charset="-120"/>
              <a:sym typeface="+mn-ea"/>
            </a:endParaRPr>
          </a:p>
        </p:txBody>
      </p:sp>
      <p:sp>
        <p:nvSpPr>
          <p:cNvPr id="6" name="矩形: 圆角 5"/>
          <p:cNvSpPr/>
          <p:nvPr/>
        </p:nvSpPr>
        <p:spPr>
          <a:xfrm>
            <a:off x="2936137" y="2397968"/>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1</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7" name="矩形: 圆角 6"/>
          <p:cNvSpPr/>
          <p:nvPr/>
        </p:nvSpPr>
        <p:spPr>
          <a:xfrm>
            <a:off x="2936137" y="2934267"/>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2</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8" name="矩形: 圆角 7"/>
          <p:cNvSpPr/>
          <p:nvPr/>
        </p:nvSpPr>
        <p:spPr>
          <a:xfrm>
            <a:off x="2936137" y="4006865"/>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4</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9" name="矩形: 圆角 8"/>
          <p:cNvSpPr/>
          <p:nvPr/>
        </p:nvSpPr>
        <p:spPr>
          <a:xfrm>
            <a:off x="2936137" y="3470566"/>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3</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10" name="矩形: 圆角 9"/>
          <p:cNvSpPr/>
          <p:nvPr/>
        </p:nvSpPr>
        <p:spPr>
          <a:xfrm>
            <a:off x="2936137" y="4543041"/>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5</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12" name="文本框 11"/>
          <p:cNvSpPr txBox="1"/>
          <p:nvPr/>
        </p:nvSpPr>
        <p:spPr>
          <a:xfrm>
            <a:off x="3427095" y="2888615"/>
            <a:ext cx="3114675" cy="829945"/>
          </a:xfrm>
          <a:prstGeom prst="rect">
            <a:avLst/>
          </a:prstGeom>
          <a:noFill/>
        </p:spPr>
        <p:txBody>
          <a:bodyPr wrap="square" rtlCol="0">
            <a:spAutoFit/>
          </a:bodyPr>
          <a:lstStyle/>
          <a:p>
            <a:pPr algn="l">
              <a:defRPr sz="1600" b="0">
                <a:solidFill>
                  <a:srgbClr val="213448"/>
                </a:solidFill>
                <a:latin typeface="微软雅黑"/>
              </a:defRPr>
            </a:pPr>
            <a:r>
              <a:t>研究内容与目标</a:t>
            </a:r>
            <a:endParaRPr lang="en-US" sz="2400" b="1" dirty="0">
              <a:solidFill>
                <a:srgbClr val="333333"/>
              </a:solidFill>
              <a:latin typeface="微软雅黑" panose="020B0503020204020204" pitchFamily="34" charset="-122"/>
              <a:ea typeface="微软雅黑" panose="020B0503020204020204" pitchFamily="34" charset="-122"/>
            </a:endParaRPr>
          </a:p>
        </p:txBody>
      </p:sp>
      <p:sp>
        <p:nvSpPr>
          <p:cNvPr id="13" name="文本框 12"/>
          <p:cNvSpPr txBox="1"/>
          <p:nvPr/>
        </p:nvSpPr>
        <p:spPr>
          <a:xfrm>
            <a:off x="3427177" y="3423785"/>
            <a:ext cx="2320925" cy="460375"/>
          </a:xfrm>
          <a:prstGeom prst="rect">
            <a:avLst/>
          </a:prstGeom>
          <a:noFill/>
        </p:spPr>
        <p:txBody>
          <a:bodyPr wrap="none" rtlCol="0">
            <a:spAutoFit/>
          </a:bodyPr>
          <a:lstStyle/>
          <a:p>
            <a:pPr>
              <a:defRPr sz="1600" b="0">
                <a:solidFill>
                  <a:srgbClr val="213448"/>
                </a:solidFill>
                <a:latin typeface="微软雅黑"/>
              </a:defRPr>
            </a:pPr>
            <a:r>
              <a:t>技术路线与系统方法</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4" name="文本框 13"/>
          <p:cNvSpPr txBox="1"/>
          <p:nvPr/>
        </p:nvSpPr>
        <p:spPr>
          <a:xfrm>
            <a:off x="3427177" y="4494188"/>
            <a:ext cx="2320925" cy="460375"/>
          </a:xfrm>
          <a:prstGeom prst="rect">
            <a:avLst/>
          </a:prstGeom>
          <a:noFill/>
        </p:spPr>
        <p:txBody>
          <a:bodyPr wrap="none" rtlCol="0">
            <a:spAutoFit/>
          </a:bodyPr>
          <a:lstStyle/>
          <a:p>
            <a:pPr>
              <a:defRPr sz="1600" b="0">
                <a:solidFill>
                  <a:srgbClr val="213448"/>
                </a:solidFill>
                <a:latin typeface="微软雅黑"/>
              </a:defRPr>
            </a:pPr>
            <a:r>
              <a:t>阶段成果与实验进展</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5" name="文本框 14"/>
          <p:cNvSpPr txBox="1"/>
          <p:nvPr/>
        </p:nvSpPr>
        <p:spPr>
          <a:xfrm>
            <a:off x="3427177" y="3958986"/>
            <a:ext cx="1404620" cy="460375"/>
          </a:xfrm>
          <a:prstGeom prst="rect">
            <a:avLst/>
          </a:prstGeom>
          <a:noFill/>
        </p:spPr>
        <p:txBody>
          <a:bodyPr wrap="none" rtlCol="0">
            <a:spAutoFit/>
          </a:bodyPr>
          <a:lstStyle/>
          <a:p>
            <a:pPr>
              <a:defRPr sz="1600" b="0">
                <a:solidFill>
                  <a:srgbClr val="213448"/>
                </a:solidFill>
                <a:latin typeface="微软雅黑"/>
              </a:defRPr>
            </a:pPr>
            <a:r>
              <a:t>研究计划与风险控制</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8" name="矩形 17"/>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2</a:t>
            </a:r>
            <a:endParaRPr kumimoji="1" lang="en-US" altLang="zh-CN">
              <a:solidFill>
                <a:schemeClr val="tx1">
                  <a:lumMod val="50000"/>
                  <a:lumOff val="50000"/>
                </a:schemeClr>
              </a:solidFill>
            </a:endParaRPr>
          </a:p>
        </p:txBody>
      </p:sp>
      <p:sp>
        <p:nvSpPr>
          <p:cNvPr id="4" name="矩形: 圆角 9"/>
          <p:cNvSpPr/>
          <p:nvPr/>
        </p:nvSpPr>
        <p:spPr>
          <a:xfrm>
            <a:off x="2936137" y="5128511"/>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sz="2000" b="1" dirty="0">
                <a:solidFill>
                  <a:schemeClr val="accent1"/>
                </a:solidFill>
                <a:latin typeface="Arial" panose="020B0604020202020204" pitchFamily="34" charset="0"/>
                <a:cs typeface="Arial" panose="020B0604020202020204" pitchFamily="34" charset="0"/>
              </a:rPr>
              <a:t>6</a:t>
            </a:r>
            <a:endParaRPr lang="en-US" altLang="zh-CN" sz="2000" b="1" dirty="0">
              <a:solidFill>
                <a:schemeClr val="accent1"/>
              </a:solidFill>
              <a:latin typeface="Arial" panose="020B0604020202020204" pitchFamily="34" charset="0"/>
              <a:cs typeface="Arial" panose="020B0604020202020204" pitchFamily="34" charset="0"/>
            </a:endParaRPr>
          </a:p>
        </p:txBody>
      </p:sp>
      <p:sp>
        <p:nvSpPr>
          <p:cNvPr id="11" name="文本框 10"/>
          <p:cNvSpPr txBox="1"/>
          <p:nvPr/>
        </p:nvSpPr>
        <p:spPr>
          <a:xfrm>
            <a:off x="3427177" y="5079658"/>
            <a:ext cx="1710055" cy="460375"/>
          </a:xfrm>
          <a:prstGeom prst="rect">
            <a:avLst/>
          </a:prstGeom>
          <a:noFill/>
        </p:spPr>
        <p:txBody>
          <a:bodyPr wrap="none" rtlCol="0">
            <a:spAutoFit/>
          </a:bodyPr>
          <a:p>
            <a:pPr>
              <a:defRPr sz="1600" b="0">
                <a:solidFill>
                  <a:srgbClr val="213448"/>
                </a:solidFill>
                <a:latin typeface="微软雅黑"/>
              </a:defRPr>
            </a:pPr>
            <a:r>
              <a:t>总结与展望</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86338"/>
            <a:ext cx="5255706" cy="894225"/>
            <a:chOff x="2656412" y="2751761"/>
            <a:chExt cx="2005436" cy="341212"/>
          </a:xfrm>
        </p:grpSpPr>
        <p:sp>
          <p:nvSpPr>
            <p:cNvPr id="5" name="文本框 4"/>
            <p:cNvSpPr txBox="1"/>
            <p:nvPr/>
          </p:nvSpPr>
          <p:spPr>
            <a:xfrm>
              <a:off x="3089570" y="2751761"/>
              <a:ext cx="1572278" cy="211284"/>
            </a:xfrm>
            <a:prstGeom prst="rect">
              <a:avLst/>
            </a:prstGeom>
            <a:noFill/>
          </p:spPr>
          <p:txBody>
            <a:bodyPr wrap="none" lIns="0" tIns="0" rIns="0" bIns="0" rtlCol="0">
              <a:spAutoFit/>
            </a:bodyPr>
            <a:lstStyle/>
            <a:p>
              <a:pPr>
                <a:defRPr sz="2000" b="1">
                  <a:solidFill>
                    <a:srgbClr val="213448"/>
                  </a:solidFill>
                  <a:latin typeface="微软雅黑"/>
                </a:defRPr>
              </a:pPr>
              <a:r>
                <a:rPr sz="3600"/>
                <a:t>研究背景与问题定义</a:t>
              </a:r>
              <a:endParaRPr lang="zh-CN" altLang="en-US" sz="36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1</a:t>
              </a:r>
              <a:endParaRPr lang="zh-CN" altLang="en-US"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3115496" y="3000087"/>
              <a:ext cx="1054000" cy="58636"/>
            </a:xfrm>
            <a:prstGeom prst="rect">
              <a:avLst/>
            </a:prstGeom>
            <a:noFill/>
          </p:spPr>
          <p:txBody>
            <a:bodyPr wrap="none" lIns="0" tIns="0" rIns="0" bIns="0" rtlCol="0">
              <a:spAutoFit/>
            </a:bodyPr>
            <a:lstStyle/>
            <a:p>
              <a:pPr>
                <a:defRPr sz="700" b="0">
                  <a:solidFill>
                    <a:srgbClr val="5D6C7A"/>
                  </a:solidFill>
                  <a:latin typeface="微软雅黑"/>
                </a:defRPr>
              </a:pPr>
              <a:r>
                <a:rPr sz="1000"/>
                <a:t>Research Background and Problem Definition</a:t>
              </a:r>
              <a:endParaRPr lang="zh-CN" altLang="en-US" sz="1000"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3</a:t>
            </a:r>
            <a:endParaRPr kumimoji="1" lang="en-US" altLang="zh-CN">
              <a:solidFill>
                <a:schemeClr val="tx1">
                  <a:lumMod val="50000"/>
                  <a:lumOff val="50000"/>
                </a:schemeClr>
              </a:solidFill>
            </a:endParaRPr>
          </a:p>
        </p:txBody>
      </p:sp>
      <p:sp>
        <p:nvSpPr>
          <p:cNvPr id="4" name="文本框 3"/>
          <p:cNvSpPr txBox="1"/>
          <p:nvPr/>
        </p:nvSpPr>
        <p:spPr>
          <a:xfrm>
            <a:off x="3298190" y="2710815"/>
            <a:ext cx="728980" cy="645160"/>
          </a:xfrm>
          <a:prstGeom prst="rect">
            <a:avLst/>
          </a:prstGeom>
          <a:noFill/>
        </p:spPr>
        <p:txBody>
          <a:bodyPr wrap="square" rtlCol="0">
            <a:spAutoFit/>
          </a:bodyPr>
          <a:p>
            <a:pPr algn="ctr"/>
            <a:r>
              <a:rPr lang="en-US" altLang="zh-CN" sz="3600" b="1" dirty="0">
                <a:solidFill>
                  <a:schemeClr val="accent1"/>
                </a:solidFill>
                <a:latin typeface="Arial" panose="020B0604020202020204" pitchFamily="34" charset="0"/>
                <a:cs typeface="Arial" panose="020B0604020202020204" pitchFamily="34" charset="0"/>
                <a:sym typeface="+mn-ea"/>
              </a:rPr>
              <a:t>1</a:t>
            </a:r>
            <a:endParaRPr lang="en-US" altLang="zh-CN" sz="3600" b="1" dirty="0">
              <a:solidFill>
                <a:schemeClr val="accent1"/>
              </a:solidFill>
              <a:latin typeface="Arial" panose="020B0604020202020204" pitchFamily="34" charset="0"/>
              <a:cs typeface="Arial" panose="020B0604020202020204" pitchFamily="34" charset="0"/>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68952" y="197622"/>
            <a:ext cx="10515600" cy="442595"/>
          </a:xfrm>
        </p:spPr>
        <p:txBody>
          <a:bodyPr/>
          <a:lstStyle/>
          <a:p>
            <a:pPr>
              <a:defRPr sz="2200" b="1">
                <a:solidFill>
                  <a:srgbClr val="213448"/>
                </a:solidFill>
                <a:latin typeface="微软雅黑"/>
              </a:defRPr>
            </a:pPr>
            <a:r>
              <a:rPr>
                <a:solidFill>
                  <a:schemeClr val="bg1"/>
                </a:solidFill>
                <a:effectLst>
                  <a:outerShdw blurRad="38100" dist="19050" dir="2700000" algn="tl" rotWithShape="0">
                    <a:schemeClr val="dk1">
                      <a:alpha val="40000"/>
                      <a:alpha val="40000"/>
                    </a:schemeClr>
                  </a:outerShdw>
                </a:effectLst>
              </a:rPr>
              <a:t>研究背景：Agent Query 对代码检索提出更高要求</a:t>
            </a:r>
            <a:endParaRPr lang="zh-CN" altLang="en-US" dirty="0">
              <a:solidFill>
                <a:schemeClr val="bg1"/>
              </a:solidFill>
              <a:effectLst>
                <a:outerShdw blurRad="38100" dist="19050" dir="2700000" algn="tl" rotWithShape="0">
                  <a:schemeClr val="dk1">
                    <a:alpha val="40000"/>
                    <a:alpha val="40000"/>
                  </a:schemeClr>
                </a:outerShdw>
              </a:effectLst>
            </a:endParaRPr>
          </a:p>
        </p:txBody>
      </p:sp>
      <p:sp>
        <p:nvSpPr>
          <p:cNvPr id="11" name="矩形 10"/>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4</a:t>
            </a:r>
            <a:endParaRPr kumimoji="1" lang="en-US" altLang="zh-CN">
              <a:solidFill>
                <a:schemeClr val="tx1">
                  <a:lumMod val="50000"/>
                  <a:lumOff val="50000"/>
                </a:schemeClr>
              </a:solidFill>
            </a:endParaRPr>
          </a:p>
        </p:txBody>
      </p:sp>
      <p:sp>
        <p:nvSpPr>
          <p:cNvPr id="15" name="Rounded Rectangle 14"/>
          <p:cNvSpPr/>
          <p:nvPr/>
        </p:nvSpPr>
        <p:spPr>
          <a:xfrm>
            <a:off x="502920" y="960120"/>
            <a:ext cx="338328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960120"/>
            <a:ext cx="73152" cy="123444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1088136"/>
            <a:ext cx="309067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语义表达复杂</a:t>
            </a:r>
          </a:p>
        </p:txBody>
      </p:sp>
      <p:sp>
        <p:nvSpPr>
          <p:cNvPr id="18" name="TextBox 17"/>
          <p:cNvSpPr txBox="1"/>
          <p:nvPr/>
        </p:nvSpPr>
        <p:spPr>
          <a:xfrm>
            <a:off x="667512" y="1435608"/>
            <a:ext cx="309067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Agent 提问通常包含动作、对象、模块范围、关系约束与排除项，单纯关键词难以完整表达检索意图。</a:t>
            </a:r>
          </a:p>
        </p:txBody>
      </p:sp>
      <p:sp>
        <p:nvSpPr>
          <p:cNvPr id="19" name="Rounded Rectangle 18"/>
          <p:cNvSpPr/>
          <p:nvPr/>
        </p:nvSpPr>
        <p:spPr>
          <a:xfrm>
            <a:off x="4434840" y="960120"/>
            <a:ext cx="338328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34840" y="960120"/>
            <a:ext cx="73152" cy="123444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9431" y="1088136"/>
            <a:ext cx="309067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高召回带来噪声</a:t>
            </a:r>
          </a:p>
        </p:txBody>
      </p:sp>
      <p:sp>
        <p:nvSpPr>
          <p:cNvPr id="22" name="TextBox 21"/>
          <p:cNvSpPr txBox="1"/>
          <p:nvPr/>
        </p:nvSpPr>
        <p:spPr>
          <a:xfrm>
            <a:off x="4599431" y="1435608"/>
            <a:ext cx="309067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倒排索引和同义词扩展能扩大覆盖，但会引入大量表面相关候选，需要结构化过滤逐步收敛。</a:t>
            </a:r>
          </a:p>
        </p:txBody>
      </p:sp>
      <p:sp>
        <p:nvSpPr>
          <p:cNvPr id="23" name="Rounded Rectangle 22"/>
          <p:cNvSpPr/>
          <p:nvPr/>
        </p:nvSpPr>
        <p:spPr>
          <a:xfrm>
            <a:off x="8366760" y="960120"/>
            <a:ext cx="310896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66760" y="960120"/>
            <a:ext cx="73152" cy="123444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31352" y="1088136"/>
            <a:ext cx="281635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排序需要结构视角</a:t>
            </a:r>
          </a:p>
        </p:txBody>
      </p:sp>
      <p:sp>
        <p:nvSpPr>
          <p:cNvPr id="26" name="TextBox 25"/>
          <p:cNvSpPr txBox="1"/>
          <p:nvPr/>
        </p:nvSpPr>
        <p:spPr>
          <a:xfrm>
            <a:off x="8531352" y="1435608"/>
            <a:ext cx="281635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单元素相似不等于任务相关，调用链、同组关系和目标类型会影响最终 Top-K 的可信度。</a:t>
            </a:r>
          </a:p>
        </p:txBody>
      </p:sp>
      <p:sp>
        <p:nvSpPr>
          <p:cNvPr id="27" name="TextBox 26"/>
          <p:cNvSpPr txBox="1"/>
          <p:nvPr/>
        </p:nvSpPr>
        <p:spPr>
          <a:xfrm>
            <a:off x="640080" y="2697480"/>
            <a:ext cx="3931920" cy="274320"/>
          </a:xfrm>
          <a:prstGeom prst="rect">
            <a:avLst/>
          </a:prstGeom>
          <a:noFill/>
        </p:spPr>
        <p:txBody>
          <a:bodyPr wrap="square" lIns="36576" tIns="18288" rIns="36576" bIns="18288" anchor="t">
            <a:spAutoFit/>
          </a:bodyPr>
          <a:lstStyle/>
          <a:p>
            <a:pPr algn="l">
              <a:lnSpc>
                <a:spcPct val="110000"/>
              </a:lnSpc>
              <a:defRPr sz="1700" b="1">
                <a:solidFill>
                  <a:srgbClr val="1F5C8A"/>
                </a:solidFill>
                <a:latin typeface="微软雅黑"/>
              </a:defRPr>
            </a:pPr>
            <a:r>
              <a:t>本文问题定义</a:t>
            </a:r>
          </a:p>
        </p:txBody>
      </p:sp>
      <p:sp>
        <p:nvSpPr>
          <p:cNvPr id="28" name="Rounded Rectangle 27"/>
          <p:cNvSpPr/>
          <p:nvPr/>
        </p:nvSpPr>
        <p:spPr>
          <a:xfrm>
            <a:off x="640080" y="3063240"/>
            <a:ext cx="10789920" cy="105156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3310128"/>
            <a:ext cx="10241280" cy="530352"/>
          </a:xfrm>
          <a:prstGeom prst="rect">
            <a:avLst/>
          </a:prstGeom>
          <a:noFill/>
        </p:spPr>
        <p:txBody>
          <a:bodyPr wrap="square" lIns="36576" tIns="18288" rIns="36576" bIns="18288" anchor="ctr">
            <a:spAutoFit/>
          </a:bodyPr>
          <a:lstStyle/>
          <a:p>
            <a:pPr algn="ctr">
              <a:lnSpc>
                <a:spcPct val="110000"/>
              </a:lnSpc>
              <a:defRPr sz="1800" b="1">
                <a:solidFill>
                  <a:srgbClr val="213448"/>
                </a:solidFill>
                <a:latin typeface="微软雅黑"/>
              </a:defRPr>
            </a:pPr>
            <a:r>
              <a:t>如何将自然语言 Agent Query 转换为可执行、可解释、可扩展的代码检索流程，在大型代码库中同时保证召回、精度与排序质量？</a:t>
            </a:r>
          </a:p>
        </p:txBody>
      </p:sp>
      <p:sp>
        <p:nvSpPr>
          <p:cNvPr id="30" name="Rounded Rectangle 29"/>
          <p:cNvSpPr/>
          <p:nvPr/>
        </p:nvSpPr>
        <p:spPr>
          <a:xfrm>
            <a:off x="640080" y="4526280"/>
            <a:ext cx="329184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1" y="4636008"/>
            <a:ext cx="296265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目标场景</a:t>
            </a:r>
          </a:p>
        </p:txBody>
      </p:sp>
      <p:sp>
        <p:nvSpPr>
          <p:cNvPr id="32" name="TextBox 31"/>
          <p:cNvSpPr txBox="1"/>
          <p:nvPr/>
        </p:nvSpPr>
        <p:spPr>
          <a:xfrm>
            <a:off x="804671" y="4956175"/>
            <a:ext cx="296265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大型工程代码库</a:t>
            </a:r>
          </a:p>
          <a:p>
            <a:pPr algn="l">
              <a:lnSpc>
                <a:spcPct val="110000"/>
              </a:lnSpc>
              <a:defRPr sz="1250" b="0">
                <a:solidFill>
                  <a:srgbClr val="213448"/>
                </a:solidFill>
                <a:latin typeface="微软雅黑"/>
              </a:defRPr>
            </a:pPr>
            <a:r>
              <a:t>• 自然语言检索</a:t>
            </a:r>
          </a:p>
          <a:p>
            <a:pPr algn="l">
              <a:lnSpc>
                <a:spcPct val="110000"/>
              </a:lnSpc>
              <a:defRPr sz="1250" b="0">
                <a:solidFill>
                  <a:srgbClr val="213448"/>
                </a:solidFill>
                <a:latin typeface="微软雅黑"/>
              </a:defRPr>
            </a:pPr>
            <a:r>
              <a:t>• 面向函数/类/文件等代码元素</a:t>
            </a:r>
          </a:p>
        </p:txBody>
      </p:sp>
      <p:sp>
        <p:nvSpPr>
          <p:cNvPr id="33" name="Rounded Rectangle 32"/>
          <p:cNvSpPr/>
          <p:nvPr/>
        </p:nvSpPr>
        <p:spPr>
          <a:xfrm>
            <a:off x="4434840" y="4526280"/>
            <a:ext cx="329184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1" y="4636008"/>
            <a:ext cx="296265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核心难点</a:t>
            </a:r>
          </a:p>
        </p:txBody>
      </p:sp>
      <p:sp>
        <p:nvSpPr>
          <p:cNvPr id="35" name="TextBox 34"/>
          <p:cNvSpPr txBox="1"/>
          <p:nvPr/>
        </p:nvSpPr>
        <p:spPr>
          <a:xfrm>
            <a:off x="4599431" y="4956175"/>
            <a:ext cx="296265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query 语义结构化</a:t>
            </a:r>
          </a:p>
          <a:p>
            <a:pPr algn="l">
              <a:lnSpc>
                <a:spcPct val="110000"/>
              </a:lnSpc>
              <a:defRPr sz="1250" b="0">
                <a:solidFill>
                  <a:srgbClr val="213448"/>
                </a:solidFill>
                <a:latin typeface="微软雅黑"/>
              </a:defRPr>
            </a:pPr>
            <a:r>
              <a:t>• 候选集降噪</a:t>
            </a:r>
          </a:p>
          <a:p>
            <a:pPr algn="l">
              <a:lnSpc>
                <a:spcPct val="110000"/>
              </a:lnSpc>
              <a:defRPr sz="1250" b="0">
                <a:solidFill>
                  <a:srgbClr val="213448"/>
                </a:solidFill>
                <a:latin typeface="微软雅黑"/>
              </a:defRPr>
            </a:pPr>
            <a:r>
              <a:t>• 关系结构参与排序</a:t>
            </a:r>
          </a:p>
        </p:txBody>
      </p:sp>
      <p:sp>
        <p:nvSpPr>
          <p:cNvPr id="36" name="Rounded Rectangle 35"/>
          <p:cNvSpPr/>
          <p:nvPr/>
        </p:nvSpPr>
        <p:spPr>
          <a:xfrm>
            <a:off x="8229600" y="4526280"/>
            <a:ext cx="320040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94192" y="4636008"/>
            <a:ext cx="28712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评价关注</a:t>
            </a:r>
          </a:p>
        </p:txBody>
      </p:sp>
      <p:sp>
        <p:nvSpPr>
          <p:cNvPr id="38" name="TextBox 37"/>
          <p:cNvSpPr txBox="1"/>
          <p:nvPr/>
        </p:nvSpPr>
        <p:spPr>
          <a:xfrm>
            <a:off x="8405622" y="4956175"/>
            <a:ext cx="287121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Recall / Precision</a:t>
            </a:r>
          </a:p>
          <a:p>
            <a:pPr algn="l">
              <a:lnSpc>
                <a:spcPct val="110000"/>
              </a:lnSpc>
              <a:defRPr sz="1250" b="0">
                <a:solidFill>
                  <a:srgbClr val="213448"/>
                </a:solidFill>
                <a:latin typeface="微软雅黑"/>
              </a:defRPr>
            </a:pPr>
            <a:r>
              <a:t>• Top-K 相关性</a:t>
            </a:r>
          </a:p>
          <a:p>
            <a:pPr algn="l">
              <a:lnSpc>
                <a:spcPct val="110000"/>
              </a:lnSpc>
              <a:defRPr sz="1250" b="0">
                <a:solidFill>
                  <a:srgbClr val="213448"/>
                </a:solidFill>
                <a:latin typeface="微软雅黑"/>
              </a:defRPr>
            </a:pPr>
            <a:r>
              <a:t>• 可解释性与成本</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70222" y="192542"/>
            <a:ext cx="10515600" cy="442595"/>
          </a:xfrm>
        </p:spPr>
        <p:txBody>
          <a:bodyPr/>
          <a:lstStyle/>
          <a:p>
            <a:pPr>
              <a:defRPr sz="2200" b="1">
                <a:solidFill>
                  <a:srgbClr val="213448"/>
                </a:solidFill>
                <a:latin typeface="微软雅黑"/>
              </a:defRPr>
            </a:pPr>
            <a:r>
              <a:t>研究现状：代码检索从文本匹配走向 Agent 语义检索</a:t>
            </a:r>
            <a:endParaRPr lang="zh-CN" altLang="en-US" dirty="0"/>
          </a:p>
        </p:txBody>
      </p:sp>
      <p:sp>
        <p:nvSpPr>
          <p:cNvPr id="11" name="矩形 10"/>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5</a:t>
            </a:r>
            <a:endParaRPr kumimoji="1" lang="en-US" altLang="zh-CN">
              <a:solidFill>
                <a:schemeClr val="tx1">
                  <a:lumMod val="50000"/>
                  <a:lumOff val="50000"/>
                </a:schemeClr>
              </a:solidFill>
            </a:endParaRPr>
          </a:p>
        </p:txBody>
      </p:sp>
      <p:sp>
        <p:nvSpPr>
          <p:cNvPr id="16" name="Rectangle 15"/>
          <p:cNvSpPr/>
          <p:nvPr/>
        </p:nvSpPr>
        <p:spPr>
          <a:xfrm>
            <a:off x="411480" y="960120"/>
            <a:ext cx="73152" cy="425196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传统结构化检索</a:t>
            </a:r>
          </a:p>
        </p:txBody>
      </p:sp>
      <p:sp>
        <p:nvSpPr>
          <p:cNvPr id="18" name="TextBox 17"/>
          <p:cNvSpPr txBox="1"/>
          <p:nvPr/>
        </p:nvSpPr>
        <p:spPr>
          <a:xfrm>
            <a:off x="576072"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代表方法：ctags、grep、倒排索引、静态分析</a:t>
            </a:r>
          </a:p>
          <a:p>
            <a:pPr algn="l">
              <a:lnSpc>
                <a:spcPct val="110000"/>
              </a:lnSpc>
              <a:defRPr sz="1250" b="0">
                <a:solidFill>
                  <a:srgbClr val="213448"/>
                </a:solidFill>
                <a:latin typeface="微软雅黑"/>
              </a:defRPr>
            </a:pPr>
            <a:r>
              <a:t>优势：快速、可解释、工程成本低</a:t>
            </a:r>
          </a:p>
          <a:p>
            <a:pPr algn="l">
              <a:lnSpc>
                <a:spcPct val="110000"/>
              </a:lnSpc>
              <a:defRPr sz="1250" b="0">
                <a:solidFill>
                  <a:srgbClr val="213448"/>
                </a:solidFill>
                <a:latin typeface="微软雅黑"/>
              </a:defRPr>
            </a:pPr>
            <a:r>
              <a:t>不足：依赖命名与字面匹配，难覆盖自然语言表达中的隐式语义</a:t>
            </a:r>
          </a:p>
        </p:txBody>
      </p:sp>
      <p:sp>
        <p:nvSpPr>
          <p:cNvPr id="20" name="Rectangle 19"/>
          <p:cNvSpPr/>
          <p:nvPr/>
        </p:nvSpPr>
        <p:spPr>
          <a:xfrm>
            <a:off x="4315968" y="960120"/>
            <a:ext cx="73152" cy="425196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59"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神经代码检索</a:t>
            </a:r>
          </a:p>
        </p:txBody>
      </p:sp>
      <p:sp>
        <p:nvSpPr>
          <p:cNvPr id="22" name="TextBox 21"/>
          <p:cNvSpPr txBox="1"/>
          <p:nvPr/>
        </p:nvSpPr>
        <p:spPr>
          <a:xfrm>
            <a:off x="4480559"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代表方法：CodeBERT、DeepCS、Embedding Search</a:t>
            </a:r>
          </a:p>
          <a:p>
            <a:pPr algn="l">
              <a:lnSpc>
                <a:spcPct val="110000"/>
              </a:lnSpc>
              <a:defRPr sz="1250" b="0">
                <a:solidFill>
                  <a:srgbClr val="213448"/>
                </a:solidFill>
                <a:latin typeface="微软雅黑"/>
              </a:defRPr>
            </a:pPr>
            <a:r>
              <a:t>优势：能捕获语义相似与同义表达</a:t>
            </a:r>
          </a:p>
          <a:p>
            <a:pPr algn="l">
              <a:lnSpc>
                <a:spcPct val="110000"/>
              </a:lnSpc>
              <a:defRPr sz="1250" b="0">
                <a:solidFill>
                  <a:srgbClr val="213448"/>
                </a:solidFill>
                <a:latin typeface="微软雅黑"/>
              </a:defRPr>
            </a:pPr>
            <a:r>
              <a:t>不足：容易弱化类型、模块、调用关系等工程约束</a:t>
            </a:r>
          </a:p>
        </p:txBody>
      </p:sp>
      <p:sp>
        <p:nvSpPr>
          <p:cNvPr id="24" name="Rectangle 23"/>
          <p:cNvSpPr/>
          <p:nvPr/>
        </p:nvSpPr>
        <p:spPr>
          <a:xfrm>
            <a:off x="8220456" y="960120"/>
            <a:ext cx="73152" cy="425196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85048"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LLM / Agent 检索</a:t>
            </a:r>
          </a:p>
        </p:txBody>
      </p:sp>
      <p:sp>
        <p:nvSpPr>
          <p:cNvPr id="26" name="TextBox 25"/>
          <p:cNvSpPr txBox="1"/>
          <p:nvPr/>
        </p:nvSpPr>
        <p:spPr>
          <a:xfrm>
            <a:off x="8385048"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代表方式：Agent 工具调用 + 大模型逐步筛选</a:t>
            </a:r>
          </a:p>
          <a:p>
            <a:pPr algn="l">
              <a:lnSpc>
                <a:spcPct val="110000"/>
              </a:lnSpc>
              <a:defRPr sz="1250" b="0">
                <a:solidFill>
                  <a:srgbClr val="213448"/>
                </a:solidFill>
                <a:latin typeface="微软雅黑"/>
              </a:defRPr>
            </a:pPr>
            <a:r>
              <a:t>优势：交互强、理解能力强</a:t>
            </a:r>
          </a:p>
          <a:p>
            <a:pPr algn="l">
              <a:lnSpc>
                <a:spcPct val="110000"/>
              </a:lnSpc>
              <a:defRPr sz="1250" b="0">
                <a:solidFill>
                  <a:srgbClr val="213448"/>
                </a:solidFill>
                <a:latin typeface="微软雅黑"/>
              </a:defRPr>
            </a:pPr>
            <a:r>
              <a:t>不足：候选逐个判断成本高，缺少稳定的数据契约和可控 pipeline</a:t>
            </a:r>
          </a:p>
        </p:txBody>
      </p:sp>
      <p:sp>
        <p:nvSpPr>
          <p:cNvPr id="27" name="Rounded Rectangle 26"/>
          <p:cNvSpPr/>
          <p:nvPr/>
        </p:nvSpPr>
        <p:spPr>
          <a:xfrm>
            <a:off x="640080" y="5486400"/>
            <a:ext cx="10881360" cy="54864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614416"/>
            <a:ext cx="10424160" cy="256032"/>
          </a:xfrm>
          <a:prstGeom prst="rect">
            <a:avLst/>
          </a:prstGeom>
          <a:noFill/>
        </p:spPr>
        <p:txBody>
          <a:bodyPr wrap="square" lIns="36576" tIns="18288" rIns="36576" bIns="18288" anchor="t">
            <a:spAutoFit/>
          </a:bodyPr>
          <a:lstStyle/>
          <a:p>
            <a:pPr algn="ctr">
              <a:lnSpc>
                <a:spcPct val="110000"/>
              </a:lnSpc>
              <a:defRPr sz="1500" b="1">
                <a:solidFill>
                  <a:srgbClr val="213448"/>
                </a:solidFill>
                <a:latin typeface="微软雅黑"/>
              </a:defRPr>
            </a:pPr>
            <a:r>
              <a:t>研究切入点：用 SemQL 建立 Query 数据契约，再通过多路召回、分层过滤、双阶段重排形成可解释闭环。</a:t>
            </a:r>
          </a:p>
        </p:txBody>
      </p:sp>
      <p:sp>
        <p:nvSpPr>
          <p:cNvPr id="2" name="矩形 1"/>
          <p:cNvSpPr/>
          <p:nvPr/>
        </p:nvSpPr>
        <p:spPr>
          <a:xfrm>
            <a:off x="4389755" y="963295"/>
            <a:ext cx="3399155" cy="4237990"/>
          </a:xfrm>
          <a:prstGeom prst="rect">
            <a:avLst/>
          </a:prstGeom>
          <a:noFill/>
          <a:ln>
            <a:solidFill>
              <a:schemeClr val="bg2"/>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 name="矩形 2"/>
          <p:cNvSpPr/>
          <p:nvPr/>
        </p:nvSpPr>
        <p:spPr>
          <a:xfrm>
            <a:off x="483870" y="965835"/>
            <a:ext cx="3399155" cy="4237990"/>
          </a:xfrm>
          <a:prstGeom prst="rect">
            <a:avLst/>
          </a:prstGeom>
          <a:noFill/>
          <a:ln>
            <a:solidFill>
              <a:schemeClr val="bg2"/>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4" name="矩形 3"/>
          <p:cNvSpPr/>
          <p:nvPr/>
        </p:nvSpPr>
        <p:spPr>
          <a:xfrm>
            <a:off x="8294370" y="975995"/>
            <a:ext cx="3399155" cy="4237990"/>
          </a:xfrm>
          <a:prstGeom prst="rect">
            <a:avLst/>
          </a:prstGeom>
          <a:noFill/>
          <a:ln>
            <a:solidFill>
              <a:schemeClr val="bg2"/>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86338"/>
            <a:ext cx="4407981" cy="894225"/>
            <a:chOff x="2656412" y="2751761"/>
            <a:chExt cx="1681967" cy="341212"/>
          </a:xfrm>
        </p:grpSpPr>
        <p:sp>
          <p:nvSpPr>
            <p:cNvPr id="5" name="文本框 4"/>
            <p:cNvSpPr txBox="1"/>
            <p:nvPr/>
          </p:nvSpPr>
          <p:spPr>
            <a:xfrm>
              <a:off x="3115496" y="2751761"/>
              <a:ext cx="1222883" cy="211285"/>
            </a:xfrm>
            <a:prstGeom prst="rect">
              <a:avLst/>
            </a:prstGeom>
            <a:noFill/>
          </p:spPr>
          <p:txBody>
            <a:bodyPr wrap="none" lIns="0" tIns="0" rIns="0" bIns="0" rtlCol="0">
              <a:spAutoFit/>
            </a:bodyPr>
            <a:lstStyle/>
            <a:p>
              <a:pPr>
                <a:defRPr sz="2000" b="1">
                  <a:solidFill>
                    <a:srgbClr val="213448"/>
                  </a:solidFill>
                  <a:latin typeface="微软雅黑"/>
                </a:defRPr>
              </a:pPr>
              <a:r>
                <a:rPr sz="3600"/>
                <a:t>研究内容与目标</a:t>
              </a:r>
              <a:endParaRPr lang="zh-CN" altLang="en-US" sz="36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2</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3115496" y="3000087"/>
              <a:ext cx="696852" cy="52821"/>
            </a:xfrm>
            <a:prstGeom prst="rect">
              <a:avLst/>
            </a:prstGeom>
            <a:noFill/>
          </p:spPr>
          <p:txBody>
            <a:bodyPr wrap="none" lIns="0" tIns="0" rIns="0" bIns="0" rtlCol="0">
              <a:spAutoFit/>
            </a:bodyPr>
            <a:lstStyle/>
            <a:p>
              <a:pPr algn="l">
                <a:defRPr sz="700" b="0">
                  <a:solidFill>
                    <a:srgbClr val="5D6C7A"/>
                  </a:solidFill>
                  <a:latin typeface="微软雅黑"/>
                </a:defRPr>
              </a:pPr>
              <a:r>
                <a:rPr sz="900"/>
                <a:t>Research Content and Objectives</a:t>
              </a:r>
              <a:endParaRPr lang="en-US" altLang="zh-CN" sz="900"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6</a:t>
            </a:r>
            <a:endParaRPr kumimoji="1" lang="en-US" altLang="zh-CN">
              <a:solidFill>
                <a:schemeClr val="tx1">
                  <a:lumMod val="50000"/>
                  <a:lumOff val="50000"/>
                </a:schemeClr>
              </a:solidFill>
            </a:endParaRPr>
          </a:p>
        </p:txBody>
      </p:sp>
      <p:sp>
        <p:nvSpPr>
          <p:cNvPr id="4" name="文本框 3"/>
          <p:cNvSpPr txBox="1"/>
          <p:nvPr/>
        </p:nvSpPr>
        <p:spPr>
          <a:xfrm>
            <a:off x="3298190" y="2710815"/>
            <a:ext cx="728980" cy="645160"/>
          </a:xfrm>
          <a:prstGeom prst="rect">
            <a:avLst/>
          </a:prstGeom>
          <a:noFill/>
        </p:spPr>
        <p:txBody>
          <a:bodyPr wrap="square" rtlCol="0">
            <a:spAutoFit/>
          </a:bodyPr>
          <a:p>
            <a:pPr algn="ctr"/>
            <a:r>
              <a:rPr lang="en-US" altLang="zh-CN" sz="3600" b="1" dirty="0">
                <a:solidFill>
                  <a:schemeClr val="accent1"/>
                </a:solidFill>
                <a:latin typeface="Arial" panose="020B0604020202020204" pitchFamily="34" charset="0"/>
                <a:cs typeface="Arial" panose="020B0604020202020204" pitchFamily="34" charset="0"/>
                <a:sym typeface="+mn-ea"/>
              </a:rPr>
              <a:t>2</a:t>
            </a:r>
            <a:endParaRPr lang="en-US" altLang="zh-CN" sz="3600" b="1" dirty="0">
              <a:solidFill>
                <a:schemeClr val="accent1"/>
              </a:solidFill>
              <a:latin typeface="Arial" panose="020B0604020202020204" pitchFamily="34" charset="0"/>
              <a:cs typeface="Arial" panose="020B0604020202020204" pitchFamily="34" charset="0"/>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70222" y="192542"/>
            <a:ext cx="10515600" cy="332105"/>
          </a:xfrm>
        </p:spPr>
        <p:txBody>
          <a:bodyPr/>
          <a:lstStyle/>
          <a:p>
            <a:pPr>
              <a:defRPr sz="2200" b="1">
                <a:solidFill>
                  <a:srgbClr val="213448"/>
                </a:solidFill>
                <a:latin typeface="微软雅黑"/>
              </a:defRPr>
            </a:pPr>
            <a:r>
              <a:rPr sz="2400">
                <a:solidFill>
                  <a:schemeClr val="bg1"/>
                </a:solidFill>
              </a:rPr>
              <a:t>研究内容与目标</a:t>
            </a:r>
            <a:endParaRPr lang="zh-CN" altLang="en-US" sz="2400" dirty="0">
              <a:solidFill>
                <a:schemeClr val="bg1"/>
              </a:solidFill>
            </a:endParaRPr>
          </a:p>
        </p:txBody>
      </p:sp>
      <p:sp>
        <p:nvSpPr>
          <p:cNvPr id="15" name="矩形 14"/>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7</a:t>
            </a:r>
            <a:endParaRPr kumimoji="1" lang="en-US" altLang="zh-CN">
              <a:solidFill>
                <a:schemeClr val="tx1">
                  <a:lumMod val="50000"/>
                  <a:lumOff val="50000"/>
                </a:schemeClr>
              </a:solidFill>
            </a:endParaRPr>
          </a:p>
        </p:txBody>
      </p:sp>
      <p:sp>
        <p:nvSpPr>
          <p:cNvPr id="16" name="TextBox 15"/>
          <p:cNvSpPr txBox="1"/>
          <p:nvPr/>
        </p:nvSpPr>
        <p:spPr>
          <a:xfrm>
            <a:off x="594360" y="1072515"/>
            <a:ext cx="11064240" cy="677545"/>
          </a:xfrm>
          <a:prstGeom prst="rect">
            <a:avLst/>
          </a:prstGeom>
          <a:noFill/>
        </p:spPr>
        <p:txBody>
          <a:bodyPr wrap="square" lIns="36576" tIns="18288" rIns="36576" bIns="18288" anchor="t">
            <a:spAutoFit/>
          </a:bodyPr>
          <a:lstStyle/>
          <a:p>
            <a:pPr algn="ctr">
              <a:lnSpc>
                <a:spcPct val="110000"/>
              </a:lnSpc>
              <a:defRPr sz="1900" b="1">
                <a:solidFill>
                  <a:srgbClr val="213448"/>
                </a:solidFill>
                <a:latin typeface="微软雅黑"/>
              </a:defRPr>
            </a:pPr>
            <a:r>
              <a:t>构建面向 Agent Query 的语义化代码检索方法：</a:t>
            </a:r>
            <a:r>
              <a:rPr lang="zh-CN"/>
              <a:t>定义</a:t>
            </a:r>
            <a:r>
              <a:t>SemQL</a:t>
            </a:r>
            <a:r>
              <a:rPr lang="zh-CN"/>
              <a:t>对</a:t>
            </a:r>
            <a:r>
              <a:t>检索意图</a:t>
            </a:r>
            <a:r>
              <a:rPr lang="zh-CN"/>
              <a:t>进行统一建模</a:t>
            </a:r>
            <a:r>
              <a:t>，并将其贯穿召回、过滤、重排全过程。</a:t>
            </a:r>
          </a:p>
        </p:txBody>
      </p:sp>
      <p:sp>
        <p:nvSpPr>
          <p:cNvPr id="17" name="Rounded Rectangle 16"/>
          <p:cNvSpPr/>
          <p:nvPr/>
        </p:nvSpPr>
        <p:spPr>
          <a:xfrm>
            <a:off x="594360"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目标一：Query 结构化</a:t>
            </a:r>
          </a:p>
        </p:txBody>
      </p:sp>
      <p:sp>
        <p:nvSpPr>
          <p:cNvPr id="19" name="TextBox 18"/>
          <p:cNvSpPr txBox="1"/>
          <p:nvPr/>
        </p:nvSpPr>
        <p:spPr>
          <a:xfrm>
            <a:off x="758952"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将自然语言整理成高信息量 SemQL</a:t>
            </a:r>
          </a:p>
          <a:p>
            <a:pPr algn="l">
              <a:lnSpc>
                <a:spcPct val="110000"/>
              </a:lnSpc>
              <a:defRPr sz="1250" b="0">
                <a:solidFill>
                  <a:srgbClr val="213448"/>
                </a:solidFill>
                <a:latin typeface="微软雅黑"/>
              </a:defRPr>
            </a:pPr>
            <a:r>
              <a:t>• 显式表示 intent / keywords / target</a:t>
            </a:r>
          </a:p>
          <a:p>
            <a:pPr algn="l">
              <a:lnSpc>
                <a:spcPct val="110000"/>
              </a:lnSpc>
              <a:defRPr sz="1250" b="0">
                <a:solidFill>
                  <a:srgbClr val="213448"/>
                </a:solidFill>
                <a:latin typeface="微软雅黑"/>
              </a:defRPr>
            </a:pPr>
            <a:r>
              <a:t>• 保留 filters / exclude / raw_query 供下游消费</a:t>
            </a:r>
          </a:p>
        </p:txBody>
      </p:sp>
      <p:sp>
        <p:nvSpPr>
          <p:cNvPr id="20" name="Rounded Rectangle 19"/>
          <p:cNvSpPr/>
          <p:nvPr/>
        </p:nvSpPr>
        <p:spPr>
          <a:xfrm>
            <a:off x="4407408"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目标二：候选集可控收敛</a:t>
            </a:r>
          </a:p>
        </p:txBody>
      </p:sp>
      <p:sp>
        <p:nvSpPr>
          <p:cNvPr id="22" name="TextBox 21"/>
          <p:cNvSpPr txBox="1"/>
          <p:nvPr/>
        </p:nvSpPr>
        <p:spPr>
          <a:xfrm>
            <a:off x="4572000"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多路召回保证覆盖</a:t>
            </a:r>
          </a:p>
          <a:p>
            <a:pPr algn="l">
              <a:lnSpc>
                <a:spcPct val="110000"/>
              </a:lnSpc>
              <a:defRPr sz="1250" b="0">
                <a:solidFill>
                  <a:srgbClr val="213448"/>
                </a:solidFill>
                <a:latin typeface="微软雅黑"/>
              </a:defRPr>
            </a:pPr>
            <a:r>
              <a:t>• 类型、聚类、语义过滤逐步降噪</a:t>
            </a:r>
          </a:p>
          <a:p>
            <a:pPr algn="l">
              <a:lnSpc>
                <a:spcPct val="110000"/>
              </a:lnSpc>
              <a:defRPr sz="1250" b="0">
                <a:solidFill>
                  <a:srgbClr val="213448"/>
                </a:solidFill>
                <a:latin typeface="微软雅黑"/>
              </a:defRPr>
            </a:pPr>
            <a:r>
              <a:t>• 保留过滤理由与中间产物</a:t>
            </a:r>
          </a:p>
        </p:txBody>
      </p:sp>
      <p:sp>
        <p:nvSpPr>
          <p:cNvPr id="23" name="Rounded Rectangle 22"/>
          <p:cNvSpPr/>
          <p:nvPr/>
        </p:nvSpPr>
        <p:spPr>
          <a:xfrm>
            <a:off x="8211312"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75904"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目标三：排序质量提升</a:t>
            </a:r>
          </a:p>
        </p:txBody>
      </p:sp>
      <p:sp>
        <p:nvSpPr>
          <p:cNvPr id="25" name="TextBox 24"/>
          <p:cNvSpPr txBox="1"/>
          <p:nvPr/>
        </p:nvSpPr>
        <p:spPr>
          <a:xfrm>
            <a:off x="8375904"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融合 LLM、词项重合、代码权重</a:t>
            </a:r>
          </a:p>
          <a:p>
            <a:pPr algn="l">
              <a:lnSpc>
                <a:spcPct val="110000"/>
              </a:lnSpc>
              <a:defRPr sz="1250" b="0">
                <a:solidFill>
                  <a:srgbClr val="213448"/>
                </a:solidFill>
                <a:latin typeface="微软雅黑"/>
              </a:defRPr>
            </a:pPr>
            <a:r>
              <a:t>• 引入调用链和组级相关性</a:t>
            </a:r>
          </a:p>
          <a:p>
            <a:pPr algn="l">
              <a:lnSpc>
                <a:spcPct val="110000"/>
              </a:lnSpc>
              <a:defRPr sz="1250" b="0">
                <a:solidFill>
                  <a:srgbClr val="213448"/>
                </a:solidFill>
                <a:latin typeface="微软雅黑"/>
              </a:defRPr>
            </a:pPr>
            <a:r>
              <a:t>• 输出可解释 Top-K 结果</a:t>
            </a:r>
          </a:p>
        </p:txBody>
      </p:sp>
      <p:sp>
        <p:nvSpPr>
          <p:cNvPr id="26" name="TextBox 25"/>
          <p:cNvSpPr txBox="1"/>
          <p:nvPr/>
        </p:nvSpPr>
        <p:spPr>
          <a:xfrm>
            <a:off x="731520" y="5577840"/>
            <a:ext cx="10698480" cy="320040"/>
          </a:xfrm>
          <a:prstGeom prst="rect">
            <a:avLst/>
          </a:prstGeom>
          <a:noFill/>
        </p:spPr>
        <p:txBody>
          <a:bodyPr wrap="square" lIns="36576" tIns="18288" rIns="36576" bIns="18288" anchor="t">
            <a:spAutoFit/>
          </a:bodyPr>
          <a:lstStyle/>
          <a:p>
            <a:pPr algn="ctr">
              <a:lnSpc>
                <a:spcPct val="110000"/>
              </a:lnSpc>
              <a:defRPr sz="1600" b="1">
                <a:solidFill>
                  <a:srgbClr val="1F5C8A"/>
                </a:solidFill>
                <a:latin typeface="微软雅黑"/>
              </a:defRPr>
            </a:pPr>
            <a:r>
              <a:t>预期效果：在 Agent 场景下同时提升 Recall、Precision、Top-K 可用性与工程可扩展性。</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86338"/>
            <a:ext cx="4409249" cy="894225"/>
            <a:chOff x="2656412" y="2751761"/>
            <a:chExt cx="1682451" cy="341212"/>
          </a:xfrm>
        </p:grpSpPr>
        <p:sp>
          <p:nvSpPr>
            <p:cNvPr id="5" name="文本框 4"/>
            <p:cNvSpPr txBox="1"/>
            <p:nvPr/>
          </p:nvSpPr>
          <p:spPr>
            <a:xfrm>
              <a:off x="3115496" y="2751761"/>
              <a:ext cx="1223367" cy="164279"/>
            </a:xfrm>
            <a:prstGeom prst="rect">
              <a:avLst/>
            </a:prstGeom>
            <a:noFill/>
          </p:spPr>
          <p:txBody>
            <a:bodyPr wrap="none" lIns="0" tIns="0" rIns="0" bIns="0" rtlCol="0">
              <a:spAutoFit/>
            </a:bodyPr>
            <a:lstStyle/>
            <a:p>
              <a:pPr>
                <a:defRPr sz="2000" b="1">
                  <a:solidFill>
                    <a:srgbClr val="213448"/>
                  </a:solidFill>
                  <a:latin typeface="微软雅黑"/>
                </a:defRPr>
              </a:pPr>
              <a:r>
                <a:rPr sz="2800"/>
                <a:t>技术路线与系统方法</a:t>
              </a:r>
              <a:endParaRPr lang="zh-CN" altLang="en-US" sz="2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3</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3115496" y="3000087"/>
              <a:ext cx="768330" cy="52821"/>
            </a:xfrm>
            <a:prstGeom prst="rect">
              <a:avLst/>
            </a:prstGeom>
            <a:noFill/>
          </p:spPr>
          <p:txBody>
            <a:bodyPr wrap="none" lIns="0" tIns="0" rIns="0" bIns="0" rtlCol="0">
              <a:spAutoFit/>
            </a:bodyPr>
            <a:lstStyle/>
            <a:p>
              <a:pPr algn="l">
                <a:defRPr sz="700" b="0">
                  <a:solidFill>
                    <a:srgbClr val="5D6C7A"/>
                  </a:solidFill>
                  <a:latin typeface="微软雅黑"/>
                </a:defRPr>
              </a:pPr>
              <a:r>
                <a:rPr sz="900"/>
                <a:t>Technical Route and System Method</a:t>
              </a:r>
              <a:endParaRPr lang="en-US" altLang="zh-CN" sz="900"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8</a:t>
            </a:r>
            <a:endParaRPr kumimoji="1" lang="en-US" altLang="zh-CN">
              <a:solidFill>
                <a:schemeClr val="tx1">
                  <a:lumMod val="50000"/>
                  <a:lumOff val="50000"/>
                </a:schemeClr>
              </a:solidFill>
            </a:endParaRPr>
          </a:p>
        </p:txBody>
      </p:sp>
      <p:sp>
        <p:nvSpPr>
          <p:cNvPr id="4" name="文本框 3"/>
          <p:cNvSpPr txBox="1"/>
          <p:nvPr/>
        </p:nvSpPr>
        <p:spPr>
          <a:xfrm>
            <a:off x="3298190" y="2710815"/>
            <a:ext cx="728980" cy="645160"/>
          </a:xfrm>
          <a:prstGeom prst="rect">
            <a:avLst/>
          </a:prstGeom>
          <a:noFill/>
        </p:spPr>
        <p:txBody>
          <a:bodyPr wrap="square" rtlCol="0">
            <a:spAutoFit/>
          </a:bodyPr>
          <a:p>
            <a:pPr algn="ctr"/>
            <a:r>
              <a:rPr lang="en-US" altLang="zh-CN" sz="3600" b="1" dirty="0">
                <a:solidFill>
                  <a:schemeClr val="accent1"/>
                </a:solidFill>
                <a:latin typeface="Arial" panose="020B0604020202020204" pitchFamily="34" charset="0"/>
                <a:cs typeface="Arial" panose="020B0604020202020204" pitchFamily="34" charset="0"/>
                <a:sym typeface="+mn-ea"/>
              </a:rPr>
              <a:t>3</a:t>
            </a:r>
            <a:endParaRPr lang="en-US" altLang="zh-CN" sz="3600" b="1" dirty="0">
              <a:solidFill>
                <a:schemeClr val="accent1"/>
              </a:solidFill>
              <a:latin typeface="Arial" panose="020B0604020202020204" pitchFamily="34" charset="0"/>
              <a:cs typeface="Arial" panose="020B0604020202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标题 26"/>
          <p:cNvSpPr>
            <a:spLocks noGrp="1"/>
          </p:cNvSpPr>
          <p:nvPr>
            <p:ph type="title"/>
          </p:nvPr>
        </p:nvSpPr>
        <p:spPr>
          <a:xfrm>
            <a:off x="870222" y="192542"/>
            <a:ext cx="10066818" cy="442595"/>
          </a:xfrm>
        </p:spPr>
        <p:txBody>
          <a:bodyPr/>
          <a:lstStyle/>
          <a:p>
            <a:pPr>
              <a:defRPr sz="2200" b="1">
                <a:solidFill>
                  <a:srgbClr val="213448"/>
                </a:solidFill>
                <a:latin typeface="微软雅黑"/>
              </a:defRPr>
            </a:pPr>
            <a:r>
              <a:rPr>
                <a:solidFill>
                  <a:schemeClr val="bg1"/>
                </a:solidFill>
              </a:rPr>
              <a:t>总体技术路线：SemQL 驱动的多阶段 CodeSearch Pipeline</a:t>
            </a:r>
            <a:endParaRPr dirty="0">
              <a:solidFill>
                <a:schemeClr val="bg1"/>
              </a:solidFill>
            </a:endParaRPr>
          </a:p>
        </p:txBody>
      </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9</a:t>
            </a:r>
            <a:endParaRPr kumimoji="1" lang="en-US" altLang="zh-CN">
              <a:solidFill>
                <a:schemeClr val="tx1">
                  <a:lumMod val="50000"/>
                  <a:lumOff val="50000"/>
                </a:schemeClr>
              </a:solidFill>
            </a:endParaRPr>
          </a:p>
        </p:txBody>
      </p:sp>
      <p:sp>
        <p:nvSpPr>
          <p:cNvPr id="28" name="Rounded Rectangle 27"/>
          <p:cNvSpPr/>
          <p:nvPr/>
        </p:nvSpPr>
        <p:spPr>
          <a:xfrm>
            <a:off x="525145" y="99568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873" y="1105408"/>
            <a:ext cx="1335024" cy="256032"/>
          </a:xfrm>
          <a:prstGeom prst="rect">
            <a:avLst/>
          </a:prstGeom>
          <a:noFill/>
        </p:spPr>
        <p:txBody>
          <a:bodyPr wrap="square" lIns="36576" tIns="18288" rIns="36576" bIns="18288" anchor="t">
            <a:spAutoFit/>
          </a:bodyPr>
          <a:lstStyle/>
          <a:p>
            <a:pPr algn="ctr">
              <a:lnSpc>
                <a:spcPct val="110000"/>
              </a:lnSpc>
              <a:defRPr sz="1400" b="1">
                <a:solidFill>
                  <a:srgbClr val="1F5C8A"/>
                </a:solidFill>
                <a:latin typeface="微软雅黑"/>
              </a:defRPr>
            </a:pPr>
            <a:r>
              <a:t>自然语言 Query</a:t>
            </a:r>
          </a:p>
        </p:txBody>
      </p:sp>
      <p:sp>
        <p:nvSpPr>
          <p:cNvPr id="30" name="TextBox 29"/>
          <p:cNvSpPr txBox="1"/>
          <p:nvPr/>
        </p:nvSpPr>
        <p:spPr>
          <a:xfrm>
            <a:off x="646303" y="1618488"/>
            <a:ext cx="1335024" cy="212725"/>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Agent 任务描述</a:t>
            </a:r>
          </a:p>
        </p:txBody>
      </p:sp>
      <p:cxnSp>
        <p:nvCxnSpPr>
          <p:cNvPr id="31" name="Connector 30"/>
          <p:cNvCxnSpPr/>
          <p:nvPr/>
        </p:nvCxnSpPr>
        <p:spPr>
          <a:xfrm>
            <a:off x="2097913" y="1526032"/>
            <a:ext cx="30175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445385" y="99568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55113" y="1105408"/>
            <a:ext cx="1335024" cy="256032"/>
          </a:xfrm>
          <a:prstGeom prst="rect">
            <a:avLst/>
          </a:prstGeom>
          <a:noFill/>
        </p:spPr>
        <p:txBody>
          <a:bodyPr wrap="square" lIns="36576" tIns="18288" rIns="36576" bIns="18288" anchor="t">
            <a:spAutoFit/>
          </a:bodyPr>
          <a:lstStyle/>
          <a:p>
            <a:pPr algn="ctr">
              <a:lnSpc>
                <a:spcPct val="110000"/>
              </a:lnSpc>
              <a:defRPr sz="1400" b="1">
                <a:solidFill>
                  <a:srgbClr val="22A09C"/>
                </a:solidFill>
                <a:latin typeface="微软雅黑"/>
              </a:defRPr>
            </a:pPr>
            <a:r>
              <a:t>SemQL 解析</a:t>
            </a:r>
          </a:p>
        </p:txBody>
      </p:sp>
      <p:sp>
        <p:nvSpPr>
          <p:cNvPr id="34" name="TextBox 33"/>
          <p:cNvSpPr txBox="1"/>
          <p:nvPr/>
        </p:nvSpPr>
        <p:spPr>
          <a:xfrm>
            <a:off x="2555113" y="1615948"/>
            <a:ext cx="1335024" cy="212725"/>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结构化意图与约束</a:t>
            </a:r>
          </a:p>
        </p:txBody>
      </p:sp>
      <p:cxnSp>
        <p:nvCxnSpPr>
          <p:cNvPr id="35" name="Connector 34"/>
          <p:cNvCxnSpPr/>
          <p:nvPr/>
        </p:nvCxnSpPr>
        <p:spPr>
          <a:xfrm>
            <a:off x="4045457" y="1520952"/>
            <a:ext cx="347473"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24230" y="2430145"/>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3958" y="2539873"/>
            <a:ext cx="1335024" cy="256032"/>
          </a:xfrm>
          <a:prstGeom prst="rect">
            <a:avLst/>
          </a:prstGeom>
          <a:noFill/>
        </p:spPr>
        <p:txBody>
          <a:bodyPr wrap="square" lIns="36576" tIns="18288" rIns="36576" bIns="18288" anchor="t">
            <a:spAutoFit/>
          </a:bodyPr>
          <a:lstStyle/>
          <a:p>
            <a:pPr algn="ctr">
              <a:lnSpc>
                <a:spcPct val="110000"/>
              </a:lnSpc>
              <a:defRPr sz="1400" b="1">
                <a:solidFill>
                  <a:srgbClr val="1F5C8A"/>
                </a:solidFill>
                <a:latin typeface="微软雅黑"/>
              </a:defRPr>
            </a:pPr>
            <a:r>
              <a:t>多路召回</a:t>
            </a:r>
          </a:p>
        </p:txBody>
      </p:sp>
      <p:sp>
        <p:nvSpPr>
          <p:cNvPr id="38" name="TextBox 37"/>
          <p:cNvSpPr txBox="1"/>
          <p:nvPr/>
        </p:nvSpPr>
        <p:spPr>
          <a:xfrm>
            <a:off x="933958" y="2960243"/>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grep / index / embedding</a:t>
            </a:r>
          </a:p>
        </p:txBody>
      </p:sp>
      <p:cxnSp>
        <p:nvCxnSpPr>
          <p:cNvPr id="39" name="Connector 38"/>
          <p:cNvCxnSpPr/>
          <p:nvPr/>
        </p:nvCxnSpPr>
        <p:spPr>
          <a:xfrm>
            <a:off x="4199763" y="2960497"/>
            <a:ext cx="34747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592955" y="2430145"/>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02683" y="2539873"/>
            <a:ext cx="1335024" cy="256032"/>
          </a:xfrm>
          <a:prstGeom prst="rect">
            <a:avLst/>
          </a:prstGeom>
          <a:noFill/>
        </p:spPr>
        <p:txBody>
          <a:bodyPr wrap="square" lIns="36576" tIns="18288" rIns="36576" bIns="18288" anchor="t">
            <a:spAutoFit/>
          </a:bodyPr>
          <a:lstStyle/>
          <a:p>
            <a:pPr algn="ctr">
              <a:lnSpc>
                <a:spcPct val="110000"/>
              </a:lnSpc>
              <a:defRPr sz="1400" b="1">
                <a:solidFill>
                  <a:srgbClr val="EF8936"/>
                </a:solidFill>
                <a:latin typeface="微软雅黑"/>
              </a:defRPr>
            </a:pPr>
            <a:r>
              <a:t>分层过滤</a:t>
            </a:r>
          </a:p>
        </p:txBody>
      </p:sp>
      <p:sp>
        <p:nvSpPr>
          <p:cNvPr id="42" name="TextBox 41"/>
          <p:cNvSpPr txBox="1"/>
          <p:nvPr/>
        </p:nvSpPr>
        <p:spPr>
          <a:xfrm>
            <a:off x="4521073" y="2960243"/>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type / cluster / semantic</a:t>
            </a:r>
          </a:p>
        </p:txBody>
      </p:sp>
      <p:cxnSp>
        <p:nvCxnSpPr>
          <p:cNvPr id="43" name="Connector 42"/>
          <p:cNvCxnSpPr/>
          <p:nvPr/>
        </p:nvCxnSpPr>
        <p:spPr>
          <a:xfrm>
            <a:off x="6165723" y="2960497"/>
            <a:ext cx="347471"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58915" y="2430145"/>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68642" y="2539873"/>
            <a:ext cx="1335024" cy="256032"/>
          </a:xfrm>
          <a:prstGeom prst="rect">
            <a:avLst/>
          </a:prstGeom>
          <a:noFill/>
        </p:spPr>
        <p:txBody>
          <a:bodyPr wrap="square" lIns="36576" tIns="18288" rIns="36576" bIns="18288" anchor="t">
            <a:spAutoFit/>
          </a:bodyPr>
          <a:lstStyle/>
          <a:p>
            <a:pPr algn="ctr">
              <a:lnSpc>
                <a:spcPct val="110000"/>
              </a:lnSpc>
              <a:defRPr sz="1400" b="1">
                <a:solidFill>
                  <a:srgbClr val="22A09C"/>
                </a:solidFill>
                <a:latin typeface="微软雅黑"/>
              </a:defRPr>
            </a:pPr>
            <a:r>
              <a:t>双阶段重排</a:t>
            </a:r>
          </a:p>
        </p:txBody>
      </p:sp>
      <p:sp>
        <p:nvSpPr>
          <p:cNvPr id="46" name="TextBox 45"/>
          <p:cNvSpPr txBox="1"/>
          <p:nvPr/>
        </p:nvSpPr>
        <p:spPr>
          <a:xfrm>
            <a:off x="6487032" y="2960243"/>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single + group</a:t>
            </a:r>
          </a:p>
        </p:txBody>
      </p:sp>
      <p:cxnSp>
        <p:nvCxnSpPr>
          <p:cNvPr id="47" name="Connector 46"/>
          <p:cNvCxnSpPr/>
          <p:nvPr/>
        </p:nvCxnSpPr>
        <p:spPr>
          <a:xfrm>
            <a:off x="8131683" y="2960497"/>
            <a:ext cx="25603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433435" y="2430145"/>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543163" y="2539873"/>
            <a:ext cx="1335024" cy="256032"/>
          </a:xfrm>
          <a:prstGeom prst="rect">
            <a:avLst/>
          </a:prstGeom>
          <a:noFill/>
        </p:spPr>
        <p:txBody>
          <a:bodyPr wrap="square" lIns="36576" tIns="18288" rIns="36576" bIns="18288" anchor="t">
            <a:spAutoFit/>
          </a:bodyPr>
          <a:lstStyle/>
          <a:p>
            <a:pPr algn="ctr">
              <a:lnSpc>
                <a:spcPct val="110000"/>
              </a:lnSpc>
              <a:defRPr sz="1400" b="1">
                <a:solidFill>
                  <a:srgbClr val="48A264"/>
                </a:solidFill>
                <a:latin typeface="微软雅黑"/>
              </a:defRPr>
            </a:pPr>
            <a:r>
              <a:t>Top-K 输出</a:t>
            </a:r>
          </a:p>
        </p:txBody>
      </p:sp>
      <p:sp>
        <p:nvSpPr>
          <p:cNvPr id="50" name="TextBox 49"/>
          <p:cNvSpPr txBox="1"/>
          <p:nvPr/>
        </p:nvSpPr>
        <p:spPr>
          <a:xfrm>
            <a:off x="8361553" y="2960243"/>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可解释结果</a:t>
            </a:r>
          </a:p>
        </p:txBody>
      </p:sp>
      <p:cxnSp>
        <p:nvCxnSpPr>
          <p:cNvPr id="3" name="Connector 34"/>
          <p:cNvCxnSpPr>
            <a:stCxn id="5" idx="2"/>
            <a:endCxn id="36" idx="0"/>
          </p:cNvCxnSpPr>
          <p:nvPr/>
        </p:nvCxnSpPr>
        <p:spPr>
          <a:xfrm flipH="1">
            <a:off x="1601470" y="1831340"/>
            <a:ext cx="3781425" cy="598805"/>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cxnSp>
        <p:nvCxnSpPr>
          <p:cNvPr id="4" name="Connector 34"/>
          <p:cNvCxnSpPr>
            <a:stCxn id="5" idx="2"/>
            <a:endCxn id="40" idx="0"/>
          </p:cNvCxnSpPr>
          <p:nvPr/>
        </p:nvCxnSpPr>
        <p:spPr>
          <a:xfrm flipH="1">
            <a:off x="5370195" y="1831340"/>
            <a:ext cx="12700" cy="598805"/>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cxnSp>
        <p:nvCxnSpPr>
          <p:cNvPr id="7" name="Connector 34"/>
          <p:cNvCxnSpPr>
            <a:stCxn id="5" idx="2"/>
            <a:endCxn id="44" idx="0"/>
          </p:cNvCxnSpPr>
          <p:nvPr/>
        </p:nvCxnSpPr>
        <p:spPr>
          <a:xfrm>
            <a:off x="5382895" y="1831340"/>
            <a:ext cx="1953260" cy="598805"/>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94360" y="3581400"/>
            <a:ext cx="11018520" cy="2184400"/>
          </a:xfrm>
          <a:prstGeom prst="roundRect">
            <a:avLst/>
          </a:prstGeom>
          <a:solidFill>
            <a:srgbClr val="F5FAFC"/>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4360" y="3676400"/>
            <a:ext cx="5200000" cy="260000"/>
          </a:xfrm>
          <a:prstGeom prst="rect">
            <a:avLst/>
          </a:prstGeom>
          <a:noFill/>
        </p:spPr>
        <p:txBody>
          <a:bodyPr wrap="none" lIns="50800" tIns="25400" rIns="50800" bIns="25400" anchor="ctr">
            <a:spAutoFit/>
          </a:bodyPr>
          <a:lstStyle/>
          <a:p>
            <a:pPr algn="l"/>
            <a:r>
              <a:rPr sz="1500" b="1">
                <a:solidFill>
                  <a:srgbClr val="235467"/>
                </a:solidFill>
                <a:latin typeface="PingFang SC" panose="020B0400000000000000" charset="-122"/>
              </a:rPr>
              <a:t>SemQL Schema：自然语言查询的结构化信息载体</a:t>
            </a:r>
            <a:endParaRPr sz="1500" b="1">
              <a:solidFill>
                <a:srgbClr val="235467"/>
              </a:solidFill>
              <a:latin typeface="PingFang SC" panose="020B0400000000000000" charset="-122"/>
            </a:endParaRPr>
          </a:p>
        </p:txBody>
      </p:sp>
      <p:sp>
        <p:nvSpPr>
          <p:cNvPr id="54" name="Rounded Rectangle 53"/>
          <p:cNvSpPr/>
          <p:nvPr/>
        </p:nvSpPr>
        <p:spPr>
          <a:xfrm>
            <a:off x="924360" y="4341400"/>
            <a:ext cx="1780000" cy="610000"/>
          </a:xfrm>
          <a:prstGeom prst="roundRect">
            <a:avLst/>
          </a:prstGeom>
          <a:solidFill>
            <a:srgbClr val="2E7E94"/>
          </a:solidFill>
          <a:ln w="12700">
            <a:solidFill>
              <a:srgbClr val="2E7E94"/>
            </a:solidFill>
          </a:ln>
        </p:spPr>
        <p:style>
          <a:lnRef idx="1">
            <a:schemeClr val="accent1"/>
          </a:lnRef>
          <a:fillRef idx="3">
            <a:schemeClr val="accent1"/>
          </a:fillRef>
          <a:effectRef idx="2">
            <a:schemeClr val="accent1"/>
          </a:effectRef>
          <a:fontRef idx="minor">
            <a:schemeClr val="lt1"/>
          </a:fontRef>
        </p:style>
        <p:txBody>
          <a:bodyPr lIns="101600" rIns="101600" rtlCol="0" anchor="ctr"/>
          <a:lstStyle/>
          <a:p>
            <a:pPr algn="ctr"/>
            <a:r>
              <a:rPr sz="2200" b="1">
                <a:solidFill>
                  <a:srgbClr val="FFFFFF"/>
                </a:solidFill>
                <a:latin typeface="Aptos Display"/>
              </a:rPr>
              <a:t>SemQL</a:t>
            </a:r>
            <a:endParaRPr sz="2200" b="1">
              <a:solidFill>
                <a:srgbClr val="FFFFFF"/>
              </a:solidFill>
              <a:latin typeface="Aptos Display"/>
            </a:endParaRPr>
          </a:p>
          <a:p>
            <a:pPr algn="ctr"/>
            <a:r>
              <a:rPr lang="en-US" sz="850">
                <a:solidFill>
                  <a:srgbClr val="E0F4F8"/>
                </a:solidFill>
                <a:latin typeface="Aptos"/>
                <a:sym typeface="+mn-ea"/>
              </a:rPr>
              <a:t>Semantic Query Language</a:t>
            </a:r>
            <a:endParaRPr lang="en-US" sz="850">
              <a:solidFill>
                <a:srgbClr val="E0F4F8"/>
              </a:solidFill>
              <a:latin typeface="Aptos"/>
              <a:sym typeface="+mn-ea"/>
            </a:endParaRPr>
          </a:p>
        </p:txBody>
      </p:sp>
      <p:sp>
        <p:nvSpPr>
          <p:cNvPr id="55" name="Rounded Rectangle 54"/>
          <p:cNvSpPr/>
          <p:nvPr/>
        </p:nvSpPr>
        <p:spPr>
          <a:xfrm>
            <a:off x="3144360" y="4091400"/>
            <a:ext cx="1900000" cy="500000"/>
          </a:xfrm>
          <a:prstGeom prst="roundRect">
            <a:avLst/>
          </a:prstGeom>
          <a:solidFill>
            <a:srgbClr val="EEF7FA"/>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intent</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action / object / synonyms
表达“要做什么、作用对象是什么”</a:t>
            </a:r>
            <a:endParaRPr sz="950">
              <a:solidFill>
                <a:srgbClr val="405360"/>
              </a:solidFill>
              <a:latin typeface="PingFang SC" panose="020B0400000000000000" charset="-122"/>
            </a:endParaRPr>
          </a:p>
        </p:txBody>
      </p:sp>
      <p:cxnSp>
        <p:nvCxnSpPr>
          <p:cNvPr id="56" name="Connector 55"/>
          <p:cNvCxnSpPr/>
          <p:nvPr/>
        </p:nvCxnSpPr>
        <p:spPr>
          <a:xfrm flipV="1">
            <a:off x="2704360" y="4341400"/>
            <a:ext cx="440000" cy="30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5444360" y="4091400"/>
            <a:ext cx="1900000" cy="500000"/>
          </a:xfrm>
          <a:prstGeom prst="roundRect">
            <a:avLst/>
          </a:prstGeom>
          <a:solidFill>
            <a:srgbClr val="EEF7FA"/>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keywords</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term / synonyms
补全自然语言词与代码级变体</a:t>
            </a:r>
            <a:endParaRPr sz="950">
              <a:solidFill>
                <a:srgbClr val="405360"/>
              </a:solidFill>
              <a:latin typeface="PingFang SC" panose="020B0400000000000000" charset="-122"/>
            </a:endParaRPr>
          </a:p>
        </p:txBody>
      </p:sp>
      <p:cxnSp>
        <p:nvCxnSpPr>
          <p:cNvPr id="58" name="Connector 57"/>
          <p:cNvCxnSpPr/>
          <p:nvPr/>
        </p:nvCxnSpPr>
        <p:spPr>
          <a:xfrm flipV="1">
            <a:off x="2704360" y="4341400"/>
            <a:ext cx="2740000" cy="30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744360" y="4091400"/>
            <a:ext cx="1900000" cy="500000"/>
          </a:xfrm>
          <a:prstGeom prst="roundRect">
            <a:avLst/>
          </a:prstGeom>
          <a:solidFill>
            <a:srgbClr val="EEF7FA"/>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target</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function / class / file / module
限定期望命中的代码元素粒度</a:t>
            </a:r>
            <a:endParaRPr sz="950">
              <a:solidFill>
                <a:srgbClr val="405360"/>
              </a:solidFill>
              <a:latin typeface="PingFang SC" panose="020B0400000000000000" charset="-122"/>
            </a:endParaRPr>
          </a:p>
        </p:txBody>
      </p:sp>
      <p:cxnSp>
        <p:nvCxnSpPr>
          <p:cNvPr id="60" name="Connector 59"/>
          <p:cNvCxnSpPr/>
          <p:nvPr/>
        </p:nvCxnSpPr>
        <p:spPr>
          <a:xfrm flipV="1">
            <a:off x="2704360" y="4341400"/>
            <a:ext cx="5040000" cy="30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3144360" y="4881400"/>
            <a:ext cx="1900000" cy="500000"/>
          </a:xfrm>
          <a:prstGeom prst="roundRect">
            <a:avLst/>
          </a:prstGeom>
          <a:solidFill>
            <a:srgbClr val="FAFDF9"/>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filters</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concept + relation
描述上下文约束与领域条件</a:t>
            </a:r>
            <a:endParaRPr sz="950">
              <a:solidFill>
                <a:srgbClr val="405360"/>
              </a:solidFill>
              <a:latin typeface="PingFang SC" panose="020B0400000000000000" charset="-122"/>
            </a:endParaRPr>
          </a:p>
        </p:txBody>
      </p:sp>
      <p:cxnSp>
        <p:nvCxnSpPr>
          <p:cNvPr id="62" name="Connector 61"/>
          <p:cNvCxnSpPr/>
          <p:nvPr/>
        </p:nvCxnSpPr>
        <p:spPr>
          <a:xfrm>
            <a:off x="2704360" y="4646400"/>
            <a:ext cx="440000" cy="48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5444360" y="4881400"/>
            <a:ext cx="1900000" cy="500000"/>
          </a:xfrm>
          <a:prstGeom prst="roundRect">
            <a:avLst/>
          </a:prstGeom>
          <a:solidFill>
            <a:srgbClr val="FAFDF9"/>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exclude</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negative terms / concepts
排除无关模块、噪声语义或错误方向</a:t>
            </a:r>
            <a:endParaRPr sz="950">
              <a:solidFill>
                <a:srgbClr val="405360"/>
              </a:solidFill>
              <a:latin typeface="PingFang SC" panose="020B0400000000000000" charset="-122"/>
            </a:endParaRPr>
          </a:p>
        </p:txBody>
      </p:sp>
      <p:cxnSp>
        <p:nvCxnSpPr>
          <p:cNvPr id="64" name="Connector 63"/>
          <p:cNvCxnSpPr/>
          <p:nvPr/>
        </p:nvCxnSpPr>
        <p:spPr>
          <a:xfrm>
            <a:off x="2704360" y="4646400"/>
            <a:ext cx="2740000" cy="48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7744360" y="4881400"/>
            <a:ext cx="1900000" cy="500000"/>
          </a:xfrm>
          <a:prstGeom prst="roundRect">
            <a:avLst/>
          </a:prstGeom>
          <a:solidFill>
            <a:srgbClr val="FAFDF9"/>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raw_query</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original query
保留原始问题，供重排与解释回看</a:t>
            </a:r>
            <a:endParaRPr sz="950">
              <a:solidFill>
                <a:srgbClr val="405360"/>
              </a:solidFill>
              <a:latin typeface="PingFang SC" panose="020B0400000000000000" charset="-122"/>
            </a:endParaRPr>
          </a:p>
        </p:txBody>
      </p:sp>
      <p:cxnSp>
        <p:nvCxnSpPr>
          <p:cNvPr id="66" name="Connector 65"/>
          <p:cNvCxnSpPr/>
          <p:nvPr/>
        </p:nvCxnSpPr>
        <p:spPr>
          <a:xfrm>
            <a:off x="2704360" y="4646400"/>
            <a:ext cx="5040000" cy="48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954360" y="5481400"/>
            <a:ext cx="2500000" cy="190000"/>
          </a:xfrm>
          <a:prstGeom prst="rect">
            <a:avLst/>
          </a:prstGeom>
          <a:noFill/>
        </p:spPr>
        <p:txBody>
          <a:bodyPr wrap="none" lIns="50800" tIns="25400" rIns="50800" bIns="25400" anchor="ctr">
            <a:spAutoFit/>
          </a:bodyPr>
          <a:lstStyle/>
          <a:p>
            <a:pPr algn="l"/>
            <a:r>
              <a:rPr sz="1050" b="1">
                <a:solidFill>
                  <a:srgbClr val="365F6D"/>
                </a:solidFill>
                <a:latin typeface="PingFang SC" panose="020B0400000000000000" charset="-122"/>
              </a:rPr>
              <a:t>召回：intent + keywords + target</a:t>
            </a:r>
            <a:endParaRPr sz="1050" b="1">
              <a:solidFill>
                <a:srgbClr val="365F6D"/>
              </a:solidFill>
              <a:latin typeface="PingFang SC" panose="020B0400000000000000" charset="-122"/>
            </a:endParaRPr>
          </a:p>
        </p:txBody>
      </p:sp>
      <p:sp>
        <p:nvSpPr>
          <p:cNvPr id="68" name="TextBox 67"/>
          <p:cNvSpPr txBox="1"/>
          <p:nvPr/>
        </p:nvSpPr>
        <p:spPr>
          <a:xfrm>
            <a:off x="3774360" y="5481400"/>
            <a:ext cx="2580000" cy="190000"/>
          </a:xfrm>
          <a:prstGeom prst="rect">
            <a:avLst/>
          </a:prstGeom>
          <a:noFill/>
        </p:spPr>
        <p:txBody>
          <a:bodyPr wrap="none" lIns="50800" tIns="25400" rIns="50800" bIns="25400" anchor="ctr">
            <a:spAutoFit/>
          </a:bodyPr>
          <a:lstStyle/>
          <a:p>
            <a:pPr algn="l"/>
            <a:r>
              <a:rPr sz="1050" b="1">
                <a:solidFill>
                  <a:srgbClr val="365F6D"/>
                </a:solidFill>
                <a:latin typeface="PingFang SC" panose="020B0400000000000000" charset="-122"/>
              </a:rPr>
              <a:t>过滤：filters + exclude + target</a:t>
            </a:r>
            <a:endParaRPr sz="1050" b="1">
              <a:solidFill>
                <a:srgbClr val="365F6D"/>
              </a:solidFill>
              <a:latin typeface="PingFang SC" panose="020B0400000000000000" charset="-122"/>
            </a:endParaRPr>
          </a:p>
        </p:txBody>
      </p:sp>
      <p:sp>
        <p:nvSpPr>
          <p:cNvPr id="69" name="TextBox 68"/>
          <p:cNvSpPr txBox="1"/>
          <p:nvPr/>
        </p:nvSpPr>
        <p:spPr>
          <a:xfrm>
            <a:off x="6624360" y="5481400"/>
            <a:ext cx="3560000" cy="190000"/>
          </a:xfrm>
          <a:prstGeom prst="rect">
            <a:avLst/>
          </a:prstGeom>
          <a:noFill/>
        </p:spPr>
        <p:txBody>
          <a:bodyPr wrap="none" lIns="50800" tIns="25400" rIns="50800" bIns="25400" anchor="ctr">
            <a:spAutoFit/>
          </a:bodyPr>
          <a:lstStyle/>
          <a:p>
            <a:pPr algn="l"/>
            <a:r>
              <a:rPr sz="1050" b="1">
                <a:solidFill>
                  <a:srgbClr val="365F6D"/>
                </a:solidFill>
                <a:latin typeface="PingFang SC" panose="020B0400000000000000" charset="-122"/>
              </a:rPr>
              <a:t>重排/解释：raw_query + intent + 结构关系</a:t>
            </a:r>
            <a:endParaRPr sz="1050" b="1">
              <a:solidFill>
                <a:srgbClr val="365F6D"/>
              </a:solidFill>
              <a:latin typeface="PingFang SC" panose="020B0400000000000000" charset="-122"/>
            </a:endParaRPr>
          </a:p>
        </p:txBody>
      </p:sp>
      <p:sp>
        <p:nvSpPr>
          <p:cNvPr id="5" name="Rounded Rectangle 53"/>
          <p:cNvSpPr/>
          <p:nvPr/>
        </p:nvSpPr>
        <p:spPr>
          <a:xfrm>
            <a:off x="4411345" y="1221105"/>
            <a:ext cx="1943100" cy="610235"/>
          </a:xfrm>
          <a:prstGeom prst="roundRect">
            <a:avLst/>
          </a:prstGeom>
          <a:solidFill>
            <a:srgbClr val="2E7E94"/>
          </a:solidFill>
          <a:ln w="12700">
            <a:solidFill>
              <a:srgbClr val="2E7E94"/>
            </a:solidFill>
          </a:ln>
        </p:spPr>
        <p:style>
          <a:lnRef idx="1">
            <a:schemeClr val="accent1"/>
          </a:lnRef>
          <a:fillRef idx="3">
            <a:schemeClr val="accent1"/>
          </a:fillRef>
          <a:effectRef idx="2">
            <a:schemeClr val="accent1"/>
          </a:effectRef>
          <a:fontRef idx="minor">
            <a:schemeClr val="lt1"/>
          </a:fontRef>
        </p:style>
        <p:txBody>
          <a:bodyPr lIns="101600" rIns="101600" rtlCol="0" anchor="ctr"/>
          <a:p>
            <a:pPr algn="ctr"/>
            <a:r>
              <a:rPr sz="2200" b="1">
                <a:solidFill>
                  <a:srgbClr val="FFFFFF"/>
                </a:solidFill>
                <a:latin typeface="Aptos Display"/>
              </a:rPr>
              <a:t>SemQL</a:t>
            </a:r>
            <a:endParaRPr sz="2200" b="1">
              <a:solidFill>
                <a:srgbClr val="FFFFFF"/>
              </a:solidFill>
              <a:latin typeface="Aptos Display"/>
            </a:endParaRPr>
          </a:p>
          <a:p>
            <a:pPr algn="ctr"/>
            <a:r>
              <a:rPr lang="en-US" sz="950">
                <a:solidFill>
                  <a:srgbClr val="E0F4F8"/>
                </a:solidFill>
                <a:latin typeface="Aptos"/>
              </a:rPr>
              <a:t>Semantic Query </a:t>
            </a:r>
            <a:r>
              <a:rPr lang="en-US" sz="950">
                <a:solidFill>
                  <a:srgbClr val="E0F4F8"/>
                </a:solidFill>
                <a:latin typeface="Aptos"/>
              </a:rPr>
              <a:t>Language</a:t>
            </a:r>
            <a:endParaRPr lang="en-US" sz="950">
              <a:solidFill>
                <a:srgbClr val="E0F4F8"/>
              </a:solidFill>
              <a:latin typeface="Aptos"/>
            </a:endParaRPr>
          </a:p>
        </p:txBody>
      </p:sp>
      <p:sp>
        <p:nvSpPr>
          <p:cNvPr id="10" name="Rounded Rectangle 53"/>
          <p:cNvSpPr/>
          <p:nvPr/>
        </p:nvSpPr>
        <p:spPr>
          <a:xfrm>
            <a:off x="2834640" y="2650490"/>
            <a:ext cx="1346835" cy="610235"/>
          </a:xfrm>
          <a:prstGeom prst="roundRect">
            <a:avLst/>
          </a:prstGeom>
          <a:solidFill>
            <a:srgbClr val="2E7E94"/>
          </a:solidFill>
          <a:ln w="12700">
            <a:solidFill>
              <a:srgbClr val="2E7E94"/>
            </a:solidFill>
          </a:ln>
        </p:spPr>
        <p:style>
          <a:lnRef idx="1">
            <a:schemeClr val="accent1"/>
          </a:lnRef>
          <a:fillRef idx="3">
            <a:schemeClr val="accent1"/>
          </a:fillRef>
          <a:effectRef idx="2">
            <a:schemeClr val="accent1"/>
          </a:effectRef>
          <a:fontRef idx="minor">
            <a:schemeClr val="lt1"/>
          </a:fontRef>
        </p:style>
        <p:txBody>
          <a:bodyPr lIns="101600" rIns="101600" rtlCol="0" anchor="ctr"/>
          <a:p>
            <a:pPr algn="ctr"/>
            <a:r>
              <a:rPr lang="zh-CN" sz="2200" b="1">
                <a:solidFill>
                  <a:srgbClr val="FFFFFF"/>
                </a:solidFill>
                <a:latin typeface="Aptos Display"/>
              </a:rPr>
              <a:t>候选集</a:t>
            </a:r>
            <a:endParaRPr lang="zh-CN" sz="2200" b="1">
              <a:solidFill>
                <a:srgbClr val="FFFFFF"/>
              </a:solidFill>
              <a:latin typeface="Aptos Display"/>
            </a:endParaRPr>
          </a:p>
        </p:txBody>
      </p:sp>
      <p:cxnSp>
        <p:nvCxnSpPr>
          <p:cNvPr id="11" name="Connector 38"/>
          <p:cNvCxnSpPr/>
          <p:nvPr/>
        </p:nvCxnSpPr>
        <p:spPr>
          <a:xfrm>
            <a:off x="2445258" y="2960497"/>
            <a:ext cx="34747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标题 87"/>
          <p:cNvSpPr>
            <a:spLocks noGrp="1"/>
          </p:cNvSpPr>
          <p:nvPr>
            <p:ph type="title"/>
          </p:nvPr>
        </p:nvSpPr>
        <p:spPr>
          <a:xfrm>
            <a:off x="870222" y="192542"/>
            <a:ext cx="10066818" cy="442595"/>
          </a:xfrm>
        </p:spPr>
        <p:txBody>
          <a:bodyPr/>
          <a:lstStyle/>
          <a:p>
            <a:pPr>
              <a:defRPr sz="2200" b="1">
                <a:solidFill>
                  <a:srgbClr val="213448"/>
                </a:solidFill>
                <a:latin typeface="微软雅黑"/>
              </a:defRPr>
            </a:pPr>
            <a:r>
              <a:t>关键方法：SemQL、分层过滤与双阶段重排</a:t>
            </a:r>
            <a:endParaRPr dirty="0"/>
          </a:p>
        </p:txBody>
      </p:sp>
      <p:sp>
        <p:nvSpPr>
          <p:cNvPr id="97" name="矩形 96"/>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10</a:t>
            </a:r>
            <a:endParaRPr kumimoji="1" lang="en-US" altLang="zh-CN">
              <a:solidFill>
                <a:schemeClr val="tx1">
                  <a:lumMod val="50000"/>
                  <a:lumOff val="50000"/>
                </a:schemeClr>
              </a:solidFill>
            </a:endParaRPr>
          </a:p>
        </p:txBody>
      </p:sp>
      <p:sp>
        <p:nvSpPr>
          <p:cNvPr id="98" name="Rounded Rectangle 97"/>
          <p:cNvSpPr/>
          <p:nvPr/>
        </p:nvSpPr>
        <p:spPr>
          <a:xfrm>
            <a:off x="5029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02920" y="960120"/>
            <a:ext cx="73152" cy="452628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675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路线一：SemQL-Driven Query Understanding</a:t>
            </a:r>
          </a:p>
        </p:txBody>
      </p:sp>
      <p:sp>
        <p:nvSpPr>
          <p:cNvPr id="101" name="TextBox 100"/>
          <p:cNvSpPr txBox="1"/>
          <p:nvPr/>
        </p:nvSpPr>
        <p:spPr>
          <a:xfrm>
            <a:off x="6675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输入：自然语言 Agent Query</a:t>
            </a:r>
          </a:p>
          <a:p>
            <a:pPr algn="l">
              <a:lnSpc>
                <a:spcPct val="110000"/>
              </a:lnSpc>
              <a:defRPr sz="1250" b="0">
                <a:solidFill>
                  <a:srgbClr val="213448"/>
                </a:solidFill>
                <a:latin typeface="微软雅黑"/>
              </a:defRPr>
            </a:pPr>
            <a:r>
              <a:t>输出：intent、keywords、target、filters、exclude、raw_query</a:t>
            </a:r>
          </a:p>
          <a:p>
            <a:pPr algn="l">
              <a:lnSpc>
                <a:spcPct val="110000"/>
              </a:lnSpc>
              <a:defRPr sz="1250" b="0">
                <a:solidFill>
                  <a:srgbClr val="213448"/>
                </a:solidFill>
                <a:latin typeface="微软雅黑"/>
              </a:defRPr>
            </a:pPr>
            <a:r>
              <a:t>作用：把模糊需求转换为后续模块可消费的结构化 schema</a:t>
            </a:r>
          </a:p>
        </p:txBody>
      </p:sp>
      <p:sp>
        <p:nvSpPr>
          <p:cNvPr id="102" name="Rounded Rectangle 101"/>
          <p:cNvSpPr/>
          <p:nvPr/>
        </p:nvSpPr>
        <p:spPr>
          <a:xfrm>
            <a:off x="43891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4389120" y="960120"/>
            <a:ext cx="73152" cy="452628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5537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路线二：Retrieval + Filtering</a:t>
            </a:r>
          </a:p>
        </p:txBody>
      </p:sp>
      <p:sp>
        <p:nvSpPr>
          <p:cNvPr id="105" name="TextBox 104"/>
          <p:cNvSpPr txBox="1"/>
          <p:nvPr/>
        </p:nvSpPr>
        <p:spPr>
          <a:xfrm>
            <a:off x="45537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多路召回：grep / 倒排索引 / embedding</a:t>
            </a:r>
          </a:p>
          <a:p>
            <a:pPr algn="l">
              <a:lnSpc>
                <a:spcPct val="110000"/>
              </a:lnSpc>
              <a:defRPr sz="1250" b="0">
                <a:solidFill>
                  <a:srgbClr val="213448"/>
                </a:solidFill>
                <a:latin typeface="微软雅黑"/>
              </a:defRPr>
            </a:pPr>
            <a:r>
              <a:t>过滤链路：类型过滤 → 聚类过滤 → 语义过滤</a:t>
            </a:r>
          </a:p>
          <a:p>
            <a:pPr algn="l">
              <a:lnSpc>
                <a:spcPct val="110000"/>
              </a:lnSpc>
              <a:defRPr sz="1250" b="0">
                <a:solidFill>
                  <a:srgbClr val="213448"/>
                </a:solidFill>
                <a:latin typeface="微软雅黑"/>
              </a:defRPr>
            </a:pPr>
            <a:r>
              <a:t>作用：从高 Recall 候选池收敛到高质量候选集</a:t>
            </a:r>
          </a:p>
        </p:txBody>
      </p:sp>
      <p:sp>
        <p:nvSpPr>
          <p:cNvPr id="106" name="Rounded Rectangle 105"/>
          <p:cNvSpPr/>
          <p:nvPr/>
        </p:nvSpPr>
        <p:spPr>
          <a:xfrm>
            <a:off x="82753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275320" y="960120"/>
            <a:ext cx="73152" cy="452628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4399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路线三：Single + Group Reranking</a:t>
            </a:r>
          </a:p>
        </p:txBody>
      </p:sp>
      <p:sp>
        <p:nvSpPr>
          <p:cNvPr id="109" name="TextBox 108"/>
          <p:cNvSpPr txBox="1"/>
          <p:nvPr/>
        </p:nvSpPr>
        <p:spPr>
          <a:xfrm>
            <a:off x="84399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单点相关：LLM relevance、token overlap、code weight</a:t>
            </a:r>
          </a:p>
          <a:p>
            <a:pPr algn="l">
              <a:lnSpc>
                <a:spcPct val="110000"/>
              </a:lnSpc>
              <a:defRPr sz="1250" b="0">
                <a:solidFill>
                  <a:srgbClr val="213448"/>
                </a:solidFill>
                <a:latin typeface="微软雅黑"/>
              </a:defRPr>
            </a:pPr>
            <a:r>
              <a:t>组级相关：调用链、关系图、cluster/group 上下文</a:t>
            </a:r>
          </a:p>
          <a:p>
            <a:pPr algn="l">
              <a:lnSpc>
                <a:spcPct val="110000"/>
              </a:lnSpc>
              <a:defRPr sz="1250" b="0">
                <a:solidFill>
                  <a:srgbClr val="213448"/>
                </a:solidFill>
                <a:latin typeface="微软雅黑"/>
              </a:defRPr>
            </a:pPr>
            <a:r>
              <a:t>作用：修正单点评分偏差，提升 Top-K 质量</a:t>
            </a:r>
          </a:p>
        </p:txBody>
      </p:sp>
      <p:sp>
        <p:nvSpPr>
          <p:cNvPr id="110" name="TextBox 109"/>
          <p:cNvSpPr txBox="1"/>
          <p:nvPr/>
        </p:nvSpPr>
        <p:spPr>
          <a:xfrm>
            <a:off x="685800" y="5715000"/>
            <a:ext cx="10881360" cy="256032"/>
          </a:xfrm>
          <a:prstGeom prst="rect">
            <a:avLst/>
          </a:prstGeom>
          <a:noFill/>
        </p:spPr>
        <p:txBody>
          <a:bodyPr wrap="square" lIns="36576" tIns="18288" rIns="36576" bIns="18288" anchor="t">
            <a:spAutoFit/>
          </a:bodyPr>
          <a:lstStyle/>
          <a:p>
            <a:pPr algn="ctr">
              <a:lnSpc>
                <a:spcPct val="110000"/>
              </a:lnSpc>
              <a:defRPr sz="1500" b="1">
                <a:solidFill>
                  <a:srgbClr val="213448"/>
                </a:solidFill>
                <a:latin typeface="微软雅黑"/>
              </a:defRPr>
            </a:pPr>
            <a:r>
              <a:t>本研究的主线不是单一模型替换，而是构建一个字段可追踪、模块可插拔、结果可解释的检索框架。</a:t>
            </a:r>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4093849" y="2616184"/>
            <a:ext cx="3644075" cy="1011474"/>
            <a:chOff x="2656412" y="2719778"/>
            <a:chExt cx="1390481" cy="385951"/>
          </a:xfrm>
        </p:grpSpPr>
        <p:sp>
          <p:nvSpPr>
            <p:cNvPr id="5" name="文本框 4"/>
            <p:cNvSpPr txBox="1"/>
            <p:nvPr/>
          </p:nvSpPr>
          <p:spPr>
            <a:xfrm>
              <a:off x="3115496" y="2719778"/>
              <a:ext cx="931397" cy="281793"/>
            </a:xfrm>
            <a:prstGeom prst="rect">
              <a:avLst/>
            </a:prstGeom>
            <a:noFill/>
          </p:spPr>
          <p:txBody>
            <a:bodyPr wrap="none" lIns="0" tIns="0" rIns="0" bIns="0" rtlCol="0">
              <a:spAutoFit/>
            </a:bodyPr>
            <a:lstStyle/>
            <a:p>
              <a:pPr algn="ctr">
                <a:defRPr sz="2000" b="1">
                  <a:solidFill>
                    <a:srgbClr val="213448"/>
                  </a:solidFill>
                  <a:latin typeface="微软雅黑"/>
                </a:defRPr>
              </a:pPr>
              <a:r>
                <a:t>阶段成果与实验进展</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4</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3115496" y="3000087"/>
              <a:ext cx="838354" cy="105642"/>
            </a:xfrm>
            <a:prstGeom prst="rect">
              <a:avLst/>
            </a:prstGeom>
            <a:noFill/>
          </p:spPr>
          <p:txBody>
            <a:bodyPr wrap="none" lIns="0" tIns="0" rIns="0" bIns="0" rtlCol="0">
              <a:spAutoFit/>
            </a:bodyPr>
            <a:lstStyle/>
            <a:p>
              <a:pPr algn="ctr">
                <a:defRPr sz="700" b="0">
                  <a:solidFill>
                    <a:srgbClr val="5D6C7A"/>
                  </a:solidFill>
                  <a:latin typeface="微软雅黑"/>
                </a:defRPr>
              </a:pPr>
              <a:r>
                <a:t>Progress and Current Results</a:t>
              </a:r>
              <a:endParaRPr lang="en-US" altLang="zh-CN"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11</a:t>
            </a:r>
            <a:endParaRPr kumimoji="1" lang="en-US" altLang="zh-CN">
              <a:solidFill>
                <a:schemeClr val="tx1">
                  <a:lumMod val="50000"/>
                  <a:lumOff val="50000"/>
                </a:schemeClr>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标题 27"/>
          <p:cNvSpPr>
            <a:spLocks noGrp="1"/>
          </p:cNvSpPr>
          <p:nvPr>
            <p:ph type="title"/>
          </p:nvPr>
        </p:nvSpPr>
        <p:spPr>
          <a:xfrm>
            <a:off x="870222" y="192542"/>
            <a:ext cx="10066818" cy="442595"/>
          </a:xfrm>
        </p:spPr>
        <p:txBody>
          <a:bodyPr/>
          <a:lstStyle/>
          <a:p>
            <a:pPr>
              <a:defRPr sz="2200" b="1">
                <a:solidFill>
                  <a:srgbClr val="213448"/>
                </a:solidFill>
                <a:latin typeface="微软雅黑"/>
              </a:defRPr>
            </a:pPr>
            <a:r>
              <a:t>阶段成果与当前进展</a:t>
            </a:r>
            <a:endParaRPr dirty="0"/>
          </a:p>
        </p:txBody>
      </p:sp>
      <p:sp>
        <p:nvSpPr>
          <p:cNvPr id="18" name="矩形 17"/>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12</a:t>
            </a:r>
            <a:endParaRPr kumimoji="1" lang="en-US" altLang="zh-CN">
              <a:solidFill>
                <a:schemeClr val="tx1">
                  <a:lumMod val="50000"/>
                  <a:lumOff val="50000"/>
                </a:schemeClr>
              </a:solidFill>
            </a:endParaRPr>
          </a:p>
        </p:txBody>
      </p:sp>
      <p:sp>
        <p:nvSpPr>
          <p:cNvPr id="29" name="Rounded Rectangle 28"/>
          <p:cNvSpPr/>
          <p:nvPr/>
        </p:nvSpPr>
        <p:spPr>
          <a:xfrm>
            <a:off x="5029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SemQL 设计已完成</a:t>
            </a:r>
          </a:p>
        </p:txBody>
      </p:sp>
      <p:sp>
        <p:nvSpPr>
          <p:cNvPr id="31" name="TextBox 30"/>
          <p:cNvSpPr txBox="1"/>
          <p:nvPr/>
        </p:nvSpPr>
        <p:spPr>
          <a:xfrm>
            <a:off x="6675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最新 schema 写入 query_dsl_new.json</a:t>
            </a:r>
          </a:p>
          <a:p>
            <a:pPr algn="l">
              <a:lnSpc>
                <a:spcPct val="110000"/>
              </a:lnSpc>
              <a:defRPr sz="1250" b="0">
                <a:solidFill>
                  <a:srgbClr val="213448"/>
                </a:solidFill>
                <a:latin typeface="微软雅黑"/>
              </a:defRPr>
            </a:pPr>
            <a:r>
              <a:t>• target 支持多类型数组</a:t>
            </a:r>
          </a:p>
          <a:p>
            <a:pPr algn="l">
              <a:lnSpc>
                <a:spcPct val="110000"/>
              </a:lnSpc>
              <a:defRPr sz="1250" b="0">
                <a:solidFill>
                  <a:srgbClr val="213448"/>
                </a:solidFill>
                <a:latin typeface="微软雅黑"/>
              </a:defRPr>
            </a:pPr>
            <a:r>
              <a:t>• filters / exclude 显式承载约束与排除条件</a:t>
            </a:r>
          </a:p>
        </p:txBody>
      </p:sp>
      <p:sp>
        <p:nvSpPr>
          <p:cNvPr id="32" name="Rounded Rectangle 31"/>
          <p:cNvSpPr/>
          <p:nvPr/>
        </p:nvSpPr>
        <p:spPr>
          <a:xfrm>
            <a:off x="43891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37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基础 Pipeline 已搭建</a:t>
            </a:r>
          </a:p>
        </p:txBody>
      </p:sp>
      <p:sp>
        <p:nvSpPr>
          <p:cNvPr id="34" name="TextBox 33"/>
          <p:cNvSpPr txBox="1"/>
          <p:nvPr/>
        </p:nvSpPr>
        <p:spPr>
          <a:xfrm>
            <a:off x="45537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多路召回链路完成方案化</a:t>
            </a:r>
          </a:p>
          <a:p>
            <a:pPr algn="l">
              <a:lnSpc>
                <a:spcPct val="110000"/>
              </a:lnSpc>
              <a:defRPr sz="1250" b="0">
                <a:solidFill>
                  <a:srgbClr val="213448"/>
                </a:solidFill>
                <a:latin typeface="微软雅黑"/>
              </a:defRPr>
            </a:pPr>
            <a:r>
              <a:t>• Filtering 与 Rerank 模块已拆分</a:t>
            </a:r>
          </a:p>
          <a:p>
            <a:pPr algn="l">
              <a:lnSpc>
                <a:spcPct val="110000"/>
              </a:lnSpc>
              <a:defRPr sz="1250" b="0">
                <a:solidFill>
                  <a:srgbClr val="213448"/>
                </a:solidFill>
                <a:latin typeface="微软雅黑"/>
              </a:defRPr>
            </a:pPr>
            <a:r>
              <a:t>• 例会报告已形成端到端汇报版本</a:t>
            </a:r>
          </a:p>
        </p:txBody>
      </p:sp>
      <p:sp>
        <p:nvSpPr>
          <p:cNvPr id="35" name="Rounded Rectangle 34"/>
          <p:cNvSpPr/>
          <p:nvPr/>
        </p:nvSpPr>
        <p:spPr>
          <a:xfrm>
            <a:off x="82753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399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聚类过滤正在集成</a:t>
            </a:r>
          </a:p>
        </p:txBody>
      </p:sp>
      <p:sp>
        <p:nvSpPr>
          <p:cNvPr id="37" name="TextBox 36"/>
          <p:cNvSpPr txBox="1"/>
          <p:nvPr/>
        </p:nvSpPr>
        <p:spPr>
          <a:xfrm>
            <a:off x="84399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基于代码 embedding 聚类候选元素</a:t>
            </a:r>
          </a:p>
          <a:p>
            <a:pPr algn="l">
              <a:lnSpc>
                <a:spcPct val="110000"/>
              </a:lnSpc>
              <a:defRPr sz="1250" b="0">
                <a:solidFill>
                  <a:srgbClr val="213448"/>
                </a:solidFill>
                <a:latin typeface="微软雅黑"/>
              </a:defRPr>
            </a:pPr>
            <a:r>
              <a:t>• 按簇相关性分为保留/精筛/过滤</a:t>
            </a:r>
          </a:p>
          <a:p>
            <a:pPr algn="l">
              <a:lnSpc>
                <a:spcPct val="110000"/>
              </a:lnSpc>
              <a:defRPr sz="1250" b="0">
                <a:solidFill>
                  <a:srgbClr val="213448"/>
                </a:solidFill>
                <a:latin typeface="微软雅黑"/>
              </a:defRPr>
            </a:pPr>
            <a:r>
              <a:t>• 降低逐元素 LLM 过滤成本</a:t>
            </a:r>
          </a:p>
        </p:txBody>
      </p:sp>
      <p:sp>
        <p:nvSpPr>
          <p:cNvPr id="38" name="Rounded Rectangle 37"/>
          <p:cNvSpPr/>
          <p:nvPr/>
        </p:nvSpPr>
        <p:spPr>
          <a:xfrm>
            <a:off x="685800" y="3474720"/>
            <a:ext cx="10835640" cy="150876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3703320"/>
            <a:ext cx="2880360" cy="868680"/>
          </a:xfrm>
          <a:prstGeom prst="rect">
            <a:avLst/>
          </a:prstGeom>
          <a:noFill/>
        </p:spPr>
        <p:txBody>
          <a:bodyPr wrap="square" lIns="36576" tIns="18288" rIns="36576" bIns="18288" anchor="ctr">
            <a:spAutoFit/>
          </a:bodyPr>
          <a:lstStyle/>
          <a:p>
            <a:pPr algn="ctr">
              <a:lnSpc>
                <a:spcPct val="110000"/>
              </a:lnSpc>
              <a:defRPr sz="2000" b="1">
                <a:solidFill>
                  <a:srgbClr val="1F5C8A"/>
                </a:solidFill>
                <a:latin typeface="微软雅黑"/>
              </a:defRPr>
            </a:pPr>
            <a:r>
              <a:t>当前可展示产物</a:t>
            </a:r>
          </a:p>
        </p:txBody>
      </p:sp>
      <p:sp>
        <p:nvSpPr>
          <p:cNvPr id="40" name="TextBox 39"/>
          <p:cNvSpPr txBox="1"/>
          <p:nvPr/>
        </p:nvSpPr>
        <p:spPr>
          <a:xfrm>
            <a:off x="3886200" y="3657600"/>
            <a:ext cx="7269480" cy="914400"/>
          </a:xfrm>
          <a:prstGeom prst="rect">
            <a:avLst/>
          </a:prstGeom>
          <a:noFill/>
        </p:spPr>
        <p:txBody>
          <a:bodyPr wrap="square" lIns="36576" tIns="18288" rIns="36576" bIns="18288" anchor="ctr">
            <a:spAutoFit/>
          </a:bodyPr>
          <a:lstStyle/>
          <a:p>
            <a:pPr algn="l">
              <a:lnSpc>
                <a:spcPct val="110000"/>
              </a:lnSpc>
              <a:defRPr sz="1600" b="0">
                <a:solidFill>
                  <a:srgbClr val="213448"/>
                </a:solidFill>
                <a:latin typeface="微软雅黑"/>
              </a:defRPr>
            </a:pPr>
            <a:r>
              <a:t>code_search例会报告_509.pptx、query_dsl_new.json、cluster_pipeline.html、filters/cluster_pipeline.py；这些材料共同构成中期阶段的方法、系统与扩展设计证据。</a:t>
            </a:r>
          </a:p>
        </p:txBody>
      </p:sp>
      <p:sp>
        <p:nvSpPr>
          <p:cNvPr id="41" name="TextBox 40"/>
          <p:cNvSpPr txBox="1"/>
          <p:nvPr/>
        </p:nvSpPr>
        <p:spPr>
          <a:xfrm>
            <a:off x="731520" y="5486400"/>
            <a:ext cx="10607040" cy="292608"/>
          </a:xfrm>
          <a:prstGeom prst="rect">
            <a:avLst/>
          </a:prstGeom>
          <a:noFill/>
        </p:spPr>
        <p:txBody>
          <a:bodyPr wrap="square" lIns="36576" tIns="18288" rIns="36576" bIns="18288" anchor="t">
            <a:spAutoFit/>
          </a:bodyPr>
          <a:lstStyle/>
          <a:p>
            <a:pPr algn="ctr">
              <a:lnSpc>
                <a:spcPct val="110000"/>
              </a:lnSpc>
              <a:defRPr sz="1500" b="1">
                <a:solidFill>
                  <a:srgbClr val="5D6C7A"/>
                </a:solidFill>
                <a:latin typeface="微软雅黑"/>
              </a:defRPr>
            </a:pPr>
            <a:r>
              <a:t>下一步重点：补齐系统化实验指标，比较无过滤/传统过滤/聚类过滤/完整重排的效果差异。</a:t>
            </a:r>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300732" y="2616184"/>
            <a:ext cx="5352544" cy="1011474"/>
            <a:chOff x="2353780" y="2719778"/>
            <a:chExt cx="2042387" cy="385951"/>
          </a:xfrm>
        </p:grpSpPr>
        <p:sp>
          <p:nvSpPr>
            <p:cNvPr id="5" name="文本框 4"/>
            <p:cNvSpPr txBox="1"/>
            <p:nvPr/>
          </p:nvSpPr>
          <p:spPr>
            <a:xfrm>
              <a:off x="2766222" y="2719778"/>
              <a:ext cx="1629945" cy="281793"/>
            </a:xfrm>
            <a:prstGeom prst="rect">
              <a:avLst/>
            </a:prstGeom>
            <a:noFill/>
          </p:spPr>
          <p:txBody>
            <a:bodyPr wrap="none" lIns="0" tIns="0" rIns="0" bIns="0" rtlCol="0">
              <a:spAutoFit/>
            </a:bodyPr>
            <a:lstStyle/>
            <a:p>
              <a:pPr algn="ctr">
                <a:defRPr sz="2000" b="1">
                  <a:solidFill>
                    <a:srgbClr val="213448"/>
                  </a:solidFill>
                  <a:latin typeface="微软雅黑"/>
                </a:defRPr>
              </a:pPr>
              <a:r>
                <a:t>研究计划与风险控制</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353780" y="2752246"/>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5</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2943464" y="3000087"/>
              <a:ext cx="1182419" cy="105642"/>
            </a:xfrm>
            <a:prstGeom prst="rect">
              <a:avLst/>
            </a:prstGeom>
            <a:noFill/>
          </p:spPr>
          <p:txBody>
            <a:bodyPr wrap="none" lIns="0" tIns="0" rIns="0" bIns="0" rtlCol="0">
              <a:spAutoFit/>
            </a:bodyPr>
            <a:lstStyle/>
            <a:p>
              <a:pPr algn="ctr">
                <a:defRPr sz="700" b="0">
                  <a:solidFill>
                    <a:srgbClr val="5D6C7A"/>
                  </a:solidFill>
                  <a:latin typeface="微软雅黑"/>
                </a:defRPr>
              </a:pPr>
              <a:r>
                <a:t>Research Plan and Risk Control</a:t>
              </a:r>
              <a:endParaRPr lang="en-US" altLang="zh-CN"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13</a:t>
            </a:r>
            <a:endParaRPr kumimoji="1" lang="en-US" altLang="zh-CN">
              <a:solidFill>
                <a:schemeClr val="tx1">
                  <a:lumMod val="50000"/>
                  <a:lumOff val="50000"/>
                </a:scheme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ïŝlîďé"/>
        <p:cNvGrpSpPr/>
        <p:nvPr/>
      </p:nvGrpSpPr>
      <p:grpSpPr>
        <a:xfrm>
          <a:off x="0" y="0"/>
          <a:ext cx="0" cy="0"/>
          <a:chOff x="0" y="0"/>
          <a:chExt cx="0" cy="0"/>
        </a:xfrm>
      </p:grpSpPr>
      <p:sp>
        <p:nvSpPr>
          <p:cNvPr id="5" name="标题 4"/>
          <p:cNvSpPr>
            <a:spLocks noGrp="1"/>
          </p:cNvSpPr>
          <p:nvPr>
            <p:ph type="title"/>
          </p:nvPr>
        </p:nvSpPr>
        <p:spPr>
          <a:xfrm>
            <a:off x="870222" y="192542"/>
            <a:ext cx="10066818" cy="442595"/>
          </a:xfrm>
        </p:spPr>
        <p:txBody>
          <a:bodyPr/>
          <a:lstStyle/>
          <a:p>
            <a:pPr>
              <a:defRPr sz="2200" b="1">
                <a:solidFill>
                  <a:srgbClr val="213448"/>
                </a:solidFill>
                <a:latin typeface="微软雅黑"/>
              </a:defRPr>
            </a:pPr>
            <a:r>
              <a:t>研究计划与进度安排</a:t>
            </a:r>
            <a:endParaRPr lang="zh-CN" altLang="en-US" dirty="0"/>
          </a:p>
        </p:txBody>
      </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14</a:t>
            </a:r>
            <a:endParaRPr kumimoji="1" lang="en-US" altLang="zh-CN">
              <a:solidFill>
                <a:schemeClr val="tx1">
                  <a:lumMod val="50000"/>
                  <a:lumOff val="50000"/>
                </a:schemeClr>
              </a:solidFill>
            </a:endParaRPr>
          </a:p>
        </p:txBody>
      </p:sp>
      <p:cxnSp>
        <p:nvCxnSpPr>
          <p:cNvPr id="6" name="Connector 5"/>
          <p:cNvCxnSpPr/>
          <p:nvPr/>
        </p:nvCxnSpPr>
        <p:spPr>
          <a:xfrm>
            <a:off x="1143000" y="1600200"/>
            <a:ext cx="9738360"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77724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2026.03-2026.05</a:t>
            </a:r>
          </a:p>
        </p:txBody>
      </p:sp>
      <p:sp>
        <p:nvSpPr>
          <p:cNvPr id="9" name="TextBox 8"/>
          <p:cNvSpPr txBox="1"/>
          <p:nvPr/>
        </p:nvSpPr>
        <p:spPr>
          <a:xfrm>
            <a:off x="82296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48A264"/>
                </a:solidFill>
                <a:latin typeface="微软雅黑"/>
              </a:defRPr>
            </a:pPr>
            <a:r>
              <a:t>已完成</a:t>
            </a:r>
          </a:p>
        </p:txBody>
      </p:sp>
      <p:cxnSp>
        <p:nvCxnSpPr>
          <p:cNvPr id="10" name="Connector 9"/>
          <p:cNvCxnSpPr/>
          <p:nvPr/>
        </p:nvCxnSpPr>
        <p:spPr>
          <a:xfrm>
            <a:off x="158191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问题定义、SemQL schema、例会版 pipeline 设计</a:t>
            </a:r>
          </a:p>
        </p:txBody>
      </p:sp>
      <p:sp>
        <p:nvSpPr>
          <p:cNvPr id="12" name="Rounded Rectangle 11"/>
          <p:cNvSpPr/>
          <p:nvPr/>
        </p:nvSpPr>
        <p:spPr>
          <a:xfrm>
            <a:off x="301752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6324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2026.05-2026.07</a:t>
            </a:r>
          </a:p>
        </p:txBody>
      </p:sp>
      <p:sp>
        <p:nvSpPr>
          <p:cNvPr id="14" name="TextBox 13"/>
          <p:cNvSpPr txBox="1"/>
          <p:nvPr/>
        </p:nvSpPr>
        <p:spPr>
          <a:xfrm>
            <a:off x="306324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进行中</a:t>
            </a:r>
          </a:p>
        </p:txBody>
      </p:sp>
      <p:cxnSp>
        <p:nvCxnSpPr>
          <p:cNvPr id="15" name="Connector 14"/>
          <p:cNvCxnSpPr/>
          <p:nvPr/>
        </p:nvCxnSpPr>
        <p:spPr>
          <a:xfrm>
            <a:off x="382219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8036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聚类过滤接入、过滤报告与可解释输出</a:t>
            </a:r>
          </a:p>
        </p:txBody>
      </p:sp>
      <p:sp>
        <p:nvSpPr>
          <p:cNvPr id="17" name="Rounded Rectangle 16"/>
          <p:cNvSpPr/>
          <p:nvPr/>
        </p:nvSpPr>
        <p:spPr>
          <a:xfrm>
            <a:off x="525780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2026.07-2026.09</a:t>
            </a:r>
          </a:p>
        </p:txBody>
      </p:sp>
      <p:sp>
        <p:nvSpPr>
          <p:cNvPr id="19" name="TextBox 18"/>
          <p:cNvSpPr txBox="1"/>
          <p:nvPr/>
        </p:nvSpPr>
        <p:spPr>
          <a:xfrm>
            <a:off x="530352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20" name="Connector 19"/>
          <p:cNvCxnSpPr/>
          <p:nvPr/>
        </p:nvCxnSpPr>
        <p:spPr>
          <a:xfrm>
            <a:off x="606247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12064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实验数据集构建、Recall / Precision / Top-K 评测</a:t>
            </a:r>
          </a:p>
        </p:txBody>
      </p:sp>
      <p:sp>
        <p:nvSpPr>
          <p:cNvPr id="22" name="Rounded Rectangle 21"/>
          <p:cNvSpPr/>
          <p:nvPr/>
        </p:nvSpPr>
        <p:spPr>
          <a:xfrm>
            <a:off x="749808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4380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2026.09-2026.10</a:t>
            </a:r>
          </a:p>
        </p:txBody>
      </p:sp>
      <p:sp>
        <p:nvSpPr>
          <p:cNvPr id="24" name="TextBox 23"/>
          <p:cNvSpPr txBox="1"/>
          <p:nvPr/>
        </p:nvSpPr>
        <p:spPr>
          <a:xfrm>
            <a:off x="754380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25" name="Connector 24"/>
          <p:cNvCxnSpPr/>
          <p:nvPr/>
        </p:nvCxnSpPr>
        <p:spPr>
          <a:xfrm>
            <a:off x="830275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092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消融实验、对比实验与参数敏感性分析</a:t>
            </a:r>
          </a:p>
        </p:txBody>
      </p:sp>
      <p:sp>
        <p:nvSpPr>
          <p:cNvPr id="27" name="Rounded Rectangle 26"/>
          <p:cNvSpPr/>
          <p:nvPr/>
        </p:nvSpPr>
        <p:spPr>
          <a:xfrm>
            <a:off x="973836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2026.10-2026.12</a:t>
            </a:r>
          </a:p>
        </p:txBody>
      </p:sp>
      <p:sp>
        <p:nvSpPr>
          <p:cNvPr id="29" name="TextBox 28"/>
          <p:cNvSpPr txBox="1"/>
          <p:nvPr/>
        </p:nvSpPr>
        <p:spPr>
          <a:xfrm>
            <a:off x="978408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30" name="Connector 29"/>
          <p:cNvCxnSpPr/>
          <p:nvPr/>
        </p:nvCxnSpPr>
        <p:spPr>
          <a:xfrm>
            <a:off x="1054303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论文撰写、系统整理与答辩准备</a:t>
            </a:r>
          </a:p>
        </p:txBody>
      </p:sp>
      <p:sp>
        <p:nvSpPr>
          <p:cNvPr id="32" name="Rounded Rectangle 31"/>
          <p:cNvSpPr/>
          <p:nvPr/>
        </p:nvSpPr>
        <p:spPr>
          <a:xfrm>
            <a:off x="68580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2"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近期工作</a:t>
            </a:r>
          </a:p>
        </p:txBody>
      </p:sp>
      <p:sp>
        <p:nvSpPr>
          <p:cNvPr id="34" name="TextBox 33"/>
          <p:cNvSpPr txBox="1"/>
          <p:nvPr/>
        </p:nvSpPr>
        <p:spPr>
          <a:xfrm>
            <a:off x="850392"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实现聚类过滤在主流程中的配置化开关</a:t>
            </a:r>
          </a:p>
          <a:p>
            <a:pPr algn="l">
              <a:lnSpc>
                <a:spcPct val="110000"/>
              </a:lnSpc>
              <a:defRPr sz="1250" b="0">
                <a:solidFill>
                  <a:srgbClr val="213448"/>
                </a:solidFill>
                <a:latin typeface="微软雅黑"/>
              </a:defRPr>
            </a:pPr>
            <a:r>
              <a:t>• 建立 case study 与人工标注评测集</a:t>
            </a:r>
          </a:p>
          <a:p>
            <a:pPr algn="l">
              <a:lnSpc>
                <a:spcPct val="110000"/>
              </a:lnSpc>
              <a:defRPr sz="1250" b="0">
                <a:solidFill>
                  <a:srgbClr val="213448"/>
                </a:solidFill>
                <a:latin typeface="微软雅黑"/>
              </a:defRPr>
            </a:pPr>
            <a:r>
              <a:t>• 沉淀过滤失败样例用于迭代 SemQL</a:t>
            </a:r>
          </a:p>
        </p:txBody>
      </p:sp>
      <p:sp>
        <p:nvSpPr>
          <p:cNvPr id="35" name="Rounded Rectangle 34"/>
          <p:cNvSpPr/>
          <p:nvPr/>
        </p:nvSpPr>
        <p:spPr>
          <a:xfrm>
            <a:off x="438912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53712"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实验计划</a:t>
            </a:r>
          </a:p>
        </p:txBody>
      </p:sp>
      <p:sp>
        <p:nvSpPr>
          <p:cNvPr id="37" name="TextBox 36"/>
          <p:cNvSpPr txBox="1"/>
          <p:nvPr/>
        </p:nvSpPr>
        <p:spPr>
          <a:xfrm>
            <a:off x="4553712"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对比不同召回和过滤组合</a:t>
            </a:r>
          </a:p>
          <a:p>
            <a:pPr algn="l">
              <a:lnSpc>
                <a:spcPct val="110000"/>
              </a:lnSpc>
              <a:defRPr sz="1250" b="0">
                <a:solidFill>
                  <a:srgbClr val="213448"/>
                </a:solidFill>
                <a:latin typeface="微软雅黑"/>
              </a:defRPr>
            </a:pPr>
            <a:r>
              <a:t>• 统计候选规模、LLM 调用次数、Top-K 命中率</a:t>
            </a:r>
          </a:p>
          <a:p>
            <a:pPr algn="l">
              <a:lnSpc>
                <a:spcPct val="110000"/>
              </a:lnSpc>
              <a:defRPr sz="1250" b="0">
                <a:solidFill>
                  <a:srgbClr val="213448"/>
                </a:solidFill>
                <a:latin typeface="微软雅黑"/>
              </a:defRPr>
            </a:pPr>
            <a:r>
              <a:t>• 开展 cluster threshold 参数敏感性分析</a:t>
            </a:r>
          </a:p>
        </p:txBody>
      </p:sp>
      <p:sp>
        <p:nvSpPr>
          <p:cNvPr id="38" name="Rounded Rectangle 37"/>
          <p:cNvSpPr/>
          <p:nvPr/>
        </p:nvSpPr>
        <p:spPr>
          <a:xfrm>
            <a:off x="809244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57031"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风险控制</a:t>
            </a:r>
          </a:p>
        </p:txBody>
      </p:sp>
      <p:sp>
        <p:nvSpPr>
          <p:cNvPr id="40" name="TextBox 39"/>
          <p:cNvSpPr txBox="1"/>
          <p:nvPr/>
        </p:nvSpPr>
        <p:spPr>
          <a:xfrm>
            <a:off x="8257031"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聚类误删：保留抽样验证与语义过滤兜底</a:t>
            </a:r>
          </a:p>
          <a:p>
            <a:pPr algn="l">
              <a:lnSpc>
                <a:spcPct val="110000"/>
              </a:lnSpc>
              <a:defRPr sz="1250" b="0">
                <a:solidFill>
                  <a:srgbClr val="213448"/>
                </a:solidFill>
                <a:latin typeface="微软雅黑"/>
              </a:defRPr>
            </a:pPr>
            <a:r>
              <a:t>• 延迟增加：候选阈值与缓存机制</a:t>
            </a:r>
          </a:p>
          <a:p>
            <a:pPr algn="l">
              <a:lnSpc>
                <a:spcPct val="110000"/>
              </a:lnSpc>
              <a:defRPr sz="1250" b="0">
                <a:solidFill>
                  <a:srgbClr val="213448"/>
                </a:solidFill>
                <a:latin typeface="微软雅黑"/>
              </a:defRPr>
            </a:pPr>
            <a:r>
              <a:t>• 语义漂移：SemQL 字段约束持续校验</a:t>
            </a:r>
          </a:p>
        </p:txBody>
      </p:sp>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894457" y="2616184"/>
            <a:ext cx="4180978" cy="1011474"/>
            <a:chOff x="2353780" y="2719778"/>
            <a:chExt cx="1595349" cy="385951"/>
          </a:xfrm>
        </p:grpSpPr>
        <p:sp>
          <p:nvSpPr>
            <p:cNvPr id="5" name="文本框 4"/>
            <p:cNvSpPr txBox="1"/>
            <p:nvPr/>
          </p:nvSpPr>
          <p:spPr>
            <a:xfrm>
              <a:off x="2784883" y="2719778"/>
              <a:ext cx="1164246" cy="281793"/>
            </a:xfrm>
            <a:prstGeom prst="rect">
              <a:avLst/>
            </a:prstGeom>
            <a:noFill/>
          </p:spPr>
          <p:txBody>
            <a:bodyPr wrap="none" lIns="0" tIns="0" rIns="0" bIns="0" rtlCol="0">
              <a:spAutoFit/>
            </a:bodyPr>
            <a:lstStyle/>
            <a:p>
              <a:pPr algn="ctr">
                <a:defRPr sz="2000" b="1">
                  <a:solidFill>
                    <a:srgbClr val="213448"/>
                  </a:solidFill>
                  <a:latin typeface="微软雅黑"/>
                </a:defRPr>
              </a:pPr>
              <a:r>
                <a:t>总结与展望</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353780" y="2752246"/>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6</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2917057" y="3000087"/>
              <a:ext cx="930428" cy="105642"/>
            </a:xfrm>
            <a:prstGeom prst="rect">
              <a:avLst/>
            </a:prstGeom>
            <a:noFill/>
          </p:spPr>
          <p:txBody>
            <a:bodyPr wrap="none" lIns="0" tIns="0" rIns="0" bIns="0" rtlCol="0">
              <a:spAutoFit/>
            </a:bodyPr>
            <a:lstStyle/>
            <a:p>
              <a:pPr algn="ctr">
                <a:defRPr sz="700" b="0">
                  <a:solidFill>
                    <a:srgbClr val="5D6C7A"/>
                  </a:solidFill>
                  <a:latin typeface="微软雅黑"/>
                </a:defRPr>
              </a:pPr>
              <a:r>
                <a:t>Summary and Outlook</a:t>
              </a:r>
              <a:endParaRPr lang="en-US" altLang="zh-CN"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15</a:t>
            </a:r>
            <a:endParaRPr kumimoji="1" lang="en-US" altLang="zh-CN">
              <a:solidFill>
                <a:schemeClr val="tx1">
                  <a:lumMod val="50000"/>
                  <a:lumOff val="50000"/>
                </a:schemeClr>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a:xfrm>
            <a:off x="870222" y="192542"/>
            <a:ext cx="10066818" cy="442595"/>
          </a:xfrm>
        </p:spPr>
        <p:txBody>
          <a:bodyPr/>
          <a:lstStyle/>
          <a:p>
            <a:pPr>
              <a:defRPr sz="2200" b="1">
                <a:solidFill>
                  <a:srgbClr val="213448"/>
                </a:solidFill>
                <a:latin typeface="微软雅黑"/>
              </a:defRPr>
            </a:pPr>
            <a:r>
              <a:t>总结与展望</a:t>
            </a:r>
            <a:endParaRPr lang="zh-CN" altLang="en-US" dirty="0"/>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16</a:t>
            </a:r>
            <a:endParaRPr kumimoji="1" lang="en-US" altLang="zh-CN">
              <a:solidFill>
                <a:schemeClr val="tx1">
                  <a:lumMod val="50000"/>
                  <a:lumOff val="50000"/>
                </a:schemeClr>
              </a:solidFill>
            </a:endParaRPr>
          </a:p>
        </p:txBody>
      </p:sp>
      <p:sp>
        <p:nvSpPr>
          <p:cNvPr id="68" name="TextBox 67"/>
          <p:cNvSpPr txBox="1"/>
          <p:nvPr/>
        </p:nvSpPr>
        <p:spPr>
          <a:xfrm>
            <a:off x="640080" y="914400"/>
            <a:ext cx="10972800" cy="457200"/>
          </a:xfrm>
          <a:prstGeom prst="rect">
            <a:avLst/>
          </a:prstGeom>
          <a:noFill/>
        </p:spPr>
        <p:txBody>
          <a:bodyPr wrap="square" lIns="36576" tIns="18288" rIns="36576" bIns="18288" anchor="t">
            <a:spAutoFit/>
          </a:bodyPr>
          <a:lstStyle/>
          <a:p>
            <a:pPr algn="ctr">
              <a:lnSpc>
                <a:spcPct val="110000"/>
              </a:lnSpc>
              <a:defRPr sz="1900" b="1">
                <a:solidFill>
                  <a:srgbClr val="213448"/>
                </a:solidFill>
                <a:latin typeface="微软雅黑"/>
              </a:defRPr>
            </a:pPr>
            <a:r>
              <a:t>本阶段围绕“Agent Query 如何可靠检索大型代码库”完成了方法主线、数据契约和关键模块设计。</a:t>
            </a:r>
          </a:p>
        </p:txBody>
      </p:sp>
      <p:sp>
        <p:nvSpPr>
          <p:cNvPr id="69" name="Rounded Rectangle 68"/>
          <p:cNvSpPr/>
          <p:nvPr/>
        </p:nvSpPr>
        <p:spPr>
          <a:xfrm>
            <a:off x="594360"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1783080"/>
            <a:ext cx="73152" cy="265176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58952"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阶段总结</a:t>
            </a:r>
          </a:p>
        </p:txBody>
      </p:sp>
      <p:sp>
        <p:nvSpPr>
          <p:cNvPr id="72" name="TextBox 71"/>
          <p:cNvSpPr txBox="1"/>
          <p:nvPr/>
        </p:nvSpPr>
        <p:spPr>
          <a:xfrm>
            <a:off x="758952"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SemQL 将自然语言需求结构化</a:t>
            </a:r>
          </a:p>
          <a:p>
            <a:pPr algn="l">
              <a:lnSpc>
                <a:spcPct val="110000"/>
              </a:lnSpc>
              <a:defRPr sz="1250" b="0">
                <a:solidFill>
                  <a:srgbClr val="213448"/>
                </a:solidFill>
                <a:latin typeface="微软雅黑"/>
              </a:defRPr>
            </a:pPr>
            <a:r>
              <a:t>• 多路召回保证候选覆盖</a:t>
            </a:r>
          </a:p>
          <a:p>
            <a:pPr algn="l">
              <a:lnSpc>
                <a:spcPct val="110000"/>
              </a:lnSpc>
              <a:defRPr sz="1250" b="0">
                <a:solidFill>
                  <a:srgbClr val="213448"/>
                </a:solidFill>
                <a:latin typeface="微软雅黑"/>
              </a:defRPr>
            </a:pPr>
            <a:r>
              <a:t>• 分层过滤降低噪声与成本</a:t>
            </a:r>
          </a:p>
          <a:p>
            <a:pPr algn="l">
              <a:lnSpc>
                <a:spcPct val="110000"/>
              </a:lnSpc>
              <a:defRPr sz="1250" b="0">
                <a:solidFill>
                  <a:srgbClr val="213448"/>
                </a:solidFill>
                <a:latin typeface="微软雅黑"/>
              </a:defRPr>
            </a:pPr>
            <a:r>
              <a:t>• Single + Group rerank 提升最终排序质量</a:t>
            </a:r>
          </a:p>
        </p:txBody>
      </p:sp>
      <p:sp>
        <p:nvSpPr>
          <p:cNvPr id="73" name="Rounded Rectangle 72"/>
          <p:cNvSpPr/>
          <p:nvPr/>
        </p:nvSpPr>
        <p:spPr>
          <a:xfrm>
            <a:off x="4370832"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370832" y="1783080"/>
            <a:ext cx="73152" cy="265176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35424"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创新点</a:t>
            </a:r>
          </a:p>
        </p:txBody>
      </p:sp>
      <p:sp>
        <p:nvSpPr>
          <p:cNvPr id="76" name="TextBox 75"/>
          <p:cNvSpPr txBox="1"/>
          <p:nvPr/>
        </p:nvSpPr>
        <p:spPr>
          <a:xfrm>
            <a:off x="4535424"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Query DSL 作为 pipeline contract</a:t>
            </a:r>
          </a:p>
          <a:p>
            <a:pPr algn="l">
              <a:lnSpc>
                <a:spcPct val="110000"/>
              </a:lnSpc>
              <a:defRPr sz="1250" b="0">
                <a:solidFill>
                  <a:srgbClr val="213448"/>
                </a:solidFill>
                <a:latin typeface="微软雅黑"/>
              </a:defRPr>
            </a:pPr>
            <a:r>
              <a:t>• 聚类过滤提供簇级全局过滤视角</a:t>
            </a:r>
          </a:p>
          <a:p>
            <a:pPr algn="l">
              <a:lnSpc>
                <a:spcPct val="110000"/>
              </a:lnSpc>
              <a:defRPr sz="1250" b="0">
                <a:solidFill>
                  <a:srgbClr val="213448"/>
                </a:solidFill>
                <a:latin typeface="微软雅黑"/>
              </a:defRPr>
            </a:pPr>
            <a:r>
              <a:t>• 重排同时融合单点语义与结构关系</a:t>
            </a:r>
          </a:p>
          <a:p>
            <a:pPr algn="l">
              <a:lnSpc>
                <a:spcPct val="110000"/>
              </a:lnSpc>
              <a:defRPr sz="1250" b="0">
                <a:solidFill>
                  <a:srgbClr val="213448"/>
                </a:solidFill>
                <a:latin typeface="微软雅黑"/>
              </a:defRPr>
            </a:pPr>
            <a:r>
              <a:t>• 中间结果可追踪、可解释、可扩展</a:t>
            </a:r>
          </a:p>
        </p:txBody>
      </p:sp>
      <p:sp>
        <p:nvSpPr>
          <p:cNvPr id="77" name="Rounded Rectangle 76"/>
          <p:cNvSpPr/>
          <p:nvPr/>
        </p:nvSpPr>
        <p:spPr>
          <a:xfrm>
            <a:off x="8138160"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138160" y="1783080"/>
            <a:ext cx="73152" cy="265176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02752"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后续展望</a:t>
            </a:r>
          </a:p>
        </p:txBody>
      </p:sp>
      <p:sp>
        <p:nvSpPr>
          <p:cNvPr id="80" name="TextBox 79"/>
          <p:cNvSpPr txBox="1"/>
          <p:nvPr/>
        </p:nvSpPr>
        <p:spPr>
          <a:xfrm>
            <a:off x="8302752"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扩展跨仓库与多语言检索</a:t>
            </a:r>
          </a:p>
          <a:p>
            <a:pPr algn="l">
              <a:lnSpc>
                <a:spcPct val="110000"/>
              </a:lnSpc>
              <a:defRPr sz="1250" b="0">
                <a:solidFill>
                  <a:srgbClr val="213448"/>
                </a:solidFill>
                <a:latin typeface="微软雅黑"/>
              </a:defRPr>
            </a:pPr>
            <a:r>
              <a:t>• 引入在线反馈学习优化权重</a:t>
            </a:r>
          </a:p>
          <a:p>
            <a:pPr algn="l">
              <a:lnSpc>
                <a:spcPct val="110000"/>
              </a:lnSpc>
              <a:defRPr sz="1250" b="0">
                <a:solidFill>
                  <a:srgbClr val="213448"/>
                </a:solidFill>
                <a:latin typeface="微软雅黑"/>
              </a:defRPr>
            </a:pPr>
            <a:r>
              <a:t>• 建立标准评测集和消融实验</a:t>
            </a:r>
          </a:p>
          <a:p>
            <a:pPr algn="l">
              <a:lnSpc>
                <a:spcPct val="110000"/>
              </a:lnSpc>
              <a:defRPr sz="1250" b="0">
                <a:solidFill>
                  <a:srgbClr val="213448"/>
                </a:solidFill>
                <a:latin typeface="微软雅黑"/>
              </a:defRPr>
            </a:pPr>
            <a:r>
              <a:t>• 完成论文实验与系统封装</a:t>
            </a:r>
          </a:p>
        </p:txBody>
      </p:sp>
      <p:sp>
        <p:nvSpPr>
          <p:cNvPr id="81" name="Rounded Rectangle 80"/>
          <p:cNvSpPr/>
          <p:nvPr/>
        </p:nvSpPr>
        <p:spPr>
          <a:xfrm>
            <a:off x="685800" y="4983480"/>
            <a:ext cx="10744200" cy="658368"/>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68680" y="5148072"/>
            <a:ext cx="10378440" cy="256032"/>
          </a:xfrm>
          <a:prstGeom prst="rect">
            <a:avLst/>
          </a:prstGeom>
          <a:noFill/>
        </p:spPr>
        <p:txBody>
          <a:bodyPr wrap="square" lIns="36576" tIns="18288" rIns="36576" bIns="18288" anchor="t">
            <a:spAutoFit/>
          </a:bodyPr>
          <a:lstStyle/>
          <a:p>
            <a:pPr algn="ctr">
              <a:lnSpc>
                <a:spcPct val="110000"/>
              </a:lnSpc>
              <a:defRPr sz="1600" b="1">
                <a:solidFill>
                  <a:srgbClr val="1F5C8A"/>
                </a:solidFill>
                <a:latin typeface="微软雅黑"/>
              </a:defRPr>
            </a:pPr>
            <a:r>
              <a:t>最终目标：形成适配编码智能体的高召回、高精度、低成本、可解释的语义代码检索方法。</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70222" y="192542"/>
            <a:ext cx="10066818" cy="443198"/>
          </a:xfrm>
        </p:spPr>
        <p:txBody>
          <a:bodyPr/>
          <a:lstStyle/>
          <a:p>
            <a:pPr>
              <a:defRPr sz="2200" b="1">
                <a:solidFill>
                  <a:srgbClr val="213448"/>
                </a:solidFill>
                <a:latin typeface="微软雅黑"/>
              </a:defRPr>
            </a:pPr>
            <a:r>
              <a:t>主要参考文献</a:t>
            </a: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17</a:t>
            </a:r>
            <a:endParaRPr kumimoji="1" lang="en-US" altLang="zh-CN">
              <a:solidFill>
                <a:schemeClr val="tx1">
                  <a:lumMod val="50000"/>
                  <a:lumOff val="50000"/>
                </a:schemeClr>
              </a:solidFill>
            </a:endParaRPr>
          </a:p>
        </p:txBody>
      </p:sp>
      <p:sp>
        <p:nvSpPr>
          <p:cNvPr id="68" name="TextBox 67"/>
          <p:cNvSpPr txBox="1"/>
          <p:nvPr/>
        </p:nvSpPr>
        <p:spPr>
          <a:xfrm>
            <a:off x="685800" y="1051560"/>
            <a:ext cx="10789920" cy="4480560"/>
          </a:xfrm>
          <a:prstGeom prst="rect">
            <a:avLst/>
          </a:prstGeom>
          <a:noFill/>
        </p:spPr>
        <p:txBody>
          <a:bodyPr wrap="square" lIns="36576" tIns="18288" rIns="36576" bIns="18288" anchor="t">
            <a:spAutoFit/>
          </a:bodyPr>
          <a:lstStyle/>
          <a:p>
            <a:pPr algn="l">
              <a:lnSpc>
                <a:spcPct val="110000"/>
              </a:lnSpc>
              <a:defRPr sz="1300" b="0">
                <a:solidFill>
                  <a:srgbClr val="213448"/>
                </a:solidFill>
                <a:latin typeface="微软雅黑"/>
              </a:defRPr>
            </a:pPr>
            <a:r>
              <a:t>[1] Xia X., Bao L., Lo D., et al. Measuring Program Comprehension: A Large-Scale Field Study with Professionals. IEEE TSE, 2017.</a:t>
            </a:r>
          </a:p>
          <a:p>
            <a:pPr algn="l">
              <a:lnSpc>
                <a:spcPct val="110000"/>
              </a:lnSpc>
              <a:defRPr sz="1300" b="0">
                <a:solidFill>
                  <a:srgbClr val="213448"/>
                </a:solidFill>
                <a:latin typeface="微软雅黑"/>
              </a:defRPr>
            </a:pPr>
            <a:r>
              <a:t>[2] Hindle A., Barr E. T., Gabel M., et al. On the Naturalness of Software. Communications of the ACM, 2016.</a:t>
            </a:r>
          </a:p>
          <a:p>
            <a:pPr algn="l">
              <a:lnSpc>
                <a:spcPct val="110000"/>
              </a:lnSpc>
              <a:defRPr sz="1300" b="0">
                <a:solidFill>
                  <a:srgbClr val="213448"/>
                </a:solidFill>
                <a:latin typeface="微软雅黑"/>
              </a:defRPr>
            </a:pPr>
            <a:r>
              <a:t>[3] Gu X., Zhang H., Kim S. Deep Code Search. ICSE, 2018.</a:t>
            </a:r>
          </a:p>
          <a:p>
            <a:pPr algn="l">
              <a:lnSpc>
                <a:spcPct val="110000"/>
              </a:lnSpc>
              <a:defRPr sz="1300" b="0">
                <a:solidFill>
                  <a:srgbClr val="213448"/>
                </a:solidFill>
                <a:latin typeface="微软雅黑"/>
              </a:defRPr>
            </a:pPr>
            <a:r>
              <a:t>[4] Feng Z., Guo D., Tang D., et al. CodeBERT: A Pre-Trained Model for Programming and Natural Languages. Findings of EMNLP, 2020.</a:t>
            </a:r>
          </a:p>
          <a:p>
            <a:pPr algn="l">
              <a:lnSpc>
                <a:spcPct val="110000"/>
              </a:lnSpc>
              <a:defRPr sz="1300" b="0">
                <a:solidFill>
                  <a:srgbClr val="213448"/>
                </a:solidFill>
                <a:latin typeface="微软雅黑"/>
              </a:defRPr>
            </a:pPr>
            <a:r>
              <a:t>[5] Ozkaya I. Can Architecture Knowledge Guide Software Development with Generative AI? IEEE Software, 2023.</a:t>
            </a:r>
          </a:p>
          <a:p>
            <a:pPr algn="l">
              <a:lnSpc>
                <a:spcPct val="110000"/>
              </a:lnSpc>
              <a:defRPr sz="1300" b="0">
                <a:solidFill>
                  <a:srgbClr val="213448"/>
                </a:solidFill>
                <a:latin typeface="微软雅黑"/>
              </a:defRPr>
            </a:pPr>
            <a:r>
              <a:t>[6] CodeSearch Project materials: code_search例会报告_509.pptx, query_dsl_new.json, cluster_pipeline.html.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238171" y="2615071"/>
            <a:ext cx="3715658" cy="1015365"/>
          </a:xfrm>
          <a:prstGeom prst="rect">
            <a:avLst/>
          </a:prstGeom>
          <a:noFill/>
        </p:spPr>
        <p:txBody>
          <a:bodyPr wrap="square" lIns="0" tIns="0" rIns="0" bIns="0">
            <a:spAutoFit/>
          </a:bodyPr>
          <a:lstStyle/>
          <a:p>
            <a:pPr algn="dist">
              <a:defRPr sz="2800" b="1">
                <a:solidFill>
                  <a:srgbClr val="213448"/>
                </a:solidFill>
                <a:latin typeface="微软雅黑"/>
              </a:defRPr>
            </a:pPr>
            <a:r>
              <a:t>感谢聆听</a:t>
            </a:r>
            <a:endParaRPr lang="zh-CN" altLang="en-US" sz="6600" b="1" dirty="0">
              <a:solidFill>
                <a:schemeClr val="accent1"/>
              </a:solidFill>
              <a:latin typeface="Arial" panose="020B0604020202020204" pitchFamily="34" charset="0"/>
              <a:ea typeface="微软雅黑" panose="020B0503020204020204" pitchFamily="34" charset="-122"/>
              <a:sym typeface="Arial" panose="020B0604020202020204" pitchFamily="34" charset="0"/>
            </a:endParaRPr>
          </a:p>
        </p:txBody>
      </p:sp>
      <p:sp>
        <p:nvSpPr>
          <p:cNvPr id="7" name="文本框 6"/>
          <p:cNvSpPr txBox="1"/>
          <p:nvPr/>
        </p:nvSpPr>
        <p:spPr>
          <a:xfrm>
            <a:off x="4238171" y="3860577"/>
            <a:ext cx="3715658" cy="369332"/>
          </a:xfrm>
          <a:prstGeom prst="rect">
            <a:avLst/>
          </a:prstGeom>
          <a:noFill/>
        </p:spPr>
        <p:txBody>
          <a:bodyPr wrap="square" lIns="0" tIns="0" rIns="0" bIns="0">
            <a:spAutoFit/>
          </a:bodyPr>
          <a:lstStyle/>
          <a:p>
            <a:pPr algn="dist">
              <a:defRPr sz="1600" b="0">
                <a:solidFill>
                  <a:srgbClr val="213448"/>
                </a:solidFill>
                <a:latin typeface="微软雅黑"/>
              </a:defRPr>
            </a:pPr>
            <a:r>
              <a:t>敬请各位老师批评指正！</a:t>
            </a:r>
            <a:endParaRPr lang="zh-CN" altLang="en-US" sz="2400" dirty="0">
              <a:latin typeface="Arial" panose="020B0604020202020204" pitchFamily="34" charset="0"/>
              <a:ea typeface="微软雅黑" panose="020B0503020204020204" pitchFamily="34" charset="-122"/>
              <a:sym typeface="Arial" panose="020B0604020202020204" pitchFamily="34" charset="0"/>
            </a:endParaRPr>
          </a:p>
        </p:txBody>
      </p:sp>
      <p:sp>
        <p:nvSpPr>
          <p:cNvPr id="2" name="图形 46"/>
          <p:cNvSpPr/>
          <p:nvPr/>
        </p:nvSpPr>
        <p:spPr>
          <a:xfrm>
            <a:off x="4100899" y="4716212"/>
            <a:ext cx="206755" cy="234587"/>
          </a:xfrm>
          <a:custGeom>
            <a:avLst/>
            <a:gdLst>
              <a:gd name="connsiteX0" fmla="*/ 149765 w 206755"/>
              <a:gd name="connsiteY0" fmla="*/ 129885 h 234587"/>
              <a:gd name="connsiteX1" fmla="*/ 177598 w 206755"/>
              <a:gd name="connsiteY1" fmla="*/ 72895 h 234587"/>
              <a:gd name="connsiteX2" fmla="*/ 104703 w 206755"/>
              <a:gd name="connsiteY2" fmla="*/ 0 h 234587"/>
              <a:gd name="connsiteX3" fmla="*/ 30483 w 206755"/>
              <a:gd name="connsiteY3" fmla="*/ 71569 h 234587"/>
              <a:gd name="connsiteX4" fmla="*/ 58316 w 206755"/>
              <a:gd name="connsiteY4" fmla="*/ 128559 h 234587"/>
              <a:gd name="connsiteX5" fmla="*/ 0 w 206755"/>
              <a:gd name="connsiteY5" fmla="*/ 221334 h 234587"/>
              <a:gd name="connsiteX6" fmla="*/ 13254 w 206755"/>
              <a:gd name="connsiteY6" fmla="*/ 234588 h 234587"/>
              <a:gd name="connsiteX7" fmla="*/ 26507 w 206755"/>
              <a:gd name="connsiteY7" fmla="*/ 221334 h 234587"/>
              <a:gd name="connsiteX8" fmla="*/ 103378 w 206755"/>
              <a:gd name="connsiteY8" fmla="*/ 144464 h 234587"/>
              <a:gd name="connsiteX9" fmla="*/ 180248 w 206755"/>
              <a:gd name="connsiteY9" fmla="*/ 221334 h 234587"/>
              <a:gd name="connsiteX10" fmla="*/ 193502 w 206755"/>
              <a:gd name="connsiteY10" fmla="*/ 234588 h 234587"/>
              <a:gd name="connsiteX11" fmla="*/ 206755 w 206755"/>
              <a:gd name="connsiteY11" fmla="*/ 221334 h 234587"/>
              <a:gd name="connsiteX12" fmla="*/ 148440 w 206755"/>
              <a:gd name="connsiteY12" fmla="*/ 128559 h 234587"/>
              <a:gd name="connsiteX13" fmla="*/ 103378 w 206755"/>
              <a:gd name="connsiteY13" fmla="*/ 25182 h 234587"/>
              <a:gd name="connsiteX14" fmla="*/ 149765 w 206755"/>
              <a:gd name="connsiteY14" fmla="*/ 71569 h 234587"/>
              <a:gd name="connsiteX15" fmla="*/ 103378 w 206755"/>
              <a:gd name="connsiteY15" fmla="*/ 117957 h 234587"/>
              <a:gd name="connsiteX16" fmla="*/ 56990 w 206755"/>
              <a:gd name="connsiteY16" fmla="*/ 71569 h 234587"/>
              <a:gd name="connsiteX17" fmla="*/ 103378 w 206755"/>
              <a:gd name="connsiteY17" fmla="*/ 25182 h 234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755" h="234587">
                <a:moveTo>
                  <a:pt x="149765" y="129885"/>
                </a:moveTo>
                <a:cubicBezTo>
                  <a:pt x="166995" y="116631"/>
                  <a:pt x="177598" y="95426"/>
                  <a:pt x="177598" y="72895"/>
                </a:cubicBezTo>
                <a:cubicBezTo>
                  <a:pt x="177598" y="31809"/>
                  <a:pt x="144464" y="0"/>
                  <a:pt x="104703" y="0"/>
                </a:cubicBezTo>
                <a:cubicBezTo>
                  <a:pt x="64942" y="0"/>
                  <a:pt x="30483" y="31809"/>
                  <a:pt x="30483" y="71569"/>
                </a:cubicBezTo>
                <a:cubicBezTo>
                  <a:pt x="30483" y="95426"/>
                  <a:pt x="41086" y="115306"/>
                  <a:pt x="58316" y="128559"/>
                </a:cubicBezTo>
                <a:cubicBezTo>
                  <a:pt x="23856" y="145789"/>
                  <a:pt x="0" y="180248"/>
                  <a:pt x="0" y="221334"/>
                </a:cubicBezTo>
                <a:cubicBezTo>
                  <a:pt x="0" y="229286"/>
                  <a:pt x="6627" y="234588"/>
                  <a:pt x="13254" y="234588"/>
                </a:cubicBezTo>
                <a:cubicBezTo>
                  <a:pt x="19880" y="234588"/>
                  <a:pt x="26507" y="227961"/>
                  <a:pt x="26507" y="221334"/>
                </a:cubicBezTo>
                <a:cubicBezTo>
                  <a:pt x="26507" y="178923"/>
                  <a:pt x="60966" y="144464"/>
                  <a:pt x="103378" y="144464"/>
                </a:cubicBezTo>
                <a:cubicBezTo>
                  <a:pt x="145789" y="144464"/>
                  <a:pt x="180248" y="178923"/>
                  <a:pt x="180248" y="221334"/>
                </a:cubicBezTo>
                <a:cubicBezTo>
                  <a:pt x="180248" y="229286"/>
                  <a:pt x="186875" y="234588"/>
                  <a:pt x="193502" y="234588"/>
                </a:cubicBezTo>
                <a:cubicBezTo>
                  <a:pt x="200129" y="234588"/>
                  <a:pt x="206755" y="227961"/>
                  <a:pt x="206755" y="221334"/>
                </a:cubicBezTo>
                <a:cubicBezTo>
                  <a:pt x="206755" y="180248"/>
                  <a:pt x="182899" y="145789"/>
                  <a:pt x="148440" y="128559"/>
                </a:cubicBezTo>
                <a:close/>
                <a:moveTo>
                  <a:pt x="103378" y="25182"/>
                </a:moveTo>
                <a:cubicBezTo>
                  <a:pt x="128559" y="25182"/>
                  <a:pt x="149765" y="46387"/>
                  <a:pt x="149765" y="71569"/>
                </a:cubicBezTo>
                <a:cubicBezTo>
                  <a:pt x="149765" y="96751"/>
                  <a:pt x="128559" y="117957"/>
                  <a:pt x="103378" y="117957"/>
                </a:cubicBezTo>
                <a:cubicBezTo>
                  <a:pt x="78196" y="117957"/>
                  <a:pt x="56990" y="96751"/>
                  <a:pt x="56990" y="71569"/>
                </a:cubicBezTo>
                <a:cubicBezTo>
                  <a:pt x="56990" y="46387"/>
                  <a:pt x="78196" y="25182"/>
                  <a:pt x="103378" y="25182"/>
                </a:cubicBezTo>
                <a:close/>
              </a:path>
            </a:pathLst>
          </a:custGeom>
          <a:solidFill>
            <a:schemeClr val="tx1">
              <a:lumMod val="75000"/>
              <a:lumOff val="25000"/>
            </a:schemeClr>
          </a:solidFill>
          <a:ln w="128588" cap="flat">
            <a:noFill/>
            <a:prstDash val="solid"/>
            <a:miter/>
          </a:ln>
        </p:spPr>
        <p:txBody>
          <a:bodyPr rtlCol="0" anchor="ctr"/>
          <a:lstStyle/>
          <a:p>
            <a:endParaRPr lang="zh-CN" altLang="en-US"/>
          </a:p>
        </p:txBody>
      </p:sp>
      <p:grpSp>
        <p:nvGrpSpPr>
          <p:cNvPr id="12" name="组合 11"/>
          <p:cNvGrpSpPr/>
          <p:nvPr/>
        </p:nvGrpSpPr>
        <p:grpSpPr>
          <a:xfrm>
            <a:off x="6143603" y="4676697"/>
            <a:ext cx="317636" cy="269002"/>
            <a:chOff x="6143603" y="4601132"/>
            <a:chExt cx="317636" cy="269002"/>
          </a:xfrm>
          <a:solidFill>
            <a:schemeClr val="tx1">
              <a:lumMod val="75000"/>
              <a:lumOff val="25000"/>
            </a:schemeClr>
          </a:solidFill>
        </p:grpSpPr>
        <p:sp>
          <p:nvSpPr>
            <p:cNvPr id="9" name="任意多边形: 形状 8"/>
            <p:cNvSpPr/>
            <p:nvPr/>
          </p:nvSpPr>
          <p:spPr>
            <a:xfrm>
              <a:off x="6224152" y="4601132"/>
              <a:ext cx="237087" cy="269002"/>
            </a:xfrm>
            <a:custGeom>
              <a:avLst/>
              <a:gdLst>
                <a:gd name="connsiteX0" fmla="*/ 171736 w 237087"/>
                <a:gd name="connsiteY0" fmla="*/ 148939 h 269002"/>
                <a:gd name="connsiteX1" fmla="*/ 203652 w 237087"/>
                <a:gd name="connsiteY1" fmla="*/ 83588 h 269002"/>
                <a:gd name="connsiteX2" fmla="*/ 120063 w 237087"/>
                <a:gd name="connsiteY2" fmla="*/ 0 h 269002"/>
                <a:gd name="connsiteX3" fmla="*/ 34955 w 237087"/>
                <a:gd name="connsiteY3" fmla="*/ 82069 h 269002"/>
                <a:gd name="connsiteX4" fmla="*/ 66871 w 237087"/>
                <a:gd name="connsiteY4" fmla="*/ 147420 h 269002"/>
                <a:gd name="connsiteX5" fmla="*/ 0 w 237087"/>
                <a:gd name="connsiteY5" fmla="*/ 253805 h 269002"/>
                <a:gd name="connsiteX6" fmla="*/ 15198 w 237087"/>
                <a:gd name="connsiteY6" fmla="*/ 269003 h 269002"/>
                <a:gd name="connsiteX7" fmla="*/ 30396 w 237087"/>
                <a:gd name="connsiteY7" fmla="*/ 253805 h 269002"/>
                <a:gd name="connsiteX8" fmla="*/ 118544 w 237087"/>
                <a:gd name="connsiteY8" fmla="*/ 165657 h 269002"/>
                <a:gd name="connsiteX9" fmla="*/ 206691 w 237087"/>
                <a:gd name="connsiteY9" fmla="*/ 253805 h 269002"/>
                <a:gd name="connsiteX10" fmla="*/ 221889 w 237087"/>
                <a:gd name="connsiteY10" fmla="*/ 269003 h 269002"/>
                <a:gd name="connsiteX11" fmla="*/ 237087 w 237087"/>
                <a:gd name="connsiteY11" fmla="*/ 253805 h 269002"/>
                <a:gd name="connsiteX12" fmla="*/ 170216 w 237087"/>
                <a:gd name="connsiteY12" fmla="*/ 147420 h 269002"/>
                <a:gd name="connsiteX13" fmla="*/ 120063 w 237087"/>
                <a:gd name="connsiteY13" fmla="*/ 136781 h 269002"/>
                <a:gd name="connsiteX14" fmla="*/ 66871 w 237087"/>
                <a:gd name="connsiteY14" fmla="*/ 83588 h 269002"/>
                <a:gd name="connsiteX15" fmla="*/ 120063 w 237087"/>
                <a:gd name="connsiteY15" fmla="*/ 30396 h 269002"/>
                <a:gd name="connsiteX16" fmla="*/ 173256 w 237087"/>
                <a:gd name="connsiteY16" fmla="*/ 83588 h 269002"/>
                <a:gd name="connsiteX17" fmla="*/ 120063 w 237087"/>
                <a:gd name="connsiteY17" fmla="*/ 136781 h 269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37087" h="269002">
                  <a:moveTo>
                    <a:pt x="171736" y="148939"/>
                  </a:moveTo>
                  <a:cubicBezTo>
                    <a:pt x="191494" y="133742"/>
                    <a:pt x="203652" y="109425"/>
                    <a:pt x="203652" y="83588"/>
                  </a:cubicBezTo>
                  <a:cubicBezTo>
                    <a:pt x="203652" y="36475"/>
                    <a:pt x="165657" y="0"/>
                    <a:pt x="120063" y="0"/>
                  </a:cubicBezTo>
                  <a:cubicBezTo>
                    <a:pt x="74470" y="0"/>
                    <a:pt x="34955" y="36475"/>
                    <a:pt x="34955" y="82069"/>
                  </a:cubicBezTo>
                  <a:cubicBezTo>
                    <a:pt x="34955" y="109425"/>
                    <a:pt x="47113" y="132222"/>
                    <a:pt x="66871" y="147420"/>
                  </a:cubicBezTo>
                  <a:cubicBezTo>
                    <a:pt x="27356" y="167177"/>
                    <a:pt x="0" y="206691"/>
                    <a:pt x="0" y="253805"/>
                  </a:cubicBezTo>
                  <a:cubicBezTo>
                    <a:pt x="0" y="262924"/>
                    <a:pt x="7599" y="269003"/>
                    <a:pt x="15198" y="269003"/>
                  </a:cubicBezTo>
                  <a:cubicBezTo>
                    <a:pt x="22797" y="269003"/>
                    <a:pt x="30396" y="261404"/>
                    <a:pt x="30396" y="253805"/>
                  </a:cubicBezTo>
                  <a:cubicBezTo>
                    <a:pt x="30396" y="205172"/>
                    <a:pt x="69910" y="165657"/>
                    <a:pt x="118544" y="165657"/>
                  </a:cubicBezTo>
                  <a:cubicBezTo>
                    <a:pt x="167177" y="165657"/>
                    <a:pt x="206691" y="205172"/>
                    <a:pt x="206691" y="253805"/>
                  </a:cubicBezTo>
                  <a:cubicBezTo>
                    <a:pt x="206691" y="262924"/>
                    <a:pt x="214290" y="269003"/>
                    <a:pt x="221889" y="269003"/>
                  </a:cubicBezTo>
                  <a:cubicBezTo>
                    <a:pt x="229488" y="269003"/>
                    <a:pt x="237087" y="261404"/>
                    <a:pt x="237087" y="253805"/>
                  </a:cubicBezTo>
                  <a:cubicBezTo>
                    <a:pt x="237087" y="206691"/>
                    <a:pt x="209731" y="167177"/>
                    <a:pt x="170216" y="147420"/>
                  </a:cubicBezTo>
                  <a:close/>
                  <a:moveTo>
                    <a:pt x="120063" y="136781"/>
                  </a:moveTo>
                  <a:cubicBezTo>
                    <a:pt x="91187" y="136781"/>
                    <a:pt x="66871" y="112464"/>
                    <a:pt x="66871" y="83588"/>
                  </a:cubicBezTo>
                  <a:cubicBezTo>
                    <a:pt x="66871" y="54712"/>
                    <a:pt x="91187" y="30396"/>
                    <a:pt x="120063" y="30396"/>
                  </a:cubicBezTo>
                  <a:cubicBezTo>
                    <a:pt x="148939" y="30396"/>
                    <a:pt x="173256" y="54712"/>
                    <a:pt x="173256" y="83588"/>
                  </a:cubicBezTo>
                  <a:cubicBezTo>
                    <a:pt x="173256" y="112464"/>
                    <a:pt x="148939" y="136781"/>
                    <a:pt x="120063" y="136781"/>
                  </a:cubicBezTo>
                  <a:close/>
                </a:path>
              </a:pathLst>
            </a:custGeom>
            <a:grpFill/>
            <a:ln w="147638" cap="flat">
              <a:noFill/>
              <a:prstDash val="solid"/>
              <a:miter/>
            </a:ln>
          </p:spPr>
          <p:txBody>
            <a:bodyPr rtlCol="0" anchor="ctr"/>
            <a:lstStyle/>
            <a:p>
              <a:endParaRPr lang="zh-CN" altLang="en-US"/>
            </a:p>
          </p:txBody>
        </p:sp>
        <p:sp>
          <p:nvSpPr>
            <p:cNvPr id="10" name="任意多边形: 形状 9"/>
            <p:cNvSpPr/>
            <p:nvPr/>
          </p:nvSpPr>
          <p:spPr>
            <a:xfrm>
              <a:off x="6143603" y="4640647"/>
              <a:ext cx="106385" cy="194533"/>
            </a:xfrm>
            <a:custGeom>
              <a:avLst/>
              <a:gdLst>
                <a:gd name="connsiteX0" fmla="*/ 97267 w 106385"/>
                <a:gd name="connsiteY0" fmla="*/ 113984 h 194533"/>
                <a:gd name="connsiteX1" fmla="*/ 97267 w 106385"/>
                <a:gd name="connsiteY1" fmla="*/ 107905 h 194533"/>
                <a:gd name="connsiteX2" fmla="*/ 82069 w 106385"/>
                <a:gd name="connsiteY2" fmla="*/ 92707 h 194533"/>
                <a:gd name="connsiteX3" fmla="*/ 51673 w 106385"/>
                <a:gd name="connsiteY3" fmla="*/ 62311 h 194533"/>
                <a:gd name="connsiteX4" fmla="*/ 82069 w 106385"/>
                <a:gd name="connsiteY4" fmla="*/ 31916 h 194533"/>
                <a:gd name="connsiteX5" fmla="*/ 92707 w 106385"/>
                <a:gd name="connsiteY5" fmla="*/ 33435 h 194533"/>
                <a:gd name="connsiteX6" fmla="*/ 98786 w 106385"/>
                <a:gd name="connsiteY6" fmla="*/ 33435 h 194533"/>
                <a:gd name="connsiteX7" fmla="*/ 106385 w 106385"/>
                <a:gd name="connsiteY7" fmla="*/ 4559 h 194533"/>
                <a:gd name="connsiteX8" fmla="*/ 103346 w 106385"/>
                <a:gd name="connsiteY8" fmla="*/ 3040 h 194533"/>
                <a:gd name="connsiteX9" fmla="*/ 83588 w 106385"/>
                <a:gd name="connsiteY9" fmla="*/ 0 h 194533"/>
                <a:gd name="connsiteX10" fmla="*/ 22797 w 106385"/>
                <a:gd name="connsiteY10" fmla="*/ 62311 h 194533"/>
                <a:gd name="connsiteX11" fmla="*/ 41034 w 106385"/>
                <a:gd name="connsiteY11" fmla="*/ 106385 h 194533"/>
                <a:gd name="connsiteX12" fmla="*/ 0 w 106385"/>
                <a:gd name="connsiteY12" fmla="*/ 179335 h 194533"/>
                <a:gd name="connsiteX13" fmla="*/ 15198 w 106385"/>
                <a:gd name="connsiteY13" fmla="*/ 194533 h 194533"/>
                <a:gd name="connsiteX14" fmla="*/ 30396 w 106385"/>
                <a:gd name="connsiteY14" fmla="*/ 179335 h 194533"/>
                <a:gd name="connsiteX15" fmla="*/ 85108 w 106385"/>
                <a:gd name="connsiteY15" fmla="*/ 124623 h 194533"/>
                <a:gd name="connsiteX16" fmla="*/ 98786 w 106385"/>
                <a:gd name="connsiteY16" fmla="*/ 115504 h 19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6385" h="194533">
                  <a:moveTo>
                    <a:pt x="97267" y="113984"/>
                  </a:moveTo>
                  <a:cubicBezTo>
                    <a:pt x="97267" y="113984"/>
                    <a:pt x="97267" y="109425"/>
                    <a:pt x="97267" y="107905"/>
                  </a:cubicBezTo>
                  <a:cubicBezTo>
                    <a:pt x="97267" y="98786"/>
                    <a:pt x="89668" y="92707"/>
                    <a:pt x="82069" y="92707"/>
                  </a:cubicBezTo>
                  <a:cubicBezTo>
                    <a:pt x="65351" y="92707"/>
                    <a:pt x="51673" y="79029"/>
                    <a:pt x="51673" y="62311"/>
                  </a:cubicBezTo>
                  <a:cubicBezTo>
                    <a:pt x="51673" y="45594"/>
                    <a:pt x="65351" y="31916"/>
                    <a:pt x="82069" y="31916"/>
                  </a:cubicBezTo>
                  <a:cubicBezTo>
                    <a:pt x="85108" y="31916"/>
                    <a:pt x="88148" y="31916"/>
                    <a:pt x="92707" y="33435"/>
                  </a:cubicBezTo>
                  <a:cubicBezTo>
                    <a:pt x="94227" y="33435"/>
                    <a:pt x="97267" y="33435"/>
                    <a:pt x="98786" y="33435"/>
                  </a:cubicBezTo>
                  <a:cubicBezTo>
                    <a:pt x="98786" y="22797"/>
                    <a:pt x="101826" y="13678"/>
                    <a:pt x="106385" y="4559"/>
                  </a:cubicBezTo>
                  <a:cubicBezTo>
                    <a:pt x="106385" y="4559"/>
                    <a:pt x="104866" y="4559"/>
                    <a:pt x="103346" y="3040"/>
                  </a:cubicBezTo>
                  <a:cubicBezTo>
                    <a:pt x="97267" y="0"/>
                    <a:pt x="89668" y="0"/>
                    <a:pt x="83588" y="0"/>
                  </a:cubicBezTo>
                  <a:cubicBezTo>
                    <a:pt x="50153" y="0"/>
                    <a:pt x="22797" y="27356"/>
                    <a:pt x="22797" y="62311"/>
                  </a:cubicBezTo>
                  <a:cubicBezTo>
                    <a:pt x="22797" y="79029"/>
                    <a:pt x="30396" y="94227"/>
                    <a:pt x="41034" y="106385"/>
                  </a:cubicBezTo>
                  <a:cubicBezTo>
                    <a:pt x="16718" y="121583"/>
                    <a:pt x="0" y="148939"/>
                    <a:pt x="0" y="179335"/>
                  </a:cubicBezTo>
                  <a:cubicBezTo>
                    <a:pt x="0" y="188454"/>
                    <a:pt x="7599" y="194533"/>
                    <a:pt x="15198" y="194533"/>
                  </a:cubicBezTo>
                  <a:cubicBezTo>
                    <a:pt x="22797" y="194533"/>
                    <a:pt x="30396" y="186934"/>
                    <a:pt x="30396" y="179335"/>
                  </a:cubicBezTo>
                  <a:cubicBezTo>
                    <a:pt x="30396" y="148939"/>
                    <a:pt x="54712" y="124623"/>
                    <a:pt x="85108" y="124623"/>
                  </a:cubicBezTo>
                  <a:cubicBezTo>
                    <a:pt x="91187" y="124623"/>
                    <a:pt x="97267" y="120063"/>
                    <a:pt x="98786" y="115504"/>
                  </a:cubicBezTo>
                  <a:close/>
                </a:path>
              </a:pathLst>
            </a:custGeom>
            <a:grpFill/>
            <a:ln w="147638" cap="flat">
              <a:noFill/>
              <a:prstDash val="solid"/>
              <a:miter/>
            </a:ln>
          </p:spPr>
          <p:txBody>
            <a:bodyPr rtlCol="0" anchor="ctr"/>
            <a:lstStyle/>
            <a:p>
              <a:endParaRPr lang="zh-CN" altLang="en-US"/>
            </a:p>
          </p:txBody>
        </p:sp>
      </p:grpSp>
      <p:sp>
        <p:nvSpPr>
          <p:cNvPr id="51" name="文本框 50"/>
          <p:cNvSpPr txBox="1"/>
          <p:nvPr/>
        </p:nvSpPr>
        <p:spPr>
          <a:xfrm>
            <a:off x="4390608" y="4732848"/>
            <a:ext cx="1426845" cy="24574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r>
              <a:rPr lang="zh-CN" altLang="en-US" sz="1600" b="1" dirty="0">
                <a:solidFill>
                  <a:schemeClr val="tx1">
                    <a:lumMod val="75000"/>
                    <a:lumOff val="25000"/>
                  </a:schemeClr>
                </a:solidFill>
                <a:sym typeface="Arial" panose="020B0604020202020204" pitchFamily="34" charset="0"/>
              </a:rPr>
              <a:t>汇报人：</a:t>
            </a:r>
            <a:r>
              <a:rPr lang="zh-CN" altLang="en-US" sz="1600" b="1" dirty="0">
                <a:solidFill>
                  <a:schemeClr val="tx1">
                    <a:lumMod val="75000"/>
                    <a:lumOff val="25000"/>
                  </a:schemeClr>
                </a:solidFill>
                <a:sym typeface="Arial" panose="020B0604020202020204" pitchFamily="34" charset="0"/>
              </a:rPr>
              <a:t>黄卓谌</a:t>
            </a:r>
            <a:endParaRPr lang="zh-CN" altLang="en-US" sz="1600" b="1" dirty="0">
              <a:solidFill>
                <a:schemeClr val="tx1">
                  <a:lumMod val="75000"/>
                  <a:lumOff val="25000"/>
                </a:schemeClr>
              </a:solidFill>
              <a:sym typeface="Arial" panose="020B0604020202020204" pitchFamily="34" charset="0"/>
            </a:endParaRPr>
          </a:p>
        </p:txBody>
      </p:sp>
      <p:sp>
        <p:nvSpPr>
          <p:cNvPr id="53" name="文本框 52"/>
          <p:cNvSpPr txBox="1"/>
          <p:nvPr/>
        </p:nvSpPr>
        <p:spPr>
          <a:xfrm>
            <a:off x="6547980" y="4732848"/>
            <a:ext cx="1426845" cy="24574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r>
              <a:rPr lang="zh-CN" altLang="en-US" sz="1600" b="1" dirty="0">
                <a:solidFill>
                  <a:schemeClr val="tx1">
                    <a:lumMod val="75000"/>
                    <a:lumOff val="25000"/>
                  </a:schemeClr>
                </a:solidFill>
                <a:sym typeface="Arial" panose="020B0604020202020204" pitchFamily="34" charset="0"/>
              </a:rPr>
              <a:t>指导老师：</a:t>
            </a:r>
            <a:r>
              <a:rPr lang="zh-CN" altLang="en-US" sz="1600" b="1" dirty="0">
                <a:solidFill>
                  <a:schemeClr val="tx1">
                    <a:lumMod val="75000"/>
                    <a:lumOff val="25000"/>
                  </a:schemeClr>
                </a:solidFill>
                <a:sym typeface="Arial" panose="020B0604020202020204" pitchFamily="34" charset="0"/>
              </a:rPr>
              <a:t>彭鑫</a:t>
            </a:r>
            <a:endParaRPr lang="zh-CN" altLang="en-US" sz="1600" b="1" dirty="0">
              <a:solidFill>
                <a:schemeClr val="tx1">
                  <a:lumMod val="75000"/>
                  <a:lumOff val="25000"/>
                </a:schemeClr>
              </a:solidFill>
              <a:sym typeface="Arial" panose="020B0604020202020204" pitchFamily="34" charset="0"/>
            </a:endParaRPr>
          </a:p>
        </p:txBody>
      </p:sp>
      <p:sp>
        <p:nvSpPr>
          <p:cNvPr id="3" name="Text 6"/>
          <p:cNvSpPr/>
          <p:nvPr/>
        </p:nvSpPr>
        <p:spPr>
          <a:xfrm>
            <a:off x="4390230" y="4239379"/>
            <a:ext cx="3420428" cy="417909"/>
          </a:xfrm>
          <a:prstGeom prst="rect">
            <a:avLst/>
          </a:prstGeom>
          <a:noFill/>
        </p:spPr>
        <p:txBody>
          <a:bodyPr wrap="square" lIns="0" tIns="0" rIns="0" bIns="0" rtlCol="0" anchor="t"/>
          <a:p>
            <a:pPr marL="0" indent="0" algn="ctr">
              <a:lnSpc>
                <a:spcPts val="1600"/>
              </a:lnSpc>
              <a:buNone/>
              <a:defRPr sz="1200" b="0">
                <a:solidFill>
                  <a:srgbClr val="213448"/>
                </a:solidFill>
                <a:latin typeface="微软雅黑"/>
              </a:defRPr>
            </a:pPr>
            <a:r>
              <a:t>感谢各位评审专家的指导与建议，</a:t>
            </a:r>
            <a:br/>
            <a:r>
              <a:t>后续将继续完善实验评测与系统实现。</a:t>
            </a:r>
            <a:endParaRPr lang="en-US" sz="1000" dirty="0">
              <a:latin typeface="微软雅黑" panose="020B0503020204020204" pitchFamily="34" charset="-122"/>
              <a:ea typeface="微软雅黑" panose="020B0503020204020204" pitchFamily="34" charset="-122"/>
            </a:endParaRPr>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18</a:t>
            </a:r>
            <a:endParaRPr kumimoji="1" lang="en-US" altLang="zh-CN">
              <a:solidFill>
                <a:schemeClr val="tx1">
                  <a:lumMod val="50000"/>
                  <a:lumOff val="50000"/>
                </a:schemeClr>
              </a:solidFill>
            </a:endParaRPr>
          </a:p>
        </p:txBody>
      </p:sp>
    </p:spTree>
  </p:cSld>
  <p:clrMapOvr>
    <a:masterClrMapping/>
  </p:clrMapOvr>
</p:sld>
</file>

<file path=ppt/tags/tag1.xml><?xml version="1.0" encoding="utf-8"?>
<p:tagLst xmlns:p="http://schemas.openxmlformats.org/presentationml/2006/main">
  <p:tag name="ISLIDE.DIAGRAM" val="#607880;"/>
</p:tagLst>
</file>

<file path=ppt/tags/tag2.xml><?xml version="1.0" encoding="utf-8"?>
<p:tagLst xmlns:p="http://schemas.openxmlformats.org/presentationml/2006/main">
  <p:tag name="ISLIDE.DIAGRAM" val="#652351;"/>
  <p:tag name="ISLIDE.ICON" val="#134866;#8493;#151850;#167798;#152190;#166610;#67520;"/>
</p:tagLst>
</file>

<file path=ppt/tags/tag3.xml><?xml version="1.0" encoding="utf-8"?>
<p:tagLst xmlns:p="http://schemas.openxmlformats.org/presentationml/2006/main">
  <p:tag name="ISLIDE.DIAGRAM" val="#577152;"/>
  <p:tag name="ISLIDE.ICON" val="#41814;#167613;#168399;#135270;#152539;"/>
</p:tagLst>
</file>

<file path=ppt/tags/tag4.xml><?xml version="1.0" encoding="utf-8"?>
<p:tagLst xmlns:p="http://schemas.openxmlformats.org/presentationml/2006/main">
  <p:tag name="ISLIDE.DIAGRAM" val="#462296;"/>
</p:tagLst>
</file>

<file path=ppt/theme/theme1.xml><?xml version="1.0" encoding="utf-8"?>
<a:theme xmlns:a="http://schemas.openxmlformats.org/drawingml/2006/main" name="Office 主题​​">
  <a:themeElements>
    <a:clrScheme name="自定义 2">
      <a:dk1>
        <a:sysClr val="windowText" lastClr="000000"/>
      </a:dk1>
      <a:lt1>
        <a:sysClr val="window" lastClr="FFFFFF"/>
      </a:lt1>
      <a:dk2>
        <a:srgbClr val="44546A"/>
      </a:dk2>
      <a:lt2>
        <a:srgbClr val="E7E6E6"/>
      </a:lt2>
      <a:accent1>
        <a:srgbClr val="1F3F84"/>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bg1">
              <a:lumMod val="50000"/>
            </a:schemeClr>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4346</Words>
  <Application>WPS 演示</Application>
  <PresentationFormat>宽屏</PresentationFormat>
  <Paragraphs>400</Paragraphs>
  <Slides>18</Slides>
  <Notes>5</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18</vt:i4>
      </vt:variant>
    </vt:vector>
  </HeadingPairs>
  <TitlesOfParts>
    <vt:vector size="38" baseType="lpstr">
      <vt:lpstr>Arial</vt:lpstr>
      <vt:lpstr>宋体</vt:lpstr>
      <vt:lpstr>Wingdings</vt:lpstr>
      <vt:lpstr>微软雅黑</vt:lpstr>
      <vt:lpstr>汉仪旗黑</vt:lpstr>
      <vt:lpstr>微软雅黑</vt:lpstr>
      <vt:lpstr>ui-sans-serif</vt:lpstr>
      <vt:lpstr>PingFang SC</vt:lpstr>
      <vt:lpstr>Aptos Display</vt:lpstr>
      <vt:lpstr>Aptos</vt:lpstr>
      <vt:lpstr>Calibri</vt:lpstr>
      <vt:lpstr>Helvetica Neue</vt:lpstr>
      <vt:lpstr>宋体</vt:lpstr>
      <vt:lpstr>汉仪书宋二KW</vt:lpstr>
      <vt:lpstr>Arial Unicode MS</vt:lpstr>
      <vt:lpstr>等线</vt:lpstr>
      <vt:lpstr>汉仪中等线KW</vt:lpstr>
      <vt:lpstr>Thonburi</vt:lpstr>
      <vt:lpstr>苹方-简</vt:lpstr>
      <vt:lpstr>Office 主题​​</vt:lpstr>
      <vt:lpstr>PowerPoint 演示文稿</vt:lpstr>
      <vt:lpstr>PowerPoint 演示文稿</vt:lpstr>
      <vt:lpstr>PowerPoint 演示文稿</vt:lpstr>
      <vt:lpstr>研究背景：Agent Query 对代码检索提出更高要求</vt:lpstr>
      <vt:lpstr>研究现状：代码检索从文本匹配走向 Agent 语义检索</vt:lpstr>
      <vt:lpstr>PowerPoint 演示文稿</vt:lpstr>
      <vt:lpstr>研究内容与目标</vt:lpstr>
      <vt:lpstr>PowerPoint 演示文稿</vt:lpstr>
      <vt:lpstr>总体技术路线：SemQL 驱动的多阶段 CodeSearch Pipeline</vt:lpstr>
      <vt:lpstr>关键方法：SemQL、分层过滤与双阶段重排</vt:lpstr>
      <vt:lpstr>PowerPoint 演示文稿</vt:lpstr>
      <vt:lpstr>阶段成果与当前进展</vt:lpstr>
      <vt:lpstr>PowerPoint 演示文稿</vt:lpstr>
      <vt:lpstr>研究计划与进度安排</vt:lpstr>
      <vt:lpstr>PowerPoint 演示文稿</vt:lpstr>
      <vt:lpstr>总结与展望</vt:lpstr>
      <vt:lpstr>主要参考文献</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论文答辩报告</dc:title>
  <dc:creator>辉强 林</dc:creator>
  <cp:keywords>校神网原创版权模板</cp:keywords>
  <dc:description>www.pptgenius.com</dc:description>
  <cp:lastModifiedBy>OLD帅MA</cp:lastModifiedBy>
  <cp:revision>514</cp:revision>
  <dcterms:created xsi:type="dcterms:W3CDTF">2026-06-08T01:19:51Z</dcterms:created>
  <dcterms:modified xsi:type="dcterms:W3CDTF">2026-06-08T01:19:51Z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1597B7EE490E2A31B9A5126A41FC59A5</vt:lpwstr>
  </property>
  <property fmtid="{D5CDD505-2E9C-101B-9397-08002B2CF9AE}" pid="3" name="KSOProductBuildVer">
    <vt:lpwstr>2052-4.1.1.6613</vt:lpwstr>
  </property>
</Properties>
</file>