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56" r:id="rId3"/>
    <p:sldId id="287" r:id="rId5"/>
    <p:sldId id="288" r:id="rId6"/>
    <p:sldId id="289" r:id="rId7"/>
    <p:sldId id="296" r:id="rId8"/>
    <p:sldId id="847" r:id="rId9"/>
    <p:sldId id="293" r:id="rId10"/>
    <p:sldId id="849" r:id="rId11"/>
    <p:sldId id="791" r:id="rId12"/>
    <p:sldId id="794" r:id="rId13"/>
    <p:sldId id="850" r:id="rId14"/>
    <p:sldId id="795" r:id="rId15"/>
    <p:sldId id="851" r:id="rId16"/>
    <p:sldId id="790" r:id="rId17"/>
    <p:sldId id="852" r:id="rId18"/>
    <p:sldId id="290" r:id="rId19"/>
    <p:sldId id="280" r:id="rId20"/>
    <p:sldId id="286" r:id="rId21"/>
  </p:sldIdLst>
  <p:sldSz cx="12192000" cy="6858000"/>
  <p:notesSz cx="6858000" cy="9144000"/>
  <p:embeddedFontLst>
    <p:embeddedFont>
      <p:font typeface="PingFang SC" panose="020B0400000000000000" charset="-122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924"/>
    <a:srgbClr val="BFBFBF"/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60" autoAdjust="0"/>
    <p:restoredTop sz="94660" autoAdjust="0"/>
  </p:normalViewPr>
  <p:slideViewPr>
    <p:cSldViewPr snapToGrid="0">
      <p:cViewPr varScale="1">
        <p:scale>
          <a:sx n="101" d="100"/>
          <a:sy n="101" d="100"/>
        </p:scale>
        <p:origin x="35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47" d="100"/>
        <a:sy n="47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89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CF01E-7679-46AD-BD36-A23A11BF84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35F92-EA63-496E-83CB-B20A02D636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23912-F76B-44AA-AEEC-D62510CEF6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025F4-21EF-435D-81ED-3E98BA65D94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本页用于开场，强调本次汇报的核心对象已从旧版代码检索 pipeline 升级为 SemQL 2.0：条件化查询语言与执行引擎。可简要说明项目目标是服务代码智能体在大型代码库中的可靠检索。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目录保持六个部分：先说明问题背景，再给出目标和总体方案，随后展开 SemQL 2.0 的编译、条件类型、优化执行、组合重排，最后汇报实现现状、评测设计和后续计划。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本页可按三类局限展开：Grep 快但依赖字面形式；Dense Search 能表达语义相似但缺少硬约束；二者叠加后仍缺少统一逻辑和执行优化。引出“带约束的多维匹配”这个研究问题。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这里强调研究范式变化：Agent 的查询更接近数据库查询而不是简单搜索，因此需要把自然语言编译成可执行的查询计划。可说明 SemQL 2.0 的定位是统一多种检索能力，而不是替换某一个模型。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第二部分说明研究目标：构建一个面向代码智能体的条件化查询语言和执行引擎。过渡到后续四项能力：组合、优化、解释和上下文感知。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四项目标对应 report.md 的核心目标。可组合性解决复杂条件表达；可优化性控制高成本语义判断；可解释性服务 Agent 后续推理；上下文感知通过 Bundle 返回相关代码子图。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第三部分进入核心方法，说明 SemQL 2.0 不是单个 JSON 字段 schema，而是从 NL Query 到 SemCon、SemQL、执行计划和最终结果的完整方法框架。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本页是全流程主图。Query Compiler 负责 NL 到 SemCon 再到 SemQL；Optimizer 将逻辑计划转为物理计划；执行阶段按 Surface、Relation、Intention 分层；最后 Bundle Reranker 以代码子图为单位重排并输出证据。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SemCon 抽取由 LLM 完成，拆出 Surface、Relation、Intention 三类原子条件。SemQL 组织阶段按 include/exclude 分组，但不提前固化执行顺序，原因是执行顺序应由优化器根据代价和候选规模动态决定。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第四部分展开条件类型、优化器和执行引擎。这里可以提醒评委：三类条件不仅是语义分类，也对应不同物理执行后端和不同成本。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Surface 条件覆盖函数名、关键词、ngram、代码行和 term embedding，适合快速召回；Relation 条件覆盖容器、文件、调用者、被调用者和 graph_constraint；Intention 条件用于功能、领域和非功能语义，采用二元判别而非单纯相似度。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第五部分汇报系统实现和实验设计。过渡语可以说明：方法设计之后，需要回答两个工程问题，一是哪些模块已经实现，二是如何证明每个模块确实提升检索质量或降低成本。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优化器部分可以重点解释四条 RBO 规则：Intention-Last、Surface-First、Dangling Ban、NOT-Pushdown。CBO 在规则约束下基于候选规模估计选择性；候选过大时触发 Cluster Filter 截断，使进入 Intention 阶段的候选保持在较小规模。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E3519-AA41-4C8F-81B1-98F81BDCD1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第六部分面向论文后续工作：组合重排、评测和研发路径。Bundle 思想是把单个代码元素扩展成有结构关系的小上下文，减少 Agent 自行拼接代码上下文的成本。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已完成部分包括离线解析、符号索引、N-gram 倒排、FastText+ICF、语义 embedding、SemCon 抽取、SemQL 组织和基础执行模块。待实现包括 RBO/CBO、调用图 BFS/DFS、CodeQL、LLM Judge 和 Bundle Scorer。评测指标覆盖检索质量、Bundle 质量和效率成本。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对比页用于收束贡献：SemQL 2.0 在语义召回、硬过滤、调用图约束、关联节点返回和解释性上相对 Grep 与 Dense Search 形成系统优势。参考依据包括 Deep Code Search、CodeBERT、SWE-bench、CodeSearchNet 以及本项目实现材料。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结尾强调后续将完成查询优化器、执行引擎、Bundle 重排和系统化评测，并将这些实验结果整理为毕业论文的核心证据。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41"/>
          <a:stretch>
            <a:fillRect/>
          </a:stretch>
        </p:blipFill>
        <p:spPr>
          <a:xfrm>
            <a:off x="0" y="0"/>
            <a:ext cx="12192000" cy="4379495"/>
          </a:xfrm>
          <a:custGeom>
            <a:avLst/>
            <a:gdLst>
              <a:gd name="connsiteX0" fmla="*/ 0 w 12192000"/>
              <a:gd name="connsiteY0" fmla="*/ 0 h 4379495"/>
              <a:gd name="connsiteX1" fmla="*/ 12192000 w 12192000"/>
              <a:gd name="connsiteY1" fmla="*/ 0 h 4379495"/>
              <a:gd name="connsiteX2" fmla="*/ 12192000 w 12192000"/>
              <a:gd name="connsiteY2" fmla="*/ 3783931 h 4379495"/>
              <a:gd name="connsiteX3" fmla="*/ 11450408 w 12192000"/>
              <a:gd name="connsiteY3" fmla="*/ 3921789 h 4379495"/>
              <a:gd name="connsiteX4" fmla="*/ 6096001 w 12192000"/>
              <a:gd name="connsiteY4" fmla="*/ 4379495 h 4379495"/>
              <a:gd name="connsiteX5" fmla="*/ 0 w 12192000"/>
              <a:gd name="connsiteY5" fmla="*/ 3783931 h 437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379495">
                <a:moveTo>
                  <a:pt x="0" y="0"/>
                </a:moveTo>
                <a:lnTo>
                  <a:pt x="12192000" y="0"/>
                </a:lnTo>
                <a:lnTo>
                  <a:pt x="12192000" y="3783931"/>
                </a:lnTo>
                <a:lnTo>
                  <a:pt x="11450408" y="3921789"/>
                </a:lnTo>
                <a:cubicBezTo>
                  <a:pt x="9712586" y="4222897"/>
                  <a:pt x="7923339" y="4379495"/>
                  <a:pt x="6096001" y="4379495"/>
                </a:cubicBezTo>
                <a:cubicBezTo>
                  <a:pt x="4007614" y="4379495"/>
                  <a:pt x="1968980" y="4173754"/>
                  <a:pt x="0" y="3783931"/>
                </a:cubicBezTo>
                <a:close/>
              </a:path>
            </a:pathLst>
          </a:custGeom>
        </p:spPr>
      </p:pic>
      <p:sp>
        <p:nvSpPr>
          <p:cNvPr id="5" name="任意多边形: 形状 4"/>
          <p:cNvSpPr/>
          <p:nvPr userDrawn="1"/>
        </p:nvSpPr>
        <p:spPr>
          <a:xfrm>
            <a:off x="0" y="0"/>
            <a:ext cx="12192000" cy="4379494"/>
          </a:xfrm>
          <a:custGeom>
            <a:avLst/>
            <a:gdLst>
              <a:gd name="connsiteX0" fmla="*/ 0 w 12194487"/>
              <a:gd name="connsiteY0" fmla="*/ 0 h 4379494"/>
              <a:gd name="connsiteX1" fmla="*/ 0 w 12194487"/>
              <a:gd name="connsiteY1" fmla="*/ 3783931 h 4379494"/>
              <a:gd name="connsiteX2" fmla="*/ 6097244 w 12194487"/>
              <a:gd name="connsiteY2" fmla="*/ 4379495 h 4379494"/>
              <a:gd name="connsiteX3" fmla="*/ 12194488 w 12194487"/>
              <a:gd name="connsiteY3" fmla="*/ 3783931 h 4379494"/>
              <a:gd name="connsiteX4" fmla="*/ 12194488 w 12194487"/>
              <a:gd name="connsiteY4" fmla="*/ 0 h 4379494"/>
              <a:gd name="connsiteX5" fmla="*/ 0 w 12194487"/>
              <a:gd name="connsiteY5" fmla="*/ 0 h 4379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4487" h="4379494">
                <a:moveTo>
                  <a:pt x="0" y="0"/>
                </a:moveTo>
                <a:lnTo>
                  <a:pt x="0" y="3783931"/>
                </a:lnTo>
                <a:cubicBezTo>
                  <a:pt x="1969381" y="4173754"/>
                  <a:pt x="4008431" y="4379495"/>
                  <a:pt x="6097244" y="4379495"/>
                </a:cubicBezTo>
                <a:cubicBezTo>
                  <a:pt x="8186057" y="4379495"/>
                  <a:pt x="10225107" y="4174958"/>
                  <a:pt x="12194488" y="3783931"/>
                </a:cubicBezTo>
                <a:lnTo>
                  <a:pt x="1219448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 w="12440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1155700" y="833663"/>
            <a:ext cx="9880600" cy="4986565"/>
          </a:xfrm>
          <a:custGeom>
            <a:avLst/>
            <a:gdLst>
              <a:gd name="connsiteX0" fmla="*/ 8813284 w 9880600"/>
              <a:gd name="connsiteY0" fmla="*/ 0 h 4986565"/>
              <a:gd name="connsiteX1" fmla="*/ 9191737 w 9880600"/>
              <a:gd name="connsiteY1" fmla="*/ 156760 h 4986565"/>
              <a:gd name="connsiteX2" fmla="*/ 9244274 w 9880600"/>
              <a:gd name="connsiteY2" fmla="*/ 220436 h 4986565"/>
              <a:gd name="connsiteX3" fmla="*/ 9804771 w 9880600"/>
              <a:gd name="connsiteY3" fmla="*/ 220436 h 4986565"/>
              <a:gd name="connsiteX4" fmla="*/ 9880600 w 9880600"/>
              <a:gd name="connsiteY4" fmla="*/ 296265 h 4986565"/>
              <a:gd name="connsiteX5" fmla="*/ 9880600 w 9880600"/>
              <a:gd name="connsiteY5" fmla="*/ 4910736 h 4986565"/>
              <a:gd name="connsiteX6" fmla="*/ 9804771 w 9880600"/>
              <a:gd name="connsiteY6" fmla="*/ 4986565 h 4986565"/>
              <a:gd name="connsiteX7" fmla="*/ 75829 w 9880600"/>
              <a:gd name="connsiteY7" fmla="*/ 4986565 h 4986565"/>
              <a:gd name="connsiteX8" fmla="*/ 0 w 9880600"/>
              <a:gd name="connsiteY8" fmla="*/ 4910736 h 4986565"/>
              <a:gd name="connsiteX9" fmla="*/ 0 w 9880600"/>
              <a:gd name="connsiteY9" fmla="*/ 296265 h 4986565"/>
              <a:gd name="connsiteX10" fmla="*/ 75829 w 9880600"/>
              <a:gd name="connsiteY10" fmla="*/ 220436 h 4986565"/>
              <a:gd name="connsiteX11" fmla="*/ 8382294 w 9880600"/>
              <a:gd name="connsiteY11" fmla="*/ 220436 h 4986565"/>
              <a:gd name="connsiteX12" fmla="*/ 8434831 w 9880600"/>
              <a:gd name="connsiteY12" fmla="*/ 156760 h 4986565"/>
              <a:gd name="connsiteX13" fmla="*/ 8813284 w 9880600"/>
              <a:gd name="connsiteY13" fmla="*/ 0 h 498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880600" h="4986565">
                <a:moveTo>
                  <a:pt x="8813284" y="0"/>
                </a:moveTo>
                <a:cubicBezTo>
                  <a:pt x="8961079" y="0"/>
                  <a:pt x="9094882" y="59906"/>
                  <a:pt x="9191737" y="156760"/>
                </a:cubicBezTo>
                <a:lnTo>
                  <a:pt x="9244274" y="220436"/>
                </a:lnTo>
                <a:lnTo>
                  <a:pt x="9804771" y="220436"/>
                </a:lnTo>
                <a:cubicBezTo>
                  <a:pt x="9846650" y="220436"/>
                  <a:pt x="9880600" y="254386"/>
                  <a:pt x="9880600" y="296265"/>
                </a:cubicBezTo>
                <a:lnTo>
                  <a:pt x="9880600" y="4910736"/>
                </a:lnTo>
                <a:cubicBezTo>
                  <a:pt x="9880600" y="4952615"/>
                  <a:pt x="9846650" y="4986565"/>
                  <a:pt x="9804771" y="4986565"/>
                </a:cubicBezTo>
                <a:lnTo>
                  <a:pt x="75829" y="4986565"/>
                </a:lnTo>
                <a:cubicBezTo>
                  <a:pt x="33950" y="4986565"/>
                  <a:pt x="0" y="4952615"/>
                  <a:pt x="0" y="4910736"/>
                </a:cubicBezTo>
                <a:lnTo>
                  <a:pt x="0" y="296265"/>
                </a:lnTo>
                <a:cubicBezTo>
                  <a:pt x="0" y="254386"/>
                  <a:pt x="33950" y="220436"/>
                  <a:pt x="75829" y="220436"/>
                </a:cubicBezTo>
                <a:lnTo>
                  <a:pt x="8382294" y="220436"/>
                </a:lnTo>
                <a:lnTo>
                  <a:pt x="8434831" y="156760"/>
                </a:lnTo>
                <a:cubicBezTo>
                  <a:pt x="8531686" y="59906"/>
                  <a:pt x="8665489" y="0"/>
                  <a:pt x="8813284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/>
            </a:solidFill>
          </a:ln>
          <a:effectLst>
            <a:outerShdw blurRad="254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3">
            <a:alphaModFix amt="2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59" t="15006" r="11159" b="45391"/>
          <a:stretch>
            <a:fillRect/>
          </a:stretch>
        </p:blipFill>
        <p:spPr>
          <a:xfrm>
            <a:off x="1173480" y="1786519"/>
            <a:ext cx="9845041" cy="4025355"/>
          </a:xfrm>
          <a:prstGeom prst="rect">
            <a:avLst/>
          </a:prstGeom>
        </p:spPr>
      </p:pic>
      <p:pic>
        <p:nvPicPr>
          <p:cNvPr id="11" name="logo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340" y="951232"/>
            <a:ext cx="835288" cy="83528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173480" y="2620183"/>
            <a:ext cx="9845040" cy="2950267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870222" y="192542"/>
            <a:ext cx="10066818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defTabSz="45720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11"/>
          </p:nvPr>
        </p:nvSpPr>
        <p:spPr>
          <a:xfrm>
            <a:off x="479425" y="1235748"/>
            <a:ext cx="11233150" cy="218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zh-CN" altLang="en-US" smtClean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lang="zh-CN" altLang="en-US" smtClean="0"/>
            </a:lvl2pPr>
            <a:lvl3pPr marL="914400" indent="0">
              <a:buNone/>
              <a:defRPr lang="zh-CN" altLang="en-US" smtClean="0"/>
            </a:lvl3pPr>
            <a:lvl4pPr marL="1371600" indent="0">
              <a:buNone/>
              <a:defRPr lang="zh-CN" altLang="en-US" smtClean="0"/>
            </a:lvl4pPr>
            <a:lvl5pPr marL="1828800" indent="0">
              <a:buNone/>
              <a:defRPr lang="zh-CN" altLang="en-US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排版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479425" y="1582738"/>
            <a:ext cx="3355975" cy="1677987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5"/>
          <p:cNvSpPr>
            <a:spLocks noGrp="1"/>
          </p:cNvSpPr>
          <p:nvPr>
            <p:ph type="pic" sz="quarter" idx="11"/>
          </p:nvPr>
        </p:nvSpPr>
        <p:spPr>
          <a:xfrm>
            <a:off x="4418294" y="1582738"/>
            <a:ext cx="3355975" cy="1677987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9" name="图片占位符 5"/>
          <p:cNvSpPr>
            <a:spLocks noGrp="1"/>
          </p:cNvSpPr>
          <p:nvPr>
            <p:ph type="pic" sz="quarter" idx="12"/>
          </p:nvPr>
        </p:nvSpPr>
        <p:spPr>
          <a:xfrm>
            <a:off x="8356600" y="1582738"/>
            <a:ext cx="3355975" cy="1677987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排版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1157968" y="1650617"/>
            <a:ext cx="4635664" cy="1676785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5"/>
          <p:cNvSpPr>
            <a:spLocks noGrp="1"/>
          </p:cNvSpPr>
          <p:nvPr>
            <p:ph type="pic" sz="quarter" idx="11"/>
          </p:nvPr>
        </p:nvSpPr>
        <p:spPr>
          <a:xfrm>
            <a:off x="6398369" y="1650617"/>
            <a:ext cx="4658632" cy="1676785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排版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479424" y="1656442"/>
            <a:ext cx="4635664" cy="4163787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排版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78657" y="2766316"/>
            <a:ext cx="2221946" cy="2221946"/>
          </a:xfrm>
          <a:custGeom>
            <a:avLst/>
            <a:gdLst>
              <a:gd name="connsiteX0" fmla="*/ 1110973 w 2221946"/>
              <a:gd name="connsiteY0" fmla="*/ 0 h 2221946"/>
              <a:gd name="connsiteX1" fmla="*/ 2221946 w 2221946"/>
              <a:gd name="connsiteY1" fmla="*/ 1110973 h 2221946"/>
              <a:gd name="connsiteX2" fmla="*/ 1110973 w 2221946"/>
              <a:gd name="connsiteY2" fmla="*/ 2221946 h 2221946"/>
              <a:gd name="connsiteX3" fmla="*/ 0 w 2221946"/>
              <a:gd name="connsiteY3" fmla="*/ 1110973 h 2221946"/>
              <a:gd name="connsiteX4" fmla="*/ 1110973 w 2221946"/>
              <a:gd name="connsiteY4" fmla="*/ 0 h 22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1946" h="2221946">
                <a:moveTo>
                  <a:pt x="1110973" y="0"/>
                </a:moveTo>
                <a:cubicBezTo>
                  <a:pt x="1724546" y="0"/>
                  <a:pt x="2221946" y="497400"/>
                  <a:pt x="2221946" y="1110973"/>
                </a:cubicBezTo>
                <a:cubicBezTo>
                  <a:pt x="2221946" y="1724546"/>
                  <a:pt x="1724546" y="2221946"/>
                  <a:pt x="1110973" y="2221946"/>
                </a:cubicBezTo>
                <a:cubicBezTo>
                  <a:pt x="497400" y="2221946"/>
                  <a:pt x="0" y="1724546"/>
                  <a:pt x="0" y="1110973"/>
                </a:cubicBezTo>
                <a:cubicBezTo>
                  <a:pt x="0" y="497400"/>
                  <a:pt x="497400" y="0"/>
                  <a:pt x="1110973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排版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5"/>
          <p:cNvSpPr>
            <a:spLocks noGrp="1"/>
          </p:cNvSpPr>
          <p:nvPr>
            <p:ph type="pic" sz="quarter" idx="12"/>
          </p:nvPr>
        </p:nvSpPr>
        <p:spPr>
          <a:xfrm>
            <a:off x="9465944" y="1814284"/>
            <a:ext cx="2246630" cy="2122803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4" name="图片占位符 5"/>
          <p:cNvSpPr>
            <a:spLocks noGrp="1"/>
          </p:cNvSpPr>
          <p:nvPr>
            <p:ph type="pic" sz="quarter" idx="14"/>
          </p:nvPr>
        </p:nvSpPr>
        <p:spPr>
          <a:xfrm>
            <a:off x="7219315" y="3937087"/>
            <a:ext cx="2246630" cy="2122803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479425" y="1814284"/>
            <a:ext cx="2246630" cy="2122803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" name="图片占位符 5"/>
          <p:cNvSpPr>
            <a:spLocks noGrp="1"/>
          </p:cNvSpPr>
          <p:nvPr>
            <p:ph type="pic" sz="quarter" idx="11"/>
          </p:nvPr>
        </p:nvSpPr>
        <p:spPr>
          <a:xfrm>
            <a:off x="4972683" y="1814284"/>
            <a:ext cx="2246630" cy="2122803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3" name="图片占位符 5"/>
          <p:cNvSpPr>
            <a:spLocks noGrp="1"/>
          </p:cNvSpPr>
          <p:nvPr>
            <p:ph type="pic" sz="quarter" idx="13"/>
          </p:nvPr>
        </p:nvSpPr>
        <p:spPr>
          <a:xfrm>
            <a:off x="2726054" y="3937087"/>
            <a:ext cx="2246630" cy="2122803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排版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 userDrawn="1">
            <p:ph type="pic" sz="quarter" idx="10"/>
          </p:nvPr>
        </p:nvSpPr>
        <p:spPr>
          <a:xfrm>
            <a:off x="479426" y="1762233"/>
            <a:ext cx="4435319" cy="1983652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5"/>
          <p:cNvSpPr>
            <a:spLocks noGrp="1"/>
          </p:cNvSpPr>
          <p:nvPr userDrawn="1">
            <p:ph type="pic" sz="quarter" idx="11"/>
          </p:nvPr>
        </p:nvSpPr>
        <p:spPr>
          <a:xfrm>
            <a:off x="5020931" y="1762233"/>
            <a:ext cx="2165983" cy="1983652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3" name="图片占位符 5"/>
          <p:cNvSpPr>
            <a:spLocks noGrp="1"/>
          </p:cNvSpPr>
          <p:nvPr>
            <p:ph type="pic" sz="quarter" idx="12"/>
          </p:nvPr>
        </p:nvSpPr>
        <p:spPr>
          <a:xfrm>
            <a:off x="7283761" y="1762233"/>
            <a:ext cx="2165983" cy="1983652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4" name="图片占位符 5"/>
          <p:cNvSpPr>
            <a:spLocks noGrp="1"/>
          </p:cNvSpPr>
          <p:nvPr>
            <p:ph type="pic" sz="quarter" idx="13"/>
          </p:nvPr>
        </p:nvSpPr>
        <p:spPr>
          <a:xfrm>
            <a:off x="9546591" y="1762233"/>
            <a:ext cx="2165983" cy="1983652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5" name="图片占位符 5"/>
          <p:cNvSpPr>
            <a:spLocks noGrp="1"/>
          </p:cNvSpPr>
          <p:nvPr>
            <p:ph type="pic" sz="quarter" idx="14"/>
          </p:nvPr>
        </p:nvSpPr>
        <p:spPr>
          <a:xfrm>
            <a:off x="495271" y="3834811"/>
            <a:ext cx="2165983" cy="1983652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6" name="图片占位符 5"/>
          <p:cNvSpPr>
            <a:spLocks noGrp="1"/>
          </p:cNvSpPr>
          <p:nvPr>
            <p:ph type="pic" sz="quarter" idx="15"/>
          </p:nvPr>
        </p:nvSpPr>
        <p:spPr>
          <a:xfrm>
            <a:off x="2758101" y="3834811"/>
            <a:ext cx="2165983" cy="1983652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图片占位符 5"/>
          <p:cNvSpPr>
            <a:spLocks noGrp="1"/>
          </p:cNvSpPr>
          <p:nvPr>
            <p:ph type="pic" sz="quarter" idx="16"/>
          </p:nvPr>
        </p:nvSpPr>
        <p:spPr>
          <a:xfrm>
            <a:off x="5020931" y="3834811"/>
            <a:ext cx="2165983" cy="1983652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排版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479425" y="2263694"/>
            <a:ext cx="1677600" cy="1677600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5"/>
          <p:cNvSpPr>
            <a:spLocks noGrp="1"/>
          </p:cNvSpPr>
          <p:nvPr>
            <p:ph type="pic" sz="quarter" idx="11"/>
          </p:nvPr>
        </p:nvSpPr>
        <p:spPr>
          <a:xfrm>
            <a:off x="479425" y="4401480"/>
            <a:ext cx="1677600" cy="1676785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排版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5"/>
          <p:cNvSpPr>
            <a:spLocks noGrp="1"/>
          </p:cNvSpPr>
          <p:nvPr>
            <p:ph type="pic" sz="quarter" idx="12"/>
          </p:nvPr>
        </p:nvSpPr>
        <p:spPr>
          <a:xfrm>
            <a:off x="497413" y="4652631"/>
            <a:ext cx="1857600" cy="1105200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0" name="图片占位符 5"/>
          <p:cNvSpPr>
            <a:spLocks noGrp="1"/>
          </p:cNvSpPr>
          <p:nvPr>
            <p:ph type="pic" sz="quarter" idx="13"/>
          </p:nvPr>
        </p:nvSpPr>
        <p:spPr>
          <a:xfrm>
            <a:off x="9854975" y="4652631"/>
            <a:ext cx="1857600" cy="1105200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497413" y="2460462"/>
            <a:ext cx="1857600" cy="1105200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5"/>
          <p:cNvSpPr>
            <a:spLocks noGrp="1"/>
          </p:cNvSpPr>
          <p:nvPr>
            <p:ph type="pic" sz="quarter" idx="11"/>
          </p:nvPr>
        </p:nvSpPr>
        <p:spPr>
          <a:xfrm>
            <a:off x="9854975" y="2460462"/>
            <a:ext cx="1857600" cy="1105200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排版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726287" y="2032086"/>
            <a:ext cx="504782" cy="507867"/>
          </a:xfrm>
          <a:custGeom>
            <a:avLst/>
            <a:gdLst>
              <a:gd name="connsiteX0" fmla="*/ 252382 w 504782"/>
              <a:gd name="connsiteY0" fmla="*/ 0 h 507867"/>
              <a:gd name="connsiteX1" fmla="*/ 430850 w 504782"/>
              <a:gd name="connsiteY1" fmla="*/ 74369 h 507867"/>
              <a:gd name="connsiteX2" fmla="*/ 430850 w 504782"/>
              <a:gd name="connsiteY2" fmla="*/ 433499 h 507867"/>
              <a:gd name="connsiteX3" fmla="*/ 73914 w 504782"/>
              <a:gd name="connsiteY3" fmla="*/ 433499 h 507867"/>
              <a:gd name="connsiteX4" fmla="*/ 73914 w 504782"/>
              <a:gd name="connsiteY4" fmla="*/ 74369 h 507867"/>
              <a:gd name="connsiteX5" fmla="*/ 252382 w 504782"/>
              <a:gd name="connsiteY5" fmla="*/ 0 h 50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82" h="507867">
                <a:moveTo>
                  <a:pt x="252382" y="0"/>
                </a:moveTo>
                <a:cubicBezTo>
                  <a:pt x="316972" y="0"/>
                  <a:pt x="381561" y="24790"/>
                  <a:pt x="430850" y="74369"/>
                </a:cubicBezTo>
                <a:cubicBezTo>
                  <a:pt x="529427" y="173552"/>
                  <a:pt x="529427" y="334316"/>
                  <a:pt x="430850" y="433499"/>
                </a:cubicBezTo>
                <a:cubicBezTo>
                  <a:pt x="332273" y="532657"/>
                  <a:pt x="172491" y="532657"/>
                  <a:pt x="73914" y="433499"/>
                </a:cubicBezTo>
                <a:cubicBezTo>
                  <a:pt x="-24638" y="334316"/>
                  <a:pt x="-24638" y="173552"/>
                  <a:pt x="73914" y="74369"/>
                </a:cubicBezTo>
                <a:cubicBezTo>
                  <a:pt x="123203" y="24790"/>
                  <a:pt x="187792" y="0"/>
                  <a:pt x="252382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1"/>
          </p:nvPr>
        </p:nvSpPr>
        <p:spPr>
          <a:xfrm>
            <a:off x="5661164" y="2032086"/>
            <a:ext cx="504782" cy="507867"/>
          </a:xfrm>
          <a:custGeom>
            <a:avLst/>
            <a:gdLst>
              <a:gd name="connsiteX0" fmla="*/ 252382 w 504782"/>
              <a:gd name="connsiteY0" fmla="*/ 0 h 507867"/>
              <a:gd name="connsiteX1" fmla="*/ 430850 w 504782"/>
              <a:gd name="connsiteY1" fmla="*/ 74369 h 507867"/>
              <a:gd name="connsiteX2" fmla="*/ 430850 w 504782"/>
              <a:gd name="connsiteY2" fmla="*/ 433499 h 507867"/>
              <a:gd name="connsiteX3" fmla="*/ 73914 w 504782"/>
              <a:gd name="connsiteY3" fmla="*/ 433499 h 507867"/>
              <a:gd name="connsiteX4" fmla="*/ 73914 w 504782"/>
              <a:gd name="connsiteY4" fmla="*/ 74369 h 507867"/>
              <a:gd name="connsiteX5" fmla="*/ 252382 w 504782"/>
              <a:gd name="connsiteY5" fmla="*/ 0 h 50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82" h="507867">
                <a:moveTo>
                  <a:pt x="252382" y="0"/>
                </a:moveTo>
                <a:cubicBezTo>
                  <a:pt x="316972" y="0"/>
                  <a:pt x="381561" y="24790"/>
                  <a:pt x="430850" y="74369"/>
                </a:cubicBezTo>
                <a:cubicBezTo>
                  <a:pt x="529427" y="173552"/>
                  <a:pt x="529427" y="334316"/>
                  <a:pt x="430850" y="433499"/>
                </a:cubicBezTo>
                <a:cubicBezTo>
                  <a:pt x="332273" y="532657"/>
                  <a:pt x="172491" y="532657"/>
                  <a:pt x="73914" y="433499"/>
                </a:cubicBezTo>
                <a:cubicBezTo>
                  <a:pt x="-24638" y="334316"/>
                  <a:pt x="-24638" y="173552"/>
                  <a:pt x="73914" y="74369"/>
                </a:cubicBezTo>
                <a:cubicBezTo>
                  <a:pt x="123203" y="24790"/>
                  <a:pt x="187792" y="0"/>
                  <a:pt x="252382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2"/>
          </p:nvPr>
        </p:nvSpPr>
        <p:spPr>
          <a:xfrm>
            <a:off x="2553839" y="4339871"/>
            <a:ext cx="504782" cy="507867"/>
          </a:xfrm>
          <a:custGeom>
            <a:avLst/>
            <a:gdLst>
              <a:gd name="connsiteX0" fmla="*/ 252382 w 504782"/>
              <a:gd name="connsiteY0" fmla="*/ 0 h 507867"/>
              <a:gd name="connsiteX1" fmla="*/ 430850 w 504782"/>
              <a:gd name="connsiteY1" fmla="*/ 74369 h 507867"/>
              <a:gd name="connsiteX2" fmla="*/ 430850 w 504782"/>
              <a:gd name="connsiteY2" fmla="*/ 433499 h 507867"/>
              <a:gd name="connsiteX3" fmla="*/ 73914 w 504782"/>
              <a:gd name="connsiteY3" fmla="*/ 433499 h 507867"/>
              <a:gd name="connsiteX4" fmla="*/ 73914 w 504782"/>
              <a:gd name="connsiteY4" fmla="*/ 74369 h 507867"/>
              <a:gd name="connsiteX5" fmla="*/ 252382 w 504782"/>
              <a:gd name="connsiteY5" fmla="*/ 0 h 50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82" h="507867">
                <a:moveTo>
                  <a:pt x="252382" y="0"/>
                </a:moveTo>
                <a:cubicBezTo>
                  <a:pt x="316972" y="0"/>
                  <a:pt x="381561" y="24790"/>
                  <a:pt x="430850" y="74369"/>
                </a:cubicBezTo>
                <a:cubicBezTo>
                  <a:pt x="529427" y="173552"/>
                  <a:pt x="529427" y="334316"/>
                  <a:pt x="430850" y="433499"/>
                </a:cubicBezTo>
                <a:cubicBezTo>
                  <a:pt x="332273" y="532657"/>
                  <a:pt x="172491" y="532657"/>
                  <a:pt x="73914" y="433499"/>
                </a:cubicBezTo>
                <a:cubicBezTo>
                  <a:pt x="-24638" y="334316"/>
                  <a:pt x="-24638" y="173552"/>
                  <a:pt x="73914" y="74369"/>
                </a:cubicBezTo>
                <a:cubicBezTo>
                  <a:pt x="123203" y="24790"/>
                  <a:pt x="187792" y="0"/>
                  <a:pt x="252382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3"/>
          </p:nvPr>
        </p:nvSpPr>
        <p:spPr>
          <a:xfrm>
            <a:off x="7488716" y="4339871"/>
            <a:ext cx="504782" cy="507867"/>
          </a:xfrm>
          <a:custGeom>
            <a:avLst/>
            <a:gdLst>
              <a:gd name="connsiteX0" fmla="*/ 252382 w 504782"/>
              <a:gd name="connsiteY0" fmla="*/ 0 h 507867"/>
              <a:gd name="connsiteX1" fmla="*/ 430850 w 504782"/>
              <a:gd name="connsiteY1" fmla="*/ 74369 h 507867"/>
              <a:gd name="connsiteX2" fmla="*/ 430850 w 504782"/>
              <a:gd name="connsiteY2" fmla="*/ 433499 h 507867"/>
              <a:gd name="connsiteX3" fmla="*/ 73914 w 504782"/>
              <a:gd name="connsiteY3" fmla="*/ 433499 h 507867"/>
              <a:gd name="connsiteX4" fmla="*/ 73914 w 504782"/>
              <a:gd name="connsiteY4" fmla="*/ 74369 h 507867"/>
              <a:gd name="connsiteX5" fmla="*/ 252382 w 504782"/>
              <a:gd name="connsiteY5" fmla="*/ 0 h 50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82" h="507867">
                <a:moveTo>
                  <a:pt x="252382" y="0"/>
                </a:moveTo>
                <a:cubicBezTo>
                  <a:pt x="316972" y="0"/>
                  <a:pt x="381561" y="24790"/>
                  <a:pt x="430850" y="74369"/>
                </a:cubicBezTo>
                <a:cubicBezTo>
                  <a:pt x="529427" y="173552"/>
                  <a:pt x="529427" y="334316"/>
                  <a:pt x="430850" y="433499"/>
                </a:cubicBezTo>
                <a:cubicBezTo>
                  <a:pt x="332273" y="532657"/>
                  <a:pt x="172491" y="532657"/>
                  <a:pt x="73914" y="433499"/>
                </a:cubicBezTo>
                <a:cubicBezTo>
                  <a:pt x="-24638" y="334316"/>
                  <a:pt x="-24638" y="173552"/>
                  <a:pt x="73914" y="74369"/>
                </a:cubicBezTo>
                <a:cubicBezTo>
                  <a:pt x="123203" y="24790"/>
                  <a:pt x="187792" y="0"/>
                  <a:pt x="252382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排版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78657" y="2918523"/>
            <a:ext cx="2221946" cy="2221946"/>
          </a:xfrm>
          <a:custGeom>
            <a:avLst/>
            <a:gdLst>
              <a:gd name="connsiteX0" fmla="*/ 1110973 w 2221946"/>
              <a:gd name="connsiteY0" fmla="*/ 0 h 2221946"/>
              <a:gd name="connsiteX1" fmla="*/ 2221946 w 2221946"/>
              <a:gd name="connsiteY1" fmla="*/ 1110973 h 2221946"/>
              <a:gd name="connsiteX2" fmla="*/ 1110973 w 2221946"/>
              <a:gd name="connsiteY2" fmla="*/ 2221946 h 2221946"/>
              <a:gd name="connsiteX3" fmla="*/ 0 w 2221946"/>
              <a:gd name="connsiteY3" fmla="*/ 1110973 h 2221946"/>
              <a:gd name="connsiteX4" fmla="*/ 1110973 w 2221946"/>
              <a:gd name="connsiteY4" fmla="*/ 0 h 22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1946" h="2221946">
                <a:moveTo>
                  <a:pt x="1110973" y="0"/>
                </a:moveTo>
                <a:cubicBezTo>
                  <a:pt x="1724546" y="0"/>
                  <a:pt x="2221946" y="497400"/>
                  <a:pt x="2221946" y="1110973"/>
                </a:cubicBezTo>
                <a:cubicBezTo>
                  <a:pt x="2221946" y="1724546"/>
                  <a:pt x="1724546" y="2221946"/>
                  <a:pt x="1110973" y="2221946"/>
                </a:cubicBezTo>
                <a:cubicBezTo>
                  <a:pt x="497400" y="2221946"/>
                  <a:pt x="0" y="1724546"/>
                  <a:pt x="0" y="1110973"/>
                </a:cubicBezTo>
                <a:cubicBezTo>
                  <a:pt x="0" y="497400"/>
                  <a:pt x="497400" y="0"/>
                  <a:pt x="1110973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排版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479425" y="1952213"/>
            <a:ext cx="11233150" cy="2532700"/>
          </a:xfrm>
          <a:blipFill dpi="0" rotWithShape="1">
            <a:blip r:embed="rId2"/>
            <a:srcRect/>
            <a:tile tx="0" ty="0" sx="80000" sy="8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排版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5597525" y="1687908"/>
            <a:ext cx="5121194" cy="4163787"/>
          </a:xfr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图片排版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17534" y="1710067"/>
            <a:ext cx="2354400" cy="2354400"/>
          </a:xfrm>
          <a:custGeom>
            <a:avLst/>
            <a:gdLst>
              <a:gd name="connsiteX0" fmla="*/ 1110973 w 2221946"/>
              <a:gd name="connsiteY0" fmla="*/ 0 h 2221946"/>
              <a:gd name="connsiteX1" fmla="*/ 2221946 w 2221946"/>
              <a:gd name="connsiteY1" fmla="*/ 1110973 h 2221946"/>
              <a:gd name="connsiteX2" fmla="*/ 1110973 w 2221946"/>
              <a:gd name="connsiteY2" fmla="*/ 2221946 h 2221946"/>
              <a:gd name="connsiteX3" fmla="*/ 0 w 2221946"/>
              <a:gd name="connsiteY3" fmla="*/ 1110973 h 2221946"/>
              <a:gd name="connsiteX4" fmla="*/ 1110973 w 2221946"/>
              <a:gd name="connsiteY4" fmla="*/ 0 h 22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1946" h="2221946">
                <a:moveTo>
                  <a:pt x="1110973" y="0"/>
                </a:moveTo>
                <a:cubicBezTo>
                  <a:pt x="1724546" y="0"/>
                  <a:pt x="2221946" y="497400"/>
                  <a:pt x="2221946" y="1110973"/>
                </a:cubicBezTo>
                <a:cubicBezTo>
                  <a:pt x="2221946" y="1724546"/>
                  <a:pt x="1724546" y="2221946"/>
                  <a:pt x="1110973" y="2221946"/>
                </a:cubicBezTo>
                <a:cubicBezTo>
                  <a:pt x="497400" y="2221946"/>
                  <a:pt x="0" y="1724546"/>
                  <a:pt x="0" y="1110973"/>
                </a:cubicBezTo>
                <a:cubicBezTo>
                  <a:pt x="0" y="497400"/>
                  <a:pt x="497400" y="0"/>
                  <a:pt x="1110973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1"/>
          </p:nvPr>
        </p:nvSpPr>
        <p:spPr>
          <a:xfrm>
            <a:off x="1091151" y="1710067"/>
            <a:ext cx="2354400" cy="2354400"/>
          </a:xfrm>
          <a:custGeom>
            <a:avLst/>
            <a:gdLst>
              <a:gd name="connsiteX0" fmla="*/ 1110973 w 2221946"/>
              <a:gd name="connsiteY0" fmla="*/ 0 h 2221946"/>
              <a:gd name="connsiteX1" fmla="*/ 2221946 w 2221946"/>
              <a:gd name="connsiteY1" fmla="*/ 1110973 h 2221946"/>
              <a:gd name="connsiteX2" fmla="*/ 1110973 w 2221946"/>
              <a:gd name="connsiteY2" fmla="*/ 2221946 h 2221946"/>
              <a:gd name="connsiteX3" fmla="*/ 0 w 2221946"/>
              <a:gd name="connsiteY3" fmla="*/ 1110973 h 2221946"/>
              <a:gd name="connsiteX4" fmla="*/ 1110973 w 2221946"/>
              <a:gd name="connsiteY4" fmla="*/ 0 h 22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1946" h="2221946">
                <a:moveTo>
                  <a:pt x="1110973" y="0"/>
                </a:moveTo>
                <a:cubicBezTo>
                  <a:pt x="1724546" y="0"/>
                  <a:pt x="2221946" y="497400"/>
                  <a:pt x="2221946" y="1110973"/>
                </a:cubicBezTo>
                <a:cubicBezTo>
                  <a:pt x="2221946" y="1724546"/>
                  <a:pt x="1724546" y="2221946"/>
                  <a:pt x="1110973" y="2221946"/>
                </a:cubicBezTo>
                <a:cubicBezTo>
                  <a:pt x="497400" y="2221946"/>
                  <a:pt x="0" y="1724546"/>
                  <a:pt x="0" y="1110973"/>
                </a:cubicBezTo>
                <a:cubicBezTo>
                  <a:pt x="0" y="497400"/>
                  <a:pt x="497400" y="0"/>
                  <a:pt x="1110973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3"/>
          <p:cNvSpPr>
            <a:spLocks noGrp="1"/>
          </p:cNvSpPr>
          <p:nvPr>
            <p:ph type="pic" sz="quarter" idx="12"/>
          </p:nvPr>
        </p:nvSpPr>
        <p:spPr>
          <a:xfrm>
            <a:off x="8743917" y="1710067"/>
            <a:ext cx="2354400" cy="2354400"/>
          </a:xfrm>
          <a:custGeom>
            <a:avLst/>
            <a:gdLst>
              <a:gd name="connsiteX0" fmla="*/ 1110973 w 2221946"/>
              <a:gd name="connsiteY0" fmla="*/ 0 h 2221946"/>
              <a:gd name="connsiteX1" fmla="*/ 2221946 w 2221946"/>
              <a:gd name="connsiteY1" fmla="*/ 1110973 h 2221946"/>
              <a:gd name="connsiteX2" fmla="*/ 1110973 w 2221946"/>
              <a:gd name="connsiteY2" fmla="*/ 2221946 h 2221946"/>
              <a:gd name="connsiteX3" fmla="*/ 0 w 2221946"/>
              <a:gd name="connsiteY3" fmla="*/ 1110973 h 2221946"/>
              <a:gd name="connsiteX4" fmla="*/ 1110973 w 2221946"/>
              <a:gd name="connsiteY4" fmla="*/ 0 h 22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1946" h="2221946">
                <a:moveTo>
                  <a:pt x="1110973" y="0"/>
                </a:moveTo>
                <a:cubicBezTo>
                  <a:pt x="1724546" y="0"/>
                  <a:pt x="2221946" y="497400"/>
                  <a:pt x="2221946" y="1110973"/>
                </a:cubicBezTo>
                <a:cubicBezTo>
                  <a:pt x="2221946" y="1724546"/>
                  <a:pt x="1724546" y="2221946"/>
                  <a:pt x="1110973" y="2221946"/>
                </a:cubicBezTo>
                <a:cubicBezTo>
                  <a:pt x="497400" y="2221946"/>
                  <a:pt x="0" y="1724546"/>
                  <a:pt x="0" y="1110973"/>
                </a:cubicBezTo>
                <a:cubicBezTo>
                  <a:pt x="0" y="497400"/>
                  <a:pt x="497400" y="0"/>
                  <a:pt x="1110973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图片排版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689128" y="2897442"/>
            <a:ext cx="761741" cy="766393"/>
          </a:xfrm>
          <a:custGeom>
            <a:avLst/>
            <a:gdLst>
              <a:gd name="connsiteX0" fmla="*/ 380856 w 761741"/>
              <a:gd name="connsiteY0" fmla="*/ 0 h 766393"/>
              <a:gd name="connsiteX1" fmla="*/ 650173 w 761741"/>
              <a:gd name="connsiteY1" fmla="*/ 112225 h 766393"/>
              <a:gd name="connsiteX2" fmla="*/ 650173 w 761741"/>
              <a:gd name="connsiteY2" fmla="*/ 654169 h 766393"/>
              <a:gd name="connsiteX3" fmla="*/ 111540 w 761741"/>
              <a:gd name="connsiteY3" fmla="*/ 654169 h 766393"/>
              <a:gd name="connsiteX4" fmla="*/ 111540 w 761741"/>
              <a:gd name="connsiteY4" fmla="*/ 112225 h 766393"/>
              <a:gd name="connsiteX5" fmla="*/ 380856 w 761741"/>
              <a:gd name="connsiteY5" fmla="*/ 0 h 766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1741" h="766393">
                <a:moveTo>
                  <a:pt x="380856" y="0"/>
                </a:moveTo>
                <a:cubicBezTo>
                  <a:pt x="478325" y="0"/>
                  <a:pt x="575794" y="37408"/>
                  <a:pt x="650173" y="112225"/>
                </a:cubicBezTo>
                <a:cubicBezTo>
                  <a:pt x="798931" y="261897"/>
                  <a:pt x="798931" y="504496"/>
                  <a:pt x="650173" y="654169"/>
                </a:cubicBezTo>
                <a:cubicBezTo>
                  <a:pt x="501415" y="803802"/>
                  <a:pt x="260298" y="803802"/>
                  <a:pt x="111540" y="654169"/>
                </a:cubicBezTo>
                <a:cubicBezTo>
                  <a:pt x="-37179" y="504496"/>
                  <a:pt x="-37179" y="261897"/>
                  <a:pt x="111540" y="112225"/>
                </a:cubicBezTo>
                <a:cubicBezTo>
                  <a:pt x="185919" y="37408"/>
                  <a:pt x="283388" y="0"/>
                  <a:pt x="380856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1"/>
          </p:nvPr>
        </p:nvSpPr>
        <p:spPr>
          <a:xfrm>
            <a:off x="689128" y="5215135"/>
            <a:ext cx="761741" cy="766393"/>
          </a:xfrm>
          <a:custGeom>
            <a:avLst/>
            <a:gdLst>
              <a:gd name="connsiteX0" fmla="*/ 380856 w 761741"/>
              <a:gd name="connsiteY0" fmla="*/ 0 h 766393"/>
              <a:gd name="connsiteX1" fmla="*/ 650173 w 761741"/>
              <a:gd name="connsiteY1" fmla="*/ 112225 h 766393"/>
              <a:gd name="connsiteX2" fmla="*/ 650173 w 761741"/>
              <a:gd name="connsiteY2" fmla="*/ 654169 h 766393"/>
              <a:gd name="connsiteX3" fmla="*/ 111540 w 761741"/>
              <a:gd name="connsiteY3" fmla="*/ 654169 h 766393"/>
              <a:gd name="connsiteX4" fmla="*/ 111540 w 761741"/>
              <a:gd name="connsiteY4" fmla="*/ 112225 h 766393"/>
              <a:gd name="connsiteX5" fmla="*/ 380856 w 761741"/>
              <a:gd name="connsiteY5" fmla="*/ 0 h 766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1741" h="766393">
                <a:moveTo>
                  <a:pt x="380856" y="0"/>
                </a:moveTo>
                <a:cubicBezTo>
                  <a:pt x="478325" y="0"/>
                  <a:pt x="575794" y="37408"/>
                  <a:pt x="650173" y="112225"/>
                </a:cubicBezTo>
                <a:cubicBezTo>
                  <a:pt x="798931" y="261897"/>
                  <a:pt x="798931" y="504496"/>
                  <a:pt x="650173" y="654169"/>
                </a:cubicBezTo>
                <a:cubicBezTo>
                  <a:pt x="501415" y="803802"/>
                  <a:pt x="260298" y="803802"/>
                  <a:pt x="111540" y="654169"/>
                </a:cubicBezTo>
                <a:cubicBezTo>
                  <a:pt x="-37179" y="504496"/>
                  <a:pt x="-37179" y="261897"/>
                  <a:pt x="111540" y="112225"/>
                </a:cubicBezTo>
                <a:cubicBezTo>
                  <a:pt x="185919" y="37408"/>
                  <a:pt x="283388" y="0"/>
                  <a:pt x="380856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4394005" y="2897442"/>
            <a:ext cx="761741" cy="766393"/>
          </a:xfrm>
          <a:custGeom>
            <a:avLst/>
            <a:gdLst>
              <a:gd name="connsiteX0" fmla="*/ 380856 w 761741"/>
              <a:gd name="connsiteY0" fmla="*/ 0 h 766393"/>
              <a:gd name="connsiteX1" fmla="*/ 650173 w 761741"/>
              <a:gd name="connsiteY1" fmla="*/ 112225 h 766393"/>
              <a:gd name="connsiteX2" fmla="*/ 650173 w 761741"/>
              <a:gd name="connsiteY2" fmla="*/ 654169 h 766393"/>
              <a:gd name="connsiteX3" fmla="*/ 111540 w 761741"/>
              <a:gd name="connsiteY3" fmla="*/ 654169 h 766393"/>
              <a:gd name="connsiteX4" fmla="*/ 111540 w 761741"/>
              <a:gd name="connsiteY4" fmla="*/ 112225 h 766393"/>
              <a:gd name="connsiteX5" fmla="*/ 380856 w 761741"/>
              <a:gd name="connsiteY5" fmla="*/ 0 h 766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1741" h="766393">
                <a:moveTo>
                  <a:pt x="380856" y="0"/>
                </a:moveTo>
                <a:cubicBezTo>
                  <a:pt x="478325" y="0"/>
                  <a:pt x="575794" y="37408"/>
                  <a:pt x="650173" y="112225"/>
                </a:cubicBezTo>
                <a:cubicBezTo>
                  <a:pt x="798931" y="261897"/>
                  <a:pt x="798931" y="504496"/>
                  <a:pt x="650173" y="654169"/>
                </a:cubicBezTo>
                <a:cubicBezTo>
                  <a:pt x="501415" y="803802"/>
                  <a:pt x="260298" y="803802"/>
                  <a:pt x="111540" y="654169"/>
                </a:cubicBezTo>
                <a:cubicBezTo>
                  <a:pt x="-37179" y="504496"/>
                  <a:pt x="-37179" y="261897"/>
                  <a:pt x="111540" y="112225"/>
                </a:cubicBezTo>
                <a:cubicBezTo>
                  <a:pt x="185919" y="37408"/>
                  <a:pt x="283388" y="0"/>
                  <a:pt x="380856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3"/>
          </p:nvPr>
        </p:nvSpPr>
        <p:spPr>
          <a:xfrm>
            <a:off x="4394005" y="5215135"/>
            <a:ext cx="761741" cy="766393"/>
          </a:xfrm>
          <a:custGeom>
            <a:avLst/>
            <a:gdLst>
              <a:gd name="connsiteX0" fmla="*/ 380856 w 761741"/>
              <a:gd name="connsiteY0" fmla="*/ 0 h 766393"/>
              <a:gd name="connsiteX1" fmla="*/ 650173 w 761741"/>
              <a:gd name="connsiteY1" fmla="*/ 112225 h 766393"/>
              <a:gd name="connsiteX2" fmla="*/ 650173 w 761741"/>
              <a:gd name="connsiteY2" fmla="*/ 654169 h 766393"/>
              <a:gd name="connsiteX3" fmla="*/ 111540 w 761741"/>
              <a:gd name="connsiteY3" fmla="*/ 654169 h 766393"/>
              <a:gd name="connsiteX4" fmla="*/ 111540 w 761741"/>
              <a:gd name="connsiteY4" fmla="*/ 112225 h 766393"/>
              <a:gd name="connsiteX5" fmla="*/ 380856 w 761741"/>
              <a:gd name="connsiteY5" fmla="*/ 0 h 766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1741" h="766393">
                <a:moveTo>
                  <a:pt x="380856" y="0"/>
                </a:moveTo>
                <a:cubicBezTo>
                  <a:pt x="478325" y="0"/>
                  <a:pt x="575794" y="37408"/>
                  <a:pt x="650173" y="112225"/>
                </a:cubicBezTo>
                <a:cubicBezTo>
                  <a:pt x="798931" y="261897"/>
                  <a:pt x="798931" y="504496"/>
                  <a:pt x="650173" y="654169"/>
                </a:cubicBezTo>
                <a:cubicBezTo>
                  <a:pt x="501415" y="803802"/>
                  <a:pt x="260298" y="803802"/>
                  <a:pt x="111540" y="654169"/>
                </a:cubicBezTo>
                <a:cubicBezTo>
                  <a:pt x="-37179" y="504496"/>
                  <a:pt x="-37179" y="261897"/>
                  <a:pt x="111540" y="112225"/>
                </a:cubicBezTo>
                <a:cubicBezTo>
                  <a:pt x="185919" y="37408"/>
                  <a:pt x="283388" y="0"/>
                  <a:pt x="380856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8098854" y="2897442"/>
            <a:ext cx="761741" cy="766393"/>
          </a:xfrm>
          <a:custGeom>
            <a:avLst/>
            <a:gdLst>
              <a:gd name="connsiteX0" fmla="*/ 380856 w 761741"/>
              <a:gd name="connsiteY0" fmla="*/ 0 h 766393"/>
              <a:gd name="connsiteX1" fmla="*/ 650173 w 761741"/>
              <a:gd name="connsiteY1" fmla="*/ 112225 h 766393"/>
              <a:gd name="connsiteX2" fmla="*/ 650173 w 761741"/>
              <a:gd name="connsiteY2" fmla="*/ 654169 h 766393"/>
              <a:gd name="connsiteX3" fmla="*/ 111540 w 761741"/>
              <a:gd name="connsiteY3" fmla="*/ 654169 h 766393"/>
              <a:gd name="connsiteX4" fmla="*/ 111540 w 761741"/>
              <a:gd name="connsiteY4" fmla="*/ 112225 h 766393"/>
              <a:gd name="connsiteX5" fmla="*/ 380856 w 761741"/>
              <a:gd name="connsiteY5" fmla="*/ 0 h 766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1741" h="766393">
                <a:moveTo>
                  <a:pt x="380856" y="0"/>
                </a:moveTo>
                <a:cubicBezTo>
                  <a:pt x="478325" y="0"/>
                  <a:pt x="575794" y="37408"/>
                  <a:pt x="650173" y="112225"/>
                </a:cubicBezTo>
                <a:cubicBezTo>
                  <a:pt x="798931" y="261897"/>
                  <a:pt x="798931" y="504496"/>
                  <a:pt x="650173" y="654169"/>
                </a:cubicBezTo>
                <a:cubicBezTo>
                  <a:pt x="501415" y="803802"/>
                  <a:pt x="260298" y="803802"/>
                  <a:pt x="111540" y="654169"/>
                </a:cubicBezTo>
                <a:cubicBezTo>
                  <a:pt x="-37179" y="504496"/>
                  <a:pt x="-37179" y="261897"/>
                  <a:pt x="111540" y="112225"/>
                </a:cubicBezTo>
                <a:cubicBezTo>
                  <a:pt x="185919" y="37408"/>
                  <a:pt x="283388" y="0"/>
                  <a:pt x="380856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5"/>
          </p:nvPr>
        </p:nvSpPr>
        <p:spPr>
          <a:xfrm>
            <a:off x="8098854" y="5215135"/>
            <a:ext cx="761741" cy="766393"/>
          </a:xfrm>
          <a:custGeom>
            <a:avLst/>
            <a:gdLst>
              <a:gd name="connsiteX0" fmla="*/ 380856 w 761741"/>
              <a:gd name="connsiteY0" fmla="*/ 0 h 766393"/>
              <a:gd name="connsiteX1" fmla="*/ 650173 w 761741"/>
              <a:gd name="connsiteY1" fmla="*/ 112225 h 766393"/>
              <a:gd name="connsiteX2" fmla="*/ 650173 w 761741"/>
              <a:gd name="connsiteY2" fmla="*/ 654169 h 766393"/>
              <a:gd name="connsiteX3" fmla="*/ 111540 w 761741"/>
              <a:gd name="connsiteY3" fmla="*/ 654169 h 766393"/>
              <a:gd name="connsiteX4" fmla="*/ 111540 w 761741"/>
              <a:gd name="connsiteY4" fmla="*/ 112225 h 766393"/>
              <a:gd name="connsiteX5" fmla="*/ 380856 w 761741"/>
              <a:gd name="connsiteY5" fmla="*/ 0 h 766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1741" h="766393">
                <a:moveTo>
                  <a:pt x="380856" y="0"/>
                </a:moveTo>
                <a:cubicBezTo>
                  <a:pt x="478325" y="0"/>
                  <a:pt x="575794" y="37408"/>
                  <a:pt x="650173" y="112225"/>
                </a:cubicBezTo>
                <a:cubicBezTo>
                  <a:pt x="798931" y="261897"/>
                  <a:pt x="798931" y="504496"/>
                  <a:pt x="650173" y="654169"/>
                </a:cubicBezTo>
                <a:cubicBezTo>
                  <a:pt x="501415" y="803802"/>
                  <a:pt x="260298" y="803802"/>
                  <a:pt x="111540" y="654169"/>
                </a:cubicBezTo>
                <a:cubicBezTo>
                  <a:pt x="-37179" y="504496"/>
                  <a:pt x="-37179" y="261897"/>
                  <a:pt x="111540" y="112225"/>
                </a:cubicBezTo>
                <a:cubicBezTo>
                  <a:pt x="185919" y="37408"/>
                  <a:pt x="283388" y="0"/>
                  <a:pt x="380856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noFill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4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chemeClr val="accent1"/>
          </a:solidFill>
          <a:ln w="12440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0222" y="192542"/>
            <a:ext cx="10515600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0" defTabSz="45720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9513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二级</a:t>
            </a:r>
            <a:endParaRPr lang="zh-CN" altLang="en-US" dirty="0"/>
          </a:p>
          <a:p>
            <a:pPr marL="914400" lvl="2" indent="0">
              <a:buNone/>
            </a:pPr>
            <a:r>
              <a:rPr lang="zh-CN" altLang="en-US" dirty="0"/>
              <a:t>三级</a:t>
            </a:r>
            <a:endParaRPr lang="zh-CN" altLang="en-US" dirty="0"/>
          </a:p>
          <a:p>
            <a:pPr marL="1371600" lvl="3" indent="0">
              <a:buNone/>
            </a:pPr>
            <a:r>
              <a:rPr lang="zh-CN" altLang="en-US" dirty="0"/>
              <a:t>四级</a:t>
            </a:r>
            <a:endParaRPr lang="zh-CN" altLang="en-US" dirty="0"/>
          </a:p>
          <a:p>
            <a:pPr marL="1828800" lvl="4" indent="0">
              <a:buNone/>
            </a:pPr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98000" y="13201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C6FF8-5235-4F96-9E93-E1F714947A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598400" y="13201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170400" y="13201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AD28B-1317-466D-9CEA-DD6AA477B16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 userDrawn="1"/>
        </p:nvSpPr>
        <p:spPr>
          <a:xfrm>
            <a:off x="11023762" y="399052"/>
            <a:ext cx="789573" cy="78957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logo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484" y="485774"/>
            <a:ext cx="616129" cy="616129"/>
          </a:xfrm>
          <a:prstGeom prst="rect">
            <a:avLst/>
          </a:prstGeom>
        </p:spPr>
      </p:pic>
      <p:sp>
        <p:nvSpPr>
          <p:cNvPr id="23" name="文本框 22"/>
          <p:cNvSpPr txBox="1"/>
          <p:nvPr userDrawn="1"/>
        </p:nvSpPr>
        <p:spPr>
          <a:xfrm>
            <a:off x="479425" y="6522651"/>
            <a:ext cx="311944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论文答辩 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Graduation thesis defense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9613151" y="6522651"/>
            <a:ext cx="199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www.pptgenius.com  |  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page"/>
          <p:cNvSpPr txBox="1"/>
          <p:nvPr userDrawn="1"/>
        </p:nvSpPr>
        <p:spPr>
          <a:xfrm>
            <a:off x="11571963" y="6522651"/>
            <a:ext cx="218009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400" b="0" smtClean="0">
                <a:solidFill>
                  <a:schemeClr val="bg1">
                    <a:lumMod val="6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</a:fld>
            <a:endParaRPr lang="ja-JP" altLang="en-US" sz="1400" b="0" dirty="0">
              <a:solidFill>
                <a:schemeClr val="bg1">
                  <a:lumMod val="65000"/>
                </a:schemeClr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79425" y="270358"/>
            <a:ext cx="257460" cy="246808"/>
            <a:chOff x="4429388" y="3847436"/>
            <a:chExt cx="248220" cy="237949"/>
          </a:xfrm>
          <a:solidFill>
            <a:schemeClr val="bg1"/>
          </a:solidFill>
        </p:grpSpPr>
        <p:sp>
          <p:nvSpPr>
            <p:cNvPr id="8" name="任意多边形: 形状 7"/>
            <p:cNvSpPr/>
            <p:nvPr/>
          </p:nvSpPr>
          <p:spPr>
            <a:xfrm>
              <a:off x="4429388" y="3847436"/>
              <a:ext cx="83881" cy="83881"/>
            </a:xfrm>
            <a:custGeom>
              <a:avLst/>
              <a:gdLst>
                <a:gd name="connsiteX0" fmla="*/ 0 w 83881"/>
                <a:gd name="connsiteY0" fmla="*/ 0 h 83881"/>
                <a:gd name="connsiteX1" fmla="*/ 83882 w 83881"/>
                <a:gd name="connsiteY1" fmla="*/ 0 h 83881"/>
                <a:gd name="connsiteX2" fmla="*/ 83882 w 83881"/>
                <a:gd name="connsiteY2" fmla="*/ 83882 h 83881"/>
                <a:gd name="connsiteX3" fmla="*/ 0 w 83881"/>
                <a:gd name="connsiteY3" fmla="*/ 83882 h 8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81" h="83881">
                  <a:moveTo>
                    <a:pt x="0" y="0"/>
                  </a:moveTo>
                  <a:lnTo>
                    <a:pt x="83882" y="0"/>
                  </a:lnTo>
                  <a:lnTo>
                    <a:pt x="83882" y="83882"/>
                  </a:lnTo>
                  <a:lnTo>
                    <a:pt x="0" y="83882"/>
                  </a:lnTo>
                  <a:close/>
                </a:path>
              </a:pathLst>
            </a:custGeom>
            <a:grpFill/>
            <a:ln w="161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4593727" y="3847436"/>
              <a:ext cx="83881" cy="83881"/>
            </a:xfrm>
            <a:custGeom>
              <a:avLst/>
              <a:gdLst>
                <a:gd name="connsiteX0" fmla="*/ 0 w 83881"/>
                <a:gd name="connsiteY0" fmla="*/ 0 h 83881"/>
                <a:gd name="connsiteX1" fmla="*/ 83882 w 83881"/>
                <a:gd name="connsiteY1" fmla="*/ 0 h 83881"/>
                <a:gd name="connsiteX2" fmla="*/ 83882 w 83881"/>
                <a:gd name="connsiteY2" fmla="*/ 83882 h 83881"/>
                <a:gd name="connsiteX3" fmla="*/ 0 w 83881"/>
                <a:gd name="connsiteY3" fmla="*/ 83882 h 8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81" h="83881">
                  <a:moveTo>
                    <a:pt x="0" y="0"/>
                  </a:moveTo>
                  <a:lnTo>
                    <a:pt x="83882" y="0"/>
                  </a:lnTo>
                  <a:lnTo>
                    <a:pt x="83882" y="83882"/>
                  </a:lnTo>
                  <a:lnTo>
                    <a:pt x="0" y="83882"/>
                  </a:lnTo>
                  <a:close/>
                </a:path>
              </a:pathLst>
            </a:custGeom>
            <a:grpFill/>
            <a:ln w="161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4429388" y="4001504"/>
              <a:ext cx="83881" cy="83881"/>
            </a:xfrm>
            <a:custGeom>
              <a:avLst/>
              <a:gdLst>
                <a:gd name="connsiteX0" fmla="*/ 0 w 83881"/>
                <a:gd name="connsiteY0" fmla="*/ 0 h 83881"/>
                <a:gd name="connsiteX1" fmla="*/ 83882 w 83881"/>
                <a:gd name="connsiteY1" fmla="*/ 0 h 83881"/>
                <a:gd name="connsiteX2" fmla="*/ 83882 w 83881"/>
                <a:gd name="connsiteY2" fmla="*/ 83882 h 83881"/>
                <a:gd name="connsiteX3" fmla="*/ 0 w 83881"/>
                <a:gd name="connsiteY3" fmla="*/ 83882 h 8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81" h="83881">
                  <a:moveTo>
                    <a:pt x="0" y="0"/>
                  </a:moveTo>
                  <a:lnTo>
                    <a:pt x="83882" y="0"/>
                  </a:lnTo>
                  <a:lnTo>
                    <a:pt x="83882" y="83882"/>
                  </a:lnTo>
                  <a:lnTo>
                    <a:pt x="0" y="83882"/>
                  </a:lnTo>
                  <a:close/>
                </a:path>
              </a:pathLst>
            </a:custGeom>
            <a:grpFill/>
            <a:ln w="161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4593727" y="4001504"/>
              <a:ext cx="83881" cy="83881"/>
            </a:xfrm>
            <a:custGeom>
              <a:avLst/>
              <a:gdLst>
                <a:gd name="connsiteX0" fmla="*/ 0 w 83881"/>
                <a:gd name="connsiteY0" fmla="*/ 0 h 83881"/>
                <a:gd name="connsiteX1" fmla="*/ 83882 w 83881"/>
                <a:gd name="connsiteY1" fmla="*/ 0 h 83881"/>
                <a:gd name="connsiteX2" fmla="*/ 83882 w 83881"/>
                <a:gd name="connsiteY2" fmla="*/ 83882 h 83881"/>
                <a:gd name="connsiteX3" fmla="*/ 0 w 83881"/>
                <a:gd name="connsiteY3" fmla="*/ 83882 h 8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81" h="83881">
                  <a:moveTo>
                    <a:pt x="0" y="0"/>
                  </a:moveTo>
                  <a:lnTo>
                    <a:pt x="83882" y="0"/>
                  </a:lnTo>
                  <a:lnTo>
                    <a:pt x="83882" y="83882"/>
                  </a:lnTo>
                  <a:lnTo>
                    <a:pt x="0" y="83882"/>
                  </a:lnTo>
                  <a:close/>
                </a:path>
              </a:pathLst>
            </a:custGeom>
            <a:grpFill/>
            <a:ln w="161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dirty="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lang="zh-CN" altLang="en-US" sz="2800" kern="1200" dirty="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lang="zh-CN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lang="zh-CN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lang="zh-CN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lang="en-US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chool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4" name="任意多边形: 形状 23"/>
          <p:cNvSpPr/>
          <p:nvPr/>
        </p:nvSpPr>
        <p:spPr>
          <a:xfrm>
            <a:off x="0" y="0"/>
            <a:ext cx="12192000" cy="4379494"/>
          </a:xfrm>
          <a:custGeom>
            <a:avLst/>
            <a:gdLst>
              <a:gd name="connsiteX0" fmla="*/ 0 w 12194487"/>
              <a:gd name="connsiteY0" fmla="*/ 0 h 4379494"/>
              <a:gd name="connsiteX1" fmla="*/ 0 w 12194487"/>
              <a:gd name="connsiteY1" fmla="*/ 3783931 h 4379494"/>
              <a:gd name="connsiteX2" fmla="*/ 6097244 w 12194487"/>
              <a:gd name="connsiteY2" fmla="*/ 4379495 h 4379494"/>
              <a:gd name="connsiteX3" fmla="*/ 12194488 w 12194487"/>
              <a:gd name="connsiteY3" fmla="*/ 3783931 h 4379494"/>
              <a:gd name="connsiteX4" fmla="*/ 12194488 w 12194487"/>
              <a:gd name="connsiteY4" fmla="*/ 0 h 4379494"/>
              <a:gd name="connsiteX5" fmla="*/ 0 w 12194487"/>
              <a:gd name="connsiteY5" fmla="*/ 0 h 4379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4487" h="4379494">
                <a:moveTo>
                  <a:pt x="0" y="0"/>
                </a:moveTo>
                <a:lnTo>
                  <a:pt x="0" y="3783931"/>
                </a:lnTo>
                <a:cubicBezTo>
                  <a:pt x="1969381" y="4173754"/>
                  <a:pt x="4008431" y="4379495"/>
                  <a:pt x="6097244" y="4379495"/>
                </a:cubicBezTo>
                <a:cubicBezTo>
                  <a:pt x="8186057" y="4379495"/>
                  <a:pt x="10225107" y="4174958"/>
                  <a:pt x="12194488" y="3783931"/>
                </a:cubicBezTo>
                <a:lnTo>
                  <a:pt x="1219448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 w="12440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5" name="任意多边形: 形状 24"/>
          <p:cNvSpPr/>
          <p:nvPr/>
        </p:nvSpPr>
        <p:spPr>
          <a:xfrm>
            <a:off x="-3109" y="3729790"/>
            <a:ext cx="12198219" cy="3128210"/>
          </a:xfrm>
          <a:custGeom>
            <a:avLst/>
            <a:gdLst>
              <a:gd name="connsiteX0" fmla="*/ 0 w 12193244"/>
              <a:gd name="connsiteY0" fmla="*/ 0 h 3128210"/>
              <a:gd name="connsiteX1" fmla="*/ 0 w 12193244"/>
              <a:gd name="connsiteY1" fmla="*/ 3128210 h 3128210"/>
              <a:gd name="connsiteX2" fmla="*/ 12193244 w 12193244"/>
              <a:gd name="connsiteY2" fmla="*/ 3128210 h 3128210"/>
              <a:gd name="connsiteX3" fmla="*/ 12193244 w 12193244"/>
              <a:gd name="connsiteY3" fmla="*/ 0 h 3128210"/>
              <a:gd name="connsiteX4" fmla="*/ 6096000 w 12193244"/>
              <a:gd name="connsiteY4" fmla="*/ 595563 h 3128210"/>
              <a:gd name="connsiteX5" fmla="*/ 0 w 12193244"/>
              <a:gd name="connsiteY5" fmla="*/ 0 h 3128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244" h="3128210">
                <a:moveTo>
                  <a:pt x="0" y="0"/>
                </a:moveTo>
                <a:lnTo>
                  <a:pt x="0" y="3128210"/>
                </a:lnTo>
                <a:lnTo>
                  <a:pt x="12193244" y="3128210"/>
                </a:lnTo>
                <a:lnTo>
                  <a:pt x="12193244" y="0"/>
                </a:lnTo>
                <a:cubicBezTo>
                  <a:pt x="10223863" y="389823"/>
                  <a:pt x="8184813" y="595563"/>
                  <a:pt x="6096000" y="595563"/>
                </a:cubicBezTo>
                <a:cubicBezTo>
                  <a:pt x="4007187" y="595563"/>
                  <a:pt x="1969381" y="391026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12440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184400" y="4048335"/>
            <a:ext cx="6096000" cy="1156407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213448"/>
                </a:solidFill>
                <a:latin typeface="微软雅黑"/>
              </a:defRPr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硕士中期答辩
题目：SemQL 2.0：面向代码智能体的条件化查询语言与执行引擎
学生姓名：黄卓谌
指导教师：彭鑫
答辩日期：2026年6月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1155700" y="604838"/>
            <a:ext cx="9880600" cy="5215390"/>
            <a:chOff x="1155700" y="604838"/>
            <a:chExt cx="9880600" cy="5215390"/>
          </a:xfrm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9" name="椭圆 28"/>
            <p:cNvSpPr/>
            <p:nvPr/>
          </p:nvSpPr>
          <p:spPr>
            <a:xfrm>
              <a:off x="5331962" y="604838"/>
              <a:ext cx="1528076" cy="1528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155700" y="1054099"/>
              <a:ext cx="9880600" cy="4766129"/>
              <a:chOff x="1130300" y="1054099"/>
              <a:chExt cx="9880600" cy="4766129"/>
            </a:xfrm>
            <a:effectLst/>
          </p:grpSpPr>
          <p:sp>
            <p:nvSpPr>
              <p:cNvPr id="28" name="矩形: 圆角 27"/>
              <p:cNvSpPr/>
              <p:nvPr/>
            </p:nvSpPr>
            <p:spPr>
              <a:xfrm>
                <a:off x="1130300" y="1054099"/>
                <a:ext cx="9880600" cy="4766129"/>
              </a:xfrm>
              <a:prstGeom prst="roundRect">
                <a:avLst>
                  <a:gd name="adj" fmla="val 1591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" name="矩形: 圆顶角 29"/>
              <p:cNvSpPr/>
              <p:nvPr/>
            </p:nvSpPr>
            <p:spPr>
              <a:xfrm>
                <a:off x="1130300" y="5688904"/>
                <a:ext cx="9880600" cy="131324"/>
              </a:xfrm>
              <a:prstGeom prst="round2SameRect">
                <a:avLst>
                  <a:gd name="adj1" fmla="val 0"/>
                  <a:gd name="adj2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517474" y="2824831"/>
            <a:ext cx="8597062" cy="598939"/>
            <a:chOff x="4100899" y="2405731"/>
            <a:chExt cx="8597062" cy="598939"/>
          </a:xfrm>
        </p:grpSpPr>
        <p:grpSp>
          <p:nvGrpSpPr>
            <p:cNvPr id="6" name="组合 5"/>
            <p:cNvGrpSpPr/>
            <p:nvPr/>
          </p:nvGrpSpPr>
          <p:grpSpPr>
            <a:xfrm>
              <a:off x="4100899" y="2454786"/>
              <a:ext cx="708766" cy="549884"/>
              <a:chOff x="4149211" y="2442855"/>
              <a:chExt cx="752258" cy="583627"/>
            </a:xfrm>
            <a:solidFill>
              <a:schemeClr val="accent1"/>
            </a:solidFill>
          </p:grpSpPr>
          <p:sp>
            <p:nvSpPr>
              <p:cNvPr id="4" name="任意多边形: 形状 3"/>
              <p:cNvSpPr/>
              <p:nvPr/>
            </p:nvSpPr>
            <p:spPr>
              <a:xfrm>
                <a:off x="4149211" y="2442855"/>
                <a:ext cx="752258" cy="430447"/>
              </a:xfrm>
              <a:custGeom>
                <a:avLst/>
                <a:gdLst>
                  <a:gd name="connsiteX0" fmla="*/ 750857 w 752258"/>
                  <a:gd name="connsiteY0" fmla="*/ 215925 h 430447"/>
                  <a:gd name="connsiteX1" fmla="*/ 731227 w 752258"/>
                  <a:gd name="connsiteY1" fmla="*/ 182274 h 430447"/>
                  <a:gd name="connsiteX2" fmla="*/ 393319 w 752258"/>
                  <a:gd name="connsiteY2" fmla="*/ 4206 h 430447"/>
                  <a:gd name="connsiteX3" fmla="*/ 359668 w 752258"/>
                  <a:gd name="connsiteY3" fmla="*/ 4206 h 430447"/>
                  <a:gd name="connsiteX4" fmla="*/ 20357 w 752258"/>
                  <a:gd name="connsiteY4" fmla="*/ 169655 h 430447"/>
                  <a:gd name="connsiteX5" fmla="*/ 3532 w 752258"/>
                  <a:gd name="connsiteY5" fmla="*/ 218729 h 430447"/>
                  <a:gd name="connsiteX6" fmla="*/ 20357 w 752258"/>
                  <a:gd name="connsiteY6" fmla="*/ 235554 h 430447"/>
                  <a:gd name="connsiteX7" fmla="*/ 358266 w 752258"/>
                  <a:gd name="connsiteY7" fmla="*/ 402406 h 430447"/>
                  <a:gd name="connsiteX8" fmla="*/ 375091 w 752258"/>
                  <a:gd name="connsiteY8" fmla="*/ 406612 h 430447"/>
                  <a:gd name="connsiteX9" fmla="*/ 390514 w 752258"/>
                  <a:gd name="connsiteY9" fmla="*/ 403808 h 430447"/>
                  <a:gd name="connsiteX10" fmla="*/ 677947 w 752258"/>
                  <a:gd name="connsiteY10" fmla="*/ 263597 h 430447"/>
                  <a:gd name="connsiteX11" fmla="*/ 677947 w 752258"/>
                  <a:gd name="connsiteY11" fmla="*/ 395395 h 430447"/>
                  <a:gd name="connsiteX12" fmla="*/ 717206 w 752258"/>
                  <a:gd name="connsiteY12" fmla="*/ 430448 h 430447"/>
                  <a:gd name="connsiteX13" fmla="*/ 752259 w 752258"/>
                  <a:gd name="connsiteY13" fmla="*/ 395395 h 430447"/>
                  <a:gd name="connsiteX14" fmla="*/ 752259 w 752258"/>
                  <a:gd name="connsiteY14" fmla="*/ 217327 h 430447"/>
                  <a:gd name="connsiteX15" fmla="*/ 752259 w 752258"/>
                  <a:gd name="connsiteY15" fmla="*/ 217327 h 430447"/>
                  <a:gd name="connsiteX16" fmla="*/ 376493 w 752258"/>
                  <a:gd name="connsiteY16" fmla="*/ 328094 h 430447"/>
                  <a:gd name="connsiteX17" fmla="*/ 121309 w 752258"/>
                  <a:gd name="connsiteY17" fmla="*/ 203306 h 430447"/>
                  <a:gd name="connsiteX18" fmla="*/ 375091 w 752258"/>
                  <a:gd name="connsiteY18" fmla="*/ 78518 h 430447"/>
                  <a:gd name="connsiteX19" fmla="*/ 630275 w 752258"/>
                  <a:gd name="connsiteY19" fmla="*/ 213121 h 430447"/>
                  <a:gd name="connsiteX20" fmla="*/ 376493 w 752258"/>
                  <a:gd name="connsiteY20" fmla="*/ 329496 h 430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52258" h="430447">
                    <a:moveTo>
                      <a:pt x="750857" y="215925"/>
                    </a:moveTo>
                    <a:cubicBezTo>
                      <a:pt x="750857" y="201904"/>
                      <a:pt x="743846" y="189285"/>
                      <a:pt x="731227" y="182274"/>
                    </a:cubicBezTo>
                    <a:lnTo>
                      <a:pt x="393319" y="4206"/>
                    </a:lnTo>
                    <a:cubicBezTo>
                      <a:pt x="382102" y="-1402"/>
                      <a:pt x="370885" y="-1402"/>
                      <a:pt x="359668" y="4206"/>
                    </a:cubicBezTo>
                    <a:lnTo>
                      <a:pt x="20357" y="169655"/>
                    </a:lnTo>
                    <a:cubicBezTo>
                      <a:pt x="2130" y="179470"/>
                      <a:pt x="-4881" y="200502"/>
                      <a:pt x="3532" y="218729"/>
                    </a:cubicBezTo>
                    <a:cubicBezTo>
                      <a:pt x="7738" y="225740"/>
                      <a:pt x="13347" y="231348"/>
                      <a:pt x="20357" y="235554"/>
                    </a:cubicBezTo>
                    <a:lnTo>
                      <a:pt x="358266" y="402406"/>
                    </a:lnTo>
                    <a:cubicBezTo>
                      <a:pt x="358266" y="402406"/>
                      <a:pt x="369483" y="406612"/>
                      <a:pt x="375091" y="406612"/>
                    </a:cubicBezTo>
                    <a:cubicBezTo>
                      <a:pt x="380700" y="406612"/>
                      <a:pt x="384906" y="406612"/>
                      <a:pt x="390514" y="403808"/>
                    </a:cubicBezTo>
                    <a:lnTo>
                      <a:pt x="677947" y="263597"/>
                    </a:lnTo>
                    <a:lnTo>
                      <a:pt x="677947" y="395395"/>
                    </a:lnTo>
                    <a:cubicBezTo>
                      <a:pt x="677947" y="415025"/>
                      <a:pt x="696174" y="430448"/>
                      <a:pt x="717206" y="430448"/>
                    </a:cubicBezTo>
                    <a:cubicBezTo>
                      <a:pt x="735433" y="430448"/>
                      <a:pt x="750857" y="415025"/>
                      <a:pt x="752259" y="395395"/>
                    </a:cubicBezTo>
                    <a:lnTo>
                      <a:pt x="752259" y="217327"/>
                    </a:lnTo>
                    <a:cubicBezTo>
                      <a:pt x="752259" y="217327"/>
                      <a:pt x="752259" y="217327"/>
                      <a:pt x="752259" y="217327"/>
                    </a:cubicBezTo>
                    <a:close/>
                    <a:moveTo>
                      <a:pt x="376493" y="328094"/>
                    </a:moveTo>
                    <a:lnTo>
                      <a:pt x="121309" y="203306"/>
                    </a:lnTo>
                    <a:lnTo>
                      <a:pt x="375091" y="78518"/>
                    </a:lnTo>
                    <a:lnTo>
                      <a:pt x="630275" y="213121"/>
                    </a:lnTo>
                    <a:lnTo>
                      <a:pt x="376493" y="329496"/>
                    </a:lnTo>
                    <a:close/>
                  </a:path>
                </a:pathLst>
              </a:custGeom>
              <a:grpFill/>
              <a:ln w="1390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" name="任意多边形: 形状 4"/>
              <p:cNvSpPr/>
              <p:nvPr/>
            </p:nvSpPr>
            <p:spPr>
              <a:xfrm>
                <a:off x="4285220" y="2854203"/>
                <a:ext cx="475493" cy="172279"/>
              </a:xfrm>
              <a:custGeom>
                <a:avLst/>
                <a:gdLst>
                  <a:gd name="connsiteX0" fmla="*/ 425563 w 475493"/>
                  <a:gd name="connsiteY0" fmla="*/ 14892 h 172279"/>
                  <a:gd name="connsiteX1" fmla="*/ 422759 w 475493"/>
                  <a:gd name="connsiteY1" fmla="*/ 14892 h 172279"/>
                  <a:gd name="connsiteX2" fmla="*/ 419954 w 475493"/>
                  <a:gd name="connsiteY2" fmla="*/ 14892 h 172279"/>
                  <a:gd name="connsiteX3" fmla="*/ 419954 w 475493"/>
                  <a:gd name="connsiteY3" fmla="*/ 14892 h 172279"/>
                  <a:gd name="connsiteX4" fmla="*/ 240484 w 475493"/>
                  <a:gd name="connsiteY4" fmla="*/ 96215 h 172279"/>
                  <a:gd name="connsiteX5" fmla="*/ 49797 w 475493"/>
                  <a:gd name="connsiteY5" fmla="*/ 2274 h 172279"/>
                  <a:gd name="connsiteX6" fmla="*/ 2126 w 475493"/>
                  <a:gd name="connsiteY6" fmla="*/ 23305 h 172279"/>
                  <a:gd name="connsiteX7" fmla="*/ 17549 w 475493"/>
                  <a:gd name="connsiteY7" fmla="*/ 66771 h 172279"/>
                  <a:gd name="connsiteX8" fmla="*/ 223659 w 475493"/>
                  <a:gd name="connsiteY8" fmla="*/ 169125 h 172279"/>
                  <a:gd name="connsiteX9" fmla="*/ 254505 w 475493"/>
                  <a:gd name="connsiteY9" fmla="*/ 169125 h 172279"/>
                  <a:gd name="connsiteX10" fmla="*/ 450801 w 475493"/>
                  <a:gd name="connsiteY10" fmla="*/ 80792 h 172279"/>
                  <a:gd name="connsiteX11" fmla="*/ 473235 w 475493"/>
                  <a:gd name="connsiteY11" fmla="*/ 33120 h 172279"/>
                  <a:gd name="connsiteX12" fmla="*/ 425563 w 475493"/>
                  <a:gd name="connsiteY12" fmla="*/ 10686 h 172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75493" h="172279">
                    <a:moveTo>
                      <a:pt x="425563" y="14892"/>
                    </a:moveTo>
                    <a:cubicBezTo>
                      <a:pt x="425563" y="14892"/>
                      <a:pt x="424161" y="14892"/>
                      <a:pt x="422759" y="14892"/>
                    </a:cubicBezTo>
                    <a:lnTo>
                      <a:pt x="419954" y="14892"/>
                    </a:lnTo>
                    <a:cubicBezTo>
                      <a:pt x="419954" y="14892"/>
                      <a:pt x="419954" y="14892"/>
                      <a:pt x="419954" y="14892"/>
                    </a:cubicBezTo>
                    <a:lnTo>
                      <a:pt x="240484" y="96215"/>
                    </a:lnTo>
                    <a:lnTo>
                      <a:pt x="49797" y="2274"/>
                    </a:lnTo>
                    <a:cubicBezTo>
                      <a:pt x="30168" y="-4737"/>
                      <a:pt x="9136" y="5078"/>
                      <a:pt x="2126" y="23305"/>
                    </a:cubicBezTo>
                    <a:cubicBezTo>
                      <a:pt x="-3483" y="40130"/>
                      <a:pt x="2126" y="58358"/>
                      <a:pt x="17549" y="66771"/>
                    </a:cubicBezTo>
                    <a:lnTo>
                      <a:pt x="223659" y="169125"/>
                    </a:lnTo>
                    <a:cubicBezTo>
                      <a:pt x="233474" y="173331"/>
                      <a:pt x="244691" y="173331"/>
                      <a:pt x="254505" y="169125"/>
                    </a:cubicBezTo>
                    <a:lnTo>
                      <a:pt x="450801" y="80792"/>
                    </a:lnTo>
                    <a:cubicBezTo>
                      <a:pt x="470430" y="73781"/>
                      <a:pt x="480245" y="52749"/>
                      <a:pt x="473235" y="33120"/>
                    </a:cubicBezTo>
                    <a:cubicBezTo>
                      <a:pt x="466224" y="13490"/>
                      <a:pt x="445192" y="3676"/>
                      <a:pt x="425563" y="10686"/>
                    </a:cubicBezTo>
                    <a:close/>
                  </a:path>
                </a:pathLst>
              </a:custGeom>
              <a:grpFill/>
              <a:ln w="1390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0" name="文本框 39"/>
            <p:cNvSpPr txBox="1"/>
            <p:nvPr/>
          </p:nvSpPr>
          <p:spPr>
            <a:xfrm>
              <a:off x="4964296" y="2405731"/>
              <a:ext cx="7733665" cy="49212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4000" b="0" i="0">
                  <a:solidFill>
                    <a:srgbClr val="374151"/>
                  </a:solidFill>
                  <a:effectLst/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</a:lstStyle>
            <a:p>
              <a:pPr algn="l">
                <a:defRPr sz="2400" b="1">
                  <a:solidFill>
                    <a:srgbClr val="FFFFFF"/>
                  </a:solidFill>
                  <a:latin typeface="微软雅黑"/>
                </a:defRPr>
              </a:pPr>
              <a:r>
                <a:rPr sz="3200">
                  <a:solidFill>
                    <a:schemeClr val="tx1"/>
                  </a:solidFill>
                </a:rPr>
                <a:t>面向编码智能体的语义化代码检索方法研究</a:t>
              </a:r>
              <a:endParaRPr lang="zh-CN" altLang="en-US" sz="3200" b="1" dirty="0">
                <a:solidFill>
                  <a:schemeClr val="tx1"/>
                </a:solidFill>
                <a:sym typeface="Arial" panose="020B0604020202090204" pitchFamily="34" charset="0"/>
              </a:endParaRPr>
            </a:p>
          </p:txBody>
        </p:sp>
      </p:grpSp>
      <p:sp>
        <p:nvSpPr>
          <p:cNvPr id="7" name="图形 46"/>
          <p:cNvSpPr/>
          <p:nvPr/>
        </p:nvSpPr>
        <p:spPr>
          <a:xfrm>
            <a:off x="4100899" y="4640647"/>
            <a:ext cx="206755" cy="234587"/>
          </a:xfrm>
          <a:custGeom>
            <a:avLst/>
            <a:gdLst>
              <a:gd name="connsiteX0" fmla="*/ 149765 w 206755"/>
              <a:gd name="connsiteY0" fmla="*/ 129885 h 234587"/>
              <a:gd name="connsiteX1" fmla="*/ 177598 w 206755"/>
              <a:gd name="connsiteY1" fmla="*/ 72895 h 234587"/>
              <a:gd name="connsiteX2" fmla="*/ 104703 w 206755"/>
              <a:gd name="connsiteY2" fmla="*/ 0 h 234587"/>
              <a:gd name="connsiteX3" fmla="*/ 30483 w 206755"/>
              <a:gd name="connsiteY3" fmla="*/ 71569 h 234587"/>
              <a:gd name="connsiteX4" fmla="*/ 58316 w 206755"/>
              <a:gd name="connsiteY4" fmla="*/ 128559 h 234587"/>
              <a:gd name="connsiteX5" fmla="*/ 0 w 206755"/>
              <a:gd name="connsiteY5" fmla="*/ 221334 h 234587"/>
              <a:gd name="connsiteX6" fmla="*/ 13254 w 206755"/>
              <a:gd name="connsiteY6" fmla="*/ 234588 h 234587"/>
              <a:gd name="connsiteX7" fmla="*/ 26507 w 206755"/>
              <a:gd name="connsiteY7" fmla="*/ 221334 h 234587"/>
              <a:gd name="connsiteX8" fmla="*/ 103378 w 206755"/>
              <a:gd name="connsiteY8" fmla="*/ 144464 h 234587"/>
              <a:gd name="connsiteX9" fmla="*/ 180248 w 206755"/>
              <a:gd name="connsiteY9" fmla="*/ 221334 h 234587"/>
              <a:gd name="connsiteX10" fmla="*/ 193502 w 206755"/>
              <a:gd name="connsiteY10" fmla="*/ 234588 h 234587"/>
              <a:gd name="connsiteX11" fmla="*/ 206755 w 206755"/>
              <a:gd name="connsiteY11" fmla="*/ 221334 h 234587"/>
              <a:gd name="connsiteX12" fmla="*/ 148440 w 206755"/>
              <a:gd name="connsiteY12" fmla="*/ 128559 h 234587"/>
              <a:gd name="connsiteX13" fmla="*/ 103378 w 206755"/>
              <a:gd name="connsiteY13" fmla="*/ 25182 h 234587"/>
              <a:gd name="connsiteX14" fmla="*/ 149765 w 206755"/>
              <a:gd name="connsiteY14" fmla="*/ 71569 h 234587"/>
              <a:gd name="connsiteX15" fmla="*/ 103378 w 206755"/>
              <a:gd name="connsiteY15" fmla="*/ 117957 h 234587"/>
              <a:gd name="connsiteX16" fmla="*/ 56990 w 206755"/>
              <a:gd name="connsiteY16" fmla="*/ 71569 h 234587"/>
              <a:gd name="connsiteX17" fmla="*/ 103378 w 206755"/>
              <a:gd name="connsiteY17" fmla="*/ 25182 h 23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06755" h="234587">
                <a:moveTo>
                  <a:pt x="149765" y="129885"/>
                </a:moveTo>
                <a:cubicBezTo>
                  <a:pt x="166995" y="116631"/>
                  <a:pt x="177598" y="95426"/>
                  <a:pt x="177598" y="72895"/>
                </a:cubicBezTo>
                <a:cubicBezTo>
                  <a:pt x="177598" y="31809"/>
                  <a:pt x="144464" y="0"/>
                  <a:pt x="104703" y="0"/>
                </a:cubicBezTo>
                <a:cubicBezTo>
                  <a:pt x="64942" y="0"/>
                  <a:pt x="30483" y="31809"/>
                  <a:pt x="30483" y="71569"/>
                </a:cubicBezTo>
                <a:cubicBezTo>
                  <a:pt x="30483" y="95426"/>
                  <a:pt x="41086" y="115306"/>
                  <a:pt x="58316" y="128559"/>
                </a:cubicBezTo>
                <a:cubicBezTo>
                  <a:pt x="23856" y="145789"/>
                  <a:pt x="0" y="180248"/>
                  <a:pt x="0" y="221334"/>
                </a:cubicBezTo>
                <a:cubicBezTo>
                  <a:pt x="0" y="229286"/>
                  <a:pt x="6627" y="234588"/>
                  <a:pt x="13254" y="234588"/>
                </a:cubicBezTo>
                <a:cubicBezTo>
                  <a:pt x="19880" y="234588"/>
                  <a:pt x="26507" y="227961"/>
                  <a:pt x="26507" y="221334"/>
                </a:cubicBezTo>
                <a:cubicBezTo>
                  <a:pt x="26507" y="178923"/>
                  <a:pt x="60966" y="144464"/>
                  <a:pt x="103378" y="144464"/>
                </a:cubicBezTo>
                <a:cubicBezTo>
                  <a:pt x="145789" y="144464"/>
                  <a:pt x="180248" y="178923"/>
                  <a:pt x="180248" y="221334"/>
                </a:cubicBezTo>
                <a:cubicBezTo>
                  <a:pt x="180248" y="229286"/>
                  <a:pt x="186875" y="234588"/>
                  <a:pt x="193502" y="234588"/>
                </a:cubicBezTo>
                <a:cubicBezTo>
                  <a:pt x="200129" y="234588"/>
                  <a:pt x="206755" y="227961"/>
                  <a:pt x="206755" y="221334"/>
                </a:cubicBezTo>
                <a:cubicBezTo>
                  <a:pt x="206755" y="180248"/>
                  <a:pt x="182899" y="145789"/>
                  <a:pt x="148440" y="128559"/>
                </a:cubicBezTo>
                <a:close/>
                <a:moveTo>
                  <a:pt x="103378" y="25182"/>
                </a:moveTo>
                <a:cubicBezTo>
                  <a:pt x="128559" y="25182"/>
                  <a:pt x="149765" y="46387"/>
                  <a:pt x="149765" y="71569"/>
                </a:cubicBezTo>
                <a:cubicBezTo>
                  <a:pt x="149765" y="96751"/>
                  <a:pt x="128559" y="117957"/>
                  <a:pt x="103378" y="117957"/>
                </a:cubicBezTo>
                <a:cubicBezTo>
                  <a:pt x="78196" y="117957"/>
                  <a:pt x="56990" y="96751"/>
                  <a:pt x="56990" y="71569"/>
                </a:cubicBezTo>
                <a:cubicBezTo>
                  <a:pt x="56990" y="46387"/>
                  <a:pt x="78196" y="25182"/>
                  <a:pt x="103378" y="2518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858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6143603" y="4601132"/>
            <a:ext cx="317636" cy="269002"/>
            <a:chOff x="6143603" y="4601132"/>
            <a:chExt cx="317636" cy="269002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" name="任意多边形: 形状 8"/>
            <p:cNvSpPr/>
            <p:nvPr/>
          </p:nvSpPr>
          <p:spPr>
            <a:xfrm>
              <a:off x="6224152" y="4601132"/>
              <a:ext cx="237087" cy="269002"/>
            </a:xfrm>
            <a:custGeom>
              <a:avLst/>
              <a:gdLst>
                <a:gd name="connsiteX0" fmla="*/ 171736 w 237087"/>
                <a:gd name="connsiteY0" fmla="*/ 148939 h 269002"/>
                <a:gd name="connsiteX1" fmla="*/ 203652 w 237087"/>
                <a:gd name="connsiteY1" fmla="*/ 83588 h 269002"/>
                <a:gd name="connsiteX2" fmla="*/ 120063 w 237087"/>
                <a:gd name="connsiteY2" fmla="*/ 0 h 269002"/>
                <a:gd name="connsiteX3" fmla="*/ 34955 w 237087"/>
                <a:gd name="connsiteY3" fmla="*/ 82069 h 269002"/>
                <a:gd name="connsiteX4" fmla="*/ 66871 w 237087"/>
                <a:gd name="connsiteY4" fmla="*/ 147420 h 269002"/>
                <a:gd name="connsiteX5" fmla="*/ 0 w 237087"/>
                <a:gd name="connsiteY5" fmla="*/ 253805 h 269002"/>
                <a:gd name="connsiteX6" fmla="*/ 15198 w 237087"/>
                <a:gd name="connsiteY6" fmla="*/ 269003 h 269002"/>
                <a:gd name="connsiteX7" fmla="*/ 30396 w 237087"/>
                <a:gd name="connsiteY7" fmla="*/ 253805 h 269002"/>
                <a:gd name="connsiteX8" fmla="*/ 118544 w 237087"/>
                <a:gd name="connsiteY8" fmla="*/ 165657 h 269002"/>
                <a:gd name="connsiteX9" fmla="*/ 206691 w 237087"/>
                <a:gd name="connsiteY9" fmla="*/ 253805 h 269002"/>
                <a:gd name="connsiteX10" fmla="*/ 221889 w 237087"/>
                <a:gd name="connsiteY10" fmla="*/ 269003 h 269002"/>
                <a:gd name="connsiteX11" fmla="*/ 237087 w 237087"/>
                <a:gd name="connsiteY11" fmla="*/ 253805 h 269002"/>
                <a:gd name="connsiteX12" fmla="*/ 170216 w 237087"/>
                <a:gd name="connsiteY12" fmla="*/ 147420 h 269002"/>
                <a:gd name="connsiteX13" fmla="*/ 120063 w 237087"/>
                <a:gd name="connsiteY13" fmla="*/ 136781 h 269002"/>
                <a:gd name="connsiteX14" fmla="*/ 66871 w 237087"/>
                <a:gd name="connsiteY14" fmla="*/ 83588 h 269002"/>
                <a:gd name="connsiteX15" fmla="*/ 120063 w 237087"/>
                <a:gd name="connsiteY15" fmla="*/ 30396 h 269002"/>
                <a:gd name="connsiteX16" fmla="*/ 173256 w 237087"/>
                <a:gd name="connsiteY16" fmla="*/ 83588 h 269002"/>
                <a:gd name="connsiteX17" fmla="*/ 120063 w 237087"/>
                <a:gd name="connsiteY17" fmla="*/ 136781 h 26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7087" h="269002">
                  <a:moveTo>
                    <a:pt x="171736" y="148939"/>
                  </a:moveTo>
                  <a:cubicBezTo>
                    <a:pt x="191494" y="133742"/>
                    <a:pt x="203652" y="109425"/>
                    <a:pt x="203652" y="83588"/>
                  </a:cubicBezTo>
                  <a:cubicBezTo>
                    <a:pt x="203652" y="36475"/>
                    <a:pt x="165657" y="0"/>
                    <a:pt x="120063" y="0"/>
                  </a:cubicBezTo>
                  <a:cubicBezTo>
                    <a:pt x="74470" y="0"/>
                    <a:pt x="34955" y="36475"/>
                    <a:pt x="34955" y="82069"/>
                  </a:cubicBezTo>
                  <a:cubicBezTo>
                    <a:pt x="34955" y="109425"/>
                    <a:pt x="47113" y="132222"/>
                    <a:pt x="66871" y="147420"/>
                  </a:cubicBezTo>
                  <a:cubicBezTo>
                    <a:pt x="27356" y="167177"/>
                    <a:pt x="0" y="206691"/>
                    <a:pt x="0" y="253805"/>
                  </a:cubicBezTo>
                  <a:cubicBezTo>
                    <a:pt x="0" y="262924"/>
                    <a:pt x="7599" y="269003"/>
                    <a:pt x="15198" y="269003"/>
                  </a:cubicBezTo>
                  <a:cubicBezTo>
                    <a:pt x="22797" y="269003"/>
                    <a:pt x="30396" y="261404"/>
                    <a:pt x="30396" y="253805"/>
                  </a:cubicBezTo>
                  <a:cubicBezTo>
                    <a:pt x="30396" y="205172"/>
                    <a:pt x="69910" y="165657"/>
                    <a:pt x="118544" y="165657"/>
                  </a:cubicBezTo>
                  <a:cubicBezTo>
                    <a:pt x="167177" y="165657"/>
                    <a:pt x="206691" y="205172"/>
                    <a:pt x="206691" y="253805"/>
                  </a:cubicBezTo>
                  <a:cubicBezTo>
                    <a:pt x="206691" y="262924"/>
                    <a:pt x="214290" y="269003"/>
                    <a:pt x="221889" y="269003"/>
                  </a:cubicBezTo>
                  <a:cubicBezTo>
                    <a:pt x="229488" y="269003"/>
                    <a:pt x="237087" y="261404"/>
                    <a:pt x="237087" y="253805"/>
                  </a:cubicBezTo>
                  <a:cubicBezTo>
                    <a:pt x="237087" y="206691"/>
                    <a:pt x="209731" y="167177"/>
                    <a:pt x="170216" y="147420"/>
                  </a:cubicBezTo>
                  <a:close/>
                  <a:moveTo>
                    <a:pt x="120063" y="136781"/>
                  </a:moveTo>
                  <a:cubicBezTo>
                    <a:pt x="91187" y="136781"/>
                    <a:pt x="66871" y="112464"/>
                    <a:pt x="66871" y="83588"/>
                  </a:cubicBezTo>
                  <a:cubicBezTo>
                    <a:pt x="66871" y="54712"/>
                    <a:pt x="91187" y="30396"/>
                    <a:pt x="120063" y="30396"/>
                  </a:cubicBezTo>
                  <a:cubicBezTo>
                    <a:pt x="148939" y="30396"/>
                    <a:pt x="173256" y="54712"/>
                    <a:pt x="173256" y="83588"/>
                  </a:cubicBezTo>
                  <a:cubicBezTo>
                    <a:pt x="173256" y="112464"/>
                    <a:pt x="148939" y="136781"/>
                    <a:pt x="120063" y="136781"/>
                  </a:cubicBezTo>
                  <a:close/>
                </a:path>
              </a:pathLst>
            </a:custGeom>
            <a:grpFill/>
            <a:ln w="147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6143603" y="4640647"/>
              <a:ext cx="106385" cy="194533"/>
            </a:xfrm>
            <a:custGeom>
              <a:avLst/>
              <a:gdLst>
                <a:gd name="connsiteX0" fmla="*/ 97267 w 106385"/>
                <a:gd name="connsiteY0" fmla="*/ 113984 h 194533"/>
                <a:gd name="connsiteX1" fmla="*/ 97267 w 106385"/>
                <a:gd name="connsiteY1" fmla="*/ 107905 h 194533"/>
                <a:gd name="connsiteX2" fmla="*/ 82069 w 106385"/>
                <a:gd name="connsiteY2" fmla="*/ 92707 h 194533"/>
                <a:gd name="connsiteX3" fmla="*/ 51673 w 106385"/>
                <a:gd name="connsiteY3" fmla="*/ 62311 h 194533"/>
                <a:gd name="connsiteX4" fmla="*/ 82069 w 106385"/>
                <a:gd name="connsiteY4" fmla="*/ 31916 h 194533"/>
                <a:gd name="connsiteX5" fmla="*/ 92707 w 106385"/>
                <a:gd name="connsiteY5" fmla="*/ 33435 h 194533"/>
                <a:gd name="connsiteX6" fmla="*/ 98786 w 106385"/>
                <a:gd name="connsiteY6" fmla="*/ 33435 h 194533"/>
                <a:gd name="connsiteX7" fmla="*/ 106385 w 106385"/>
                <a:gd name="connsiteY7" fmla="*/ 4559 h 194533"/>
                <a:gd name="connsiteX8" fmla="*/ 103346 w 106385"/>
                <a:gd name="connsiteY8" fmla="*/ 3040 h 194533"/>
                <a:gd name="connsiteX9" fmla="*/ 83588 w 106385"/>
                <a:gd name="connsiteY9" fmla="*/ 0 h 194533"/>
                <a:gd name="connsiteX10" fmla="*/ 22797 w 106385"/>
                <a:gd name="connsiteY10" fmla="*/ 62311 h 194533"/>
                <a:gd name="connsiteX11" fmla="*/ 41034 w 106385"/>
                <a:gd name="connsiteY11" fmla="*/ 106385 h 194533"/>
                <a:gd name="connsiteX12" fmla="*/ 0 w 106385"/>
                <a:gd name="connsiteY12" fmla="*/ 179335 h 194533"/>
                <a:gd name="connsiteX13" fmla="*/ 15198 w 106385"/>
                <a:gd name="connsiteY13" fmla="*/ 194533 h 194533"/>
                <a:gd name="connsiteX14" fmla="*/ 30396 w 106385"/>
                <a:gd name="connsiteY14" fmla="*/ 179335 h 194533"/>
                <a:gd name="connsiteX15" fmla="*/ 85108 w 106385"/>
                <a:gd name="connsiteY15" fmla="*/ 124623 h 194533"/>
                <a:gd name="connsiteX16" fmla="*/ 98786 w 106385"/>
                <a:gd name="connsiteY16" fmla="*/ 115504 h 19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6385" h="194533">
                  <a:moveTo>
                    <a:pt x="97267" y="113984"/>
                  </a:moveTo>
                  <a:cubicBezTo>
                    <a:pt x="97267" y="113984"/>
                    <a:pt x="97267" y="109425"/>
                    <a:pt x="97267" y="107905"/>
                  </a:cubicBezTo>
                  <a:cubicBezTo>
                    <a:pt x="97267" y="98786"/>
                    <a:pt x="89668" y="92707"/>
                    <a:pt x="82069" y="92707"/>
                  </a:cubicBezTo>
                  <a:cubicBezTo>
                    <a:pt x="65351" y="92707"/>
                    <a:pt x="51673" y="79029"/>
                    <a:pt x="51673" y="62311"/>
                  </a:cubicBezTo>
                  <a:cubicBezTo>
                    <a:pt x="51673" y="45594"/>
                    <a:pt x="65351" y="31916"/>
                    <a:pt x="82069" y="31916"/>
                  </a:cubicBezTo>
                  <a:cubicBezTo>
                    <a:pt x="85108" y="31916"/>
                    <a:pt x="88148" y="31916"/>
                    <a:pt x="92707" y="33435"/>
                  </a:cubicBezTo>
                  <a:cubicBezTo>
                    <a:pt x="94227" y="33435"/>
                    <a:pt x="97267" y="33435"/>
                    <a:pt x="98786" y="33435"/>
                  </a:cubicBezTo>
                  <a:cubicBezTo>
                    <a:pt x="98786" y="22797"/>
                    <a:pt x="101826" y="13678"/>
                    <a:pt x="106385" y="4559"/>
                  </a:cubicBezTo>
                  <a:cubicBezTo>
                    <a:pt x="106385" y="4559"/>
                    <a:pt x="104866" y="4559"/>
                    <a:pt x="103346" y="3040"/>
                  </a:cubicBezTo>
                  <a:cubicBezTo>
                    <a:pt x="97267" y="0"/>
                    <a:pt x="89668" y="0"/>
                    <a:pt x="83588" y="0"/>
                  </a:cubicBezTo>
                  <a:cubicBezTo>
                    <a:pt x="50153" y="0"/>
                    <a:pt x="22797" y="27356"/>
                    <a:pt x="22797" y="62311"/>
                  </a:cubicBezTo>
                  <a:cubicBezTo>
                    <a:pt x="22797" y="79029"/>
                    <a:pt x="30396" y="94227"/>
                    <a:pt x="41034" y="106385"/>
                  </a:cubicBezTo>
                  <a:cubicBezTo>
                    <a:pt x="16718" y="121583"/>
                    <a:pt x="0" y="148939"/>
                    <a:pt x="0" y="179335"/>
                  </a:cubicBezTo>
                  <a:cubicBezTo>
                    <a:pt x="0" y="188454"/>
                    <a:pt x="7599" y="194533"/>
                    <a:pt x="15198" y="194533"/>
                  </a:cubicBezTo>
                  <a:cubicBezTo>
                    <a:pt x="22797" y="194533"/>
                    <a:pt x="30396" y="186934"/>
                    <a:pt x="30396" y="179335"/>
                  </a:cubicBezTo>
                  <a:cubicBezTo>
                    <a:pt x="30396" y="148939"/>
                    <a:pt x="54712" y="124623"/>
                    <a:pt x="85108" y="124623"/>
                  </a:cubicBezTo>
                  <a:cubicBezTo>
                    <a:pt x="91187" y="124623"/>
                    <a:pt x="97267" y="120063"/>
                    <a:pt x="98786" y="115504"/>
                  </a:cubicBezTo>
                  <a:close/>
                </a:path>
              </a:pathLst>
            </a:custGeom>
            <a:grpFill/>
            <a:ln w="147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4390608" y="4657283"/>
            <a:ext cx="106680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4000" b="0" i="0">
                <a:solidFill>
                  <a:srgbClr val="374151"/>
                </a:solidFill>
                <a:effectLst/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 sz="1000" b="0">
                <a:solidFill>
                  <a:srgbClr val="213448"/>
                </a:solidFill>
                <a:latin typeface="微软雅黑"/>
              </a:defRPr>
            </a:pPr>
            <a:r>
              <a:rPr sz="1200"/>
              <a:t>汇报人：黄卓谌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9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547980" y="4657283"/>
            <a:ext cx="106680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4000" b="0" i="0">
                <a:solidFill>
                  <a:srgbClr val="374151"/>
                </a:solidFill>
                <a:effectLst/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 sz="1000" b="0">
                <a:solidFill>
                  <a:srgbClr val="213448"/>
                </a:solidFill>
                <a:latin typeface="微软雅黑"/>
              </a:defRPr>
            </a:pPr>
            <a:r>
              <a:rPr sz="1200"/>
              <a:t>指导老师：彭鑫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90204" pitchFamily="34" charset="0"/>
            </a:endParaRPr>
          </a:p>
        </p:txBody>
      </p:sp>
      <p:pic>
        <p:nvPicPr>
          <p:cNvPr id="2" name="log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562" y="740438"/>
            <a:ext cx="1256876" cy="125687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75920" y="6368415"/>
            <a:ext cx="11816080" cy="44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chemeClr val="tx1"/>
                </a:solidFill>
                <a:latin typeface="PingFang SC" panose="020B0400000000000000" charset="-122"/>
              </a:rPr>
              <a:t>|  1</a:t>
            </a:r>
            <a:endParaRPr kumimoji="1" lang="en-US" altLang="zh-CN" sz="900" b="0">
              <a:solidFill>
                <a:schemeClr val="tx1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2569406" y="1592187"/>
            <a:ext cx="1133966" cy="578882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目录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08729" y="1573852"/>
            <a:ext cx="2818079" cy="615553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3200" b="1">
                <a:solidFill>
                  <a:srgbClr val="223A48"/>
                </a:solidFill>
                <a:latin typeface="PingFang SC" panose="020B0400000000000000" charset="-122"/>
              </a:rPr>
              <a:t>CONTENTS</a:t>
            </a:r>
            <a:endParaRPr sz="32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936137" y="2360000"/>
            <a:ext cx="363958" cy="363958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 panose="020B0400000000000000" charset="-122"/>
              </a:rPr>
              <a:t>1</a:t>
            </a:r>
            <a:endParaRPr sz="1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27095" y="2340000"/>
            <a:ext cx="4200000" cy="41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700" b="1">
                <a:solidFill>
                  <a:srgbClr val="223A48"/>
                </a:solidFill>
                <a:latin typeface="PingFang SC" panose="020B0400000000000000" charset="-122"/>
              </a:rPr>
              <a:t>研究背景与问题定义</a:t>
            </a:r>
            <a:endParaRPr sz="17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936137" y="2880000"/>
            <a:ext cx="363958" cy="363958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 panose="020B0400000000000000" charset="-122"/>
              </a:rPr>
              <a:t>2</a:t>
            </a:r>
            <a:endParaRPr sz="1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27095" y="2860000"/>
            <a:ext cx="4200000" cy="41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700" b="0">
                <a:solidFill>
                  <a:srgbClr val="223A48"/>
                </a:solidFill>
                <a:latin typeface="PingFang SC" panose="020B0400000000000000" charset="-122"/>
              </a:rPr>
              <a:t>研究目标与总体方案</a:t>
            </a:r>
            <a:endParaRPr sz="1700" b="0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936137" y="3400000"/>
            <a:ext cx="363958" cy="363958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 panose="020B0400000000000000" charset="-122"/>
              </a:rPr>
              <a:t>3</a:t>
            </a:r>
            <a:endParaRPr sz="1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27095" y="3380000"/>
            <a:ext cx="4200000" cy="41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700" b="1">
                <a:solidFill>
                  <a:srgbClr val="223A48"/>
                </a:solidFill>
                <a:latin typeface="PingFang SC" panose="020B0400000000000000" charset="-122"/>
              </a:rPr>
              <a:t>SemQL 2.0 核心方法</a:t>
            </a:r>
            <a:endParaRPr sz="17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36137" y="3920000"/>
            <a:ext cx="363958" cy="363958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 panose="020B0400000000000000" charset="-122"/>
              </a:rPr>
              <a:t>4</a:t>
            </a:r>
            <a:endParaRPr sz="1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27095" y="3900000"/>
            <a:ext cx="4200000" cy="41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700" b="0">
                <a:solidFill>
                  <a:srgbClr val="223A48"/>
                </a:solidFill>
                <a:latin typeface="PingFang SC" panose="020B0400000000000000" charset="-122"/>
              </a:rPr>
              <a:t>优化器、执行引擎与组合重排</a:t>
            </a:r>
            <a:endParaRPr sz="1700" b="0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936137" y="4440000"/>
            <a:ext cx="363958" cy="363958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 panose="020B0400000000000000" charset="-122"/>
              </a:rPr>
              <a:t>5</a:t>
            </a:r>
            <a:endParaRPr sz="1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27095" y="4420000"/>
            <a:ext cx="4200000" cy="41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700" b="0">
                <a:solidFill>
                  <a:srgbClr val="223A48"/>
                </a:solidFill>
                <a:latin typeface="PingFang SC" panose="020B0400000000000000" charset="-122"/>
              </a:rPr>
              <a:t>实现现状、评测设计与研发计划</a:t>
            </a:r>
            <a:endParaRPr sz="1700" b="0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936137" y="4960000"/>
            <a:ext cx="363958" cy="363958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 panose="020B0400000000000000" charset="-122"/>
              </a:rPr>
              <a:t>6</a:t>
            </a:r>
            <a:endParaRPr sz="1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27095" y="4940000"/>
            <a:ext cx="4200000" cy="41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700" b="0">
                <a:solidFill>
                  <a:srgbClr val="223A48"/>
                </a:solidFill>
                <a:latin typeface="PingFang SC" panose="020B0400000000000000" charset="-122"/>
              </a:rPr>
              <a:t>总结与展望</a:t>
            </a:r>
            <a:endParaRPr sz="1700" b="0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5920" y="6368415"/>
            <a:ext cx="11816080" cy="44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chemeClr val="tx1"/>
                </a:solidFill>
                <a:latin typeface="PingFang SC" panose="020B0400000000000000" charset="-122"/>
              </a:rPr>
              <a:t>|  </a:t>
            </a:r>
            <a:r>
              <a:rPr lang="en-US" sz="900" b="0">
                <a:solidFill>
                  <a:schemeClr val="tx1"/>
                </a:solidFill>
                <a:latin typeface="PingFang SC" panose="020B0400000000000000" charset="-122"/>
              </a:rPr>
              <a:t>2</a:t>
            </a:r>
            <a:endParaRPr kumimoji="1" lang="en-US" sz="900" b="0">
              <a:solidFill>
                <a:schemeClr val="tx1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221359" y="2586338"/>
            <a:ext cx="5255706" cy="894225"/>
            <a:chOff x="2656412" y="2751761"/>
            <a:chExt cx="2005436" cy="341212"/>
          </a:xfrm>
        </p:grpSpPr>
        <p:sp>
          <p:nvSpPr>
            <p:cNvPr id="5" name="文本框 4"/>
            <p:cNvSpPr txBox="1"/>
            <p:nvPr/>
          </p:nvSpPr>
          <p:spPr>
            <a:xfrm>
              <a:off x="3089570" y="2751761"/>
              <a:ext cx="1572278" cy="21128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defRPr sz="2000" b="1">
                  <a:solidFill>
                    <a:srgbClr val="213448"/>
                  </a:solidFill>
                  <a:latin typeface="微软雅黑"/>
                </a:defRPr>
              </a:pPr>
              <a:r>
                <a:rPr sz="3600"/>
                <a:t>研究背景与问题定义</a:t>
              </a:r>
              <a:endParaRPr lang="zh-CN" altLang="en-US" sz="3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2656412" y="2751761"/>
              <a:ext cx="341212" cy="341212"/>
            </a:xfrm>
            <a:prstGeom prst="roundRect">
              <a:avLst>
                <a:gd name="adj" fmla="val 7315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600" b="1">
                  <a:solidFill>
                    <a:srgbClr val="FFFFFF"/>
                  </a:solidFill>
                  <a:latin typeface="微软雅黑"/>
                </a:defRPr>
              </a:pPr>
              <a:r>
                <a:t>1</a:t>
              </a:r>
              <a:endParaRPr lang="zh-CN" altLang="en-US" sz="6000" b="1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115496" y="3000087"/>
              <a:ext cx="1054000" cy="5863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defRPr sz="700" b="0">
                  <a:solidFill>
                    <a:srgbClr val="5D6C7A"/>
                  </a:solidFill>
                  <a:latin typeface="微软雅黑"/>
                </a:defRPr>
              </a:pPr>
              <a:r>
                <a:rPr sz="1000"/>
                <a:t>Research Background and Problem Definition</a:t>
              </a:r>
              <a:endParaRPr lang="zh-CN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75920" y="6368415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3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98190" y="2650000"/>
            <a:ext cx="728980" cy="6451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4200" b="1">
                <a:solidFill>
                  <a:srgbClr val="2E7E94"/>
                </a:solidFill>
                <a:latin typeface="PingFang SC" panose="020B0400000000000000" charset="-122"/>
              </a:rPr>
              <a:t>1</a:t>
            </a:r>
            <a:endParaRPr sz="42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00000" y="2670000"/>
            <a:ext cx="5200000" cy="42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800" b="1">
                <a:solidFill>
                  <a:srgbClr val="223A48"/>
                </a:solidFill>
                <a:latin typeface="PingFang SC" panose="020B0400000000000000" charset="-122"/>
              </a:rPr>
              <a:t>研究背景与问题定义</a:t>
            </a:r>
            <a:endParaRPr sz="28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00000" y="3120000"/>
            <a:ext cx="5200000" cy="25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0">
                <a:solidFill>
                  <a:srgbClr val="697A84"/>
                </a:solidFill>
                <a:latin typeface="PingFang SC" panose="020B0400000000000000" charset="-122"/>
              </a:rPr>
              <a:t>从一维相似度检索转向带约束的多维代码查询</a:t>
            </a:r>
            <a:endParaRPr sz="1300" b="0">
              <a:solidFill>
                <a:srgbClr val="697A8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75920" y="6368415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4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0222" y="192542"/>
            <a:ext cx="10066818" cy="44259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>
                <a:solidFill>
                  <a:srgbClr val="223A48"/>
                </a:solidFill>
                <a:latin typeface="PingFang SC" panose="020B0400000000000000" charset="-122"/>
              </a:rPr>
              <a:t>研究背景：Agent 代码检索需要多维约束表达</a:t>
            </a:r>
            <a:endParaRPr sz="24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0000" y="1100000"/>
            <a:ext cx="3100000" cy="145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Grep / 词法检索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85D6A"/>
                </a:solidFill>
                <a:latin typeface="PingFang SC" panose="020B0400000000000000" charset="-122"/>
              </a:rPr>
              <a:t>依赖字面命名，难以处理语义等价但命名不同的代码元素；召回受限于关键词形式。</a:t>
            </a:r>
            <a:endParaRPr sz="12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50000" y="1100000"/>
            <a:ext cx="3100000" cy="145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Dense Vector Search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85D6A"/>
                </a:solidFill>
                <a:latin typeface="PingFang SC" panose="020B0400000000000000" charset="-122"/>
              </a:rPr>
              <a:t>能够捕获语义相似，但难以表达精确约束；连续相似度分数不利于组合与解释。</a:t>
            </a:r>
            <a:endParaRPr sz="12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50000" y="1100000"/>
            <a:ext cx="3100000" cy="145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简单叠加方案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85D6A"/>
                </a:solidFill>
                <a:latin typeface="PingFang SC" panose="020B0400000000000000" charset="-122"/>
              </a:rPr>
              <a:t>各检索管道相对孤立，缺少条件间逻辑关系；执行顺序无法根据代价自动优化。</a:t>
            </a:r>
            <a:endParaRPr sz="12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00" y="2960000"/>
            <a:ext cx="10580000" cy="90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600" b="1">
                <a:solidFill>
                  <a:srgbClr val="2E7E94"/>
                </a:solidFill>
                <a:latin typeface="PingFang SC" panose="020B0400000000000000" charset="-122"/>
              </a:rPr>
              <a:t>核心问题定义</a:t>
            </a:r>
            <a:endParaRPr sz="16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485D6A"/>
                </a:solidFill>
                <a:latin typeface="PingFang SC" panose="020B0400000000000000" charset="-122"/>
              </a:rPr>
              <a:t>现有范式通常将代码检索建模为一维相似度排序，而 Agent 实际需要表达动作、对象、结构关系、排除条件与成本约束的多维匹配。</a:t>
            </a:r>
            <a:endParaRPr sz="14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0000" y="4320000"/>
            <a:ext cx="3100000" cy="100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400" b="1">
                <a:solidFill>
                  <a:srgbClr val="2E7E94"/>
                </a:solidFill>
                <a:latin typeface="PingFang SC" panose="020B0400000000000000" charset="-122"/>
              </a:rPr>
              <a:t>表达复杂</a:t>
            </a:r>
            <a:endParaRPr sz="14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85D6A"/>
                </a:solidFill>
                <a:latin typeface="PingFang SC" panose="020B0400000000000000" charset="-122"/>
              </a:rPr>
              <a:t>自然语言 Query 含有隐含业务意图与工程约束。</a:t>
            </a:r>
            <a:endParaRPr sz="11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50000" y="4320000"/>
            <a:ext cx="3100000" cy="100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400" b="1">
                <a:solidFill>
                  <a:srgbClr val="2E7E94"/>
                </a:solidFill>
                <a:latin typeface="PingFang SC" panose="020B0400000000000000" charset="-122"/>
              </a:rPr>
              <a:t>执行可控</a:t>
            </a:r>
            <a:endParaRPr sz="14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85D6A"/>
                </a:solidFill>
                <a:latin typeface="PingFang SC" panose="020B0400000000000000" charset="-122"/>
              </a:rPr>
              <a:t>高成本语义判断需要在小候选集上执行。</a:t>
            </a:r>
            <a:endParaRPr sz="11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50000" y="4320000"/>
            <a:ext cx="3100000" cy="100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400" b="1">
                <a:solidFill>
                  <a:srgbClr val="2E7E94"/>
                </a:solidFill>
                <a:latin typeface="PingFang SC" panose="020B0400000000000000" charset="-122"/>
              </a:rPr>
              <a:t>结果可解释</a:t>
            </a:r>
            <a:endParaRPr sz="14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85D6A"/>
                </a:solidFill>
                <a:latin typeface="PingFang SC" panose="020B0400000000000000" charset="-122"/>
              </a:rPr>
              <a:t>Agent 需要知道命中原因与相关上下文。</a:t>
            </a:r>
            <a:endParaRPr sz="11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75920" y="6368415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5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0222" y="192542"/>
            <a:ext cx="10066818" cy="44259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>
                <a:solidFill>
                  <a:srgbClr val="223A48"/>
                </a:solidFill>
                <a:latin typeface="PingFang SC" panose="020B0400000000000000" charset="-122"/>
              </a:rPr>
              <a:t>研究动机：面向 Agent 的查询更接近数据库查询</a:t>
            </a:r>
            <a:endParaRPr sz="24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0000" y="900000"/>
            <a:ext cx="10800000" cy="36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>
                <a:solidFill>
                  <a:srgbClr val="223A48"/>
                </a:solidFill>
                <a:latin typeface="PingFang SC" panose="020B0400000000000000" charset="-122"/>
              </a:rPr>
              <a:t>本研究将自然语言检索请求从“相似度排序问题”重新建模为“条件化查询计划执行问题”。</a:t>
            </a:r>
            <a:endParaRPr sz="15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0000" y="1460000"/>
            <a:ext cx="2500000" cy="35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能力需求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700000" y="1460000"/>
            <a:ext cx="3100000" cy="35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传统搜索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50000" y="1460000"/>
            <a:ext cx="3700000" cy="35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SemQL 2.0 目标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0000" y="1980000"/>
            <a:ext cx="2500000" cy="520000"/>
          </a:xfrm>
          <a:prstGeom prst="roundRect">
            <a:avLst/>
          </a:prstGeom>
          <a:solidFill>
            <a:srgbClr val="F5FAFC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223A48"/>
                </a:solidFill>
                <a:latin typeface="PingFang SC" panose="020B0400000000000000" charset="-122"/>
              </a:rPr>
              <a:t>复杂意图表达</a:t>
            </a:r>
            <a:endParaRPr sz="115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700000" y="1980000"/>
            <a:ext cx="3100000" cy="520000"/>
          </a:xfrm>
          <a:prstGeom prst="roundRect">
            <a:avLst/>
          </a:prstGeom>
          <a:solidFill>
            <a:srgbClr val="F5FAFC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485D6A"/>
                </a:solidFill>
                <a:latin typeface="PingFang SC" panose="020B0400000000000000" charset="-122"/>
              </a:rPr>
              <a:t>关键词或向量相似度</a:t>
            </a:r>
            <a:endParaRPr sz="115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50000" y="1980000"/>
            <a:ext cx="3700000" cy="520000"/>
          </a:xfrm>
          <a:prstGeom prst="roundRect">
            <a:avLst/>
          </a:prstGeom>
          <a:solidFill>
            <a:srgbClr val="F5FAFC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485D6A"/>
                </a:solidFill>
                <a:latin typeface="PingFang SC" panose="020B0400000000000000" charset="-122"/>
              </a:rPr>
              <a:t>Surface / Relation / Intention 条件组合</a:t>
            </a:r>
            <a:endParaRPr sz="115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80000" y="2590000"/>
            <a:ext cx="2500000" cy="52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223A48"/>
                </a:solidFill>
                <a:latin typeface="PingFang SC" panose="020B0400000000000000" charset="-122"/>
              </a:rPr>
              <a:t>硬性约束与排除</a:t>
            </a:r>
            <a:endParaRPr sz="115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700000" y="2590000"/>
            <a:ext cx="3100000" cy="52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485D6A"/>
                </a:solidFill>
                <a:latin typeface="PingFang SC" panose="020B0400000000000000" charset="-122"/>
              </a:rPr>
              <a:t>依赖人工筛选</a:t>
            </a:r>
            <a:endParaRPr sz="115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50000" y="2590000"/>
            <a:ext cx="3700000" cy="52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485D6A"/>
                </a:solidFill>
                <a:latin typeface="PingFang SC" panose="020B0400000000000000" charset="-122"/>
              </a:rPr>
              <a:t>include / exclude 与 NOT-Pushdown</a:t>
            </a:r>
            <a:endParaRPr sz="115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80000" y="3200000"/>
            <a:ext cx="2500000" cy="520000"/>
          </a:xfrm>
          <a:prstGeom prst="roundRect">
            <a:avLst/>
          </a:prstGeom>
          <a:solidFill>
            <a:srgbClr val="F5FAFC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223A48"/>
                </a:solidFill>
                <a:latin typeface="PingFang SC" panose="020B0400000000000000" charset="-122"/>
              </a:rPr>
              <a:t>执行成本控制</a:t>
            </a:r>
            <a:endParaRPr sz="115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00000" y="3200000"/>
            <a:ext cx="3100000" cy="520000"/>
          </a:xfrm>
          <a:prstGeom prst="roundRect">
            <a:avLst/>
          </a:prstGeom>
          <a:solidFill>
            <a:srgbClr val="F5FAFC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485D6A"/>
                </a:solidFill>
                <a:latin typeface="PingFang SC" panose="020B0400000000000000" charset="-122"/>
              </a:rPr>
              <a:t>固定流程或逐候选判断</a:t>
            </a:r>
            <a:endParaRPr sz="115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50000" y="3200000"/>
            <a:ext cx="3700000" cy="520000"/>
          </a:xfrm>
          <a:prstGeom prst="roundRect">
            <a:avLst/>
          </a:prstGeom>
          <a:solidFill>
            <a:srgbClr val="F5FAFC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485D6A"/>
                </a:solidFill>
                <a:latin typeface="PingFang SC" panose="020B0400000000000000" charset="-122"/>
              </a:rPr>
              <a:t>RBO + CBO 自动规划执行顺序</a:t>
            </a:r>
            <a:endParaRPr sz="115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80000" y="3810000"/>
            <a:ext cx="2500000" cy="52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1">
                <a:solidFill>
                  <a:srgbClr val="223A48"/>
                </a:solidFill>
                <a:latin typeface="PingFang SC" panose="020B0400000000000000" charset="-122"/>
              </a:rPr>
              <a:t>上下文组织</a:t>
            </a:r>
            <a:endParaRPr sz="115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00000" y="3810000"/>
            <a:ext cx="3100000" cy="52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485D6A"/>
                </a:solidFill>
                <a:latin typeface="PingFang SC" panose="020B0400000000000000" charset="-122"/>
              </a:rPr>
              <a:t>单元素独立返回</a:t>
            </a:r>
            <a:endParaRPr sz="115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350000" y="3810000"/>
            <a:ext cx="3700000" cy="52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485D6A"/>
                </a:solidFill>
                <a:latin typeface="PingFang SC" panose="020B0400000000000000" charset="-122"/>
              </a:rPr>
              <a:t>Context Bundle 与协同重排</a:t>
            </a:r>
            <a:endParaRPr sz="115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0000" y="5500000"/>
            <a:ext cx="10200000" cy="26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>
                <a:solidFill>
                  <a:srgbClr val="2E7E94"/>
                </a:solidFill>
                <a:latin typeface="PingFang SC" panose="020B0400000000000000" charset="-122"/>
              </a:rPr>
              <a:t>研究判断：只有把 Query 编译为可优化、可执行、可解释的结构化计划，才能支撑大型代码库中的 Agent 检索。</a:t>
            </a:r>
            <a:endParaRPr sz="13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221359" y="2586338"/>
            <a:ext cx="4407981" cy="894225"/>
            <a:chOff x="2656412" y="2751761"/>
            <a:chExt cx="1681967" cy="341212"/>
          </a:xfrm>
        </p:grpSpPr>
        <p:sp>
          <p:nvSpPr>
            <p:cNvPr id="5" name="文本框 4"/>
            <p:cNvSpPr txBox="1"/>
            <p:nvPr/>
          </p:nvSpPr>
          <p:spPr>
            <a:xfrm>
              <a:off x="3115496" y="2751761"/>
              <a:ext cx="1222883" cy="2112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defRPr sz="2000" b="1">
                  <a:solidFill>
                    <a:srgbClr val="213448"/>
                  </a:solidFill>
                  <a:latin typeface="微软雅黑"/>
                </a:defRPr>
              </a:pPr>
              <a:r>
                <a:rPr sz="3600"/>
                <a:t>研究内容与目标</a:t>
              </a:r>
              <a:endParaRPr lang="zh-CN" altLang="en-US" sz="3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2656412" y="2751761"/>
              <a:ext cx="341212" cy="341212"/>
            </a:xfrm>
            <a:prstGeom prst="roundRect">
              <a:avLst>
                <a:gd name="adj" fmla="val 7315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600" b="1">
                  <a:solidFill>
                    <a:srgbClr val="FFFFFF"/>
                  </a:solidFill>
                  <a:latin typeface="微软雅黑"/>
                </a:defRPr>
              </a:pPr>
              <a:r>
                <a:t>2</a:t>
              </a:r>
              <a:endParaRPr lang="en-US" altLang="zh-CN" sz="6000" b="1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115496" y="3000087"/>
              <a:ext cx="696852" cy="528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defRPr sz="700" b="0">
                  <a:solidFill>
                    <a:srgbClr val="5D6C7A"/>
                  </a:solidFill>
                  <a:latin typeface="微软雅黑"/>
                </a:defRPr>
              </a:pPr>
              <a:r>
                <a:rPr sz="900"/>
                <a:t>Research Content and Objectives</a:t>
              </a:r>
              <a:endParaRPr lang="en-US" altLang="zh-CN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75920" y="641096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6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98190" y="2650000"/>
            <a:ext cx="728980" cy="6451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4200" b="1">
                <a:solidFill>
                  <a:srgbClr val="2E7E94"/>
                </a:solidFill>
                <a:latin typeface="PingFang SC" panose="020B0400000000000000" charset="-122"/>
              </a:rPr>
              <a:t>2</a:t>
            </a:r>
            <a:endParaRPr sz="42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00000" y="2670000"/>
            <a:ext cx="5200000" cy="42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800" b="1">
                <a:solidFill>
                  <a:srgbClr val="223A48"/>
                </a:solidFill>
                <a:latin typeface="PingFang SC" panose="020B0400000000000000" charset="-122"/>
              </a:rPr>
              <a:t>研究目标与总体方案</a:t>
            </a:r>
            <a:endParaRPr sz="28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00000" y="3120000"/>
            <a:ext cx="5200000" cy="25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0">
                <a:solidFill>
                  <a:srgbClr val="697A84"/>
                </a:solidFill>
                <a:latin typeface="PingFang SC" panose="020B0400000000000000" charset="-122"/>
              </a:rPr>
              <a:t>构建条件化查询语言与可优化执行引擎</a:t>
            </a:r>
            <a:endParaRPr sz="1300" b="0">
              <a:solidFill>
                <a:srgbClr val="697A8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5920" y="641096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7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0222" y="192542"/>
            <a:ext cx="10066818" cy="44259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>
                <a:solidFill>
                  <a:srgbClr val="223A48"/>
                </a:solidFill>
                <a:latin typeface="PingFang SC" panose="020B0400000000000000" charset="-122"/>
              </a:rPr>
              <a:t>研究内容与目标：SemQL 2.0 的四项能力</a:t>
            </a:r>
            <a:endParaRPr sz="24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0000" y="900000"/>
            <a:ext cx="11000000" cy="40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50" b="1">
                <a:solidFill>
                  <a:srgbClr val="223A48"/>
                </a:solidFill>
                <a:latin typeface="PingFang SC" panose="020B0400000000000000" charset="-122"/>
              </a:rPr>
              <a:t>设计并实现面向代码智能体的高级查询语言与执行引擎，使自然语言 Query 能够被结构化、优化、执行并解释。</a:t>
            </a:r>
            <a:endParaRPr sz="145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0000" y="1700000"/>
            <a:ext cx="5000000" cy="130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600" b="1">
                <a:solidFill>
                  <a:srgbClr val="2E7E94"/>
                </a:solidFill>
                <a:latin typeface="PingFang SC" panose="020B0400000000000000" charset="-122"/>
              </a:rPr>
              <a:t>可组合性</a:t>
            </a:r>
            <a:endParaRPr sz="16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85D6A"/>
                </a:solidFill>
                <a:latin typeface="PingFang SC" panose="020B0400000000000000" charset="-122"/>
              </a:rPr>
              <a:t>支持 Surface、Relation、Intention 等多类型条件通过布尔逻辑组合，表达复杂检索意图。</a:t>
            </a:r>
            <a:endParaRPr sz="13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0000" y="1700000"/>
            <a:ext cx="5000000" cy="130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600" b="1">
                <a:solidFill>
                  <a:srgbClr val="2E7E94"/>
                </a:solidFill>
                <a:latin typeface="PingFang SC" panose="020B0400000000000000" charset="-122"/>
              </a:rPr>
              <a:t>可优化性</a:t>
            </a:r>
            <a:endParaRPr sz="16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85D6A"/>
                </a:solidFill>
                <a:latin typeface="PingFang SC" panose="020B0400000000000000" charset="-122"/>
              </a:rPr>
              <a:t>引入规则优化与代价优化，在候选集规模和语义判断成本之间取得平衡。</a:t>
            </a:r>
            <a:endParaRPr sz="13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0000" y="3550000"/>
            <a:ext cx="5000000" cy="130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600" b="1">
                <a:solidFill>
                  <a:srgbClr val="2E7E94"/>
                </a:solidFill>
                <a:latin typeface="PingFang SC" panose="020B0400000000000000" charset="-122"/>
              </a:rPr>
              <a:t>可解释性</a:t>
            </a:r>
            <a:endParaRPr sz="16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85D6A"/>
                </a:solidFill>
                <a:latin typeface="PingFang SC" panose="020B0400000000000000" charset="-122"/>
              </a:rPr>
              <a:t>每个匹配结果携带词法、结构、语义等多维证据，便于 Agent 继续推理。</a:t>
            </a:r>
            <a:endParaRPr sz="13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00000" y="3550000"/>
            <a:ext cx="5000000" cy="130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600" b="1">
                <a:solidFill>
                  <a:srgbClr val="2E7E94"/>
                </a:solidFill>
                <a:latin typeface="PingFang SC" panose="020B0400000000000000" charset="-122"/>
              </a:rPr>
              <a:t>上下文感知</a:t>
            </a:r>
            <a:endParaRPr sz="16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85D6A"/>
                </a:solidFill>
                <a:latin typeface="PingFang SC" panose="020B0400000000000000" charset="-122"/>
              </a:rPr>
              <a:t>从单点代码块扩展到代码子图和 Context Bundle，提高 Top-K 可用性。</a:t>
            </a:r>
            <a:endParaRPr sz="13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0000" y="5650000"/>
            <a:ext cx="9900000" cy="24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>
                <a:solidFill>
                  <a:srgbClr val="2E7E94"/>
                </a:solidFill>
                <a:latin typeface="PingFang SC" panose="020B0400000000000000" charset="-122"/>
              </a:rPr>
              <a:t>最终目标：形成高召回、高精度、低成本、可解释的 Agent-Oriented Code Search 方法。</a:t>
            </a:r>
            <a:endParaRPr sz="13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221359" y="2586338"/>
            <a:ext cx="4409249" cy="894225"/>
            <a:chOff x="2656412" y="2751761"/>
            <a:chExt cx="1682451" cy="341212"/>
          </a:xfrm>
        </p:grpSpPr>
        <p:sp>
          <p:nvSpPr>
            <p:cNvPr id="5" name="文本框 4"/>
            <p:cNvSpPr txBox="1"/>
            <p:nvPr/>
          </p:nvSpPr>
          <p:spPr>
            <a:xfrm>
              <a:off x="3115496" y="2751761"/>
              <a:ext cx="1223367" cy="1642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defRPr sz="2000" b="1">
                  <a:solidFill>
                    <a:srgbClr val="213448"/>
                  </a:solidFill>
                  <a:latin typeface="微软雅黑"/>
                </a:defRPr>
              </a:pPr>
              <a:r>
                <a:rPr sz="2800"/>
                <a:t>技术路线与系统方法</a:t>
              </a:r>
              <a:endPara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2656412" y="2751761"/>
              <a:ext cx="341212" cy="341212"/>
            </a:xfrm>
            <a:prstGeom prst="roundRect">
              <a:avLst>
                <a:gd name="adj" fmla="val 7315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600" b="1">
                  <a:solidFill>
                    <a:srgbClr val="FFFFFF"/>
                  </a:solidFill>
                  <a:latin typeface="微软雅黑"/>
                </a:defRPr>
              </a:pPr>
              <a:r>
                <a:t>3</a:t>
              </a:r>
              <a:endParaRPr lang="en-US" altLang="zh-CN" sz="6000" b="1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115496" y="3000087"/>
              <a:ext cx="768330" cy="528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defRPr sz="700" b="0">
                  <a:solidFill>
                    <a:srgbClr val="5D6C7A"/>
                  </a:solidFill>
                  <a:latin typeface="微软雅黑"/>
                </a:defRPr>
              </a:pPr>
              <a:r>
                <a:rPr sz="900"/>
                <a:t>Technical Route and System Method</a:t>
              </a:r>
              <a:endParaRPr lang="en-US" altLang="zh-CN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75920" y="641096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8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98190" y="2650000"/>
            <a:ext cx="728980" cy="6451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4200" b="1">
                <a:solidFill>
                  <a:srgbClr val="2E7E94"/>
                </a:solidFill>
                <a:latin typeface="PingFang SC" panose="020B0400000000000000" charset="-122"/>
              </a:rPr>
              <a:t>3</a:t>
            </a:r>
            <a:endParaRPr sz="42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00000" y="2670000"/>
            <a:ext cx="5200000" cy="42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800" b="1">
                <a:solidFill>
                  <a:srgbClr val="223A48"/>
                </a:solidFill>
                <a:latin typeface="PingFang SC" panose="020B0400000000000000" charset="-122"/>
              </a:rPr>
              <a:t>SemQL 2.0 核心方法</a:t>
            </a:r>
            <a:endParaRPr sz="28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00000" y="3120000"/>
            <a:ext cx="5200000" cy="25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0">
                <a:solidFill>
                  <a:srgbClr val="697A84"/>
                </a:solidFill>
                <a:latin typeface="PingFang SC" panose="020B0400000000000000" charset="-122"/>
              </a:rPr>
              <a:t>从自然语言到条件化查询计划</a:t>
            </a:r>
            <a:endParaRPr sz="1300" b="0">
              <a:solidFill>
                <a:srgbClr val="697A8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5920" y="641096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9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0222" y="192542"/>
            <a:ext cx="10066818" cy="44259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>
                <a:solidFill>
                  <a:srgbClr val="223A48"/>
                </a:solidFill>
                <a:latin typeface="PingFang SC" panose="020B0400000000000000" charset="-122"/>
              </a:rPr>
              <a:t>总体技术路线：NL → SemCon → SemQL → 分层执行 → Bundle 输出</a:t>
            </a:r>
            <a:endParaRPr sz="24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50000" y="1120000"/>
            <a:ext cx="1650000" cy="90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250" b="1">
                <a:solidFill>
                  <a:srgbClr val="2E7E94"/>
                </a:solidFill>
                <a:latin typeface="PingFang SC" panose="020B0400000000000000" charset="-122"/>
              </a:rPr>
              <a:t>Natural Language Query</a:t>
            </a:r>
            <a:endParaRPr sz="12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85D6A"/>
                </a:solidFill>
                <a:latin typeface="PingFang SC" panose="020B0400000000000000" charset="-122"/>
              </a:rPr>
              <a:t>Agent 任务描述</a:t>
            </a:r>
            <a:endParaRPr sz="9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200000" y="1570000"/>
            <a:ext cx="26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0000" y="1120000"/>
            <a:ext cx="1650000" cy="900000"/>
          </a:xfrm>
          <a:prstGeom prst="roundRect">
            <a:avLst/>
          </a:prstGeom>
          <a:solidFill>
            <a:srgbClr val="2E7E94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 panose="020B0400000000000000" charset="-122"/>
              </a:rPr>
              <a:t>Query Compiler</a:t>
            </a:r>
            <a:endParaRPr sz="1250" b="1">
              <a:solidFill>
                <a:srgbClr val="FFFFFF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FFFFF"/>
                </a:solidFill>
                <a:latin typeface="PingFang SC" panose="020B0400000000000000" charset="-122"/>
              </a:rPr>
              <a:t>NL → SemCon → SemQL</a:t>
            </a:r>
            <a:endParaRPr sz="95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4110000" y="1570000"/>
            <a:ext cx="26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70000" y="1120000"/>
            <a:ext cx="1650000" cy="900000"/>
          </a:xfrm>
          <a:prstGeom prst="roundRect">
            <a:avLst/>
          </a:prstGeom>
          <a:solidFill>
            <a:srgbClr val="2E7E94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 panose="020B0400000000000000" charset="-122"/>
              </a:rPr>
              <a:t>Query Optimizer</a:t>
            </a:r>
            <a:endParaRPr sz="1250" b="1">
              <a:solidFill>
                <a:srgbClr val="FFFFFF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FFFFFF"/>
                </a:solidFill>
                <a:latin typeface="PingFang SC" panose="020B0400000000000000" charset="-122"/>
              </a:rPr>
              <a:t>RBO / CBO 生成物理计划</a:t>
            </a:r>
            <a:endParaRPr sz="95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020000" y="1570000"/>
            <a:ext cx="26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80000" y="1120000"/>
            <a:ext cx="1650000" cy="90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250" b="1">
                <a:solidFill>
                  <a:srgbClr val="2E7E94"/>
                </a:solidFill>
                <a:latin typeface="PingFang SC" panose="020B0400000000000000" charset="-122"/>
              </a:rPr>
              <a:t>Staged Execution</a:t>
            </a:r>
            <a:endParaRPr sz="12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85D6A"/>
                </a:solidFill>
                <a:latin typeface="PingFang SC" panose="020B0400000000000000" charset="-122"/>
              </a:rPr>
              <a:t>Surface → Relation → Intention</a:t>
            </a:r>
            <a:endParaRPr sz="9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7930000" y="1570000"/>
            <a:ext cx="26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90000" y="1120000"/>
            <a:ext cx="1650000" cy="90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250" b="1">
                <a:solidFill>
                  <a:srgbClr val="2E7E94"/>
                </a:solidFill>
                <a:latin typeface="PingFang SC" panose="020B0400000000000000" charset="-122"/>
              </a:rPr>
              <a:t>Bundle Reranking</a:t>
            </a:r>
            <a:endParaRPr sz="12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85D6A"/>
                </a:solidFill>
                <a:latin typeface="PingFang SC" panose="020B0400000000000000" charset="-122"/>
              </a:rPr>
              <a:t>代码子图协同评分</a:t>
            </a:r>
            <a:endParaRPr sz="9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9840000" y="1570000"/>
            <a:ext cx="26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00000" y="1120000"/>
            <a:ext cx="1650000" cy="90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250" b="1">
                <a:solidFill>
                  <a:srgbClr val="2E7E94"/>
                </a:solidFill>
                <a:latin typeface="PingFang SC" panose="020B0400000000000000" charset="-122"/>
              </a:rPr>
              <a:t>Final Results</a:t>
            </a:r>
            <a:endParaRPr sz="12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85D6A"/>
                </a:solidFill>
                <a:latin typeface="PingFang SC" panose="020B0400000000000000" charset="-122"/>
              </a:rPr>
              <a:t>带证据的分层输出</a:t>
            </a:r>
            <a:endParaRPr sz="9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00000" y="2820000"/>
            <a:ext cx="2500000" cy="36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 panose="020B0400000000000000" charset="-122"/>
              </a:rPr>
              <a:t>Stage 1 Surface Execution</a:t>
            </a:r>
            <a:endParaRPr sz="12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00000" y="2760000"/>
            <a:ext cx="3550000" cy="50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150" b="1">
                <a:solidFill>
                  <a:srgbClr val="2E7E94"/>
                </a:solidFill>
                <a:latin typeface="PingFang SC" panose="020B0400000000000000" charset="-122"/>
              </a:rPr>
              <a:t>exact search / inverted index / ngram / term embedding</a:t>
            </a:r>
            <a:endParaRPr sz="11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485D6A"/>
                </a:solidFill>
                <a:latin typeface="PingFang SC" panose="020B0400000000000000" charset="-122"/>
              </a:rPr>
              <a:t>&lt; 200ms：快速高召回</a:t>
            </a:r>
            <a:endParaRPr sz="10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7250000" y="3010000"/>
            <a:ext cx="80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50000" y="2760000"/>
            <a:ext cx="2600000" cy="50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150" b="1">
                <a:solidFill>
                  <a:srgbClr val="2E7E94"/>
                </a:solidFill>
                <a:latin typeface="PingFang SC" panose="020B0400000000000000" charset="-122"/>
              </a:rPr>
              <a:t>Evidence</a:t>
            </a:r>
            <a:endParaRPr sz="11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485D6A"/>
                </a:solidFill>
                <a:latin typeface="PingFang SC" panose="020B0400000000000000" charset="-122"/>
              </a:rPr>
              <a:t>保留匹配类型、命中条件、过滤理由与评分来源</a:t>
            </a:r>
            <a:endParaRPr sz="10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0000" y="3640000"/>
            <a:ext cx="2500000" cy="36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 panose="020B0400000000000000" charset="-122"/>
              </a:rPr>
              <a:t>Stage 2 Relation Execution</a:t>
            </a:r>
            <a:endParaRPr sz="12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600000" y="3580000"/>
            <a:ext cx="3550000" cy="50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150" b="1">
                <a:solidFill>
                  <a:srgbClr val="2E7E94"/>
                </a:solidFill>
                <a:latin typeface="PingFang SC" panose="020B0400000000000000" charset="-122"/>
              </a:rPr>
              <a:t>symbol index / LSP call graph / CodeQL fallback</a:t>
            </a:r>
            <a:endParaRPr sz="11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485D6A"/>
                </a:solidFill>
                <a:latin typeface="PingFang SC" panose="020B0400000000000000" charset="-122"/>
              </a:rPr>
              <a:t>&lt; 10ms 到秒级：结构约束</a:t>
            </a:r>
            <a:endParaRPr sz="10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7250000" y="3830000"/>
            <a:ext cx="80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50000" y="3580000"/>
            <a:ext cx="2600000" cy="50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150" b="1">
                <a:solidFill>
                  <a:srgbClr val="2E7E94"/>
                </a:solidFill>
                <a:latin typeface="PingFang SC" panose="020B0400000000000000" charset="-122"/>
              </a:rPr>
              <a:t>Evidence</a:t>
            </a:r>
            <a:endParaRPr sz="11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485D6A"/>
                </a:solidFill>
                <a:latin typeface="PingFang SC" panose="020B0400000000000000" charset="-122"/>
              </a:rPr>
              <a:t>保留匹配类型、命中条件、过滤理由与评分来源</a:t>
            </a:r>
            <a:endParaRPr sz="10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00000" y="4460000"/>
            <a:ext cx="2500000" cy="36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 panose="020B0400000000000000" charset="-122"/>
              </a:rPr>
              <a:t>Stage 3 Intention Execution</a:t>
            </a:r>
            <a:endParaRPr sz="12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00000" y="4400000"/>
            <a:ext cx="3550000" cy="50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150" b="1">
                <a:solidFill>
                  <a:srgbClr val="2E7E94"/>
                </a:solidFill>
                <a:latin typeface="PingFang SC" panose="020B0400000000000000" charset="-122"/>
              </a:rPr>
              <a:t>cluster filter / embedding filter / LLM judge</a:t>
            </a:r>
            <a:endParaRPr sz="11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485D6A"/>
                </a:solidFill>
                <a:latin typeface="PingFang SC" panose="020B0400000000000000" charset="-122"/>
              </a:rPr>
              <a:t>&lt; 3s：高成本语义判别</a:t>
            </a:r>
            <a:endParaRPr sz="10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7250000" y="4650000"/>
            <a:ext cx="80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50000" y="4400000"/>
            <a:ext cx="2600000" cy="50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150" b="1">
                <a:solidFill>
                  <a:srgbClr val="2E7E94"/>
                </a:solidFill>
                <a:latin typeface="PingFang SC" panose="020B0400000000000000" charset="-122"/>
              </a:rPr>
              <a:t>Evidence</a:t>
            </a:r>
            <a:endParaRPr sz="11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485D6A"/>
                </a:solidFill>
                <a:latin typeface="PingFang SC" panose="020B0400000000000000" charset="-122"/>
              </a:rPr>
              <a:t>保留匹配类型、命中条件、过滤理由与评分来源</a:t>
            </a:r>
            <a:endParaRPr sz="10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0000" y="5550000"/>
            <a:ext cx="10400000" cy="26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50" b="1">
                <a:solidFill>
                  <a:srgbClr val="2E7E94"/>
                </a:solidFill>
                <a:latin typeface="PingFang SC" panose="020B0400000000000000" charset="-122"/>
              </a:rPr>
              <a:t>核心思想：先用低成本条件收缩候选集，再把高成本语义判断用于少量候选，最后以代码子图形式返回上下文。</a:t>
            </a:r>
            <a:endParaRPr sz="125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/>
          <p:cNvSpPr/>
          <p:nvPr/>
        </p:nvSpPr>
        <p:spPr>
          <a:xfrm>
            <a:off x="375920" y="641096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10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70222" y="192542"/>
            <a:ext cx="10066818" cy="44259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>
                <a:solidFill>
                  <a:srgbClr val="223A48"/>
                </a:solidFill>
                <a:latin typeface="PingFang SC" panose="020B0400000000000000" charset="-122"/>
              </a:rPr>
              <a:t>查询编译器：将自然语言拆解为可执行条件</a:t>
            </a:r>
            <a:endParaRPr sz="24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60000" y="838000"/>
            <a:ext cx="5300000" cy="30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>
                <a:solidFill>
                  <a:srgbClr val="2E7E94"/>
                </a:solidFill>
                <a:latin typeface="PingFang SC" panose="020B0400000000000000" charset="-122"/>
              </a:rPr>
              <a:t>Phase 1：SemCon 抽取</a:t>
            </a:r>
            <a:endParaRPr sz="14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600000" y="838000"/>
            <a:ext cx="4800000" cy="30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>
                <a:solidFill>
                  <a:srgbClr val="2E7E94"/>
                </a:solidFill>
                <a:latin typeface="PingFang SC" panose="020B0400000000000000" charset="-122"/>
              </a:rPr>
              <a:t>Phase 2：SemQL 组织</a:t>
            </a:r>
            <a:endParaRPr sz="14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650000" y="1250000"/>
            <a:ext cx="5100000" cy="150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LLM 驱动的原子条件抽取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485D6A"/>
                </a:solidFill>
                <a:latin typeface="PingFang SC" panose="020B0400000000000000" charset="-122"/>
              </a:rPr>
              <a:t>将一条 NL Query 拆解为 Surface、Relation、Intention 三类条件；输出 semCon.json，避免直接进入不可控的全库语义判断。</a:t>
            </a:r>
            <a:endParaRPr sz="12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650000" y="3120000"/>
            <a:ext cx="5100000" cy="150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条件类型与执行代价绑定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485D6A"/>
                </a:solidFill>
                <a:latin typeface="PingFang SC" panose="020B0400000000000000" charset="-122"/>
              </a:rPr>
              <a:t>三类条件按 Surface → Relation → Intention 的代价顺序组织，为后续优化器提供可排序的逻辑计划。</a:t>
            </a:r>
            <a:endParaRPr sz="12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6500000" y="1250000"/>
            <a:ext cx="5000000" cy="150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SemQL 作为查询计划载体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485D6A"/>
                </a:solidFill>
                <a:latin typeface="PingFang SC" panose="020B0400000000000000" charset="-122"/>
              </a:rPr>
              <a:t>按照 include / exclude 分组，将 SemCon 原子条件组织为结构化查询；不在编译阶段固化执行顺序。</a:t>
            </a:r>
            <a:endParaRPr sz="12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6500000" y="3120000"/>
            <a:ext cx="5000000" cy="150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执行逻辑由引擎动态调整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485D6A"/>
                </a:solidFill>
                <a:latin typeface="PingFang SC" panose="020B0400000000000000" charset="-122"/>
              </a:rPr>
              <a:t>AND / OR / NOT 等逻辑由优化器结合规则和代价进行规划，使 Query 保持可组合、可优化和可解释。</a:t>
            </a:r>
            <a:endParaRPr sz="12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500000" y="5250000"/>
            <a:ext cx="2400000" cy="420000"/>
          </a:xfrm>
          <a:prstGeom prst="roundRect">
            <a:avLst/>
          </a:prstGeom>
          <a:solidFill>
            <a:srgbClr val="578F9E"/>
          </a:solidFill>
          <a:ln>
            <a:solidFill>
              <a:srgbClr val="57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 panose="020B0400000000000000" charset="-122"/>
              </a:rPr>
              <a:t>query_processing/llm_semCon_extractor.py</a:t>
            </a:r>
            <a:endParaRPr sz="1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06" name="Connector 105"/>
          <p:cNvCxnSpPr/>
          <p:nvPr/>
        </p:nvCxnSpPr>
        <p:spPr>
          <a:xfrm>
            <a:off x="3970000" y="5460000"/>
            <a:ext cx="108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5200000" y="5250000"/>
            <a:ext cx="2200000" cy="420000"/>
          </a:xfrm>
          <a:prstGeom prst="roundRect">
            <a:avLst/>
          </a:prstGeom>
          <a:solidFill>
            <a:srgbClr val="578F9E"/>
          </a:solidFill>
          <a:ln>
            <a:solidFill>
              <a:srgbClr val="57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 panose="020B0400000000000000" charset="-122"/>
              </a:rPr>
              <a:t>semCon.json</a:t>
            </a:r>
            <a:endParaRPr sz="1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08" name="Connector 107"/>
          <p:cNvCxnSpPr/>
          <p:nvPr/>
        </p:nvCxnSpPr>
        <p:spPr>
          <a:xfrm>
            <a:off x="7470000" y="5460000"/>
            <a:ext cx="108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8700000" y="5250000"/>
            <a:ext cx="2300000" cy="420000"/>
          </a:xfrm>
          <a:prstGeom prst="roundRect">
            <a:avLst/>
          </a:prstGeom>
          <a:solidFill>
            <a:srgbClr val="578F9E"/>
          </a:solidFill>
          <a:ln>
            <a:solidFill>
              <a:srgbClr val="57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 panose="020B0400000000000000" charset="-122"/>
              </a:rPr>
              <a:t>query_processing/semQL_composer.py</a:t>
            </a:r>
            <a:endParaRPr sz="1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093849" y="2616184"/>
            <a:ext cx="3644075" cy="1011474"/>
            <a:chOff x="2656412" y="2719778"/>
            <a:chExt cx="1390481" cy="385951"/>
          </a:xfrm>
        </p:grpSpPr>
        <p:sp>
          <p:nvSpPr>
            <p:cNvPr id="5" name="文本框 4"/>
            <p:cNvSpPr txBox="1"/>
            <p:nvPr/>
          </p:nvSpPr>
          <p:spPr>
            <a:xfrm>
              <a:off x="3115496" y="2719778"/>
              <a:ext cx="931397" cy="2817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 sz="2000" b="1">
                  <a:solidFill>
                    <a:srgbClr val="213448"/>
                  </a:solidFill>
                  <a:latin typeface="微软雅黑"/>
                </a:defRPr>
              </a:pPr>
              <a:r>
                <a:t>阶段成果与实验进展</a:t>
              </a:r>
              <a:endPara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2656412" y="2751761"/>
              <a:ext cx="341212" cy="341212"/>
            </a:xfrm>
            <a:prstGeom prst="roundRect">
              <a:avLst>
                <a:gd name="adj" fmla="val 7315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600" b="1">
                  <a:solidFill>
                    <a:srgbClr val="FFFFFF"/>
                  </a:solidFill>
                  <a:latin typeface="微软雅黑"/>
                </a:defRPr>
              </a:pPr>
              <a:r>
                <a:t>4</a:t>
              </a:r>
              <a:endParaRPr lang="en-US" altLang="zh-CN" sz="6000" b="1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115496" y="3000087"/>
              <a:ext cx="838354" cy="10564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 sz="700" b="0">
                  <a:solidFill>
                    <a:srgbClr val="5D6C7A"/>
                  </a:solidFill>
                  <a:latin typeface="微软雅黑"/>
                </a:defRPr>
              </a:pPr>
              <a:r>
                <a:t>Progress and Current Results</a:t>
              </a:r>
              <a:endPara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75920" y="641096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11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98190" y="2650000"/>
            <a:ext cx="728980" cy="6451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4200" b="1">
                <a:solidFill>
                  <a:srgbClr val="2E7E94"/>
                </a:solidFill>
                <a:latin typeface="PingFang SC" panose="020B0400000000000000" charset="-122"/>
              </a:rPr>
              <a:t>4</a:t>
            </a:r>
            <a:endParaRPr sz="42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00000" y="2670000"/>
            <a:ext cx="5200000" cy="42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800" b="1">
                <a:solidFill>
                  <a:srgbClr val="223A48"/>
                </a:solidFill>
                <a:latin typeface="PingFang SC" panose="020B0400000000000000" charset="-122"/>
              </a:rPr>
              <a:t>条件类型、优化器与执行引擎</a:t>
            </a:r>
            <a:endParaRPr sz="28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00000" y="3120000"/>
            <a:ext cx="5200000" cy="25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0">
                <a:solidFill>
                  <a:srgbClr val="697A84"/>
                </a:solidFill>
                <a:latin typeface="PingFang SC" panose="020B0400000000000000" charset="-122"/>
              </a:rPr>
              <a:t>以代价可控的方式执行多维查询条件</a:t>
            </a:r>
            <a:endParaRPr sz="1300" b="0">
              <a:solidFill>
                <a:srgbClr val="697A8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375920" y="641096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12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0222" y="192542"/>
            <a:ext cx="10066818" cy="44259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>
                <a:solidFill>
                  <a:srgbClr val="223A48"/>
                </a:solidFill>
                <a:latin typeface="PingFang SC" panose="020B0400000000000000" charset="-122"/>
              </a:rPr>
              <a:t>三类条件定义：从表层信号到深层意图</a:t>
            </a:r>
            <a:endParaRPr sz="24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0000" y="1130000"/>
            <a:ext cx="3350000" cy="315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600" b="1">
                <a:solidFill>
                  <a:srgbClr val="2E7E94"/>
                </a:solidFill>
                <a:latin typeface="PingFang SC" panose="020B0400000000000000" charset="-122"/>
              </a:rPr>
              <a:t>Surface Condition</a:t>
            </a:r>
            <a:endParaRPr sz="16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85D6A"/>
                </a:solidFill>
                <a:latin typeface="PingFang SC" panose="020B0400000000000000" charset="-122"/>
              </a:rPr>
              <a:t>表层/词法特征
code_element、keyword、ngram、term_embed、code_line；适合倒排索引、BM25、精确匹配和词向量扩展。</a:t>
            </a:r>
            <a:endParaRPr sz="11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100000" y="4520000"/>
            <a:ext cx="2450000" cy="36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最低成本，优先召回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00000" y="1130000"/>
            <a:ext cx="3350000" cy="315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600" b="1">
                <a:solidFill>
                  <a:srgbClr val="2E7E94"/>
                </a:solidFill>
                <a:latin typeface="PingFang SC" panose="020B0400000000000000" charset="-122"/>
              </a:rPr>
              <a:t>Relation Condition</a:t>
            </a:r>
            <a:endParaRPr sz="16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85D6A"/>
                </a:solidFill>
                <a:latin typeface="PingFang SC" panose="020B0400000000000000" charset="-122"/>
              </a:rPr>
              <a:t>关系/结构特征
code_element_type、file_path、container、caller、callee、graph_constraint、code_ql；表达调用图和结构约束。</a:t>
            </a:r>
            <a:endParaRPr sz="11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950000" y="4520000"/>
            <a:ext cx="2450000" cy="360000"/>
          </a:xfrm>
          <a:prstGeom prst="roundRect">
            <a:avLst/>
          </a:prstGeom>
          <a:solidFill>
            <a:srgbClr val="578F9E"/>
          </a:solidFill>
          <a:ln>
            <a:solidFill>
              <a:srgbClr val="57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中等成本，约束收敛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350000" y="1130000"/>
            <a:ext cx="3350000" cy="315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600" b="1">
                <a:solidFill>
                  <a:srgbClr val="2E7E94"/>
                </a:solidFill>
                <a:latin typeface="PingFang SC" panose="020B0400000000000000" charset="-122"/>
              </a:rPr>
              <a:t>Intention Condition</a:t>
            </a:r>
            <a:endParaRPr sz="16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85D6A"/>
                </a:solidFill>
                <a:latin typeface="PingFang SC" panose="020B0400000000000000" charset="-122"/>
              </a:rPr>
              <a:t>意图/语义特征
intent、intent_statement、aspect、non_functional_type；以二元判别建模 P(match | code, intent)。</a:t>
            </a:r>
            <a:endParaRPr sz="11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00000" y="4520000"/>
            <a:ext cx="2450000" cy="360000"/>
          </a:xfrm>
          <a:prstGeom prst="roundRect">
            <a:avLst/>
          </a:prstGeom>
          <a:solidFill>
            <a:srgbClr val="578F9E"/>
          </a:solidFill>
          <a:ln>
            <a:solidFill>
              <a:srgbClr val="57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最高成本，后置验证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0000" y="5420000"/>
            <a:ext cx="10200000" cy="36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50" b="1">
                <a:solidFill>
                  <a:srgbClr val="2E7E94"/>
                </a:solidFill>
                <a:latin typeface="PingFang SC" panose="020B0400000000000000" charset="-122"/>
              </a:rPr>
              <a:t>执行顺序不是简单固定流水线，而是在 Intention-Last、Surface-First 等规则约束下，由优化器结合候选规模动态规划。</a:t>
            </a:r>
            <a:endParaRPr sz="125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300732" y="2616184"/>
            <a:ext cx="5352544" cy="1011474"/>
            <a:chOff x="2353780" y="2719778"/>
            <a:chExt cx="2042387" cy="385951"/>
          </a:xfrm>
        </p:grpSpPr>
        <p:sp>
          <p:nvSpPr>
            <p:cNvPr id="5" name="文本框 4"/>
            <p:cNvSpPr txBox="1"/>
            <p:nvPr/>
          </p:nvSpPr>
          <p:spPr>
            <a:xfrm>
              <a:off x="2766222" y="2719778"/>
              <a:ext cx="1629945" cy="2817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 sz="2000" b="1">
                  <a:solidFill>
                    <a:srgbClr val="213448"/>
                  </a:solidFill>
                  <a:latin typeface="微软雅黑"/>
                </a:defRPr>
              </a:pPr>
              <a:r>
                <a:t>研究计划与风险控制</a:t>
              </a:r>
              <a:endPara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2353780" y="2752246"/>
              <a:ext cx="341212" cy="341212"/>
            </a:xfrm>
            <a:prstGeom prst="roundRect">
              <a:avLst>
                <a:gd name="adj" fmla="val 7315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600" b="1">
                  <a:solidFill>
                    <a:srgbClr val="FFFFFF"/>
                  </a:solidFill>
                  <a:latin typeface="微软雅黑"/>
                </a:defRPr>
              </a:pPr>
              <a:r>
                <a:t>5</a:t>
              </a:r>
              <a:endParaRPr lang="en-US" altLang="zh-CN" sz="6000" b="1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943464" y="3000087"/>
              <a:ext cx="1182419" cy="10564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 sz="700" b="0">
                  <a:solidFill>
                    <a:srgbClr val="5D6C7A"/>
                  </a:solidFill>
                  <a:latin typeface="微软雅黑"/>
                </a:defRPr>
              </a:pPr>
              <a:r>
                <a:t>Research Plan and Risk Control</a:t>
              </a:r>
              <a:endPara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75920" y="641096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13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98190" y="2650000"/>
            <a:ext cx="728980" cy="6451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4200" b="1">
                <a:solidFill>
                  <a:srgbClr val="2E7E94"/>
                </a:solidFill>
                <a:latin typeface="PingFang SC" panose="020B0400000000000000" charset="-122"/>
              </a:rPr>
              <a:t>5</a:t>
            </a:r>
            <a:endParaRPr sz="42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00000" y="2670000"/>
            <a:ext cx="5200000" cy="42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800" b="1">
                <a:solidFill>
                  <a:srgbClr val="223A48"/>
                </a:solidFill>
                <a:latin typeface="PingFang SC" panose="020B0400000000000000" charset="-122"/>
              </a:rPr>
              <a:t>系统实现与实验设计</a:t>
            </a:r>
            <a:endParaRPr sz="28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00000" y="3120000"/>
            <a:ext cx="5200000" cy="25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0">
                <a:solidFill>
                  <a:srgbClr val="697A84"/>
                </a:solidFill>
                <a:latin typeface="PingFang SC" panose="020B0400000000000000" charset="-122"/>
              </a:rPr>
              <a:t>从原型模块到可验证评测体系</a:t>
            </a:r>
            <a:endParaRPr sz="1300" b="0">
              <a:solidFill>
                <a:srgbClr val="697A8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ŝlîď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5920" y="641096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14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0222" y="192542"/>
            <a:ext cx="10066818" cy="44259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>
                <a:solidFill>
                  <a:srgbClr val="223A48"/>
                </a:solidFill>
                <a:latin typeface="PingFang SC" panose="020B0400000000000000" charset="-122"/>
              </a:rPr>
              <a:t>查询优化器与执行引擎：规则约束 + 代价估计</a:t>
            </a:r>
            <a:endParaRPr sz="24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0000" y="1000000"/>
            <a:ext cx="4850000" cy="185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RBO：不可覆盖的执行规则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85D6A"/>
                </a:solidFill>
                <a:latin typeface="PingFang SC" panose="020B0400000000000000" charset="-122"/>
              </a:rPr>
              <a:t>R1 Intention-Last：语义条件最后执行
R2 Surface-First：至少一个表层条件先执行
R3 Dangling Ban：禁止全库独立 Intention 判断
R4 NOT-Pushdown：排除逻辑尽量前推</a:t>
            </a:r>
            <a:endParaRPr sz="11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00000" y="1000000"/>
            <a:ext cx="4850000" cy="185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CBO：候选规模驱动的代价优化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485D6A"/>
                </a:solidFill>
                <a:latin typeface="PingFang SC" panose="020B0400000000000000" charset="-122"/>
              </a:rPr>
              <a:t>通过符号索引统计预估命中数量，优先执行选择性最高的 Surface/Relation 条件；候选过大时触发 Cluster Filter 动态截断。</a:t>
            </a:r>
            <a:endParaRPr sz="12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00000" y="3600000"/>
            <a:ext cx="1900000" cy="38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Step 1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00000" y="4030000"/>
            <a:ext cx="1900000" cy="80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250" b="1">
                <a:solidFill>
                  <a:srgbClr val="2E7E94"/>
                </a:solidFill>
                <a:latin typeface="PingFang SC" panose="020B0400000000000000" charset="-122"/>
              </a:rPr>
              <a:t>c1_surface</a:t>
            </a:r>
            <a:endParaRPr sz="12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485D6A"/>
                </a:solidFill>
                <a:latin typeface="PingFang SC" panose="020B0400000000000000" charset="-122"/>
              </a:rPr>
              <a:t>候选集 ≈ 8,000</a:t>
            </a:r>
            <a:endParaRPr sz="11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800000" y="4430000"/>
            <a:ext cx="75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00000" y="3600000"/>
            <a:ext cx="1900000" cy="38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Step 2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00000" y="4030000"/>
            <a:ext cx="1900000" cy="80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250" b="1">
                <a:solidFill>
                  <a:srgbClr val="2E7E94"/>
                </a:solidFill>
                <a:latin typeface="PingFang SC" panose="020B0400000000000000" charset="-122"/>
              </a:rPr>
              <a:t>c2_relation</a:t>
            </a:r>
            <a:endParaRPr sz="12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485D6A"/>
                </a:solidFill>
                <a:latin typeface="PingFang SC" panose="020B0400000000000000" charset="-122"/>
              </a:rPr>
              <a:t>候选集 ≈ 400</a:t>
            </a:r>
            <a:endParaRPr sz="11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500000" y="4430000"/>
            <a:ext cx="75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0000" y="3600000"/>
            <a:ext cx="1900000" cy="38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Step 3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00000" y="4030000"/>
            <a:ext cx="1900000" cy="80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250" b="1">
                <a:solidFill>
                  <a:srgbClr val="2E7E94"/>
                </a:solidFill>
                <a:latin typeface="PingFang SC" panose="020B0400000000000000" charset="-122"/>
              </a:rPr>
              <a:t>cluster_filter</a:t>
            </a:r>
            <a:endParaRPr sz="12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485D6A"/>
                </a:solidFill>
                <a:latin typeface="PingFang SC" panose="020B0400000000000000" charset="-122"/>
              </a:rPr>
              <a:t>候选集 ≈ 80</a:t>
            </a:r>
            <a:endParaRPr sz="11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200000" y="4430000"/>
            <a:ext cx="75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00000" y="3600000"/>
            <a:ext cx="1900000" cy="38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Step 4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000000" y="4030000"/>
            <a:ext cx="1900000" cy="80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250" b="1">
                <a:solidFill>
                  <a:srgbClr val="2E7E94"/>
                </a:solidFill>
                <a:latin typeface="PingFang SC" panose="020B0400000000000000" charset="-122"/>
              </a:rPr>
              <a:t>c3_intention</a:t>
            </a:r>
            <a:endParaRPr sz="125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485D6A"/>
                </a:solidFill>
                <a:latin typeface="PingFang SC" panose="020B0400000000000000" charset="-122"/>
              </a:rPr>
              <a:t>候选集 ≈ 15</a:t>
            </a:r>
            <a:endParaRPr sz="110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0000" y="5600000"/>
            <a:ext cx="10200000" cy="26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00" b="1">
                <a:solidFill>
                  <a:srgbClr val="2E7E94"/>
                </a:solidFill>
                <a:latin typeface="PingFang SC" panose="020B0400000000000000" charset="-122"/>
              </a:rPr>
              <a:t>代价目标：Cost_total = Σ Cost_i × |R_i|，即把高成本语义判别限制在足够小的候选集上。</a:t>
            </a:r>
            <a:endParaRPr sz="12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894457" y="2616184"/>
            <a:ext cx="4180978" cy="1011474"/>
            <a:chOff x="2353780" y="2719778"/>
            <a:chExt cx="1595349" cy="385951"/>
          </a:xfrm>
        </p:grpSpPr>
        <p:sp>
          <p:nvSpPr>
            <p:cNvPr id="5" name="文本框 4"/>
            <p:cNvSpPr txBox="1"/>
            <p:nvPr/>
          </p:nvSpPr>
          <p:spPr>
            <a:xfrm>
              <a:off x="2784883" y="2719778"/>
              <a:ext cx="1164246" cy="2817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 sz="2000" b="1">
                  <a:solidFill>
                    <a:srgbClr val="213448"/>
                  </a:solidFill>
                  <a:latin typeface="微软雅黑"/>
                </a:defRPr>
              </a:pPr>
              <a:r>
                <a:t>总结与展望</a:t>
              </a:r>
              <a:endPara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2353780" y="2752246"/>
              <a:ext cx="341212" cy="341212"/>
            </a:xfrm>
            <a:prstGeom prst="roundRect">
              <a:avLst>
                <a:gd name="adj" fmla="val 7315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600" b="1">
                  <a:solidFill>
                    <a:srgbClr val="FFFFFF"/>
                  </a:solidFill>
                  <a:latin typeface="微软雅黑"/>
                </a:defRPr>
              </a:pPr>
              <a:r>
                <a:t>6</a:t>
              </a:r>
              <a:endParaRPr lang="en-US" altLang="zh-CN" sz="6000" b="1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917057" y="3000087"/>
              <a:ext cx="930428" cy="10564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 sz="700" b="0">
                  <a:solidFill>
                    <a:srgbClr val="5D6C7A"/>
                  </a:solidFill>
                  <a:latin typeface="微软雅黑"/>
                </a:defRPr>
              </a:pPr>
              <a:r>
                <a:t>Summary and Outlook</a:t>
              </a:r>
              <a:endPara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75920" y="641096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15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98190" y="2650000"/>
            <a:ext cx="728980" cy="6451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4200" b="1">
                <a:solidFill>
                  <a:srgbClr val="2E7E94"/>
                </a:solidFill>
                <a:latin typeface="PingFang SC" panose="020B0400000000000000" charset="-122"/>
              </a:rPr>
              <a:t>6</a:t>
            </a:r>
            <a:endParaRPr sz="42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00000" y="2670000"/>
            <a:ext cx="5200000" cy="42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800" b="1">
                <a:solidFill>
                  <a:srgbClr val="223A48"/>
                </a:solidFill>
                <a:latin typeface="PingFang SC" panose="020B0400000000000000" charset="-122"/>
              </a:rPr>
              <a:t>组合重排、评测与研发路径</a:t>
            </a:r>
            <a:endParaRPr sz="28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00000" y="3120000"/>
            <a:ext cx="5200000" cy="250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0">
                <a:solidFill>
                  <a:srgbClr val="697A84"/>
                </a:solidFill>
                <a:latin typeface="PingFang SC" panose="020B0400000000000000" charset="-122"/>
              </a:rPr>
              <a:t>面向最终论文实验的系统化验证</a:t>
            </a:r>
            <a:endParaRPr sz="1300" b="0">
              <a:solidFill>
                <a:srgbClr val="697A8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/>
          <p:cNvSpPr/>
          <p:nvPr/>
        </p:nvSpPr>
        <p:spPr>
          <a:xfrm>
            <a:off x="375920" y="639953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16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70222" y="192542"/>
            <a:ext cx="10066818" cy="44259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>
                <a:solidFill>
                  <a:srgbClr val="223A48"/>
                </a:solidFill>
                <a:latin typeface="PingFang SC" panose="020B0400000000000000" charset="-122"/>
              </a:rPr>
              <a:t>实现现状与后续研发路径</a:t>
            </a:r>
            <a:endParaRPr sz="24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30000" y="980000"/>
            <a:ext cx="3300000" cy="1900000"/>
          </a:xfrm>
          <a:prstGeom prst="roundRect">
            <a:avLst/>
          </a:prstGeom>
          <a:solidFill>
            <a:srgbClr val="EEF7FA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已完成模块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20">
                <a:solidFill>
                  <a:srgbClr val="485D6A"/>
                </a:solidFill>
                <a:latin typeface="PingFang SC" panose="020B0400000000000000" charset="-122"/>
              </a:rPr>
              <a:t>离线解析与符号索引
N-gram + 倒排索引
FastText + ICF + 语义 Embedding
SemCon 抽取与 SemQL 组织
Surface Executor 与基础过滤器</a:t>
            </a:r>
            <a:endParaRPr sz="112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4450000" y="980000"/>
            <a:ext cx="3300000" cy="1900000"/>
          </a:xfrm>
          <a:prstGeom prst="roundRect">
            <a:avLst/>
          </a:prstGeom>
          <a:solidFill>
            <a:srgbClr val="F5FAFC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待实现模块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20">
                <a:solidFill>
                  <a:srgbClr val="485D6A"/>
                </a:solidFill>
                <a:latin typeface="PingFang SC" panose="020B0400000000000000" charset="-122"/>
              </a:rPr>
              <a:t>RBO / CBO 查询优化器
内存调用图 BFS/DFS
CodeQL 后端集成
LLM-as-a-Judge
Bundle Generator + Synergy Scorer</a:t>
            </a:r>
            <a:endParaRPr sz="112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270000" y="980000"/>
            <a:ext cx="3300000" cy="190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500" b="1">
                <a:solidFill>
                  <a:srgbClr val="2E7E94"/>
                </a:solidFill>
                <a:latin typeface="PingFang SC" panose="020B0400000000000000" charset="-122"/>
              </a:rPr>
              <a:t>评测体系</a:t>
            </a:r>
            <a:endParaRPr sz="15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120">
                <a:solidFill>
                  <a:srgbClr val="485D6A"/>
                </a:solidFill>
                <a:latin typeface="PingFang SC" panose="020B0400000000000000" charset="-122"/>
              </a:rPr>
              <a:t>Recall@K / Precision@K / MRR / nDCG@K
Bundle Relevance / Bundle Hit Rate
P50 / P99 延迟
LLM 调用次数与缓存命中率</a:t>
            </a:r>
            <a:endParaRPr sz="112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800000" y="3780000"/>
            <a:ext cx="1700000" cy="36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Phase 1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20000" y="4250000"/>
            <a:ext cx="2050000" cy="38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50" b="1">
                <a:solidFill>
                  <a:srgbClr val="223A48"/>
                </a:solidFill>
                <a:latin typeface="PingFang SC" panose="020B0400000000000000" charset="-122"/>
              </a:rPr>
              <a:t>概念建模与 DSL 设计</a:t>
            </a:r>
            <a:endParaRPr sz="115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0000" y="4620000"/>
            <a:ext cx="2050000" cy="26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050" b="0">
                <a:solidFill>
                  <a:srgbClr val="697A84"/>
                </a:solidFill>
                <a:latin typeface="PingFang SC" panose="020B0400000000000000" charset="-122"/>
              </a:rPr>
              <a:t>当前</a:t>
            </a:r>
            <a:endParaRPr sz="1050" b="0">
              <a:solidFill>
                <a:srgbClr val="697A84"/>
              </a:solidFill>
              <a:latin typeface="PingFang SC" panose="020B0400000000000000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2500000" y="3970000"/>
            <a:ext cx="82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3500000" y="3780000"/>
            <a:ext cx="1700000" cy="360000"/>
          </a:xfrm>
          <a:prstGeom prst="roundRect">
            <a:avLst/>
          </a:prstGeom>
          <a:solidFill>
            <a:srgbClr val="578F9E"/>
          </a:solidFill>
          <a:ln>
            <a:solidFill>
              <a:srgbClr val="57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Phase 2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320000" y="4250000"/>
            <a:ext cx="2050000" cy="38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50" b="1">
                <a:solidFill>
                  <a:srgbClr val="223A48"/>
                </a:solidFill>
                <a:latin typeface="PingFang SC" panose="020B0400000000000000" charset="-122"/>
              </a:rPr>
              <a:t>查询优化器</a:t>
            </a:r>
            <a:endParaRPr sz="115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320000" y="4620000"/>
            <a:ext cx="2050000" cy="26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050" b="0">
                <a:solidFill>
                  <a:srgbClr val="697A84"/>
                </a:solidFill>
                <a:latin typeface="PingFang SC" panose="020B0400000000000000" charset="-122"/>
              </a:rPr>
              <a:t>近期</a:t>
            </a:r>
            <a:endParaRPr sz="1050" b="0">
              <a:solidFill>
                <a:srgbClr val="697A84"/>
              </a:solidFill>
              <a:latin typeface="PingFang SC" panose="020B0400000000000000" charset="-122"/>
            </a:endParaRPr>
          </a:p>
        </p:txBody>
      </p:sp>
      <p:cxnSp>
        <p:nvCxnSpPr>
          <p:cNvPr id="79" name="Connector 78"/>
          <p:cNvCxnSpPr/>
          <p:nvPr/>
        </p:nvCxnSpPr>
        <p:spPr>
          <a:xfrm>
            <a:off x="5200000" y="3970000"/>
            <a:ext cx="82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6200000" y="3780000"/>
            <a:ext cx="1700000" cy="360000"/>
          </a:xfrm>
          <a:prstGeom prst="roundRect">
            <a:avLst/>
          </a:prstGeom>
          <a:solidFill>
            <a:srgbClr val="578F9E"/>
          </a:solidFill>
          <a:ln>
            <a:solidFill>
              <a:srgbClr val="57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Phase 3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020000" y="4250000"/>
            <a:ext cx="2050000" cy="38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50" b="1">
                <a:solidFill>
                  <a:srgbClr val="223A48"/>
                </a:solidFill>
                <a:latin typeface="PingFang SC" panose="020B0400000000000000" charset="-122"/>
              </a:rPr>
              <a:t>执行引擎完善</a:t>
            </a:r>
            <a:endParaRPr sz="115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020000" y="4620000"/>
            <a:ext cx="2050000" cy="26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050" b="0">
                <a:solidFill>
                  <a:srgbClr val="697A84"/>
                </a:solidFill>
                <a:latin typeface="PingFang SC" panose="020B0400000000000000" charset="-122"/>
              </a:rPr>
              <a:t>中期</a:t>
            </a:r>
            <a:endParaRPr sz="1050" b="0">
              <a:solidFill>
                <a:srgbClr val="697A84"/>
              </a:solidFill>
              <a:latin typeface="PingFang SC" panose="020B0400000000000000" charset="-122"/>
            </a:endParaRPr>
          </a:p>
        </p:txBody>
      </p:sp>
      <p:cxnSp>
        <p:nvCxnSpPr>
          <p:cNvPr id="83" name="Connector 82"/>
          <p:cNvCxnSpPr/>
          <p:nvPr/>
        </p:nvCxnSpPr>
        <p:spPr>
          <a:xfrm>
            <a:off x="7900000" y="3970000"/>
            <a:ext cx="820000" cy="0"/>
          </a:xfrm>
          <a:prstGeom prst="line">
            <a:avLst/>
          </a:prstGeom>
          <a:ln w="15240">
            <a:solidFill>
              <a:srgbClr val="6C95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8900000" y="3780000"/>
            <a:ext cx="1700000" cy="360000"/>
          </a:xfrm>
          <a:prstGeom prst="roundRect">
            <a:avLst/>
          </a:prstGeom>
          <a:solidFill>
            <a:srgbClr val="578F9E"/>
          </a:solidFill>
          <a:ln>
            <a:solidFill>
              <a:srgbClr val="57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Phase 4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720000" y="4250000"/>
            <a:ext cx="2050000" cy="38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50" b="1">
                <a:solidFill>
                  <a:srgbClr val="223A48"/>
                </a:solidFill>
                <a:latin typeface="PingFang SC" panose="020B0400000000000000" charset="-122"/>
              </a:rPr>
              <a:t>Bundle 重排与 Benchmark</a:t>
            </a:r>
            <a:endParaRPr sz="115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720000" y="4620000"/>
            <a:ext cx="2050000" cy="26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050" b="0">
                <a:solidFill>
                  <a:srgbClr val="697A84"/>
                </a:solidFill>
                <a:latin typeface="PingFang SC" panose="020B0400000000000000" charset="-122"/>
              </a:rPr>
              <a:t>后期</a:t>
            </a:r>
            <a:endParaRPr sz="1050" b="0">
              <a:solidFill>
                <a:srgbClr val="697A84"/>
              </a:solidFill>
              <a:latin typeface="PingFang SC" panose="020B0400000000000000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80000" y="5450000"/>
            <a:ext cx="10300000" cy="30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00" b="1">
                <a:solidFill>
                  <a:srgbClr val="2E7E94"/>
                </a:solidFill>
                <a:latin typeface="PingFang SC" panose="020B0400000000000000" charset="-122"/>
              </a:rPr>
              <a:t>Benchmark：SWE-bench、CodeSearchNet 与内部 Agent 任务数据集；通过消融实验验证各执行阶段的贡献。</a:t>
            </a:r>
            <a:endParaRPr sz="1200" b="1">
              <a:solidFill>
                <a:srgbClr val="2E7E9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/>
          <p:cNvSpPr/>
          <p:nvPr/>
        </p:nvSpPr>
        <p:spPr>
          <a:xfrm>
            <a:off x="375920" y="639953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17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70222" y="192542"/>
            <a:ext cx="10066818" cy="44259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400" b="1">
                <a:solidFill>
                  <a:srgbClr val="223A48"/>
                </a:solidFill>
                <a:latin typeface="PingFang SC" panose="020B0400000000000000" charset="-122"/>
              </a:rPr>
              <a:t>方案对比与主要参考依据</a:t>
            </a:r>
            <a:endParaRPr sz="240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20000" y="850000"/>
            <a:ext cx="10800000" cy="260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1">
                <a:solidFill>
                  <a:srgbClr val="223A48"/>
                </a:solidFill>
                <a:latin typeface="PingFang SC" panose="020B0400000000000000" charset="-122"/>
              </a:rPr>
              <a:t>SemQL 2.0 的优势不在于替代某一种检索模型，而在于将多类检索能力组织成可执行、可优化、可解释的查询系统。</a:t>
            </a:r>
            <a:endParaRPr sz="125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700000" y="1250000"/>
            <a:ext cx="2450000" cy="32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检索能力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3500000" y="1250000"/>
            <a:ext cx="1850000" cy="32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Grep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750000" y="1250000"/>
            <a:ext cx="2100000" cy="32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Dense Search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8200000" y="1250000"/>
            <a:ext cx="2900000" cy="320000"/>
          </a:xfrm>
          <a:prstGeom prst="round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 panose="020B0400000000000000" charset="-122"/>
              </a:rPr>
              <a:t>SemQL 2.0</a:t>
            </a:r>
            <a:endParaRPr sz="11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00000" y="1660000"/>
            <a:ext cx="245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1">
                <a:solidFill>
                  <a:srgbClr val="223A48"/>
                </a:solidFill>
                <a:latin typeface="PingFang SC" panose="020B0400000000000000" charset="-122"/>
              </a:rPr>
              <a:t>语义等价召回</a:t>
            </a:r>
            <a:endParaRPr sz="98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3500000" y="1660000"/>
            <a:ext cx="185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弱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750000" y="1660000"/>
            <a:ext cx="210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中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8200000" y="1660000"/>
            <a:ext cx="290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term_embed + Intention 验证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700000" y="2090000"/>
            <a:ext cx="2450000" cy="36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1">
                <a:solidFill>
                  <a:srgbClr val="223A48"/>
                </a:solidFill>
                <a:latin typeface="PingFang SC" panose="020B0400000000000000" charset="-122"/>
              </a:rPr>
              <a:t>硬性排除约束</a:t>
            </a:r>
            <a:endParaRPr sz="98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3500000" y="2090000"/>
            <a:ext cx="1850000" cy="36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弱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750000" y="2090000"/>
            <a:ext cx="2100000" cy="36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弱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200000" y="2090000"/>
            <a:ext cx="2900000" cy="36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exclude property 硬过滤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700000" y="2520000"/>
            <a:ext cx="245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1">
                <a:solidFill>
                  <a:srgbClr val="223A48"/>
                </a:solidFill>
                <a:latin typeface="PingFang SC" panose="020B0400000000000000" charset="-122"/>
              </a:rPr>
              <a:t>调用图距离约束</a:t>
            </a:r>
            <a:endParaRPr sz="98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3500000" y="2520000"/>
            <a:ext cx="185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无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5750000" y="2520000"/>
            <a:ext cx="210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无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8200000" y="2520000"/>
            <a:ext cx="290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graph_constraint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700000" y="2950000"/>
            <a:ext cx="2450000" cy="36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1">
                <a:solidFill>
                  <a:srgbClr val="223A48"/>
                </a:solidFill>
                <a:latin typeface="PingFang SC" panose="020B0400000000000000" charset="-122"/>
              </a:rPr>
              <a:t>关联节点整体返回</a:t>
            </a:r>
            <a:endParaRPr sz="98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3500000" y="2950000"/>
            <a:ext cx="1850000" cy="36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无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5750000" y="2950000"/>
            <a:ext cx="2100000" cy="36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无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8200000" y="2950000"/>
            <a:ext cx="2900000" cy="36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Bundle 协同评分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700000" y="3380000"/>
            <a:ext cx="245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1">
                <a:solidFill>
                  <a:srgbClr val="223A48"/>
                </a:solidFill>
                <a:latin typeface="PingFang SC" panose="020B0400000000000000" charset="-122"/>
              </a:rPr>
              <a:t>结果可解释性</a:t>
            </a:r>
            <a:endParaRPr sz="980" b="1">
              <a:solidFill>
                <a:srgbClr val="223A48"/>
              </a:solidFill>
              <a:latin typeface="PingFang SC" panose="020B0400000000000000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3500000" y="3380000"/>
            <a:ext cx="185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行号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5750000" y="3380000"/>
            <a:ext cx="210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相似度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8200000" y="3380000"/>
            <a:ext cx="2900000" cy="360000"/>
          </a:xfrm>
          <a:prstGeom prst="roundRect">
            <a:avLst/>
          </a:prstGeom>
          <a:solidFill>
            <a:srgbClr val="F5FAFC"/>
          </a:solidFill>
          <a:ln w="762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80" b="0">
                <a:solidFill>
                  <a:srgbClr val="485D6A"/>
                </a:solidFill>
                <a:latin typeface="PingFang SC" panose="020B0400000000000000" charset="-122"/>
              </a:rPr>
              <a:t>多维证据 + reasoning</a:t>
            </a:r>
            <a:endParaRPr sz="980" b="0">
              <a:solidFill>
                <a:srgbClr val="485D6A"/>
              </a:solidFill>
              <a:latin typeface="PingFang SC" panose="020B0400000000000000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900000" y="5050000"/>
            <a:ext cx="10200000" cy="700000"/>
          </a:xfrm>
          <a:prstGeom prst="roundRect">
            <a:avLst/>
          </a:prstGeom>
          <a:solidFill>
            <a:srgbClr val="FAFDF9"/>
          </a:solidFill>
          <a:ln w="12700">
            <a:solidFill>
              <a:srgbClr val="C8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ctr"/>
            <a:r>
              <a:rPr sz="1300" b="1">
                <a:solidFill>
                  <a:srgbClr val="2E7E94"/>
                </a:solidFill>
                <a:latin typeface="PingFang SC" panose="020B0400000000000000" charset="-122"/>
              </a:rPr>
              <a:t>主要参考依据</a:t>
            </a:r>
            <a:endParaRPr sz="1300" b="1">
              <a:solidFill>
                <a:srgbClr val="2E7E94"/>
              </a:solidFill>
              <a:latin typeface="PingFang SC" panose="020B0400000000000000" charset="-122"/>
            </a:endParaRP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485D6A"/>
                </a:solidFill>
                <a:latin typeface="PingFang SC" panose="020B0400000000000000" charset="-122"/>
              </a:rPr>
              <a:t>[1] Gu et al., Deep Code Search, ICSE 2018.  [2] Feng et al., CodeBERT, EMNLP 2020.
[3] SWE-bench / CodeSearchNet benchmark materials.  [4] CodeSearch project implementation modules and report.md.</a:t>
            </a:r>
            <a:endParaRPr sz="1050">
              <a:solidFill>
                <a:srgbClr val="485D6A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38171" y="2615071"/>
            <a:ext cx="3715658" cy="1015365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2800" b="1">
                <a:solidFill>
                  <a:srgbClr val="213448"/>
                </a:solidFill>
                <a:latin typeface="微软雅黑"/>
              </a:defRPr>
            </a:pPr>
            <a:r>
              <a:rPr sz="3600" b="1">
                <a:solidFill>
                  <a:srgbClr val="223A48"/>
                </a:solidFill>
                <a:latin typeface="PingFang SC" panose="020B0400000000000000" charset="-122"/>
              </a:rPr>
              <a:t>感谢聆听</a:t>
            </a:r>
            <a:endParaRPr lang="zh-CN" altLang="en-US" sz="66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38171" y="3860577"/>
            <a:ext cx="371565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dist">
              <a:defRPr sz="1600" b="0">
                <a:solidFill>
                  <a:srgbClr val="213448"/>
                </a:solidFill>
                <a:latin typeface="微软雅黑"/>
              </a:defRPr>
            </a:pPr>
            <a:r>
              <a:t>敬请各位老师批评指正！</a:t>
            </a:r>
            <a:endParaRPr lang="zh-CN" altLang="en-US" sz="2400" dirty="0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2" name="图形 46"/>
          <p:cNvSpPr/>
          <p:nvPr/>
        </p:nvSpPr>
        <p:spPr>
          <a:xfrm>
            <a:off x="4100899" y="4716212"/>
            <a:ext cx="206755" cy="234587"/>
          </a:xfrm>
          <a:custGeom>
            <a:avLst/>
            <a:gdLst>
              <a:gd name="connsiteX0" fmla="*/ 149765 w 206755"/>
              <a:gd name="connsiteY0" fmla="*/ 129885 h 234587"/>
              <a:gd name="connsiteX1" fmla="*/ 177598 w 206755"/>
              <a:gd name="connsiteY1" fmla="*/ 72895 h 234587"/>
              <a:gd name="connsiteX2" fmla="*/ 104703 w 206755"/>
              <a:gd name="connsiteY2" fmla="*/ 0 h 234587"/>
              <a:gd name="connsiteX3" fmla="*/ 30483 w 206755"/>
              <a:gd name="connsiteY3" fmla="*/ 71569 h 234587"/>
              <a:gd name="connsiteX4" fmla="*/ 58316 w 206755"/>
              <a:gd name="connsiteY4" fmla="*/ 128559 h 234587"/>
              <a:gd name="connsiteX5" fmla="*/ 0 w 206755"/>
              <a:gd name="connsiteY5" fmla="*/ 221334 h 234587"/>
              <a:gd name="connsiteX6" fmla="*/ 13254 w 206755"/>
              <a:gd name="connsiteY6" fmla="*/ 234588 h 234587"/>
              <a:gd name="connsiteX7" fmla="*/ 26507 w 206755"/>
              <a:gd name="connsiteY7" fmla="*/ 221334 h 234587"/>
              <a:gd name="connsiteX8" fmla="*/ 103378 w 206755"/>
              <a:gd name="connsiteY8" fmla="*/ 144464 h 234587"/>
              <a:gd name="connsiteX9" fmla="*/ 180248 w 206755"/>
              <a:gd name="connsiteY9" fmla="*/ 221334 h 234587"/>
              <a:gd name="connsiteX10" fmla="*/ 193502 w 206755"/>
              <a:gd name="connsiteY10" fmla="*/ 234588 h 234587"/>
              <a:gd name="connsiteX11" fmla="*/ 206755 w 206755"/>
              <a:gd name="connsiteY11" fmla="*/ 221334 h 234587"/>
              <a:gd name="connsiteX12" fmla="*/ 148440 w 206755"/>
              <a:gd name="connsiteY12" fmla="*/ 128559 h 234587"/>
              <a:gd name="connsiteX13" fmla="*/ 103378 w 206755"/>
              <a:gd name="connsiteY13" fmla="*/ 25182 h 234587"/>
              <a:gd name="connsiteX14" fmla="*/ 149765 w 206755"/>
              <a:gd name="connsiteY14" fmla="*/ 71569 h 234587"/>
              <a:gd name="connsiteX15" fmla="*/ 103378 w 206755"/>
              <a:gd name="connsiteY15" fmla="*/ 117957 h 234587"/>
              <a:gd name="connsiteX16" fmla="*/ 56990 w 206755"/>
              <a:gd name="connsiteY16" fmla="*/ 71569 h 234587"/>
              <a:gd name="connsiteX17" fmla="*/ 103378 w 206755"/>
              <a:gd name="connsiteY17" fmla="*/ 25182 h 23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06755" h="234587">
                <a:moveTo>
                  <a:pt x="149765" y="129885"/>
                </a:moveTo>
                <a:cubicBezTo>
                  <a:pt x="166995" y="116631"/>
                  <a:pt x="177598" y="95426"/>
                  <a:pt x="177598" y="72895"/>
                </a:cubicBezTo>
                <a:cubicBezTo>
                  <a:pt x="177598" y="31809"/>
                  <a:pt x="144464" y="0"/>
                  <a:pt x="104703" y="0"/>
                </a:cubicBezTo>
                <a:cubicBezTo>
                  <a:pt x="64942" y="0"/>
                  <a:pt x="30483" y="31809"/>
                  <a:pt x="30483" y="71569"/>
                </a:cubicBezTo>
                <a:cubicBezTo>
                  <a:pt x="30483" y="95426"/>
                  <a:pt x="41086" y="115306"/>
                  <a:pt x="58316" y="128559"/>
                </a:cubicBezTo>
                <a:cubicBezTo>
                  <a:pt x="23856" y="145789"/>
                  <a:pt x="0" y="180248"/>
                  <a:pt x="0" y="221334"/>
                </a:cubicBezTo>
                <a:cubicBezTo>
                  <a:pt x="0" y="229286"/>
                  <a:pt x="6627" y="234588"/>
                  <a:pt x="13254" y="234588"/>
                </a:cubicBezTo>
                <a:cubicBezTo>
                  <a:pt x="19880" y="234588"/>
                  <a:pt x="26507" y="227961"/>
                  <a:pt x="26507" y="221334"/>
                </a:cubicBezTo>
                <a:cubicBezTo>
                  <a:pt x="26507" y="178923"/>
                  <a:pt x="60966" y="144464"/>
                  <a:pt x="103378" y="144464"/>
                </a:cubicBezTo>
                <a:cubicBezTo>
                  <a:pt x="145789" y="144464"/>
                  <a:pt x="180248" y="178923"/>
                  <a:pt x="180248" y="221334"/>
                </a:cubicBezTo>
                <a:cubicBezTo>
                  <a:pt x="180248" y="229286"/>
                  <a:pt x="186875" y="234588"/>
                  <a:pt x="193502" y="234588"/>
                </a:cubicBezTo>
                <a:cubicBezTo>
                  <a:pt x="200129" y="234588"/>
                  <a:pt x="206755" y="227961"/>
                  <a:pt x="206755" y="221334"/>
                </a:cubicBezTo>
                <a:cubicBezTo>
                  <a:pt x="206755" y="180248"/>
                  <a:pt x="182899" y="145789"/>
                  <a:pt x="148440" y="128559"/>
                </a:cubicBezTo>
                <a:close/>
                <a:moveTo>
                  <a:pt x="103378" y="25182"/>
                </a:moveTo>
                <a:cubicBezTo>
                  <a:pt x="128559" y="25182"/>
                  <a:pt x="149765" y="46387"/>
                  <a:pt x="149765" y="71569"/>
                </a:cubicBezTo>
                <a:cubicBezTo>
                  <a:pt x="149765" y="96751"/>
                  <a:pt x="128559" y="117957"/>
                  <a:pt x="103378" y="117957"/>
                </a:cubicBezTo>
                <a:cubicBezTo>
                  <a:pt x="78196" y="117957"/>
                  <a:pt x="56990" y="96751"/>
                  <a:pt x="56990" y="71569"/>
                </a:cubicBezTo>
                <a:cubicBezTo>
                  <a:pt x="56990" y="46387"/>
                  <a:pt x="78196" y="25182"/>
                  <a:pt x="103378" y="2518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858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6143603" y="4676697"/>
            <a:ext cx="317636" cy="269002"/>
            <a:chOff x="6143603" y="4601132"/>
            <a:chExt cx="317636" cy="269002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" name="任意多边形: 形状 8"/>
            <p:cNvSpPr/>
            <p:nvPr/>
          </p:nvSpPr>
          <p:spPr>
            <a:xfrm>
              <a:off x="6224152" y="4601132"/>
              <a:ext cx="237087" cy="269002"/>
            </a:xfrm>
            <a:custGeom>
              <a:avLst/>
              <a:gdLst>
                <a:gd name="connsiteX0" fmla="*/ 171736 w 237087"/>
                <a:gd name="connsiteY0" fmla="*/ 148939 h 269002"/>
                <a:gd name="connsiteX1" fmla="*/ 203652 w 237087"/>
                <a:gd name="connsiteY1" fmla="*/ 83588 h 269002"/>
                <a:gd name="connsiteX2" fmla="*/ 120063 w 237087"/>
                <a:gd name="connsiteY2" fmla="*/ 0 h 269002"/>
                <a:gd name="connsiteX3" fmla="*/ 34955 w 237087"/>
                <a:gd name="connsiteY3" fmla="*/ 82069 h 269002"/>
                <a:gd name="connsiteX4" fmla="*/ 66871 w 237087"/>
                <a:gd name="connsiteY4" fmla="*/ 147420 h 269002"/>
                <a:gd name="connsiteX5" fmla="*/ 0 w 237087"/>
                <a:gd name="connsiteY5" fmla="*/ 253805 h 269002"/>
                <a:gd name="connsiteX6" fmla="*/ 15198 w 237087"/>
                <a:gd name="connsiteY6" fmla="*/ 269003 h 269002"/>
                <a:gd name="connsiteX7" fmla="*/ 30396 w 237087"/>
                <a:gd name="connsiteY7" fmla="*/ 253805 h 269002"/>
                <a:gd name="connsiteX8" fmla="*/ 118544 w 237087"/>
                <a:gd name="connsiteY8" fmla="*/ 165657 h 269002"/>
                <a:gd name="connsiteX9" fmla="*/ 206691 w 237087"/>
                <a:gd name="connsiteY9" fmla="*/ 253805 h 269002"/>
                <a:gd name="connsiteX10" fmla="*/ 221889 w 237087"/>
                <a:gd name="connsiteY10" fmla="*/ 269003 h 269002"/>
                <a:gd name="connsiteX11" fmla="*/ 237087 w 237087"/>
                <a:gd name="connsiteY11" fmla="*/ 253805 h 269002"/>
                <a:gd name="connsiteX12" fmla="*/ 170216 w 237087"/>
                <a:gd name="connsiteY12" fmla="*/ 147420 h 269002"/>
                <a:gd name="connsiteX13" fmla="*/ 120063 w 237087"/>
                <a:gd name="connsiteY13" fmla="*/ 136781 h 269002"/>
                <a:gd name="connsiteX14" fmla="*/ 66871 w 237087"/>
                <a:gd name="connsiteY14" fmla="*/ 83588 h 269002"/>
                <a:gd name="connsiteX15" fmla="*/ 120063 w 237087"/>
                <a:gd name="connsiteY15" fmla="*/ 30396 h 269002"/>
                <a:gd name="connsiteX16" fmla="*/ 173256 w 237087"/>
                <a:gd name="connsiteY16" fmla="*/ 83588 h 269002"/>
                <a:gd name="connsiteX17" fmla="*/ 120063 w 237087"/>
                <a:gd name="connsiteY17" fmla="*/ 136781 h 26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7087" h="269002">
                  <a:moveTo>
                    <a:pt x="171736" y="148939"/>
                  </a:moveTo>
                  <a:cubicBezTo>
                    <a:pt x="191494" y="133742"/>
                    <a:pt x="203652" y="109425"/>
                    <a:pt x="203652" y="83588"/>
                  </a:cubicBezTo>
                  <a:cubicBezTo>
                    <a:pt x="203652" y="36475"/>
                    <a:pt x="165657" y="0"/>
                    <a:pt x="120063" y="0"/>
                  </a:cubicBezTo>
                  <a:cubicBezTo>
                    <a:pt x="74470" y="0"/>
                    <a:pt x="34955" y="36475"/>
                    <a:pt x="34955" y="82069"/>
                  </a:cubicBezTo>
                  <a:cubicBezTo>
                    <a:pt x="34955" y="109425"/>
                    <a:pt x="47113" y="132222"/>
                    <a:pt x="66871" y="147420"/>
                  </a:cubicBezTo>
                  <a:cubicBezTo>
                    <a:pt x="27356" y="167177"/>
                    <a:pt x="0" y="206691"/>
                    <a:pt x="0" y="253805"/>
                  </a:cubicBezTo>
                  <a:cubicBezTo>
                    <a:pt x="0" y="262924"/>
                    <a:pt x="7599" y="269003"/>
                    <a:pt x="15198" y="269003"/>
                  </a:cubicBezTo>
                  <a:cubicBezTo>
                    <a:pt x="22797" y="269003"/>
                    <a:pt x="30396" y="261404"/>
                    <a:pt x="30396" y="253805"/>
                  </a:cubicBezTo>
                  <a:cubicBezTo>
                    <a:pt x="30396" y="205172"/>
                    <a:pt x="69910" y="165657"/>
                    <a:pt x="118544" y="165657"/>
                  </a:cubicBezTo>
                  <a:cubicBezTo>
                    <a:pt x="167177" y="165657"/>
                    <a:pt x="206691" y="205172"/>
                    <a:pt x="206691" y="253805"/>
                  </a:cubicBezTo>
                  <a:cubicBezTo>
                    <a:pt x="206691" y="262924"/>
                    <a:pt x="214290" y="269003"/>
                    <a:pt x="221889" y="269003"/>
                  </a:cubicBezTo>
                  <a:cubicBezTo>
                    <a:pt x="229488" y="269003"/>
                    <a:pt x="237087" y="261404"/>
                    <a:pt x="237087" y="253805"/>
                  </a:cubicBezTo>
                  <a:cubicBezTo>
                    <a:pt x="237087" y="206691"/>
                    <a:pt x="209731" y="167177"/>
                    <a:pt x="170216" y="147420"/>
                  </a:cubicBezTo>
                  <a:close/>
                  <a:moveTo>
                    <a:pt x="120063" y="136781"/>
                  </a:moveTo>
                  <a:cubicBezTo>
                    <a:pt x="91187" y="136781"/>
                    <a:pt x="66871" y="112464"/>
                    <a:pt x="66871" y="83588"/>
                  </a:cubicBezTo>
                  <a:cubicBezTo>
                    <a:pt x="66871" y="54712"/>
                    <a:pt x="91187" y="30396"/>
                    <a:pt x="120063" y="30396"/>
                  </a:cubicBezTo>
                  <a:cubicBezTo>
                    <a:pt x="148939" y="30396"/>
                    <a:pt x="173256" y="54712"/>
                    <a:pt x="173256" y="83588"/>
                  </a:cubicBezTo>
                  <a:cubicBezTo>
                    <a:pt x="173256" y="112464"/>
                    <a:pt x="148939" y="136781"/>
                    <a:pt x="120063" y="136781"/>
                  </a:cubicBezTo>
                  <a:close/>
                </a:path>
              </a:pathLst>
            </a:custGeom>
            <a:grpFill/>
            <a:ln w="147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6143603" y="4640647"/>
              <a:ext cx="106385" cy="194533"/>
            </a:xfrm>
            <a:custGeom>
              <a:avLst/>
              <a:gdLst>
                <a:gd name="connsiteX0" fmla="*/ 97267 w 106385"/>
                <a:gd name="connsiteY0" fmla="*/ 113984 h 194533"/>
                <a:gd name="connsiteX1" fmla="*/ 97267 w 106385"/>
                <a:gd name="connsiteY1" fmla="*/ 107905 h 194533"/>
                <a:gd name="connsiteX2" fmla="*/ 82069 w 106385"/>
                <a:gd name="connsiteY2" fmla="*/ 92707 h 194533"/>
                <a:gd name="connsiteX3" fmla="*/ 51673 w 106385"/>
                <a:gd name="connsiteY3" fmla="*/ 62311 h 194533"/>
                <a:gd name="connsiteX4" fmla="*/ 82069 w 106385"/>
                <a:gd name="connsiteY4" fmla="*/ 31916 h 194533"/>
                <a:gd name="connsiteX5" fmla="*/ 92707 w 106385"/>
                <a:gd name="connsiteY5" fmla="*/ 33435 h 194533"/>
                <a:gd name="connsiteX6" fmla="*/ 98786 w 106385"/>
                <a:gd name="connsiteY6" fmla="*/ 33435 h 194533"/>
                <a:gd name="connsiteX7" fmla="*/ 106385 w 106385"/>
                <a:gd name="connsiteY7" fmla="*/ 4559 h 194533"/>
                <a:gd name="connsiteX8" fmla="*/ 103346 w 106385"/>
                <a:gd name="connsiteY8" fmla="*/ 3040 h 194533"/>
                <a:gd name="connsiteX9" fmla="*/ 83588 w 106385"/>
                <a:gd name="connsiteY9" fmla="*/ 0 h 194533"/>
                <a:gd name="connsiteX10" fmla="*/ 22797 w 106385"/>
                <a:gd name="connsiteY10" fmla="*/ 62311 h 194533"/>
                <a:gd name="connsiteX11" fmla="*/ 41034 w 106385"/>
                <a:gd name="connsiteY11" fmla="*/ 106385 h 194533"/>
                <a:gd name="connsiteX12" fmla="*/ 0 w 106385"/>
                <a:gd name="connsiteY12" fmla="*/ 179335 h 194533"/>
                <a:gd name="connsiteX13" fmla="*/ 15198 w 106385"/>
                <a:gd name="connsiteY13" fmla="*/ 194533 h 194533"/>
                <a:gd name="connsiteX14" fmla="*/ 30396 w 106385"/>
                <a:gd name="connsiteY14" fmla="*/ 179335 h 194533"/>
                <a:gd name="connsiteX15" fmla="*/ 85108 w 106385"/>
                <a:gd name="connsiteY15" fmla="*/ 124623 h 194533"/>
                <a:gd name="connsiteX16" fmla="*/ 98786 w 106385"/>
                <a:gd name="connsiteY16" fmla="*/ 115504 h 19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6385" h="194533">
                  <a:moveTo>
                    <a:pt x="97267" y="113984"/>
                  </a:moveTo>
                  <a:cubicBezTo>
                    <a:pt x="97267" y="113984"/>
                    <a:pt x="97267" y="109425"/>
                    <a:pt x="97267" y="107905"/>
                  </a:cubicBezTo>
                  <a:cubicBezTo>
                    <a:pt x="97267" y="98786"/>
                    <a:pt x="89668" y="92707"/>
                    <a:pt x="82069" y="92707"/>
                  </a:cubicBezTo>
                  <a:cubicBezTo>
                    <a:pt x="65351" y="92707"/>
                    <a:pt x="51673" y="79029"/>
                    <a:pt x="51673" y="62311"/>
                  </a:cubicBezTo>
                  <a:cubicBezTo>
                    <a:pt x="51673" y="45594"/>
                    <a:pt x="65351" y="31916"/>
                    <a:pt x="82069" y="31916"/>
                  </a:cubicBezTo>
                  <a:cubicBezTo>
                    <a:pt x="85108" y="31916"/>
                    <a:pt x="88148" y="31916"/>
                    <a:pt x="92707" y="33435"/>
                  </a:cubicBezTo>
                  <a:cubicBezTo>
                    <a:pt x="94227" y="33435"/>
                    <a:pt x="97267" y="33435"/>
                    <a:pt x="98786" y="33435"/>
                  </a:cubicBezTo>
                  <a:cubicBezTo>
                    <a:pt x="98786" y="22797"/>
                    <a:pt x="101826" y="13678"/>
                    <a:pt x="106385" y="4559"/>
                  </a:cubicBezTo>
                  <a:cubicBezTo>
                    <a:pt x="106385" y="4559"/>
                    <a:pt x="104866" y="4559"/>
                    <a:pt x="103346" y="3040"/>
                  </a:cubicBezTo>
                  <a:cubicBezTo>
                    <a:pt x="97267" y="0"/>
                    <a:pt x="89668" y="0"/>
                    <a:pt x="83588" y="0"/>
                  </a:cubicBezTo>
                  <a:cubicBezTo>
                    <a:pt x="50153" y="0"/>
                    <a:pt x="22797" y="27356"/>
                    <a:pt x="22797" y="62311"/>
                  </a:cubicBezTo>
                  <a:cubicBezTo>
                    <a:pt x="22797" y="79029"/>
                    <a:pt x="30396" y="94227"/>
                    <a:pt x="41034" y="106385"/>
                  </a:cubicBezTo>
                  <a:cubicBezTo>
                    <a:pt x="16718" y="121583"/>
                    <a:pt x="0" y="148939"/>
                    <a:pt x="0" y="179335"/>
                  </a:cubicBezTo>
                  <a:cubicBezTo>
                    <a:pt x="0" y="188454"/>
                    <a:pt x="7599" y="194533"/>
                    <a:pt x="15198" y="194533"/>
                  </a:cubicBezTo>
                  <a:cubicBezTo>
                    <a:pt x="22797" y="194533"/>
                    <a:pt x="30396" y="186934"/>
                    <a:pt x="30396" y="179335"/>
                  </a:cubicBezTo>
                  <a:cubicBezTo>
                    <a:pt x="30396" y="148939"/>
                    <a:pt x="54712" y="124623"/>
                    <a:pt x="85108" y="124623"/>
                  </a:cubicBezTo>
                  <a:cubicBezTo>
                    <a:pt x="91187" y="124623"/>
                    <a:pt x="97267" y="120063"/>
                    <a:pt x="98786" y="115504"/>
                  </a:cubicBezTo>
                  <a:close/>
                </a:path>
              </a:pathLst>
            </a:custGeom>
            <a:grpFill/>
            <a:ln w="1476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4390608" y="4732848"/>
            <a:ext cx="1426845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4000" b="0" i="0">
                <a:solidFill>
                  <a:srgbClr val="374151"/>
                </a:solidFill>
                <a:effectLst/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90204" pitchFamily="34" charset="0"/>
              </a:rPr>
              <a:t>汇报人：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90204" pitchFamily="34" charset="0"/>
              </a:rPr>
              <a:t>黄卓谌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9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547980" y="4732848"/>
            <a:ext cx="1426845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4000" b="0" i="0">
                <a:solidFill>
                  <a:srgbClr val="374151"/>
                </a:solidFill>
                <a:effectLst/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90204" pitchFamily="34" charset="0"/>
              </a:rPr>
              <a:t>指导老师：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90204" pitchFamily="34" charset="0"/>
              </a:rPr>
              <a:t>彭鑫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90204" pitchFamily="34" charset="0"/>
            </a:endParaRPr>
          </a:p>
        </p:txBody>
      </p:sp>
      <p:sp>
        <p:nvSpPr>
          <p:cNvPr id="3" name="Text 6"/>
          <p:cNvSpPr/>
          <p:nvPr/>
        </p:nvSpPr>
        <p:spPr>
          <a:xfrm>
            <a:off x="4390230" y="4239379"/>
            <a:ext cx="3420428" cy="417909"/>
          </a:xfrm>
          <a:prstGeom prst="rect">
            <a:avLst/>
          </a:prstGeom>
          <a:noFill/>
        </p:spPr>
        <p:txBody>
          <a:bodyPr wrap="square" lIns="50800" tIns="25400" rIns="50800" bIns="25400" rtlCol="0" anchor="t"/>
          <a:p>
            <a:pPr marL="0" indent="0" algn="ctr">
              <a:lnSpc>
                <a:spcPts val="1600"/>
              </a:lnSpc>
              <a:buNone/>
              <a:defRPr sz="1200" b="0">
                <a:solidFill>
                  <a:srgbClr val="213448"/>
                </a:solidFill>
                <a:latin typeface="微软雅黑"/>
              </a:defRPr>
            </a:pPr>
            <a:r>
              <a:rPr sz="1500" b="0">
                <a:solidFill>
                  <a:srgbClr val="485D6A"/>
                </a:solidFill>
                <a:latin typeface="PingFang SC" panose="020B0400000000000000" charset="-122"/>
              </a:rPr>
              <a:t>后续将围绕查询优化器、执行引擎、Bundle 重排与系统化评测继续推进。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375920" y="6399530"/>
            <a:ext cx="11816080" cy="447040"/>
          </a:xfrm>
          <a:prstGeom prst="rect">
            <a:avLst/>
          </a:prstGeom>
          <a:solidFill>
            <a:srgbClr val="2E7E94"/>
          </a:solidFill>
          <a:ln>
            <a:solidFill>
              <a:srgbClr val="2E7E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p>
            <a:pPr algn="l"/>
            <a:r>
              <a:rPr sz="900" b="0">
                <a:solidFill>
                  <a:srgbClr val="FFFFFF"/>
                </a:solidFill>
                <a:latin typeface="PingFang SC" panose="020B0400000000000000" charset="-122"/>
              </a:rPr>
              <a:t>|  18</a:t>
            </a:r>
            <a:endParaRPr kumimoji="1"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#607880;"/>
</p:tagLst>
</file>

<file path=ppt/tags/tag2.xml><?xml version="1.0" encoding="utf-8"?>
<p:tagLst xmlns:p="http://schemas.openxmlformats.org/presentationml/2006/main">
  <p:tag name="ISLIDE.DIAGRAM" val="#652351;"/>
  <p:tag name="ISLIDE.ICON" val="#134866;#8493;#151850;#167798;#152190;#166610;#67520;"/>
</p:tagLst>
</file>

<file path=ppt/tags/tag3.xml><?xml version="1.0" encoding="utf-8"?>
<p:tagLst xmlns:p="http://schemas.openxmlformats.org/presentationml/2006/main">
  <p:tag name="ISLIDE.DIAGRAM" val="#577152;"/>
  <p:tag name="ISLIDE.ICON" val="#41814;#167613;#168399;#135270;#152539;"/>
</p:tagLst>
</file>

<file path=ppt/tags/tag4.xml><?xml version="1.0" encoding="utf-8"?>
<p:tagLst xmlns:p="http://schemas.openxmlformats.org/presentationml/2006/main">
  <p:tag name="ISLIDE.DIAGRAM" val="#462296;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3F84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4463</Words>
  <Application>WPS 演示</Application>
  <PresentationFormat>宽屏</PresentationFormat>
  <Paragraphs>442</Paragraphs>
  <Slides>18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</vt:lpstr>
      <vt:lpstr>微软雅黑</vt:lpstr>
      <vt:lpstr>PingFang SC</vt:lpstr>
      <vt:lpstr>Calibri</vt:lpstr>
      <vt:lpstr>Helvetica Neue</vt:lpstr>
      <vt:lpstr>宋体</vt:lpstr>
      <vt:lpstr>汉仪书宋二KW</vt:lpstr>
      <vt:lpstr>Arial Unicode MS</vt:lpstr>
      <vt:lpstr>等线</vt:lpstr>
      <vt:lpstr>汉仪中等线KW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论文答辩报告</dc:title>
  <dc:creator>辉强 林</dc:creator>
  <cp:keywords>校神网原创版权模板</cp:keywords>
  <dc:description>www.pptgenius.com</dc:description>
  <cp:lastModifiedBy>黄卓谌</cp:lastModifiedBy>
  <cp:revision>517</cp:revision>
  <dcterms:created xsi:type="dcterms:W3CDTF">2026-06-12T17:54:56Z</dcterms:created>
  <dcterms:modified xsi:type="dcterms:W3CDTF">2026-06-12T17:54:56Z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1597B7EE490E2A31B9A5126A41FC59A5</vt:lpwstr>
  </property>
  <property fmtid="{D5CDD505-2E9C-101B-9397-08002B2CF9AE}" pid="3" name="KSOProductBuildVer">
    <vt:lpwstr>2052-12.1.26016.26016</vt:lpwstr>
  </property>
</Properties>
</file>