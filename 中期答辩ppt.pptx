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2"/>
  </p:handoutMasterIdLst>
  <p:sldIdLst>
    <p:sldId id="256" r:id="rId3"/>
    <p:sldId id="287" r:id="rId5"/>
    <p:sldId id="288" r:id="rId6"/>
    <p:sldId id="289" r:id="rId7"/>
    <p:sldId id="296" r:id="rId8"/>
    <p:sldId id="847" r:id="rId9"/>
    <p:sldId id="293" r:id="rId10"/>
    <p:sldId id="849" r:id="rId11"/>
    <p:sldId id="791" r:id="rId12"/>
    <p:sldId id="794" r:id="rId13"/>
    <p:sldId id="850" r:id="rId14"/>
    <p:sldId id="795" r:id="rId15"/>
    <p:sldId id="851" r:id="rId16"/>
    <p:sldId id="790" r:id="rId17"/>
    <p:sldId id="852" r:id="rId18"/>
    <p:sldId id="290" r:id="rId19"/>
    <p:sldId id="280" r:id="rId20"/>
    <p:sldId id="28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924"/>
    <a:srgbClr val="BFBFBF"/>
    <a:srgbClr val="2222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60" autoAdjust="0"/>
    <p:restoredTop sz="94660" autoAdjust="0"/>
  </p:normalViewPr>
  <p:slideViewPr>
    <p:cSldViewPr snapToGrid="0">
      <p:cViewPr varScale="1">
        <p:scale>
          <a:sx n="101" d="100"/>
          <a:sy n="101" d="100"/>
        </p:scale>
        <p:origin x="354"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47" d="100"/>
        <a:sy n="47" d="100"/>
      </p:scale>
      <p:origin x="0" y="0"/>
    </p:cViewPr>
  </p:sorterViewPr>
  <p:notesViewPr>
    <p:cSldViewPr snapToGrid="0">
      <p:cViewPr varScale="1">
        <p:scale>
          <a:sx n="81" d="100"/>
          <a:sy n="81" d="100"/>
        </p:scale>
        <p:origin x="3894"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时间开销</c:v>
                </c:pt>
              </c:strCache>
            </c:strRef>
          </c:tx>
          <c:spPr/>
          <c:explosion val="0"/>
          <c:dPt>
            <c:idx val="0"/>
            <c:bubble3D val="0"/>
            <c:spPr>
              <a:solidFill>
                <a:srgbClr val="FFC000"/>
              </a:solidFill>
              <a:ln w="19050">
                <a:solidFill>
                  <a:schemeClr val="lt1"/>
                </a:solidFill>
              </a:ln>
              <a:effectLst/>
            </c:spPr>
          </c:dPt>
          <c:dPt>
            <c:idx val="1"/>
            <c:bubble3D val="0"/>
            <c:spPr>
              <a:solidFill>
                <a:schemeClr val="accent2"/>
              </a:solidFill>
              <a:ln w="19050">
                <a:solidFill>
                  <a:schemeClr val="lt1"/>
                </a:solidFill>
              </a:ln>
              <a:effectLst/>
            </c:spPr>
          </c:dPt>
          <c:dLbls>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理解代码</c:v>
                </c:pt>
                <c:pt idx="1">
                  <c:v>编码、测试、调试等</c:v>
                </c:pt>
              </c:strCache>
            </c:strRef>
          </c:cat>
          <c:val>
            <c:numRef>
              <c:f>Sheet1!$B$2:$B$3</c:f>
              <c:numCache>
                <c:formatCode>0%</c:formatCode>
                <c:ptCount val="2"/>
                <c:pt idx="0">
                  <c:v>0.58</c:v>
                </c:pt>
                <c:pt idx="1">
                  <c:v>0.42</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1CF01E-7679-46AD-BD36-A23A11BF84A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735F92-EA63-496E-83CB-B20A02D636E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23912-F76B-44AA-AEEC-D62510CEF6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025F4-21EF-435D-81ED-3E98BA65D94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各位老师下午好，我是</a:t>
            </a:r>
            <a:r>
              <a:rPr lang="en-US" altLang="zh-CN"/>
              <a:t>24</a:t>
            </a:r>
            <a:r>
              <a:rPr lang="zh-CN" altLang="en-US"/>
              <a:t>级硕士黄卓谌，指导老师是彭鑫老师，我的论文题目是面向软件系统的概念知识抽取，随着软件系统规模和复杂度持续增长，开发者对系统的理解成本不断攀升，本研究尝试构建一种从多源软件工件中抽取并建模概念知识的方法，以辅助软件理解并支撑后续的软件工程活动与下游任务</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本次汇报我将从六个方面展开，</a:t>
            </a:r>
            <a:r>
              <a:rPr lang="en-US" dirty="0">
                <a:sym typeface="+mn-ea"/>
              </a:rPr>
              <a:t>首先介绍</a:t>
            </a:r>
            <a:r>
              <a:rPr lang="zh-CN" altLang="en-US" dirty="0">
                <a:sym typeface="+mn-ea"/>
              </a:rPr>
              <a:t>研究</a:t>
            </a:r>
            <a:r>
              <a:rPr lang="en-US" dirty="0">
                <a:sym typeface="+mn-ea"/>
              </a:rPr>
              <a:t>的背景与</a:t>
            </a:r>
            <a:r>
              <a:rPr lang="zh-CN" altLang="en-US" dirty="0">
                <a:sym typeface="+mn-ea"/>
              </a:rPr>
              <a:t>动机</a:t>
            </a:r>
            <a:r>
              <a:rPr lang="en-US" dirty="0">
                <a:sym typeface="+mn-ea"/>
              </a:rPr>
              <a:t>，分析当前</a:t>
            </a:r>
            <a:r>
              <a:rPr lang="zh-CN" altLang="en-US" dirty="0">
                <a:sym typeface="+mn-ea"/>
              </a:rPr>
              <a:t>软工活动中开发者会面临的一些问题</a:t>
            </a:r>
            <a:r>
              <a:rPr lang="en-US" dirty="0">
                <a:sym typeface="+mn-ea"/>
              </a:rPr>
              <a:t>；接着阐述本研究的核心内容与具体目标；第三部分重点汇报拟采用的</a:t>
            </a:r>
            <a:r>
              <a:rPr lang="en-US" altLang="zh-CN" dirty="0">
                <a:sym typeface="+mn-ea"/>
              </a:rPr>
              <a:t>研究方法</a:t>
            </a:r>
            <a:r>
              <a:rPr lang="zh-CN" altLang="en-US" dirty="0">
                <a:sym typeface="+mn-ea"/>
              </a:rPr>
              <a:t>和</a:t>
            </a:r>
            <a:r>
              <a:rPr lang="en-US" dirty="0" err="1">
                <a:sym typeface="+mn-ea"/>
              </a:rPr>
              <a:t>技术路线；随后展示预期的创新点与成果；最后汇报整个研究的时间规划</a:t>
            </a:r>
            <a:r>
              <a:rPr lang="zh-CN" altLang="en-US" dirty="0" err="1">
                <a:sym typeface="+mn-ea"/>
              </a:rPr>
              <a:t>以及总结和展望</a:t>
            </a:r>
            <a:endParaRPr lang="en-US" dirty="0"/>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认知鸿沟</a:t>
            </a:r>
            <a:r>
              <a:rPr lang="zh-CN" altLang="en-US"/>
              <a:t>开发时间：Xia X, Bao L, Lo D, et al. Measuring program comprehension: A large-scale field study with professionals[J]. IEEE Transactions on Software Engineering, 2017, 44(10): 951-976.</a:t>
            </a:r>
            <a:endParaRPr lang="zh-CN" altLang="en-US"/>
          </a:p>
          <a:p>
            <a:r>
              <a:rPr lang="zh-CN" altLang="en-US"/>
              <a:t>造成这种情况的主要原因之一就是软件系统本身知识的混杂与散步问题，软件系统并非一条简单的代码或算法，而是大量知识的混合体各种接口语义、模块功能等会分散在代码、文档等不同工件内</a:t>
            </a:r>
            <a:endParaRPr lang="zh-CN" altLang="en-US"/>
          </a:p>
          <a:p>
            <a:r>
              <a:rPr lang="zh-CN" altLang="en-US"/>
              <a:t>考虑到这一点，对于软件系统尤其是复杂软件系统进行统一的知识抽象以及建模就很有必要了，它不仅能够帮助开发者更高效的理解软件系统，</a:t>
            </a:r>
            <a:r>
              <a:rPr lang="zh-CN" altLang="en-US">
                <a:sym typeface="+mn-ea"/>
              </a:rPr>
              <a:t>也能够使其他活动更轻松</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当前对软件系统的理解或者分析方法实际上处于</a:t>
            </a:r>
            <a:r>
              <a:rPr lang="zh-CN" altLang="en-US" dirty="0">
                <a:sym typeface="+mn-ea"/>
              </a:rPr>
              <a:t>从人工理解到自动化再到智能化的转型之中</a:t>
            </a:r>
            <a:endParaRPr lang="zh-CN" altLang="en-US"/>
          </a:p>
          <a:p>
            <a:r>
              <a:rPr lang="zh-CN" altLang="en-US"/>
              <a:t>典型的自动化分析方法应该就是基于源码结构的静态分析工具了，他们往往通过生成一些函数调用依赖和控制流图来帮助开发者了解系统在源码层面的依赖关系，停留在代码的结构和控制层面，缺乏对高层语义与领域概念的建模</a:t>
            </a:r>
            <a:endParaRPr lang="zh-CN" altLang="en-US"/>
          </a:p>
          <a:p>
            <a:r>
              <a:rPr lang="zh-CN" altLang="en-US"/>
              <a:t>随着深度学习和神经网络技术的发展，</a:t>
            </a:r>
            <a:endParaRPr lang="zh-CN" altLang="en-US"/>
          </a:p>
          <a:p>
            <a:r>
              <a:rPr lang="zh-CN" altLang="en-US">
                <a:latin typeface="+mn-ea"/>
                <a:sym typeface="+mn-ea"/>
              </a:rPr>
              <a:t>Commun.ACM,2016On the naturalness of software考虑到代码本身就是人类开发的一种语言所以和自然语言必定会有很多相似之处，所以从这个角度来看使用自然语言的处理方法确实能够从代码中提取一定的语义信息</a:t>
            </a:r>
            <a:endParaRPr lang="zh-CN" altLang="en-US"/>
          </a:p>
          <a:p>
            <a:r>
              <a:rPr lang="zh-CN" altLang="en-US">
                <a:latin typeface="+mn-ea"/>
                <a:sym typeface="+mn-ea"/>
              </a:rPr>
              <a:t>Hu X.et al.,Empirical SE,2020， Hybrid-DeepCom 利用了</a:t>
            </a:r>
            <a:r>
              <a:rPr lang="en-US" altLang="zh-CN">
                <a:latin typeface="+mn-ea"/>
                <a:sym typeface="+mn-ea"/>
              </a:rPr>
              <a:t>nlp</a:t>
            </a:r>
            <a:r>
              <a:rPr lang="zh-CN" altLang="en-US">
                <a:latin typeface="+mn-ea"/>
                <a:sym typeface="+mn-ea"/>
              </a:rPr>
              <a:t>算法搭建</a:t>
            </a:r>
            <a:r>
              <a:rPr lang="zh-CN" altLang="en-US">
                <a:latin typeface="+mn-ea"/>
                <a:sym typeface="+mn-ea"/>
              </a:rPr>
              <a:t>神经网络把注释生成当作机器翻译任务，从而把代码翻译成注释，实现了注释生成任务</a:t>
            </a:r>
            <a:endParaRPr lang="zh-CN" altLang="en-US">
              <a:latin typeface="+mn-ea"/>
            </a:endParaRPr>
          </a:p>
          <a:p>
            <a:r>
              <a:rPr lang="zh-CN" altLang="en-US">
                <a:sym typeface="+mn-ea"/>
              </a:rPr>
              <a:t>算法的</a:t>
            </a:r>
            <a:r>
              <a:rPr lang="en-US" altLang="zh-CN">
                <a:sym typeface="+mn-ea"/>
              </a:rPr>
              <a:t>token</a:t>
            </a:r>
            <a:r>
              <a:rPr lang="zh-CN" altLang="en-US" b="1">
                <a:sym typeface="+mn-ea"/>
              </a:rPr>
              <a:t>不等于</a:t>
            </a:r>
            <a:r>
              <a:rPr lang="zh-CN" altLang="en-US">
                <a:sym typeface="+mn-ea"/>
              </a:rPr>
              <a:t>软件系统的语义，比如在文本相似度上相近甚至完全相同的两个词在软件中的语义不一定相同，如</a:t>
            </a:r>
            <a:r>
              <a:rPr lang="en-US" altLang="zh-CN">
                <a:sym typeface="+mn-ea"/>
              </a:rPr>
              <a:t>page</a:t>
            </a:r>
            <a:r>
              <a:rPr lang="zh-CN" altLang="en-US">
                <a:sym typeface="+mn-ea"/>
              </a:rPr>
              <a:t>既可表示普通的文件页也可能表示分页</a:t>
            </a:r>
            <a:r>
              <a:rPr lang="zh-CN" altLang="en-US">
                <a:sym typeface="+mn-ea"/>
              </a:rPr>
              <a:t>算法</a:t>
            </a:r>
            <a:endParaRPr lang="zh-CN" altLang="en-US">
              <a:sym typeface="+mn-ea"/>
            </a:endParaRPr>
          </a:p>
          <a:p>
            <a:r>
              <a:rPr lang="zh-CN" altLang="en-US">
                <a:sym typeface="+mn-ea"/>
              </a:rPr>
              <a:t>这类工具往往是对当前版本的快照分析，对很多语料都是铺平式的输入给大模型，比如他们没有把文档中抽取得到的实体与代码中具体的函数或类对应，构造相关的映射，这会导致对软件模块的设计与实现的认知</a:t>
            </a:r>
            <a:r>
              <a:rPr lang="zh-CN" altLang="en-US">
                <a:sym typeface="+mn-ea"/>
              </a:rPr>
              <a:t>偏差</a:t>
            </a:r>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核心目标就是让软件分析和理解从生成式理解走向概念级建模</a:t>
            </a:r>
            <a:br>
              <a:rPr lang="zh-CN" altLang="en-US">
                <a:sym typeface="+mn-ea"/>
              </a:rPr>
            </a:br>
            <a:r>
              <a:rPr lang="zh-CN" altLang="en-US">
                <a:sym typeface="+mn-ea"/>
              </a:rPr>
              <a:t>概念知识库不仅仅需要概念数量多和范围广，更重要的是</a:t>
            </a:r>
            <a:r>
              <a:rPr lang="zh-CN" altLang="en-US"/>
              <a:t>覆盖软件系统核心功能与体现开发者的设计意图与代码实现的绑定，所以需要从源码与文档等多源软件工件中自动抽取概念实体，并基于其实现位置、语义角色和抽象层级进行统一建模，体现出概念间的包含、依赖</a:t>
            </a:r>
            <a:r>
              <a:rPr lang="zh-CN" altLang="en-US"/>
              <a:t>等关系，形成超越教材或百科式描述的、与实际代码强关联的分层概念体系由此达到定义与实现的绑定的目的</a:t>
            </a:r>
            <a:endParaRPr lang="zh-CN" altLang="en-US"/>
          </a:p>
          <a:p>
            <a:r>
              <a:rPr lang="zh-CN" altLang="en-US"/>
              <a:t>构建概念文档和代码的多重</a:t>
            </a:r>
            <a:r>
              <a:rPr lang="zh-CN" altLang="en-US"/>
              <a:t>映射关系，使开发者能够从抽象概念快速定位相关代码实现，或从具体代码标识符追溯其设计意图与文档描述，除此之外知识库应该随着软件的演化不断更新，确保与软件系统的实时匹配，因此支持数据集构建（概念级标注），自动文档生成与补全，缺陷定位与漏洞分析等一系列</a:t>
            </a:r>
            <a:r>
              <a:rPr lang="zh-CN" altLang="en-US"/>
              <a:t>下游任务</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微软雅黑" panose="020B0503020204020204" pitchFamily="34" charset="-122"/>
              </a:rPr>
              <a:t>1.linux</a:t>
            </a:r>
            <a:r>
              <a:rPr lang="zh-CN" altLang="en-US" dirty="0">
                <a:sym typeface="微软雅黑" panose="020B0503020204020204" pitchFamily="34" charset="-122"/>
              </a:rPr>
              <a:t>的</a:t>
            </a:r>
            <a:r>
              <a:rPr lang="zh-CN" altLang="en-US" dirty="0">
                <a:sym typeface="微软雅黑" panose="020B0503020204020204" pitchFamily="34" charset="-122"/>
              </a:rPr>
              <a:t>高度复杂化能很好的验证方法的可行性、系统性、可扩展性</a:t>
            </a:r>
            <a:endParaRPr lang="en-US" altLang="zh-CN" dirty="0">
              <a:sym typeface="微软雅黑" panose="020B0503020204020204" pitchFamily="34" charset="-122"/>
            </a:endParaRPr>
          </a:p>
          <a:p>
            <a:r>
              <a:rPr lang="en-US" altLang="zh-CN" dirty="0">
                <a:sym typeface="微软雅黑" panose="020B0503020204020204" pitchFamily="34" charset="-122"/>
              </a:rPr>
              <a:t>2.linux</a:t>
            </a:r>
            <a:r>
              <a:rPr lang="zh-CN" altLang="en-US" dirty="0">
                <a:sym typeface="微软雅黑" panose="020B0503020204020204" pitchFamily="34" charset="-122"/>
              </a:rPr>
              <a:t>中的概念知识高度分散，一个功能通常需要多个代码文件实现，</a:t>
            </a:r>
            <a:r>
              <a:rPr lang="zh-CN" dirty="0">
                <a:sym typeface="微软雅黑" panose="020B0503020204020204" pitchFamily="34" charset="-122"/>
              </a:rPr>
              <a:t>且单个概念 ≠ 单一文件，也 ≠ 单一函数，而是横跨代码与文档的多维抽象知识，</a:t>
            </a:r>
            <a:r>
              <a:rPr lang="zh-CN" altLang="en-US" dirty="0">
                <a:sym typeface="微软雅黑" panose="020B0503020204020204" pitchFamily="34" charset="-122"/>
              </a:rPr>
              <a:t>这</a:t>
            </a:r>
            <a:r>
              <a:rPr lang="zh-CN" altLang="en-US" dirty="0">
                <a:sym typeface="微软雅黑" panose="020B0503020204020204" pitchFamily="34" charset="-122"/>
              </a:rPr>
              <a:t>正需要多源概念抽取与统一建模</a:t>
            </a:r>
            <a:endParaRPr lang="zh-CN" altLang="en-US" dirty="0">
              <a:sym typeface="微软雅黑" panose="020B0503020204020204" pitchFamily="34" charset="-122"/>
            </a:endParaRPr>
          </a:p>
          <a:p>
            <a:r>
              <a:rPr lang="en-US" altLang="zh-CN" dirty="0">
                <a:sym typeface="微软雅黑" panose="020B0503020204020204" pitchFamily="34" charset="-122"/>
              </a:rPr>
              <a:t>3</a:t>
            </a:r>
            <a:r>
              <a:rPr lang="zh-CN" altLang="en-US" dirty="0">
                <a:sym typeface="微软雅黑" panose="020B0503020204020204" pitchFamily="34" charset="-122"/>
              </a:rPr>
              <a:t>，</a:t>
            </a:r>
            <a:r>
              <a:rPr lang="en-US" altLang="zh-CN" dirty="0">
                <a:sym typeface="微软雅黑" panose="020B0503020204020204" pitchFamily="34" charset="-122"/>
              </a:rPr>
              <a:t>4.Linux 内核拥有庞大的用户基础和活跃的开发者社区，长期部署于关键基础设施中，其架构与实现经历了真实复杂场景的持续检验，代表了高质量、强约束的软件系统形态</a:t>
            </a:r>
            <a:r>
              <a:rPr lang="zh-CN" altLang="en-US" dirty="0">
                <a:sym typeface="微软雅黑" panose="020B0503020204020204" pitchFamily="34" charset="-122"/>
              </a:rPr>
              <a:t>，所以他也</a:t>
            </a:r>
            <a:r>
              <a:rPr lang="en-US" altLang="zh-CN" dirty="0">
                <a:sym typeface="微软雅黑" panose="020B0503020204020204" pitchFamily="34" charset="-122"/>
              </a:rPr>
              <a:t>是软件工程领域中广泛采用的研究对象和实验基准系统，</a:t>
            </a:r>
            <a:r>
              <a:rPr lang="zh-CN" altLang="en-US" dirty="0">
                <a:sym typeface="微软雅黑" panose="020B0503020204020204" pitchFamily="34" charset="-122"/>
              </a:rPr>
              <a:t>并且如果一个方法能够在 Linux 内核这样一个被长期、广泛使用和严格维护的软件系统上有效工作，并</a:t>
            </a:r>
            <a:r>
              <a:rPr lang="zh-CN" altLang="en-US" dirty="0">
                <a:sym typeface="微软雅黑" panose="020B0503020204020204" pitchFamily="34" charset="-122"/>
              </a:rPr>
              <a:t>为一系列面向 Linux 内核的后续研究提供统一、结构化的知识基础，那么它在其他复杂软件系统中的适用性也具有较强说服力</a:t>
            </a:r>
            <a:endParaRPr lang="zh-CN" altLang="en-US" dirty="0">
              <a:sym typeface="微软雅黑"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路线一：利用静态分析工具（如CTags、Joern）解析 Linux Kernel 源码，系统性地抽取函数、结构体、宏、全局变量等程序实体，确保获得高质量的有效代码标识符概念，在获取源码层面的概念抽取结果后，从官方内核文档、man pages、Wiki 及邮件列表等工件中抽取领域术语，并通过语义</a:t>
            </a:r>
            <a:r>
              <a:rPr lang="zh-CN" altLang="en-US"/>
              <a:t>匹配与上下文相似度分析，</a:t>
            </a:r>
            <a:r>
              <a:rPr lang="zh-CN" altLang="en-US"/>
              <a:t>并对同时在源码和文档中出现、或可通过语义对齐建立对应关系的概念给予更高置信度。</a:t>
            </a:r>
            <a:endParaRPr lang="zh-CN" altLang="en-US"/>
          </a:p>
          <a:p>
            <a:r>
              <a:rPr lang="zh-CN" altLang="en-US"/>
              <a:t>路线二：</a:t>
            </a:r>
            <a:r>
              <a:rPr lang="en-US" altLang="zh-CN"/>
              <a:t>c1:同一系统概念可能以不同命名形式出现，如缩写与全称、历史命名与当前命名、代码命名与文档术语不一致等，给概念去重带来困难 c2:在复杂软件系统中，不同模块可能使用相同或相似名称表示不同概念</a:t>
            </a:r>
            <a:r>
              <a:rPr lang="zh-CN" altLang="en-US"/>
              <a:t>，很</a:t>
            </a:r>
            <a:r>
              <a:rPr lang="en-US" altLang="zh-CN"/>
              <a:t>容易造成错误合并</a:t>
            </a:r>
            <a:endParaRPr lang="en-US" altLang="zh-CN"/>
          </a:p>
          <a:p>
            <a:r>
              <a:rPr lang="zh-CN" altLang="en-US"/>
              <a:t>路线三：</a:t>
            </a:r>
            <a:r>
              <a:rPr lang="en-US" altLang="zh-CN"/>
              <a:t>c1:软件系统中的概念关系不仅包括显式的调用和依赖，还包含</a:t>
            </a:r>
            <a:r>
              <a:rPr lang="zh-CN" altLang="en-US"/>
              <a:t>许多</a:t>
            </a:r>
            <a:r>
              <a:rPr lang="en-US" altLang="zh-CN"/>
              <a:t>设计层面的关联，这些关系往往难以直接</a:t>
            </a:r>
            <a:r>
              <a:rPr lang="zh-CN" altLang="en-US"/>
              <a:t>从单一工件识别和抽取，</a:t>
            </a:r>
            <a:r>
              <a:rPr lang="en-US" altLang="zh-CN"/>
              <a:t>c2:现有工具多以“代码为中心”或“文档为中心”</a:t>
            </a:r>
            <a:r>
              <a:rPr lang="zh-CN" altLang="en-US"/>
              <a:t>，忽略概念本身的重要性，以概念为中心将其设计文档和实现代码连接是一种更好的</a:t>
            </a:r>
            <a:r>
              <a:rPr lang="zh-CN" altLang="en-US"/>
              <a:t>选择</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确保设计意图和代码实现真实绑定，很好的支持基于概念在其他软件工件中定位其设计意图或实现</a:t>
            </a:r>
            <a:endParaRPr lang="zh-CN" altLang="en-US"/>
          </a:p>
          <a:p>
            <a:r>
              <a:rPr lang="zh-CN" altLang="en-US"/>
              <a:t>本文方法不同于基于版本快照生成一次性理解的方法，本文的概念知识库应该随着软件的演化实时更新，确保概念知识与软件版本的匹配，并且对于不同的软件系统都应该提供可复用的抽取范式</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计划按以上阶段推进，前期主要是方法调研阶段，主要学习一些现有的概念抽象与实体抽取方法，随后开始完善本文的方法体系，明确各部分的技术路线，并广泛实验收集数据，最后完成论文并准备答辩工作</a:t>
            </a:r>
            <a:endParaRPr lang="zh-CN" altLang="en-US"/>
          </a:p>
        </p:txBody>
      </p:sp>
      <p:sp>
        <p:nvSpPr>
          <p:cNvPr id="4" name="灯片编号占位符 3"/>
          <p:cNvSpPr>
            <a:spLocks noGrp="1"/>
          </p:cNvSpPr>
          <p:nvPr>
            <p:ph type="sldNum" sz="quarter" idx="10"/>
          </p:nvPr>
        </p:nvSpPr>
        <p:spPr/>
        <p:txBody>
          <a:bodyPr/>
          <a:lstStyle/>
          <a:p>
            <a:fld id="{FD1E3519-AA41-4C8F-81B1-98F81BDCD14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包含现有的一些软件系统的理解方法以及如何利用和抽取不同软件工件的知识</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microsoft.com/office/2007/relationships/hdphoto" Target="../media/image3.wdp"/><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b="36641"/>
          <a:stretch>
            <a:fillRect/>
          </a:stretch>
        </p:blipFill>
        <p:spPr>
          <a:xfrm>
            <a:off x="0" y="0"/>
            <a:ext cx="12192000" cy="4379495"/>
          </a:xfrm>
          <a:custGeom>
            <a:avLst/>
            <a:gdLst>
              <a:gd name="connsiteX0" fmla="*/ 0 w 12192000"/>
              <a:gd name="connsiteY0" fmla="*/ 0 h 4379495"/>
              <a:gd name="connsiteX1" fmla="*/ 12192000 w 12192000"/>
              <a:gd name="connsiteY1" fmla="*/ 0 h 4379495"/>
              <a:gd name="connsiteX2" fmla="*/ 12192000 w 12192000"/>
              <a:gd name="connsiteY2" fmla="*/ 3783931 h 4379495"/>
              <a:gd name="connsiteX3" fmla="*/ 11450408 w 12192000"/>
              <a:gd name="connsiteY3" fmla="*/ 3921789 h 4379495"/>
              <a:gd name="connsiteX4" fmla="*/ 6096001 w 12192000"/>
              <a:gd name="connsiteY4" fmla="*/ 4379495 h 4379495"/>
              <a:gd name="connsiteX5" fmla="*/ 0 w 12192000"/>
              <a:gd name="connsiteY5" fmla="*/ 3783931 h 4379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379495">
                <a:moveTo>
                  <a:pt x="0" y="0"/>
                </a:moveTo>
                <a:lnTo>
                  <a:pt x="12192000" y="0"/>
                </a:lnTo>
                <a:lnTo>
                  <a:pt x="12192000" y="3783931"/>
                </a:lnTo>
                <a:lnTo>
                  <a:pt x="11450408" y="3921789"/>
                </a:lnTo>
                <a:cubicBezTo>
                  <a:pt x="9712586" y="4222897"/>
                  <a:pt x="7923339" y="4379495"/>
                  <a:pt x="6096001" y="4379495"/>
                </a:cubicBezTo>
                <a:cubicBezTo>
                  <a:pt x="4007614" y="4379495"/>
                  <a:pt x="1968980" y="4173754"/>
                  <a:pt x="0" y="3783931"/>
                </a:cubicBezTo>
                <a:close/>
              </a:path>
            </a:pathLst>
          </a:custGeom>
        </p:spPr>
      </p:pic>
      <p:sp>
        <p:nvSpPr>
          <p:cNvPr id="5" name="任意多边形: 形状 4"/>
          <p:cNvSpPr/>
          <p:nvPr userDrawn="1"/>
        </p:nvSpPr>
        <p:spPr>
          <a:xfrm>
            <a:off x="0" y="0"/>
            <a:ext cx="12192000" cy="4379494"/>
          </a:xfrm>
          <a:custGeom>
            <a:avLst/>
            <a:gdLst>
              <a:gd name="connsiteX0" fmla="*/ 0 w 12194487"/>
              <a:gd name="connsiteY0" fmla="*/ 0 h 4379494"/>
              <a:gd name="connsiteX1" fmla="*/ 0 w 12194487"/>
              <a:gd name="connsiteY1" fmla="*/ 3783931 h 4379494"/>
              <a:gd name="connsiteX2" fmla="*/ 6097244 w 12194487"/>
              <a:gd name="connsiteY2" fmla="*/ 4379495 h 4379494"/>
              <a:gd name="connsiteX3" fmla="*/ 12194488 w 12194487"/>
              <a:gd name="connsiteY3" fmla="*/ 3783931 h 4379494"/>
              <a:gd name="connsiteX4" fmla="*/ 12194488 w 12194487"/>
              <a:gd name="connsiteY4" fmla="*/ 0 h 4379494"/>
              <a:gd name="connsiteX5" fmla="*/ 0 w 12194487"/>
              <a:gd name="connsiteY5" fmla="*/ 0 h 437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4487" h="4379494">
                <a:moveTo>
                  <a:pt x="0" y="0"/>
                </a:moveTo>
                <a:lnTo>
                  <a:pt x="0" y="3783931"/>
                </a:lnTo>
                <a:cubicBezTo>
                  <a:pt x="1969381" y="4173754"/>
                  <a:pt x="4008431" y="4379495"/>
                  <a:pt x="6097244" y="4379495"/>
                </a:cubicBezTo>
                <a:cubicBezTo>
                  <a:pt x="8186057" y="4379495"/>
                  <a:pt x="10225107" y="4174958"/>
                  <a:pt x="12194488" y="3783931"/>
                </a:cubicBezTo>
                <a:lnTo>
                  <a:pt x="12194488" y="0"/>
                </a:lnTo>
                <a:lnTo>
                  <a:pt x="0" y="0"/>
                </a:lnTo>
                <a:close/>
              </a:path>
            </a:pathLst>
          </a:custGeom>
          <a:solidFill>
            <a:schemeClr val="accent1">
              <a:alpha val="85000"/>
            </a:schemeClr>
          </a:solidFill>
          <a:ln w="124408" cap="flat">
            <a:noFill/>
            <a:prstDash val="solid"/>
            <a:miter/>
          </a:ln>
        </p:spPr>
        <p:txBody>
          <a:bodyPr rtlCol="0" anchor="ctr"/>
          <a:lstStyle/>
          <a:p>
            <a:endParaRPr lang="zh-CN" altLang="en-US" dirty="0"/>
          </a:p>
        </p:txBody>
      </p:sp>
      <p:sp>
        <p:nvSpPr>
          <p:cNvPr id="10" name="任意多边形: 形状 9"/>
          <p:cNvSpPr/>
          <p:nvPr userDrawn="1"/>
        </p:nvSpPr>
        <p:spPr>
          <a:xfrm>
            <a:off x="1155700" y="833663"/>
            <a:ext cx="9880600" cy="4986565"/>
          </a:xfrm>
          <a:custGeom>
            <a:avLst/>
            <a:gdLst>
              <a:gd name="connsiteX0" fmla="*/ 8813284 w 9880600"/>
              <a:gd name="connsiteY0" fmla="*/ 0 h 4986565"/>
              <a:gd name="connsiteX1" fmla="*/ 9191737 w 9880600"/>
              <a:gd name="connsiteY1" fmla="*/ 156760 h 4986565"/>
              <a:gd name="connsiteX2" fmla="*/ 9244274 w 9880600"/>
              <a:gd name="connsiteY2" fmla="*/ 220436 h 4986565"/>
              <a:gd name="connsiteX3" fmla="*/ 9804771 w 9880600"/>
              <a:gd name="connsiteY3" fmla="*/ 220436 h 4986565"/>
              <a:gd name="connsiteX4" fmla="*/ 9880600 w 9880600"/>
              <a:gd name="connsiteY4" fmla="*/ 296265 h 4986565"/>
              <a:gd name="connsiteX5" fmla="*/ 9880600 w 9880600"/>
              <a:gd name="connsiteY5" fmla="*/ 4910736 h 4986565"/>
              <a:gd name="connsiteX6" fmla="*/ 9804771 w 9880600"/>
              <a:gd name="connsiteY6" fmla="*/ 4986565 h 4986565"/>
              <a:gd name="connsiteX7" fmla="*/ 75829 w 9880600"/>
              <a:gd name="connsiteY7" fmla="*/ 4986565 h 4986565"/>
              <a:gd name="connsiteX8" fmla="*/ 0 w 9880600"/>
              <a:gd name="connsiteY8" fmla="*/ 4910736 h 4986565"/>
              <a:gd name="connsiteX9" fmla="*/ 0 w 9880600"/>
              <a:gd name="connsiteY9" fmla="*/ 296265 h 4986565"/>
              <a:gd name="connsiteX10" fmla="*/ 75829 w 9880600"/>
              <a:gd name="connsiteY10" fmla="*/ 220436 h 4986565"/>
              <a:gd name="connsiteX11" fmla="*/ 8382294 w 9880600"/>
              <a:gd name="connsiteY11" fmla="*/ 220436 h 4986565"/>
              <a:gd name="connsiteX12" fmla="*/ 8434831 w 9880600"/>
              <a:gd name="connsiteY12" fmla="*/ 156760 h 4986565"/>
              <a:gd name="connsiteX13" fmla="*/ 8813284 w 9880600"/>
              <a:gd name="connsiteY13" fmla="*/ 0 h 498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80600" h="4986565">
                <a:moveTo>
                  <a:pt x="8813284" y="0"/>
                </a:moveTo>
                <a:cubicBezTo>
                  <a:pt x="8961079" y="0"/>
                  <a:pt x="9094882" y="59906"/>
                  <a:pt x="9191737" y="156760"/>
                </a:cubicBezTo>
                <a:lnTo>
                  <a:pt x="9244274" y="220436"/>
                </a:lnTo>
                <a:lnTo>
                  <a:pt x="9804771" y="220436"/>
                </a:lnTo>
                <a:cubicBezTo>
                  <a:pt x="9846650" y="220436"/>
                  <a:pt x="9880600" y="254386"/>
                  <a:pt x="9880600" y="296265"/>
                </a:cubicBezTo>
                <a:lnTo>
                  <a:pt x="9880600" y="4910736"/>
                </a:lnTo>
                <a:cubicBezTo>
                  <a:pt x="9880600" y="4952615"/>
                  <a:pt x="9846650" y="4986565"/>
                  <a:pt x="9804771" y="4986565"/>
                </a:cubicBezTo>
                <a:lnTo>
                  <a:pt x="75829" y="4986565"/>
                </a:lnTo>
                <a:cubicBezTo>
                  <a:pt x="33950" y="4986565"/>
                  <a:pt x="0" y="4952615"/>
                  <a:pt x="0" y="4910736"/>
                </a:cubicBezTo>
                <a:lnTo>
                  <a:pt x="0" y="296265"/>
                </a:lnTo>
                <a:cubicBezTo>
                  <a:pt x="0" y="254386"/>
                  <a:pt x="33950" y="220436"/>
                  <a:pt x="75829" y="220436"/>
                </a:cubicBezTo>
                <a:lnTo>
                  <a:pt x="8382294" y="220436"/>
                </a:lnTo>
                <a:lnTo>
                  <a:pt x="8434831" y="156760"/>
                </a:lnTo>
                <a:cubicBezTo>
                  <a:pt x="8531686" y="59906"/>
                  <a:pt x="8665489" y="0"/>
                  <a:pt x="8813284" y="0"/>
                </a:cubicBezTo>
                <a:close/>
              </a:path>
            </a:pathLst>
          </a:custGeom>
          <a:solidFill>
            <a:schemeClr val="bg1"/>
          </a:solidFill>
          <a:ln w="19050">
            <a:solidFill>
              <a:schemeClr val="accent1"/>
            </a:solidFill>
          </a:ln>
          <a:effectLst>
            <a:outerShdw blurRad="254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userDrawn="1"/>
        </p:nvPicPr>
        <p:blipFill rotWithShape="1">
          <a:blip r:embed="rId3">
            <a:alphaModFix amt="22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1159" t="15006" r="11159" b="45391"/>
          <a:stretch>
            <a:fillRect/>
          </a:stretch>
        </p:blipFill>
        <p:spPr>
          <a:xfrm>
            <a:off x="1173480" y="1786519"/>
            <a:ext cx="9845041" cy="4025355"/>
          </a:xfrm>
          <a:prstGeom prst="rect">
            <a:avLst/>
          </a:prstGeom>
        </p:spPr>
      </p:pic>
      <p:pic>
        <p:nvPicPr>
          <p:cNvPr id="11" name="logo"/>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551340" y="951232"/>
            <a:ext cx="835288" cy="835288"/>
          </a:xfrm>
          <a:prstGeom prst="rect">
            <a:avLst/>
          </a:prstGeom>
        </p:spPr>
      </p:pic>
      <p:sp>
        <p:nvSpPr>
          <p:cNvPr id="3" name="矩形 2"/>
          <p:cNvSpPr/>
          <p:nvPr userDrawn="1"/>
        </p:nvSpPr>
        <p:spPr>
          <a:xfrm>
            <a:off x="1173480" y="2620183"/>
            <a:ext cx="9845040" cy="2950267"/>
          </a:xfrm>
          <a:prstGeom prst="rect">
            <a:avLst/>
          </a:prstGeom>
          <a:gradFill>
            <a:gsLst>
              <a:gs pos="63000">
                <a:schemeClr val="bg1"/>
              </a:gs>
              <a:gs pos="0">
                <a:schemeClr val="bg1">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17" name="标题 16"/>
          <p:cNvSpPr>
            <a:spLocks noGrp="1"/>
          </p:cNvSpPr>
          <p:nvPr>
            <p:ph type="title"/>
          </p:nvPr>
        </p:nvSpPr>
        <p:spPr>
          <a:xfrm>
            <a:off x="870222" y="192542"/>
            <a:ext cx="10066818" cy="443198"/>
          </a:xfrm>
          <a:prstGeom prst="rect">
            <a:avLst/>
          </a:prstGeom>
          <a:noFill/>
        </p:spPr>
        <p:txBody>
          <a:bodyPr wrap="square" lIns="0" tIns="0" rIns="0" bIns="0" rtlCol="0">
            <a:spAutoFit/>
          </a:bodyPr>
          <a:lstStyle>
            <a:lvl1pPr>
              <a:defRPr lang="zh-CN" altLang="en-US" sz="3200" b="1" dirty="0">
                <a:solidFill>
                  <a:schemeClr val="bg1"/>
                </a:solidFill>
                <a:latin typeface="微软雅黑" panose="020B0503020204020204" pitchFamily="34" charset="-122"/>
                <a:ea typeface="微软雅黑" panose="020B0503020204020204" pitchFamily="34" charset="-122"/>
                <a:cs typeface="+mn-cs"/>
              </a:defRPr>
            </a:lvl1pPr>
          </a:lstStyle>
          <a:p>
            <a:pPr marL="0" lvl="0" defTabSz="457200"/>
            <a:r>
              <a:rPr lang="zh-CN" altLang="en-US" dirty="0"/>
              <a:t>单击此处编辑母版标题样式</a:t>
            </a:r>
            <a:endParaRPr lang="zh-CN" altLang="en-US" dirty="0"/>
          </a:p>
        </p:txBody>
      </p:sp>
      <p:sp>
        <p:nvSpPr>
          <p:cNvPr id="31" name="文本占位符 30"/>
          <p:cNvSpPr>
            <a:spLocks noGrp="1"/>
          </p:cNvSpPr>
          <p:nvPr>
            <p:ph type="body" sz="quarter" idx="11"/>
          </p:nvPr>
        </p:nvSpPr>
        <p:spPr>
          <a:xfrm>
            <a:off x="479425" y="1235748"/>
            <a:ext cx="11233150" cy="2184400"/>
          </a:xfrm>
          <a:prstGeom prst="rect">
            <a:avLst/>
          </a:prstGeom>
        </p:spPr>
        <p:txBody>
          <a:bodyPr vert="horz" lIns="91440" tIns="45720" rIns="91440" bIns="45720" rtlCol="0">
            <a:normAutofit/>
          </a:bodyPr>
          <a:lstStyle>
            <a:lvl1pPr marL="0" indent="0">
              <a:buNone/>
              <a:defRPr lang="zh-CN" altLang="en-US" smtClean="0">
                <a:latin typeface="Arial" panose="020B0604020202020204" pitchFamily="34" charset="0"/>
                <a:ea typeface="微软雅黑" panose="020B0503020204020204" pitchFamily="34" charset="-122"/>
              </a:defRPr>
            </a:lvl1pPr>
            <a:lvl2pPr marL="457200" indent="0">
              <a:buNone/>
              <a:defRPr lang="zh-CN" altLang="en-US" smtClean="0"/>
            </a:lvl2pPr>
            <a:lvl3pPr marL="914400" indent="0">
              <a:buNone/>
              <a:defRPr lang="zh-CN" altLang="en-US" smtClean="0"/>
            </a:lvl3pPr>
            <a:lvl4pPr marL="1371600" indent="0">
              <a:buNone/>
              <a:defRPr lang="zh-CN" altLang="en-US" smtClean="0"/>
            </a:lvl4pPr>
            <a:lvl5pPr marL="1828800" indent="0">
              <a:buNone/>
              <a:defRPr lang="zh-CN" altLang="en-US"/>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排版1">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5" y="1582738"/>
            <a:ext cx="3355975" cy="16779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4418294" y="1582738"/>
            <a:ext cx="3355975" cy="16779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9" name="图片占位符 5"/>
          <p:cNvSpPr>
            <a:spLocks noGrp="1"/>
          </p:cNvSpPr>
          <p:nvPr>
            <p:ph type="pic" sz="quarter" idx="12"/>
          </p:nvPr>
        </p:nvSpPr>
        <p:spPr>
          <a:xfrm>
            <a:off x="8356600" y="1582738"/>
            <a:ext cx="3355975" cy="16779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0" name="标题 9"/>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排版2">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1157968" y="1650617"/>
            <a:ext cx="4635664" cy="1676785"/>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6398369" y="1650617"/>
            <a:ext cx="4658632" cy="1676785"/>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4" name="标题 3"/>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图片排版3">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4" y="1656442"/>
            <a:ext cx="4635664" cy="41637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片排版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78657" y="2766316"/>
            <a:ext cx="2221946" cy="2221946"/>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排版5">
    <p:spTree>
      <p:nvGrpSpPr>
        <p:cNvPr id="1" name=""/>
        <p:cNvGrpSpPr/>
        <p:nvPr/>
      </p:nvGrpSpPr>
      <p:grpSpPr>
        <a:xfrm>
          <a:off x="0" y="0"/>
          <a:ext cx="0" cy="0"/>
          <a:chOff x="0" y="0"/>
          <a:chExt cx="0" cy="0"/>
        </a:xfrm>
      </p:grpSpPr>
      <p:sp>
        <p:nvSpPr>
          <p:cNvPr id="12" name="图片占位符 5"/>
          <p:cNvSpPr>
            <a:spLocks noGrp="1"/>
          </p:cNvSpPr>
          <p:nvPr>
            <p:ph type="pic" sz="quarter" idx="12"/>
          </p:nvPr>
        </p:nvSpPr>
        <p:spPr>
          <a:xfrm>
            <a:off x="9465944" y="1814284"/>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4" name="图片占位符 5"/>
          <p:cNvSpPr>
            <a:spLocks noGrp="1"/>
          </p:cNvSpPr>
          <p:nvPr>
            <p:ph type="pic" sz="quarter" idx="14"/>
          </p:nvPr>
        </p:nvSpPr>
        <p:spPr>
          <a:xfrm>
            <a:off x="7219315" y="3937087"/>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6" name="图片占位符 5"/>
          <p:cNvSpPr>
            <a:spLocks noGrp="1"/>
          </p:cNvSpPr>
          <p:nvPr>
            <p:ph type="pic" sz="quarter" idx="10"/>
          </p:nvPr>
        </p:nvSpPr>
        <p:spPr>
          <a:xfrm>
            <a:off x="479425" y="1814284"/>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1" name="图片占位符 5"/>
          <p:cNvSpPr>
            <a:spLocks noGrp="1"/>
          </p:cNvSpPr>
          <p:nvPr>
            <p:ph type="pic" sz="quarter" idx="11"/>
          </p:nvPr>
        </p:nvSpPr>
        <p:spPr>
          <a:xfrm>
            <a:off x="4972683" y="1814284"/>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3" name="图片占位符 5"/>
          <p:cNvSpPr>
            <a:spLocks noGrp="1"/>
          </p:cNvSpPr>
          <p:nvPr>
            <p:ph type="pic" sz="quarter" idx="13"/>
          </p:nvPr>
        </p:nvSpPr>
        <p:spPr>
          <a:xfrm>
            <a:off x="2726054" y="3937087"/>
            <a:ext cx="2246630" cy="2122803"/>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排版6">
    <p:spTree>
      <p:nvGrpSpPr>
        <p:cNvPr id="1" name=""/>
        <p:cNvGrpSpPr/>
        <p:nvPr/>
      </p:nvGrpSpPr>
      <p:grpSpPr>
        <a:xfrm>
          <a:off x="0" y="0"/>
          <a:ext cx="0" cy="0"/>
          <a:chOff x="0" y="0"/>
          <a:chExt cx="0" cy="0"/>
        </a:xfrm>
      </p:grpSpPr>
      <p:sp>
        <p:nvSpPr>
          <p:cNvPr id="6" name="图片占位符 5"/>
          <p:cNvSpPr>
            <a:spLocks noGrp="1"/>
          </p:cNvSpPr>
          <p:nvPr userDrawn="1">
            <p:ph type="pic" sz="quarter" idx="10"/>
          </p:nvPr>
        </p:nvSpPr>
        <p:spPr>
          <a:xfrm>
            <a:off x="479426" y="1762233"/>
            <a:ext cx="4435319"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userDrawn="1">
            <p:ph type="pic" sz="quarter" idx="11"/>
          </p:nvPr>
        </p:nvSpPr>
        <p:spPr>
          <a:xfrm>
            <a:off x="5020931" y="1762233"/>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3" name="图片占位符 5"/>
          <p:cNvSpPr>
            <a:spLocks noGrp="1"/>
          </p:cNvSpPr>
          <p:nvPr>
            <p:ph type="pic" sz="quarter" idx="12"/>
          </p:nvPr>
        </p:nvSpPr>
        <p:spPr>
          <a:xfrm>
            <a:off x="7283761" y="1762233"/>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4" name="图片占位符 5"/>
          <p:cNvSpPr>
            <a:spLocks noGrp="1"/>
          </p:cNvSpPr>
          <p:nvPr>
            <p:ph type="pic" sz="quarter" idx="13"/>
          </p:nvPr>
        </p:nvSpPr>
        <p:spPr>
          <a:xfrm>
            <a:off x="9546591" y="1762233"/>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5" name="图片占位符 5"/>
          <p:cNvSpPr>
            <a:spLocks noGrp="1"/>
          </p:cNvSpPr>
          <p:nvPr>
            <p:ph type="pic" sz="quarter" idx="14"/>
          </p:nvPr>
        </p:nvSpPr>
        <p:spPr>
          <a:xfrm>
            <a:off x="495271" y="3834811"/>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6" name="图片占位符 5"/>
          <p:cNvSpPr>
            <a:spLocks noGrp="1"/>
          </p:cNvSpPr>
          <p:nvPr>
            <p:ph type="pic" sz="quarter" idx="15"/>
          </p:nvPr>
        </p:nvSpPr>
        <p:spPr>
          <a:xfrm>
            <a:off x="2758101" y="3834811"/>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7" name="图片占位符 5"/>
          <p:cNvSpPr>
            <a:spLocks noGrp="1"/>
          </p:cNvSpPr>
          <p:nvPr>
            <p:ph type="pic" sz="quarter" idx="16"/>
          </p:nvPr>
        </p:nvSpPr>
        <p:spPr>
          <a:xfrm>
            <a:off x="5020931" y="3834811"/>
            <a:ext cx="2165983" cy="1983652"/>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userDrawn="1">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排版7">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5" y="2263694"/>
            <a:ext cx="1677600" cy="16776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479425" y="4401480"/>
            <a:ext cx="1677600" cy="1676785"/>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排版8">
    <p:spTree>
      <p:nvGrpSpPr>
        <p:cNvPr id="1" name=""/>
        <p:cNvGrpSpPr/>
        <p:nvPr/>
      </p:nvGrpSpPr>
      <p:grpSpPr>
        <a:xfrm>
          <a:off x="0" y="0"/>
          <a:ext cx="0" cy="0"/>
          <a:chOff x="0" y="0"/>
          <a:chExt cx="0" cy="0"/>
        </a:xfrm>
      </p:grpSpPr>
      <p:sp>
        <p:nvSpPr>
          <p:cNvPr id="9" name="图片占位符 5"/>
          <p:cNvSpPr>
            <a:spLocks noGrp="1"/>
          </p:cNvSpPr>
          <p:nvPr>
            <p:ph type="pic" sz="quarter" idx="12"/>
          </p:nvPr>
        </p:nvSpPr>
        <p:spPr>
          <a:xfrm>
            <a:off x="497413" y="4652631"/>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10" name="图片占位符 5"/>
          <p:cNvSpPr>
            <a:spLocks noGrp="1"/>
          </p:cNvSpPr>
          <p:nvPr>
            <p:ph type="pic" sz="quarter" idx="13"/>
          </p:nvPr>
        </p:nvSpPr>
        <p:spPr>
          <a:xfrm>
            <a:off x="9854975" y="4652631"/>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6" name="图片占位符 5"/>
          <p:cNvSpPr>
            <a:spLocks noGrp="1"/>
          </p:cNvSpPr>
          <p:nvPr>
            <p:ph type="pic" sz="quarter" idx="10"/>
          </p:nvPr>
        </p:nvSpPr>
        <p:spPr>
          <a:xfrm>
            <a:off x="497413" y="2460462"/>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8" name="图片占位符 5"/>
          <p:cNvSpPr>
            <a:spLocks noGrp="1"/>
          </p:cNvSpPr>
          <p:nvPr>
            <p:ph type="pic" sz="quarter" idx="11"/>
          </p:nvPr>
        </p:nvSpPr>
        <p:spPr>
          <a:xfrm>
            <a:off x="9854975" y="2460462"/>
            <a:ext cx="1857600" cy="1105200"/>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排版9">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726287" y="2032086"/>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8" name="图片占位符 17"/>
          <p:cNvSpPr>
            <a:spLocks noGrp="1"/>
          </p:cNvSpPr>
          <p:nvPr>
            <p:ph type="pic" sz="quarter" idx="11"/>
          </p:nvPr>
        </p:nvSpPr>
        <p:spPr>
          <a:xfrm>
            <a:off x="5661164" y="2032086"/>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9" name="图片占位符 18"/>
          <p:cNvSpPr>
            <a:spLocks noGrp="1"/>
          </p:cNvSpPr>
          <p:nvPr>
            <p:ph type="pic" sz="quarter" idx="12"/>
          </p:nvPr>
        </p:nvSpPr>
        <p:spPr>
          <a:xfrm>
            <a:off x="2553839" y="4339871"/>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0" name="图片占位符 19"/>
          <p:cNvSpPr>
            <a:spLocks noGrp="1"/>
          </p:cNvSpPr>
          <p:nvPr>
            <p:ph type="pic" sz="quarter" idx="13"/>
          </p:nvPr>
        </p:nvSpPr>
        <p:spPr>
          <a:xfrm>
            <a:off x="7488716" y="4339871"/>
            <a:ext cx="504782" cy="507867"/>
          </a:xfrm>
          <a:custGeom>
            <a:avLst/>
            <a:gdLst>
              <a:gd name="connsiteX0" fmla="*/ 252382 w 504782"/>
              <a:gd name="connsiteY0" fmla="*/ 0 h 507867"/>
              <a:gd name="connsiteX1" fmla="*/ 430850 w 504782"/>
              <a:gd name="connsiteY1" fmla="*/ 74369 h 507867"/>
              <a:gd name="connsiteX2" fmla="*/ 430850 w 504782"/>
              <a:gd name="connsiteY2" fmla="*/ 433499 h 507867"/>
              <a:gd name="connsiteX3" fmla="*/ 73914 w 504782"/>
              <a:gd name="connsiteY3" fmla="*/ 433499 h 507867"/>
              <a:gd name="connsiteX4" fmla="*/ 73914 w 504782"/>
              <a:gd name="connsiteY4" fmla="*/ 74369 h 507867"/>
              <a:gd name="connsiteX5" fmla="*/ 252382 w 504782"/>
              <a:gd name="connsiteY5" fmla="*/ 0 h 50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82" h="507867">
                <a:moveTo>
                  <a:pt x="252382" y="0"/>
                </a:moveTo>
                <a:cubicBezTo>
                  <a:pt x="316972" y="0"/>
                  <a:pt x="381561" y="24790"/>
                  <a:pt x="430850" y="74369"/>
                </a:cubicBezTo>
                <a:cubicBezTo>
                  <a:pt x="529427" y="173552"/>
                  <a:pt x="529427" y="334316"/>
                  <a:pt x="430850" y="433499"/>
                </a:cubicBezTo>
                <a:cubicBezTo>
                  <a:pt x="332273" y="532657"/>
                  <a:pt x="172491" y="532657"/>
                  <a:pt x="73914" y="433499"/>
                </a:cubicBezTo>
                <a:cubicBezTo>
                  <a:pt x="-24638" y="334316"/>
                  <a:pt x="-24638" y="173552"/>
                  <a:pt x="73914" y="74369"/>
                </a:cubicBezTo>
                <a:cubicBezTo>
                  <a:pt x="123203" y="24790"/>
                  <a:pt x="187792" y="0"/>
                  <a:pt x="252382"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图片排版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78657" y="2918523"/>
            <a:ext cx="2221946" cy="2221946"/>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排版10">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79425" y="1952213"/>
            <a:ext cx="11233150" cy="2532700"/>
          </a:xfrm>
          <a:blipFill dpi="0" rotWithShape="1">
            <a:blip r:embed="rId2"/>
            <a:srcRect/>
            <a:tile tx="0" ty="0" sx="80000" sy="8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图片排版3">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5597525" y="1687908"/>
            <a:ext cx="5121194" cy="4163787"/>
          </a:xfrm>
          <a:blipFill dpi="0" rotWithShape="1">
            <a:blip r:embed="rId2"/>
            <a:srcRect/>
            <a:tile tx="0" ty="0" sx="70000" sy="70000" flip="none" algn="ctr"/>
          </a:blipFill>
        </p:spPr>
        <p:txBody>
          <a:bodyPr vert="horz" lIns="91440" tIns="45720" rIns="91440" bIns="45720" rtlCol="0">
            <a:normAutofit/>
          </a:bodyPr>
          <a:lstStyle>
            <a:lvl1pPr>
              <a:defRPr lang="zh-CN" altLang="en-US" dirty="0">
                <a:noFill/>
              </a:defRPr>
            </a:lvl1pPr>
          </a:lstStyle>
          <a:p>
            <a:pPr marL="0" lvl="0" indent="0">
              <a:buNone/>
            </a:pPr>
            <a:endParaRPr lang="zh-CN" altLang="en-US" dirty="0"/>
          </a:p>
        </p:txBody>
      </p:sp>
      <p:sp>
        <p:nvSpPr>
          <p:cNvPr id="3" name="标题 2"/>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图片排版4">
    <p:spTree>
      <p:nvGrpSpPr>
        <p:cNvPr id="1" name=""/>
        <p:cNvGrpSpPr/>
        <p:nvPr/>
      </p:nvGrpSpPr>
      <p:grpSpPr>
        <a:xfrm>
          <a:off x="0" y="0"/>
          <a:ext cx="0" cy="0"/>
          <a:chOff x="0" y="0"/>
          <a:chExt cx="0" cy="0"/>
        </a:xfrm>
      </p:grpSpPr>
      <p:sp>
        <p:nvSpPr>
          <p:cNvPr id="4" name="图片占位符 3"/>
          <p:cNvSpPr>
            <a:spLocks noGrp="1"/>
          </p:cNvSpPr>
          <p:nvPr>
            <p:ph type="pic" sz="quarter" idx="10"/>
          </p:nvPr>
        </p:nvSpPr>
        <p:spPr>
          <a:xfrm>
            <a:off x="4917534" y="1710067"/>
            <a:ext cx="2354400" cy="2354400"/>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7" name="图片占位符 3"/>
          <p:cNvSpPr>
            <a:spLocks noGrp="1"/>
          </p:cNvSpPr>
          <p:nvPr>
            <p:ph type="pic" sz="quarter" idx="11"/>
          </p:nvPr>
        </p:nvSpPr>
        <p:spPr>
          <a:xfrm>
            <a:off x="1091151" y="1710067"/>
            <a:ext cx="2354400" cy="2354400"/>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8" name="图片占位符 3"/>
          <p:cNvSpPr>
            <a:spLocks noGrp="1"/>
          </p:cNvSpPr>
          <p:nvPr>
            <p:ph type="pic" sz="quarter" idx="12"/>
          </p:nvPr>
        </p:nvSpPr>
        <p:spPr>
          <a:xfrm>
            <a:off x="8743917" y="1710067"/>
            <a:ext cx="2354400" cy="2354400"/>
          </a:xfrm>
          <a:custGeom>
            <a:avLst/>
            <a:gdLst>
              <a:gd name="connsiteX0" fmla="*/ 1110973 w 2221946"/>
              <a:gd name="connsiteY0" fmla="*/ 0 h 2221946"/>
              <a:gd name="connsiteX1" fmla="*/ 2221946 w 2221946"/>
              <a:gd name="connsiteY1" fmla="*/ 1110973 h 2221946"/>
              <a:gd name="connsiteX2" fmla="*/ 1110973 w 2221946"/>
              <a:gd name="connsiteY2" fmla="*/ 2221946 h 2221946"/>
              <a:gd name="connsiteX3" fmla="*/ 0 w 2221946"/>
              <a:gd name="connsiteY3" fmla="*/ 1110973 h 2221946"/>
              <a:gd name="connsiteX4" fmla="*/ 1110973 w 2221946"/>
              <a:gd name="connsiteY4" fmla="*/ 0 h 2221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946" h="2221946">
                <a:moveTo>
                  <a:pt x="1110973" y="0"/>
                </a:moveTo>
                <a:cubicBezTo>
                  <a:pt x="1724546" y="0"/>
                  <a:pt x="2221946" y="497400"/>
                  <a:pt x="2221946" y="1110973"/>
                </a:cubicBezTo>
                <a:cubicBezTo>
                  <a:pt x="2221946" y="1724546"/>
                  <a:pt x="1724546" y="2221946"/>
                  <a:pt x="1110973" y="2221946"/>
                </a:cubicBezTo>
                <a:cubicBezTo>
                  <a:pt x="497400" y="2221946"/>
                  <a:pt x="0" y="1724546"/>
                  <a:pt x="0" y="1110973"/>
                </a:cubicBezTo>
                <a:cubicBezTo>
                  <a:pt x="0" y="497400"/>
                  <a:pt x="497400" y="0"/>
                  <a:pt x="1110973" y="0"/>
                </a:cubicBezTo>
                <a:close/>
              </a:path>
            </a:pathLst>
          </a:custGeom>
          <a:blipFill dpi="0" rotWithShape="1">
            <a:blip r:embed="rId2"/>
            <a:srcRect/>
            <a:tile tx="0" ty="0" sx="70000" sy="7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图片排版4">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689128" y="2897442"/>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4" name="图片占位符 13"/>
          <p:cNvSpPr>
            <a:spLocks noGrp="1"/>
          </p:cNvSpPr>
          <p:nvPr>
            <p:ph type="pic" sz="quarter" idx="11"/>
          </p:nvPr>
        </p:nvSpPr>
        <p:spPr>
          <a:xfrm>
            <a:off x="689128" y="5215135"/>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5" name="图片占位符 14"/>
          <p:cNvSpPr>
            <a:spLocks noGrp="1"/>
          </p:cNvSpPr>
          <p:nvPr>
            <p:ph type="pic" sz="quarter" idx="12"/>
          </p:nvPr>
        </p:nvSpPr>
        <p:spPr>
          <a:xfrm>
            <a:off x="4394005" y="2897442"/>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6" name="图片占位符 15"/>
          <p:cNvSpPr>
            <a:spLocks noGrp="1"/>
          </p:cNvSpPr>
          <p:nvPr>
            <p:ph type="pic" sz="quarter" idx="13"/>
          </p:nvPr>
        </p:nvSpPr>
        <p:spPr>
          <a:xfrm>
            <a:off x="4394005" y="5215135"/>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7" name="图片占位符 16"/>
          <p:cNvSpPr>
            <a:spLocks noGrp="1"/>
          </p:cNvSpPr>
          <p:nvPr>
            <p:ph type="pic" sz="quarter" idx="14"/>
          </p:nvPr>
        </p:nvSpPr>
        <p:spPr>
          <a:xfrm>
            <a:off x="8098854" y="2897442"/>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18" name="图片占位符 17"/>
          <p:cNvSpPr>
            <a:spLocks noGrp="1"/>
          </p:cNvSpPr>
          <p:nvPr>
            <p:ph type="pic" sz="quarter" idx="15"/>
          </p:nvPr>
        </p:nvSpPr>
        <p:spPr>
          <a:xfrm>
            <a:off x="8098854" y="5215135"/>
            <a:ext cx="761741" cy="766393"/>
          </a:xfrm>
          <a:custGeom>
            <a:avLst/>
            <a:gdLst>
              <a:gd name="connsiteX0" fmla="*/ 380856 w 761741"/>
              <a:gd name="connsiteY0" fmla="*/ 0 h 766393"/>
              <a:gd name="connsiteX1" fmla="*/ 650173 w 761741"/>
              <a:gd name="connsiteY1" fmla="*/ 112225 h 766393"/>
              <a:gd name="connsiteX2" fmla="*/ 650173 w 761741"/>
              <a:gd name="connsiteY2" fmla="*/ 654169 h 766393"/>
              <a:gd name="connsiteX3" fmla="*/ 111540 w 761741"/>
              <a:gd name="connsiteY3" fmla="*/ 654169 h 766393"/>
              <a:gd name="connsiteX4" fmla="*/ 111540 w 761741"/>
              <a:gd name="connsiteY4" fmla="*/ 112225 h 766393"/>
              <a:gd name="connsiteX5" fmla="*/ 380856 w 761741"/>
              <a:gd name="connsiteY5" fmla="*/ 0 h 7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1741" h="766393">
                <a:moveTo>
                  <a:pt x="380856" y="0"/>
                </a:moveTo>
                <a:cubicBezTo>
                  <a:pt x="478325" y="0"/>
                  <a:pt x="575794" y="37408"/>
                  <a:pt x="650173" y="112225"/>
                </a:cubicBezTo>
                <a:cubicBezTo>
                  <a:pt x="798931" y="261897"/>
                  <a:pt x="798931" y="504496"/>
                  <a:pt x="650173" y="654169"/>
                </a:cubicBezTo>
                <a:cubicBezTo>
                  <a:pt x="501415" y="803802"/>
                  <a:pt x="260298" y="803802"/>
                  <a:pt x="111540" y="654169"/>
                </a:cubicBezTo>
                <a:cubicBezTo>
                  <a:pt x="-37179" y="504496"/>
                  <a:pt x="-37179" y="261897"/>
                  <a:pt x="111540" y="112225"/>
                </a:cubicBezTo>
                <a:cubicBezTo>
                  <a:pt x="185919" y="37408"/>
                  <a:pt x="283388" y="0"/>
                  <a:pt x="380856" y="0"/>
                </a:cubicBezTo>
                <a:close/>
              </a:path>
            </a:pathLst>
          </a:custGeom>
          <a:blipFill dpi="0" rotWithShape="1">
            <a:blip r:embed="rId2"/>
            <a:srcRect/>
            <a:tile tx="0" ty="0" sx="50000" sy="50000" flip="none" algn="ctr"/>
          </a:blipFill>
        </p:spPr>
        <p:txBody>
          <a:bodyPr vert="horz" wrap="square" lIns="91440" tIns="45720" rIns="91440" bIns="45720" rtlCol="0">
            <a:noAutofit/>
          </a:bodyPr>
          <a:lstStyle>
            <a:lvl1pPr>
              <a:defRPr lang="zh-CN" altLang="en-US" dirty="0">
                <a:noFill/>
              </a:defRPr>
            </a:lvl1pPr>
          </a:lstStyle>
          <a:p>
            <a:pPr marL="0" lvl="0" indent="0">
              <a:buNone/>
            </a:pPr>
            <a:endParaRPr lang="zh-CN" altLang="en-US" dirty="0"/>
          </a:p>
        </p:txBody>
      </p:sp>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4.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矩形 17"/>
          <p:cNvSpPr/>
          <p:nvPr userDrawn="1"/>
        </p:nvSpPr>
        <p:spPr>
          <a:xfrm>
            <a:off x="0" y="0"/>
            <a:ext cx="12192000" cy="787400"/>
          </a:xfrm>
          <a:prstGeom prst="rect">
            <a:avLst/>
          </a:prstGeom>
          <a:solidFill>
            <a:schemeClr val="accent1"/>
          </a:solidFill>
          <a:ln w="124408" cap="flat">
            <a:noFill/>
            <a:prstDash val="solid"/>
            <a:miter/>
          </a:ln>
        </p:spPr>
        <p:txBody>
          <a:bodyPr rtlCol="0" anchor="ctr"/>
          <a:lstStyle/>
          <a:p>
            <a:endParaRPr lang="zh-CN" altLang="en-US" dirty="0"/>
          </a:p>
        </p:txBody>
      </p:sp>
      <p:sp>
        <p:nvSpPr>
          <p:cNvPr id="2" name="Title Placeholder 1"/>
          <p:cNvSpPr>
            <a:spLocks noGrp="1"/>
          </p:cNvSpPr>
          <p:nvPr>
            <p:ph type="title"/>
          </p:nvPr>
        </p:nvSpPr>
        <p:spPr>
          <a:xfrm>
            <a:off x="870222" y="192542"/>
            <a:ext cx="10515600" cy="443198"/>
          </a:xfrm>
          <a:prstGeom prst="rect">
            <a:avLst/>
          </a:prstGeom>
          <a:noFill/>
        </p:spPr>
        <p:txBody>
          <a:bodyPr wrap="square" lIns="0" tIns="0" rIns="0" bIns="0" rtlCol="0">
            <a:spAutoFit/>
          </a:bodyPr>
          <a:lstStyle/>
          <a:p>
            <a:pPr marL="0" lvl="0" defTabSz="457200"/>
            <a:r>
              <a:rPr lang="zh-CN" altLang="en-US" dirty="0"/>
              <a:t>单击此处编辑母版标题样式</a:t>
            </a:r>
            <a:endParaRPr lang="en-US" dirty="0"/>
          </a:p>
        </p:txBody>
      </p:sp>
      <p:sp>
        <p:nvSpPr>
          <p:cNvPr id="3" name="Text Placeholder 2"/>
          <p:cNvSpPr>
            <a:spLocks noGrp="1"/>
          </p:cNvSpPr>
          <p:nvPr>
            <p:ph type="body" idx="1"/>
          </p:nvPr>
        </p:nvSpPr>
        <p:spPr>
          <a:xfrm>
            <a:off x="838200" y="1395135"/>
            <a:ext cx="10515600" cy="4351338"/>
          </a:xfrm>
          <a:prstGeom prst="rect">
            <a:avLst/>
          </a:prstGeom>
        </p:spPr>
        <p:txBody>
          <a:bodyPr vert="horz" lIns="91440" tIns="45720" rIns="91440" bIns="45720" rtlCol="0">
            <a:normAutofit/>
          </a:bodyPr>
          <a:lstStyle/>
          <a:p>
            <a:pPr marL="0" lvl="0" indent="0">
              <a:buNone/>
            </a:pPr>
            <a:r>
              <a:rPr lang="zh-CN" altLang="en-US" dirty="0"/>
              <a:t>单击此处编辑母版文本样式</a:t>
            </a:r>
            <a:endParaRPr lang="zh-CN" altLang="en-US" dirty="0"/>
          </a:p>
          <a:p>
            <a:pPr marL="457200" lvl="1" indent="0">
              <a:buNone/>
            </a:pPr>
            <a:r>
              <a:rPr lang="zh-CN" altLang="en-US" dirty="0"/>
              <a:t>二级</a:t>
            </a:r>
            <a:endParaRPr lang="zh-CN" altLang="en-US" dirty="0"/>
          </a:p>
          <a:p>
            <a:pPr marL="914400" lvl="2" indent="0">
              <a:buNone/>
            </a:pPr>
            <a:r>
              <a:rPr lang="zh-CN" altLang="en-US" dirty="0"/>
              <a:t>三级</a:t>
            </a:r>
            <a:endParaRPr lang="zh-CN" altLang="en-US" dirty="0"/>
          </a:p>
          <a:p>
            <a:pPr marL="1371600" lvl="3" indent="0">
              <a:buNone/>
            </a:pPr>
            <a:r>
              <a:rPr lang="zh-CN" altLang="en-US" dirty="0"/>
              <a:t>四级</a:t>
            </a:r>
            <a:endParaRPr lang="zh-CN" altLang="en-US" dirty="0"/>
          </a:p>
          <a:p>
            <a:pPr marL="1828800" lvl="4" indent="0">
              <a:buNone/>
            </a:pPr>
            <a:r>
              <a:rPr lang="zh-CN" altLang="en-US" dirty="0"/>
              <a:t>五级</a:t>
            </a:r>
            <a:endParaRPr lang="en-US" dirty="0"/>
          </a:p>
        </p:txBody>
      </p:sp>
      <p:sp>
        <p:nvSpPr>
          <p:cNvPr id="4" name="Date Placeholder 3"/>
          <p:cNvSpPr>
            <a:spLocks noGrp="1"/>
          </p:cNvSpPr>
          <p:nvPr>
            <p:ph type="dt" sz="half" idx="2"/>
          </p:nvPr>
        </p:nvSpPr>
        <p:spPr>
          <a:xfrm>
            <a:off x="9398000" y="132016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7C6FF8-5235-4F96-9E93-E1F714947AAE}" type="datetimeFigureOut">
              <a:rPr lang="zh-CN" altLang="en-US" smtClean="0"/>
            </a:fld>
            <a:endParaRPr lang="zh-CN" altLang="en-US"/>
          </a:p>
        </p:txBody>
      </p:sp>
      <p:sp>
        <p:nvSpPr>
          <p:cNvPr id="5" name="Footer Placeholder 4"/>
          <p:cNvSpPr>
            <a:spLocks noGrp="1"/>
          </p:cNvSpPr>
          <p:nvPr>
            <p:ph type="ftr" sz="quarter" idx="3"/>
          </p:nvPr>
        </p:nvSpPr>
        <p:spPr>
          <a:xfrm>
            <a:off x="12598400" y="132016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7170400" y="132016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AD28B-1317-466D-9CEA-DD6AA477B169}" type="slidenum">
              <a:rPr lang="zh-CN" altLang="en-US" smtClean="0"/>
            </a:fld>
            <a:endParaRPr lang="zh-CN" altLang="en-US"/>
          </a:p>
        </p:txBody>
      </p:sp>
      <p:sp>
        <p:nvSpPr>
          <p:cNvPr id="20" name="椭圆 19"/>
          <p:cNvSpPr/>
          <p:nvPr userDrawn="1"/>
        </p:nvSpPr>
        <p:spPr>
          <a:xfrm>
            <a:off x="11023762" y="399052"/>
            <a:ext cx="789573" cy="7895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logo"/>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1110484" y="485774"/>
            <a:ext cx="616129" cy="616129"/>
          </a:xfrm>
          <a:prstGeom prst="rect">
            <a:avLst/>
          </a:prstGeom>
        </p:spPr>
      </p:pic>
      <p:sp>
        <p:nvSpPr>
          <p:cNvPr id="23" name="文本框 22"/>
          <p:cNvSpPr txBox="1"/>
          <p:nvPr userDrawn="1"/>
        </p:nvSpPr>
        <p:spPr>
          <a:xfrm>
            <a:off x="479425" y="6522651"/>
            <a:ext cx="3119444" cy="215444"/>
          </a:xfrm>
          <a:prstGeom prst="rect">
            <a:avLst/>
          </a:prstGeom>
          <a:noFill/>
        </p:spPr>
        <p:txBody>
          <a:bodyPr wrap="none" lIns="0" tIns="0" rIns="0" bIns="0" rtlCol="0">
            <a:spAutoFit/>
          </a:bodyPr>
          <a:lstStyle/>
          <a:p>
            <a:r>
              <a:rPr lang="zh-CN" altLang="en-US" sz="1400" dirty="0">
                <a:solidFill>
                  <a:schemeClr val="bg1">
                    <a:lumMod val="65000"/>
                  </a:schemeClr>
                </a:solidFill>
                <a:latin typeface="微软雅黑" panose="020B0503020204020204" pitchFamily="34" charset="-122"/>
                <a:ea typeface="微软雅黑" panose="020B0503020204020204" pitchFamily="34" charset="-122"/>
              </a:rPr>
              <a:t>论文答辩 </a:t>
            </a:r>
            <a:r>
              <a:rPr lang="en-US" altLang="zh-CN" sz="1400" dirty="0">
                <a:solidFill>
                  <a:schemeClr val="bg1">
                    <a:lumMod val="65000"/>
                  </a:schemeClr>
                </a:solidFill>
                <a:latin typeface="微软雅黑" panose="020B0503020204020204" pitchFamily="34" charset="-122"/>
                <a:ea typeface="微软雅黑" panose="020B0503020204020204" pitchFamily="34" charset="-122"/>
              </a:rPr>
              <a:t>| Graduation thesis defense</a:t>
            </a:r>
            <a:endParaRPr lang="zh-CN" altLang="en-US" sz="14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4" name="文本框 23"/>
          <p:cNvSpPr txBox="1"/>
          <p:nvPr userDrawn="1"/>
        </p:nvSpPr>
        <p:spPr>
          <a:xfrm>
            <a:off x="9613151" y="6522651"/>
            <a:ext cx="1999073" cy="215444"/>
          </a:xfrm>
          <a:prstGeom prst="rect">
            <a:avLst/>
          </a:prstGeom>
          <a:noFill/>
        </p:spPr>
        <p:txBody>
          <a:bodyPr wrap="none" lIns="0" tIns="0" rIns="0" bIns="0" rtlCol="0">
            <a:spAutoFit/>
          </a:bodyPr>
          <a:lstStyle/>
          <a:p>
            <a:pPr algn="r"/>
            <a:r>
              <a:rPr lang="en-US" altLang="zh-CN" sz="1400" dirty="0">
                <a:solidFill>
                  <a:schemeClr val="bg1">
                    <a:lumMod val="65000"/>
                  </a:schemeClr>
                </a:solidFill>
                <a:latin typeface="微软雅黑" panose="020B0503020204020204" pitchFamily="34" charset="-122"/>
                <a:ea typeface="微软雅黑" panose="020B0503020204020204" pitchFamily="34" charset="-122"/>
              </a:rPr>
              <a:t>www.pptgenius.com  |  </a:t>
            </a:r>
            <a:endParaRPr lang="zh-CN" altLang="en-US" sz="14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5" name="page"/>
          <p:cNvSpPr txBox="1"/>
          <p:nvPr userDrawn="1"/>
        </p:nvSpPr>
        <p:spPr>
          <a:xfrm>
            <a:off x="11571963" y="6522651"/>
            <a:ext cx="218009" cy="215444"/>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400" b="0" smtClean="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rPr>
            </a:fld>
            <a:endParaRPr lang="ja-JP" altLang="en-US" sz="1400" b="0" dirty="0">
              <a:solidFill>
                <a:schemeClr val="bg1">
                  <a:lumMod val="65000"/>
                </a:schemeClr>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7" name="组合 6"/>
          <p:cNvGrpSpPr/>
          <p:nvPr userDrawn="1"/>
        </p:nvGrpSpPr>
        <p:grpSpPr>
          <a:xfrm>
            <a:off x="479425" y="270358"/>
            <a:ext cx="257460" cy="246808"/>
            <a:chOff x="4429388" y="3847436"/>
            <a:chExt cx="248220" cy="237949"/>
          </a:xfrm>
          <a:solidFill>
            <a:schemeClr val="bg1"/>
          </a:solidFill>
        </p:grpSpPr>
        <p:sp>
          <p:nvSpPr>
            <p:cNvPr id="8" name="任意多边形: 形状 7"/>
            <p:cNvSpPr/>
            <p:nvPr/>
          </p:nvSpPr>
          <p:spPr>
            <a:xfrm>
              <a:off x="4429388" y="3847436"/>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a:p>
          </p:txBody>
        </p:sp>
        <p:sp>
          <p:nvSpPr>
            <p:cNvPr id="9" name="任意多边形: 形状 8"/>
            <p:cNvSpPr/>
            <p:nvPr/>
          </p:nvSpPr>
          <p:spPr>
            <a:xfrm>
              <a:off x="4593727" y="3847436"/>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a:p>
          </p:txBody>
        </p:sp>
        <p:sp>
          <p:nvSpPr>
            <p:cNvPr id="10" name="任意多边形: 形状 9"/>
            <p:cNvSpPr/>
            <p:nvPr/>
          </p:nvSpPr>
          <p:spPr>
            <a:xfrm>
              <a:off x="4429388" y="4001504"/>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dirty="0"/>
            </a:p>
          </p:txBody>
        </p:sp>
        <p:sp>
          <p:nvSpPr>
            <p:cNvPr id="11" name="任意多边形: 形状 10"/>
            <p:cNvSpPr/>
            <p:nvPr/>
          </p:nvSpPr>
          <p:spPr>
            <a:xfrm>
              <a:off x="4593727" y="4001504"/>
              <a:ext cx="83881" cy="83881"/>
            </a:xfrm>
            <a:custGeom>
              <a:avLst/>
              <a:gdLst>
                <a:gd name="connsiteX0" fmla="*/ 0 w 83881"/>
                <a:gd name="connsiteY0" fmla="*/ 0 h 83881"/>
                <a:gd name="connsiteX1" fmla="*/ 83882 w 83881"/>
                <a:gd name="connsiteY1" fmla="*/ 0 h 83881"/>
                <a:gd name="connsiteX2" fmla="*/ 83882 w 83881"/>
                <a:gd name="connsiteY2" fmla="*/ 83882 h 83881"/>
                <a:gd name="connsiteX3" fmla="*/ 0 w 83881"/>
                <a:gd name="connsiteY3" fmla="*/ 83882 h 83881"/>
              </a:gdLst>
              <a:ahLst/>
              <a:cxnLst>
                <a:cxn ang="0">
                  <a:pos x="connsiteX0" y="connsiteY0"/>
                </a:cxn>
                <a:cxn ang="0">
                  <a:pos x="connsiteX1" y="connsiteY1"/>
                </a:cxn>
                <a:cxn ang="0">
                  <a:pos x="connsiteX2" y="connsiteY2"/>
                </a:cxn>
                <a:cxn ang="0">
                  <a:pos x="connsiteX3" y="connsiteY3"/>
                </a:cxn>
              </a:cxnLst>
              <a:rect l="l" t="t" r="r" b="b"/>
              <a:pathLst>
                <a:path w="83881" h="83881">
                  <a:moveTo>
                    <a:pt x="0" y="0"/>
                  </a:moveTo>
                  <a:lnTo>
                    <a:pt x="83882" y="0"/>
                  </a:lnTo>
                  <a:lnTo>
                    <a:pt x="83882" y="83882"/>
                  </a:lnTo>
                  <a:lnTo>
                    <a:pt x="0" y="83882"/>
                  </a:lnTo>
                  <a:close/>
                </a:path>
              </a:pathLst>
            </a:custGeom>
            <a:grpFill/>
            <a:ln w="161925" cap="flat">
              <a:noFill/>
              <a:prstDash val="solid"/>
              <a:miter/>
            </a:ln>
          </p:spPr>
          <p:txBody>
            <a:bodyPr rtlCol="0"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lang="en-US" altLang="en-US" sz="3200" b="1" kern="1200" dirty="0">
          <a:solidFill>
            <a:schemeClr val="bg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Arial" panose="020B0604020202020204" pitchFamily="34" charset="0"/>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24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20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8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altLang="en-US"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school"/>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4" name="任意多边形: 形状 23"/>
          <p:cNvSpPr/>
          <p:nvPr/>
        </p:nvSpPr>
        <p:spPr>
          <a:xfrm>
            <a:off x="0" y="0"/>
            <a:ext cx="12192000" cy="4379494"/>
          </a:xfrm>
          <a:custGeom>
            <a:avLst/>
            <a:gdLst>
              <a:gd name="connsiteX0" fmla="*/ 0 w 12194487"/>
              <a:gd name="connsiteY0" fmla="*/ 0 h 4379494"/>
              <a:gd name="connsiteX1" fmla="*/ 0 w 12194487"/>
              <a:gd name="connsiteY1" fmla="*/ 3783931 h 4379494"/>
              <a:gd name="connsiteX2" fmla="*/ 6097244 w 12194487"/>
              <a:gd name="connsiteY2" fmla="*/ 4379495 h 4379494"/>
              <a:gd name="connsiteX3" fmla="*/ 12194488 w 12194487"/>
              <a:gd name="connsiteY3" fmla="*/ 3783931 h 4379494"/>
              <a:gd name="connsiteX4" fmla="*/ 12194488 w 12194487"/>
              <a:gd name="connsiteY4" fmla="*/ 0 h 4379494"/>
              <a:gd name="connsiteX5" fmla="*/ 0 w 12194487"/>
              <a:gd name="connsiteY5" fmla="*/ 0 h 4379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4487" h="4379494">
                <a:moveTo>
                  <a:pt x="0" y="0"/>
                </a:moveTo>
                <a:lnTo>
                  <a:pt x="0" y="3783931"/>
                </a:lnTo>
                <a:cubicBezTo>
                  <a:pt x="1969381" y="4173754"/>
                  <a:pt x="4008431" y="4379495"/>
                  <a:pt x="6097244" y="4379495"/>
                </a:cubicBezTo>
                <a:cubicBezTo>
                  <a:pt x="8186057" y="4379495"/>
                  <a:pt x="10225107" y="4174958"/>
                  <a:pt x="12194488" y="3783931"/>
                </a:cubicBezTo>
                <a:lnTo>
                  <a:pt x="12194488" y="0"/>
                </a:lnTo>
                <a:lnTo>
                  <a:pt x="0" y="0"/>
                </a:lnTo>
                <a:close/>
              </a:path>
            </a:pathLst>
          </a:custGeom>
          <a:solidFill>
            <a:schemeClr val="accent1">
              <a:alpha val="85000"/>
            </a:schemeClr>
          </a:solidFill>
          <a:ln w="124408" cap="flat">
            <a:noFill/>
            <a:prstDash val="solid"/>
            <a:miter/>
          </a:ln>
        </p:spPr>
        <p:txBody>
          <a:bodyPr rtlCol="0" anchor="ctr"/>
          <a:lstStyle/>
          <a:p>
            <a:endParaRPr lang="zh-CN" altLang="en-US" dirty="0"/>
          </a:p>
        </p:txBody>
      </p:sp>
      <p:sp>
        <p:nvSpPr>
          <p:cNvPr id="25" name="任意多边形: 形状 24"/>
          <p:cNvSpPr/>
          <p:nvPr/>
        </p:nvSpPr>
        <p:spPr>
          <a:xfrm>
            <a:off x="-3109" y="3729790"/>
            <a:ext cx="12198219" cy="3128210"/>
          </a:xfrm>
          <a:custGeom>
            <a:avLst/>
            <a:gdLst>
              <a:gd name="connsiteX0" fmla="*/ 0 w 12193244"/>
              <a:gd name="connsiteY0" fmla="*/ 0 h 3128210"/>
              <a:gd name="connsiteX1" fmla="*/ 0 w 12193244"/>
              <a:gd name="connsiteY1" fmla="*/ 3128210 h 3128210"/>
              <a:gd name="connsiteX2" fmla="*/ 12193244 w 12193244"/>
              <a:gd name="connsiteY2" fmla="*/ 3128210 h 3128210"/>
              <a:gd name="connsiteX3" fmla="*/ 12193244 w 12193244"/>
              <a:gd name="connsiteY3" fmla="*/ 0 h 3128210"/>
              <a:gd name="connsiteX4" fmla="*/ 6096000 w 12193244"/>
              <a:gd name="connsiteY4" fmla="*/ 595563 h 3128210"/>
              <a:gd name="connsiteX5" fmla="*/ 0 w 12193244"/>
              <a:gd name="connsiteY5" fmla="*/ 0 h 312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3244" h="3128210">
                <a:moveTo>
                  <a:pt x="0" y="0"/>
                </a:moveTo>
                <a:lnTo>
                  <a:pt x="0" y="3128210"/>
                </a:lnTo>
                <a:lnTo>
                  <a:pt x="12193244" y="3128210"/>
                </a:lnTo>
                <a:lnTo>
                  <a:pt x="12193244" y="0"/>
                </a:lnTo>
                <a:cubicBezTo>
                  <a:pt x="10223863" y="389823"/>
                  <a:pt x="8184813" y="595563"/>
                  <a:pt x="6096000" y="595563"/>
                </a:cubicBezTo>
                <a:cubicBezTo>
                  <a:pt x="4007187" y="595563"/>
                  <a:pt x="1969381" y="391026"/>
                  <a:pt x="0" y="0"/>
                </a:cubicBezTo>
                <a:close/>
              </a:path>
            </a:pathLst>
          </a:custGeom>
          <a:solidFill>
            <a:srgbClr val="FFFFFF"/>
          </a:solidFill>
          <a:ln w="124408" cap="flat">
            <a:noFill/>
            <a:prstDash val="solid"/>
            <a:miter/>
          </a:ln>
        </p:spPr>
        <p:txBody>
          <a:bodyPr rtlCol="0" anchor="ctr"/>
          <a:lstStyle/>
          <a:p>
            <a:endParaRPr lang="zh-CN" altLang="en-US"/>
          </a:p>
        </p:txBody>
      </p:sp>
      <p:sp>
        <p:nvSpPr>
          <p:cNvPr id="11" name="文本框 10"/>
          <p:cNvSpPr txBox="1"/>
          <p:nvPr/>
        </p:nvSpPr>
        <p:spPr>
          <a:xfrm>
            <a:off x="2184400" y="4048335"/>
            <a:ext cx="6096000" cy="1156407"/>
          </a:xfrm>
          <a:prstGeom prst="rect">
            <a:avLst/>
          </a:prstGeom>
          <a:noFill/>
        </p:spPr>
        <p:txBody>
          <a:bodyPr wrap="square">
            <a:spAutoFit/>
          </a:bodyPr>
          <a:lstStyle/>
          <a:p>
            <a:pPr>
              <a:lnSpc>
                <a:spcPct val="150000"/>
              </a:lnSpc>
            </a:pP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学生姓名：林辉强</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指导教师：张老师</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答辩日期：</a:t>
            </a:r>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2030</a:t>
            </a: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年</a:t>
            </a:r>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8</a:t>
            </a: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月</a:t>
            </a:r>
            <a:r>
              <a:rPr lang="en-US" altLang="zh-CN"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8</a:t>
            </a:r>
            <a:r>
              <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日</a:t>
            </a:r>
            <a:endParaRPr lang="zh-CN" altLang="en-US" sz="16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0" name="组合 69"/>
          <p:cNvGrpSpPr/>
          <p:nvPr/>
        </p:nvGrpSpPr>
        <p:grpSpPr>
          <a:xfrm>
            <a:off x="1155700" y="604838"/>
            <a:ext cx="9880600" cy="5215390"/>
            <a:chOff x="1155700" y="604838"/>
            <a:chExt cx="9880600" cy="5215390"/>
          </a:xfrm>
          <a:effectLst>
            <a:outerShdw blurRad="254000" dist="38100" dir="5400000" algn="t" rotWithShape="0">
              <a:prstClr val="black">
                <a:alpha val="40000"/>
              </a:prstClr>
            </a:outerShdw>
          </a:effectLst>
        </p:grpSpPr>
        <p:sp>
          <p:nvSpPr>
            <p:cNvPr id="29" name="椭圆 28"/>
            <p:cNvSpPr/>
            <p:nvPr/>
          </p:nvSpPr>
          <p:spPr>
            <a:xfrm>
              <a:off x="5331962" y="604838"/>
              <a:ext cx="1528076" cy="15280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1155700" y="1054099"/>
              <a:ext cx="9880600" cy="4766129"/>
              <a:chOff x="1130300" y="1054099"/>
              <a:chExt cx="9880600" cy="4766129"/>
            </a:xfrm>
            <a:effectLst/>
          </p:grpSpPr>
          <p:sp>
            <p:nvSpPr>
              <p:cNvPr id="28" name="矩形: 圆角 27"/>
              <p:cNvSpPr/>
              <p:nvPr/>
            </p:nvSpPr>
            <p:spPr>
              <a:xfrm>
                <a:off x="1130300" y="1054099"/>
                <a:ext cx="9880600" cy="4766129"/>
              </a:xfrm>
              <a:prstGeom prst="roundRect">
                <a:avLst>
                  <a:gd name="adj" fmla="val 1591"/>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圆顶角 29"/>
              <p:cNvSpPr/>
              <p:nvPr/>
            </p:nvSpPr>
            <p:spPr>
              <a:xfrm>
                <a:off x="1130300" y="5688904"/>
                <a:ext cx="9880600" cy="131324"/>
              </a:xfrm>
              <a:prstGeom prst="round2SameRect">
                <a:avLst>
                  <a:gd name="adj1" fmla="val 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 name="组合 2"/>
          <p:cNvGrpSpPr/>
          <p:nvPr/>
        </p:nvGrpSpPr>
        <p:grpSpPr>
          <a:xfrm>
            <a:off x="1517474" y="2824831"/>
            <a:ext cx="9104427" cy="598939"/>
            <a:chOff x="4100899" y="2405731"/>
            <a:chExt cx="9104427" cy="598939"/>
          </a:xfrm>
        </p:grpSpPr>
        <p:grpSp>
          <p:nvGrpSpPr>
            <p:cNvPr id="6" name="组合 5"/>
            <p:cNvGrpSpPr/>
            <p:nvPr/>
          </p:nvGrpSpPr>
          <p:grpSpPr>
            <a:xfrm>
              <a:off x="4100899" y="2454786"/>
              <a:ext cx="708766" cy="549884"/>
              <a:chOff x="4149211" y="2442855"/>
              <a:chExt cx="752258" cy="583627"/>
            </a:xfrm>
            <a:solidFill>
              <a:schemeClr val="accent1"/>
            </a:solidFill>
          </p:grpSpPr>
          <p:sp>
            <p:nvSpPr>
              <p:cNvPr id="4" name="任意多边形: 形状 3"/>
              <p:cNvSpPr/>
              <p:nvPr/>
            </p:nvSpPr>
            <p:spPr>
              <a:xfrm>
                <a:off x="4149211" y="2442855"/>
                <a:ext cx="752258" cy="430447"/>
              </a:xfrm>
              <a:custGeom>
                <a:avLst/>
                <a:gdLst>
                  <a:gd name="connsiteX0" fmla="*/ 750857 w 752258"/>
                  <a:gd name="connsiteY0" fmla="*/ 215925 h 430447"/>
                  <a:gd name="connsiteX1" fmla="*/ 731227 w 752258"/>
                  <a:gd name="connsiteY1" fmla="*/ 182274 h 430447"/>
                  <a:gd name="connsiteX2" fmla="*/ 393319 w 752258"/>
                  <a:gd name="connsiteY2" fmla="*/ 4206 h 430447"/>
                  <a:gd name="connsiteX3" fmla="*/ 359668 w 752258"/>
                  <a:gd name="connsiteY3" fmla="*/ 4206 h 430447"/>
                  <a:gd name="connsiteX4" fmla="*/ 20357 w 752258"/>
                  <a:gd name="connsiteY4" fmla="*/ 169655 h 430447"/>
                  <a:gd name="connsiteX5" fmla="*/ 3532 w 752258"/>
                  <a:gd name="connsiteY5" fmla="*/ 218729 h 430447"/>
                  <a:gd name="connsiteX6" fmla="*/ 20357 w 752258"/>
                  <a:gd name="connsiteY6" fmla="*/ 235554 h 430447"/>
                  <a:gd name="connsiteX7" fmla="*/ 358266 w 752258"/>
                  <a:gd name="connsiteY7" fmla="*/ 402406 h 430447"/>
                  <a:gd name="connsiteX8" fmla="*/ 375091 w 752258"/>
                  <a:gd name="connsiteY8" fmla="*/ 406612 h 430447"/>
                  <a:gd name="connsiteX9" fmla="*/ 390514 w 752258"/>
                  <a:gd name="connsiteY9" fmla="*/ 403808 h 430447"/>
                  <a:gd name="connsiteX10" fmla="*/ 677947 w 752258"/>
                  <a:gd name="connsiteY10" fmla="*/ 263597 h 430447"/>
                  <a:gd name="connsiteX11" fmla="*/ 677947 w 752258"/>
                  <a:gd name="connsiteY11" fmla="*/ 395395 h 430447"/>
                  <a:gd name="connsiteX12" fmla="*/ 717206 w 752258"/>
                  <a:gd name="connsiteY12" fmla="*/ 430448 h 430447"/>
                  <a:gd name="connsiteX13" fmla="*/ 752259 w 752258"/>
                  <a:gd name="connsiteY13" fmla="*/ 395395 h 430447"/>
                  <a:gd name="connsiteX14" fmla="*/ 752259 w 752258"/>
                  <a:gd name="connsiteY14" fmla="*/ 217327 h 430447"/>
                  <a:gd name="connsiteX15" fmla="*/ 752259 w 752258"/>
                  <a:gd name="connsiteY15" fmla="*/ 217327 h 430447"/>
                  <a:gd name="connsiteX16" fmla="*/ 376493 w 752258"/>
                  <a:gd name="connsiteY16" fmla="*/ 328094 h 430447"/>
                  <a:gd name="connsiteX17" fmla="*/ 121309 w 752258"/>
                  <a:gd name="connsiteY17" fmla="*/ 203306 h 430447"/>
                  <a:gd name="connsiteX18" fmla="*/ 375091 w 752258"/>
                  <a:gd name="connsiteY18" fmla="*/ 78518 h 430447"/>
                  <a:gd name="connsiteX19" fmla="*/ 630275 w 752258"/>
                  <a:gd name="connsiteY19" fmla="*/ 213121 h 430447"/>
                  <a:gd name="connsiteX20" fmla="*/ 376493 w 752258"/>
                  <a:gd name="connsiteY20" fmla="*/ 329496 h 430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258" h="430447">
                    <a:moveTo>
                      <a:pt x="750857" y="215925"/>
                    </a:moveTo>
                    <a:cubicBezTo>
                      <a:pt x="750857" y="201904"/>
                      <a:pt x="743846" y="189285"/>
                      <a:pt x="731227" y="182274"/>
                    </a:cubicBezTo>
                    <a:lnTo>
                      <a:pt x="393319" y="4206"/>
                    </a:lnTo>
                    <a:cubicBezTo>
                      <a:pt x="382102" y="-1402"/>
                      <a:pt x="370885" y="-1402"/>
                      <a:pt x="359668" y="4206"/>
                    </a:cubicBezTo>
                    <a:lnTo>
                      <a:pt x="20357" y="169655"/>
                    </a:lnTo>
                    <a:cubicBezTo>
                      <a:pt x="2130" y="179470"/>
                      <a:pt x="-4881" y="200502"/>
                      <a:pt x="3532" y="218729"/>
                    </a:cubicBezTo>
                    <a:cubicBezTo>
                      <a:pt x="7738" y="225740"/>
                      <a:pt x="13347" y="231348"/>
                      <a:pt x="20357" y="235554"/>
                    </a:cubicBezTo>
                    <a:lnTo>
                      <a:pt x="358266" y="402406"/>
                    </a:lnTo>
                    <a:cubicBezTo>
                      <a:pt x="358266" y="402406"/>
                      <a:pt x="369483" y="406612"/>
                      <a:pt x="375091" y="406612"/>
                    </a:cubicBezTo>
                    <a:cubicBezTo>
                      <a:pt x="380700" y="406612"/>
                      <a:pt x="384906" y="406612"/>
                      <a:pt x="390514" y="403808"/>
                    </a:cubicBezTo>
                    <a:lnTo>
                      <a:pt x="677947" y="263597"/>
                    </a:lnTo>
                    <a:lnTo>
                      <a:pt x="677947" y="395395"/>
                    </a:lnTo>
                    <a:cubicBezTo>
                      <a:pt x="677947" y="415025"/>
                      <a:pt x="696174" y="430448"/>
                      <a:pt x="717206" y="430448"/>
                    </a:cubicBezTo>
                    <a:cubicBezTo>
                      <a:pt x="735433" y="430448"/>
                      <a:pt x="750857" y="415025"/>
                      <a:pt x="752259" y="395395"/>
                    </a:cubicBezTo>
                    <a:lnTo>
                      <a:pt x="752259" y="217327"/>
                    </a:lnTo>
                    <a:cubicBezTo>
                      <a:pt x="752259" y="217327"/>
                      <a:pt x="752259" y="217327"/>
                      <a:pt x="752259" y="217327"/>
                    </a:cubicBezTo>
                    <a:close/>
                    <a:moveTo>
                      <a:pt x="376493" y="328094"/>
                    </a:moveTo>
                    <a:lnTo>
                      <a:pt x="121309" y="203306"/>
                    </a:lnTo>
                    <a:lnTo>
                      <a:pt x="375091" y="78518"/>
                    </a:lnTo>
                    <a:lnTo>
                      <a:pt x="630275" y="213121"/>
                    </a:lnTo>
                    <a:lnTo>
                      <a:pt x="376493" y="329496"/>
                    </a:lnTo>
                    <a:close/>
                  </a:path>
                </a:pathLst>
              </a:custGeom>
              <a:grpFill/>
              <a:ln w="139065" cap="flat">
                <a:noFill/>
                <a:prstDash val="solid"/>
                <a:miter/>
              </a:ln>
            </p:spPr>
            <p:txBody>
              <a:bodyPr rtlCol="0" anchor="ctr"/>
              <a:lstStyle/>
              <a:p>
                <a:endParaRPr lang="zh-CN" altLang="en-US"/>
              </a:p>
            </p:txBody>
          </p:sp>
          <p:sp>
            <p:nvSpPr>
              <p:cNvPr id="5" name="任意多边形: 形状 4"/>
              <p:cNvSpPr/>
              <p:nvPr/>
            </p:nvSpPr>
            <p:spPr>
              <a:xfrm>
                <a:off x="4285220" y="2854203"/>
                <a:ext cx="475493" cy="172279"/>
              </a:xfrm>
              <a:custGeom>
                <a:avLst/>
                <a:gdLst>
                  <a:gd name="connsiteX0" fmla="*/ 425563 w 475493"/>
                  <a:gd name="connsiteY0" fmla="*/ 14892 h 172279"/>
                  <a:gd name="connsiteX1" fmla="*/ 422759 w 475493"/>
                  <a:gd name="connsiteY1" fmla="*/ 14892 h 172279"/>
                  <a:gd name="connsiteX2" fmla="*/ 419954 w 475493"/>
                  <a:gd name="connsiteY2" fmla="*/ 14892 h 172279"/>
                  <a:gd name="connsiteX3" fmla="*/ 419954 w 475493"/>
                  <a:gd name="connsiteY3" fmla="*/ 14892 h 172279"/>
                  <a:gd name="connsiteX4" fmla="*/ 240484 w 475493"/>
                  <a:gd name="connsiteY4" fmla="*/ 96215 h 172279"/>
                  <a:gd name="connsiteX5" fmla="*/ 49797 w 475493"/>
                  <a:gd name="connsiteY5" fmla="*/ 2274 h 172279"/>
                  <a:gd name="connsiteX6" fmla="*/ 2126 w 475493"/>
                  <a:gd name="connsiteY6" fmla="*/ 23305 h 172279"/>
                  <a:gd name="connsiteX7" fmla="*/ 17549 w 475493"/>
                  <a:gd name="connsiteY7" fmla="*/ 66771 h 172279"/>
                  <a:gd name="connsiteX8" fmla="*/ 223659 w 475493"/>
                  <a:gd name="connsiteY8" fmla="*/ 169125 h 172279"/>
                  <a:gd name="connsiteX9" fmla="*/ 254505 w 475493"/>
                  <a:gd name="connsiteY9" fmla="*/ 169125 h 172279"/>
                  <a:gd name="connsiteX10" fmla="*/ 450801 w 475493"/>
                  <a:gd name="connsiteY10" fmla="*/ 80792 h 172279"/>
                  <a:gd name="connsiteX11" fmla="*/ 473235 w 475493"/>
                  <a:gd name="connsiteY11" fmla="*/ 33120 h 172279"/>
                  <a:gd name="connsiteX12" fmla="*/ 425563 w 475493"/>
                  <a:gd name="connsiteY12" fmla="*/ 10686 h 17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5493" h="172279">
                    <a:moveTo>
                      <a:pt x="425563" y="14892"/>
                    </a:moveTo>
                    <a:cubicBezTo>
                      <a:pt x="425563" y="14892"/>
                      <a:pt x="424161" y="14892"/>
                      <a:pt x="422759" y="14892"/>
                    </a:cubicBezTo>
                    <a:lnTo>
                      <a:pt x="419954" y="14892"/>
                    </a:lnTo>
                    <a:cubicBezTo>
                      <a:pt x="419954" y="14892"/>
                      <a:pt x="419954" y="14892"/>
                      <a:pt x="419954" y="14892"/>
                    </a:cubicBezTo>
                    <a:lnTo>
                      <a:pt x="240484" y="96215"/>
                    </a:lnTo>
                    <a:lnTo>
                      <a:pt x="49797" y="2274"/>
                    </a:lnTo>
                    <a:cubicBezTo>
                      <a:pt x="30168" y="-4737"/>
                      <a:pt x="9136" y="5078"/>
                      <a:pt x="2126" y="23305"/>
                    </a:cubicBezTo>
                    <a:cubicBezTo>
                      <a:pt x="-3483" y="40130"/>
                      <a:pt x="2126" y="58358"/>
                      <a:pt x="17549" y="66771"/>
                    </a:cubicBezTo>
                    <a:lnTo>
                      <a:pt x="223659" y="169125"/>
                    </a:lnTo>
                    <a:cubicBezTo>
                      <a:pt x="233474" y="173331"/>
                      <a:pt x="244691" y="173331"/>
                      <a:pt x="254505" y="169125"/>
                    </a:cubicBezTo>
                    <a:lnTo>
                      <a:pt x="450801" y="80792"/>
                    </a:lnTo>
                    <a:cubicBezTo>
                      <a:pt x="470430" y="73781"/>
                      <a:pt x="480245" y="52749"/>
                      <a:pt x="473235" y="33120"/>
                    </a:cubicBezTo>
                    <a:cubicBezTo>
                      <a:pt x="466224" y="13490"/>
                      <a:pt x="445192" y="3676"/>
                      <a:pt x="425563" y="10686"/>
                    </a:cubicBezTo>
                    <a:close/>
                  </a:path>
                </a:pathLst>
              </a:custGeom>
              <a:grpFill/>
              <a:ln w="139065" cap="flat">
                <a:noFill/>
                <a:prstDash val="solid"/>
                <a:miter/>
              </a:ln>
            </p:spPr>
            <p:txBody>
              <a:bodyPr rtlCol="0" anchor="ctr"/>
              <a:lstStyle/>
              <a:p>
                <a:endParaRPr lang="zh-CN" altLang="en-US"/>
              </a:p>
            </p:txBody>
          </p:sp>
        </p:grpSp>
        <p:sp>
          <p:nvSpPr>
            <p:cNvPr id="40" name="文本框 39"/>
            <p:cNvSpPr txBox="1"/>
            <p:nvPr/>
          </p:nvSpPr>
          <p:spPr>
            <a:xfrm>
              <a:off x="4964296" y="2405731"/>
              <a:ext cx="8241030" cy="553720"/>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algn="l"/>
              <a:r>
                <a:rPr lang="zh-CN" altLang="en-US" sz="3600" b="1" dirty="0">
                  <a:solidFill>
                    <a:schemeClr val="accent1"/>
                  </a:solidFill>
                  <a:sym typeface="Arial" panose="020B0604020202020204" pitchFamily="34" charset="0"/>
                </a:rPr>
                <a:t>面向编码智能体的代码语义检索方法研究</a:t>
              </a:r>
              <a:endParaRPr lang="zh-CN" altLang="en-US" sz="3600" b="1" dirty="0">
                <a:solidFill>
                  <a:schemeClr val="accent1"/>
                </a:solidFill>
                <a:sym typeface="Arial" panose="020B0604020202020204" pitchFamily="34" charset="0"/>
              </a:endParaRPr>
            </a:p>
          </p:txBody>
        </p:sp>
      </p:grpSp>
      <p:sp>
        <p:nvSpPr>
          <p:cNvPr id="7" name="图形 46"/>
          <p:cNvSpPr/>
          <p:nvPr/>
        </p:nvSpPr>
        <p:spPr>
          <a:xfrm>
            <a:off x="4100899" y="4640647"/>
            <a:ext cx="206755" cy="234587"/>
          </a:xfrm>
          <a:custGeom>
            <a:avLst/>
            <a:gdLst>
              <a:gd name="connsiteX0" fmla="*/ 149765 w 206755"/>
              <a:gd name="connsiteY0" fmla="*/ 129885 h 234587"/>
              <a:gd name="connsiteX1" fmla="*/ 177598 w 206755"/>
              <a:gd name="connsiteY1" fmla="*/ 72895 h 234587"/>
              <a:gd name="connsiteX2" fmla="*/ 104703 w 206755"/>
              <a:gd name="connsiteY2" fmla="*/ 0 h 234587"/>
              <a:gd name="connsiteX3" fmla="*/ 30483 w 206755"/>
              <a:gd name="connsiteY3" fmla="*/ 71569 h 234587"/>
              <a:gd name="connsiteX4" fmla="*/ 58316 w 206755"/>
              <a:gd name="connsiteY4" fmla="*/ 128559 h 234587"/>
              <a:gd name="connsiteX5" fmla="*/ 0 w 206755"/>
              <a:gd name="connsiteY5" fmla="*/ 221334 h 234587"/>
              <a:gd name="connsiteX6" fmla="*/ 13254 w 206755"/>
              <a:gd name="connsiteY6" fmla="*/ 234588 h 234587"/>
              <a:gd name="connsiteX7" fmla="*/ 26507 w 206755"/>
              <a:gd name="connsiteY7" fmla="*/ 221334 h 234587"/>
              <a:gd name="connsiteX8" fmla="*/ 103378 w 206755"/>
              <a:gd name="connsiteY8" fmla="*/ 144464 h 234587"/>
              <a:gd name="connsiteX9" fmla="*/ 180248 w 206755"/>
              <a:gd name="connsiteY9" fmla="*/ 221334 h 234587"/>
              <a:gd name="connsiteX10" fmla="*/ 193502 w 206755"/>
              <a:gd name="connsiteY10" fmla="*/ 234588 h 234587"/>
              <a:gd name="connsiteX11" fmla="*/ 206755 w 206755"/>
              <a:gd name="connsiteY11" fmla="*/ 221334 h 234587"/>
              <a:gd name="connsiteX12" fmla="*/ 148440 w 206755"/>
              <a:gd name="connsiteY12" fmla="*/ 128559 h 234587"/>
              <a:gd name="connsiteX13" fmla="*/ 103378 w 206755"/>
              <a:gd name="connsiteY13" fmla="*/ 25182 h 234587"/>
              <a:gd name="connsiteX14" fmla="*/ 149765 w 206755"/>
              <a:gd name="connsiteY14" fmla="*/ 71569 h 234587"/>
              <a:gd name="connsiteX15" fmla="*/ 103378 w 206755"/>
              <a:gd name="connsiteY15" fmla="*/ 117957 h 234587"/>
              <a:gd name="connsiteX16" fmla="*/ 56990 w 206755"/>
              <a:gd name="connsiteY16" fmla="*/ 71569 h 234587"/>
              <a:gd name="connsiteX17" fmla="*/ 103378 w 206755"/>
              <a:gd name="connsiteY17" fmla="*/ 25182 h 23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755" h="234587">
                <a:moveTo>
                  <a:pt x="149765" y="129885"/>
                </a:moveTo>
                <a:cubicBezTo>
                  <a:pt x="166995" y="116631"/>
                  <a:pt x="177598" y="95426"/>
                  <a:pt x="177598" y="72895"/>
                </a:cubicBezTo>
                <a:cubicBezTo>
                  <a:pt x="177598" y="31809"/>
                  <a:pt x="144464" y="0"/>
                  <a:pt x="104703" y="0"/>
                </a:cubicBezTo>
                <a:cubicBezTo>
                  <a:pt x="64942" y="0"/>
                  <a:pt x="30483" y="31809"/>
                  <a:pt x="30483" y="71569"/>
                </a:cubicBezTo>
                <a:cubicBezTo>
                  <a:pt x="30483" y="95426"/>
                  <a:pt x="41086" y="115306"/>
                  <a:pt x="58316" y="128559"/>
                </a:cubicBezTo>
                <a:cubicBezTo>
                  <a:pt x="23856" y="145789"/>
                  <a:pt x="0" y="180248"/>
                  <a:pt x="0" y="221334"/>
                </a:cubicBezTo>
                <a:cubicBezTo>
                  <a:pt x="0" y="229286"/>
                  <a:pt x="6627" y="234588"/>
                  <a:pt x="13254" y="234588"/>
                </a:cubicBezTo>
                <a:cubicBezTo>
                  <a:pt x="19880" y="234588"/>
                  <a:pt x="26507" y="227961"/>
                  <a:pt x="26507" y="221334"/>
                </a:cubicBezTo>
                <a:cubicBezTo>
                  <a:pt x="26507" y="178923"/>
                  <a:pt x="60966" y="144464"/>
                  <a:pt x="103378" y="144464"/>
                </a:cubicBezTo>
                <a:cubicBezTo>
                  <a:pt x="145789" y="144464"/>
                  <a:pt x="180248" y="178923"/>
                  <a:pt x="180248" y="221334"/>
                </a:cubicBezTo>
                <a:cubicBezTo>
                  <a:pt x="180248" y="229286"/>
                  <a:pt x="186875" y="234588"/>
                  <a:pt x="193502" y="234588"/>
                </a:cubicBezTo>
                <a:cubicBezTo>
                  <a:pt x="200129" y="234588"/>
                  <a:pt x="206755" y="227961"/>
                  <a:pt x="206755" y="221334"/>
                </a:cubicBezTo>
                <a:cubicBezTo>
                  <a:pt x="206755" y="180248"/>
                  <a:pt x="182899" y="145789"/>
                  <a:pt x="148440" y="128559"/>
                </a:cubicBezTo>
                <a:close/>
                <a:moveTo>
                  <a:pt x="103378" y="25182"/>
                </a:moveTo>
                <a:cubicBezTo>
                  <a:pt x="128559" y="25182"/>
                  <a:pt x="149765" y="46387"/>
                  <a:pt x="149765" y="71569"/>
                </a:cubicBezTo>
                <a:cubicBezTo>
                  <a:pt x="149765" y="96751"/>
                  <a:pt x="128559" y="117957"/>
                  <a:pt x="103378" y="117957"/>
                </a:cubicBezTo>
                <a:cubicBezTo>
                  <a:pt x="78196" y="117957"/>
                  <a:pt x="56990" y="96751"/>
                  <a:pt x="56990" y="71569"/>
                </a:cubicBezTo>
                <a:cubicBezTo>
                  <a:pt x="56990" y="46387"/>
                  <a:pt x="78196" y="25182"/>
                  <a:pt x="103378" y="25182"/>
                </a:cubicBezTo>
                <a:close/>
              </a:path>
            </a:pathLst>
          </a:custGeom>
          <a:solidFill>
            <a:schemeClr val="tx1">
              <a:lumMod val="75000"/>
              <a:lumOff val="25000"/>
            </a:schemeClr>
          </a:solidFill>
          <a:ln w="128588" cap="flat">
            <a:noFill/>
            <a:prstDash val="solid"/>
            <a:miter/>
          </a:ln>
        </p:spPr>
        <p:txBody>
          <a:bodyPr rtlCol="0" anchor="ctr"/>
          <a:lstStyle/>
          <a:p>
            <a:endParaRPr lang="zh-CN" altLang="en-US"/>
          </a:p>
        </p:txBody>
      </p:sp>
      <p:grpSp>
        <p:nvGrpSpPr>
          <p:cNvPr id="12" name="组合 11"/>
          <p:cNvGrpSpPr/>
          <p:nvPr/>
        </p:nvGrpSpPr>
        <p:grpSpPr>
          <a:xfrm>
            <a:off x="6143603" y="4601132"/>
            <a:ext cx="317636" cy="269002"/>
            <a:chOff x="6143603" y="4601132"/>
            <a:chExt cx="317636" cy="269002"/>
          </a:xfrm>
          <a:solidFill>
            <a:schemeClr val="tx1">
              <a:lumMod val="75000"/>
              <a:lumOff val="25000"/>
            </a:schemeClr>
          </a:solidFill>
        </p:grpSpPr>
        <p:sp>
          <p:nvSpPr>
            <p:cNvPr id="9" name="任意多边形: 形状 8"/>
            <p:cNvSpPr/>
            <p:nvPr/>
          </p:nvSpPr>
          <p:spPr>
            <a:xfrm>
              <a:off x="6224152" y="4601132"/>
              <a:ext cx="237087" cy="269002"/>
            </a:xfrm>
            <a:custGeom>
              <a:avLst/>
              <a:gdLst>
                <a:gd name="connsiteX0" fmla="*/ 171736 w 237087"/>
                <a:gd name="connsiteY0" fmla="*/ 148939 h 269002"/>
                <a:gd name="connsiteX1" fmla="*/ 203652 w 237087"/>
                <a:gd name="connsiteY1" fmla="*/ 83588 h 269002"/>
                <a:gd name="connsiteX2" fmla="*/ 120063 w 237087"/>
                <a:gd name="connsiteY2" fmla="*/ 0 h 269002"/>
                <a:gd name="connsiteX3" fmla="*/ 34955 w 237087"/>
                <a:gd name="connsiteY3" fmla="*/ 82069 h 269002"/>
                <a:gd name="connsiteX4" fmla="*/ 66871 w 237087"/>
                <a:gd name="connsiteY4" fmla="*/ 147420 h 269002"/>
                <a:gd name="connsiteX5" fmla="*/ 0 w 237087"/>
                <a:gd name="connsiteY5" fmla="*/ 253805 h 269002"/>
                <a:gd name="connsiteX6" fmla="*/ 15198 w 237087"/>
                <a:gd name="connsiteY6" fmla="*/ 269003 h 269002"/>
                <a:gd name="connsiteX7" fmla="*/ 30396 w 237087"/>
                <a:gd name="connsiteY7" fmla="*/ 253805 h 269002"/>
                <a:gd name="connsiteX8" fmla="*/ 118544 w 237087"/>
                <a:gd name="connsiteY8" fmla="*/ 165657 h 269002"/>
                <a:gd name="connsiteX9" fmla="*/ 206691 w 237087"/>
                <a:gd name="connsiteY9" fmla="*/ 253805 h 269002"/>
                <a:gd name="connsiteX10" fmla="*/ 221889 w 237087"/>
                <a:gd name="connsiteY10" fmla="*/ 269003 h 269002"/>
                <a:gd name="connsiteX11" fmla="*/ 237087 w 237087"/>
                <a:gd name="connsiteY11" fmla="*/ 253805 h 269002"/>
                <a:gd name="connsiteX12" fmla="*/ 170216 w 237087"/>
                <a:gd name="connsiteY12" fmla="*/ 147420 h 269002"/>
                <a:gd name="connsiteX13" fmla="*/ 120063 w 237087"/>
                <a:gd name="connsiteY13" fmla="*/ 136781 h 269002"/>
                <a:gd name="connsiteX14" fmla="*/ 66871 w 237087"/>
                <a:gd name="connsiteY14" fmla="*/ 83588 h 269002"/>
                <a:gd name="connsiteX15" fmla="*/ 120063 w 237087"/>
                <a:gd name="connsiteY15" fmla="*/ 30396 h 269002"/>
                <a:gd name="connsiteX16" fmla="*/ 173256 w 237087"/>
                <a:gd name="connsiteY16" fmla="*/ 83588 h 269002"/>
                <a:gd name="connsiteX17" fmla="*/ 120063 w 237087"/>
                <a:gd name="connsiteY17" fmla="*/ 136781 h 26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087" h="269002">
                  <a:moveTo>
                    <a:pt x="171736" y="148939"/>
                  </a:moveTo>
                  <a:cubicBezTo>
                    <a:pt x="191494" y="133742"/>
                    <a:pt x="203652" y="109425"/>
                    <a:pt x="203652" y="83588"/>
                  </a:cubicBezTo>
                  <a:cubicBezTo>
                    <a:pt x="203652" y="36475"/>
                    <a:pt x="165657" y="0"/>
                    <a:pt x="120063" y="0"/>
                  </a:cubicBezTo>
                  <a:cubicBezTo>
                    <a:pt x="74470" y="0"/>
                    <a:pt x="34955" y="36475"/>
                    <a:pt x="34955" y="82069"/>
                  </a:cubicBezTo>
                  <a:cubicBezTo>
                    <a:pt x="34955" y="109425"/>
                    <a:pt x="47113" y="132222"/>
                    <a:pt x="66871" y="147420"/>
                  </a:cubicBezTo>
                  <a:cubicBezTo>
                    <a:pt x="27356" y="167177"/>
                    <a:pt x="0" y="206691"/>
                    <a:pt x="0" y="253805"/>
                  </a:cubicBezTo>
                  <a:cubicBezTo>
                    <a:pt x="0" y="262924"/>
                    <a:pt x="7599" y="269003"/>
                    <a:pt x="15198" y="269003"/>
                  </a:cubicBezTo>
                  <a:cubicBezTo>
                    <a:pt x="22797" y="269003"/>
                    <a:pt x="30396" y="261404"/>
                    <a:pt x="30396" y="253805"/>
                  </a:cubicBezTo>
                  <a:cubicBezTo>
                    <a:pt x="30396" y="205172"/>
                    <a:pt x="69910" y="165657"/>
                    <a:pt x="118544" y="165657"/>
                  </a:cubicBezTo>
                  <a:cubicBezTo>
                    <a:pt x="167177" y="165657"/>
                    <a:pt x="206691" y="205172"/>
                    <a:pt x="206691" y="253805"/>
                  </a:cubicBezTo>
                  <a:cubicBezTo>
                    <a:pt x="206691" y="262924"/>
                    <a:pt x="214290" y="269003"/>
                    <a:pt x="221889" y="269003"/>
                  </a:cubicBezTo>
                  <a:cubicBezTo>
                    <a:pt x="229488" y="269003"/>
                    <a:pt x="237087" y="261404"/>
                    <a:pt x="237087" y="253805"/>
                  </a:cubicBezTo>
                  <a:cubicBezTo>
                    <a:pt x="237087" y="206691"/>
                    <a:pt x="209731" y="167177"/>
                    <a:pt x="170216" y="147420"/>
                  </a:cubicBezTo>
                  <a:close/>
                  <a:moveTo>
                    <a:pt x="120063" y="136781"/>
                  </a:moveTo>
                  <a:cubicBezTo>
                    <a:pt x="91187" y="136781"/>
                    <a:pt x="66871" y="112464"/>
                    <a:pt x="66871" y="83588"/>
                  </a:cubicBezTo>
                  <a:cubicBezTo>
                    <a:pt x="66871" y="54712"/>
                    <a:pt x="91187" y="30396"/>
                    <a:pt x="120063" y="30396"/>
                  </a:cubicBezTo>
                  <a:cubicBezTo>
                    <a:pt x="148939" y="30396"/>
                    <a:pt x="173256" y="54712"/>
                    <a:pt x="173256" y="83588"/>
                  </a:cubicBezTo>
                  <a:cubicBezTo>
                    <a:pt x="173256" y="112464"/>
                    <a:pt x="148939" y="136781"/>
                    <a:pt x="120063" y="136781"/>
                  </a:cubicBezTo>
                  <a:close/>
                </a:path>
              </a:pathLst>
            </a:custGeom>
            <a:grpFill/>
            <a:ln w="147638" cap="flat">
              <a:noFill/>
              <a:prstDash val="solid"/>
              <a:miter/>
            </a:ln>
          </p:spPr>
          <p:txBody>
            <a:bodyPr rtlCol="0" anchor="ctr"/>
            <a:lstStyle/>
            <a:p>
              <a:endParaRPr lang="zh-CN" altLang="en-US"/>
            </a:p>
          </p:txBody>
        </p:sp>
        <p:sp>
          <p:nvSpPr>
            <p:cNvPr id="10" name="任意多边形: 形状 9"/>
            <p:cNvSpPr/>
            <p:nvPr/>
          </p:nvSpPr>
          <p:spPr>
            <a:xfrm>
              <a:off x="6143603" y="4640647"/>
              <a:ext cx="106385" cy="194533"/>
            </a:xfrm>
            <a:custGeom>
              <a:avLst/>
              <a:gdLst>
                <a:gd name="connsiteX0" fmla="*/ 97267 w 106385"/>
                <a:gd name="connsiteY0" fmla="*/ 113984 h 194533"/>
                <a:gd name="connsiteX1" fmla="*/ 97267 w 106385"/>
                <a:gd name="connsiteY1" fmla="*/ 107905 h 194533"/>
                <a:gd name="connsiteX2" fmla="*/ 82069 w 106385"/>
                <a:gd name="connsiteY2" fmla="*/ 92707 h 194533"/>
                <a:gd name="connsiteX3" fmla="*/ 51673 w 106385"/>
                <a:gd name="connsiteY3" fmla="*/ 62311 h 194533"/>
                <a:gd name="connsiteX4" fmla="*/ 82069 w 106385"/>
                <a:gd name="connsiteY4" fmla="*/ 31916 h 194533"/>
                <a:gd name="connsiteX5" fmla="*/ 92707 w 106385"/>
                <a:gd name="connsiteY5" fmla="*/ 33435 h 194533"/>
                <a:gd name="connsiteX6" fmla="*/ 98786 w 106385"/>
                <a:gd name="connsiteY6" fmla="*/ 33435 h 194533"/>
                <a:gd name="connsiteX7" fmla="*/ 106385 w 106385"/>
                <a:gd name="connsiteY7" fmla="*/ 4559 h 194533"/>
                <a:gd name="connsiteX8" fmla="*/ 103346 w 106385"/>
                <a:gd name="connsiteY8" fmla="*/ 3040 h 194533"/>
                <a:gd name="connsiteX9" fmla="*/ 83588 w 106385"/>
                <a:gd name="connsiteY9" fmla="*/ 0 h 194533"/>
                <a:gd name="connsiteX10" fmla="*/ 22797 w 106385"/>
                <a:gd name="connsiteY10" fmla="*/ 62311 h 194533"/>
                <a:gd name="connsiteX11" fmla="*/ 41034 w 106385"/>
                <a:gd name="connsiteY11" fmla="*/ 106385 h 194533"/>
                <a:gd name="connsiteX12" fmla="*/ 0 w 106385"/>
                <a:gd name="connsiteY12" fmla="*/ 179335 h 194533"/>
                <a:gd name="connsiteX13" fmla="*/ 15198 w 106385"/>
                <a:gd name="connsiteY13" fmla="*/ 194533 h 194533"/>
                <a:gd name="connsiteX14" fmla="*/ 30396 w 106385"/>
                <a:gd name="connsiteY14" fmla="*/ 179335 h 194533"/>
                <a:gd name="connsiteX15" fmla="*/ 85108 w 106385"/>
                <a:gd name="connsiteY15" fmla="*/ 124623 h 194533"/>
                <a:gd name="connsiteX16" fmla="*/ 98786 w 106385"/>
                <a:gd name="connsiteY16" fmla="*/ 115504 h 19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6385" h="194533">
                  <a:moveTo>
                    <a:pt x="97267" y="113984"/>
                  </a:moveTo>
                  <a:cubicBezTo>
                    <a:pt x="97267" y="113984"/>
                    <a:pt x="97267" y="109425"/>
                    <a:pt x="97267" y="107905"/>
                  </a:cubicBezTo>
                  <a:cubicBezTo>
                    <a:pt x="97267" y="98786"/>
                    <a:pt x="89668" y="92707"/>
                    <a:pt x="82069" y="92707"/>
                  </a:cubicBezTo>
                  <a:cubicBezTo>
                    <a:pt x="65351" y="92707"/>
                    <a:pt x="51673" y="79029"/>
                    <a:pt x="51673" y="62311"/>
                  </a:cubicBezTo>
                  <a:cubicBezTo>
                    <a:pt x="51673" y="45594"/>
                    <a:pt x="65351" y="31916"/>
                    <a:pt x="82069" y="31916"/>
                  </a:cubicBezTo>
                  <a:cubicBezTo>
                    <a:pt x="85108" y="31916"/>
                    <a:pt x="88148" y="31916"/>
                    <a:pt x="92707" y="33435"/>
                  </a:cubicBezTo>
                  <a:cubicBezTo>
                    <a:pt x="94227" y="33435"/>
                    <a:pt x="97267" y="33435"/>
                    <a:pt x="98786" y="33435"/>
                  </a:cubicBezTo>
                  <a:cubicBezTo>
                    <a:pt x="98786" y="22797"/>
                    <a:pt x="101826" y="13678"/>
                    <a:pt x="106385" y="4559"/>
                  </a:cubicBezTo>
                  <a:cubicBezTo>
                    <a:pt x="106385" y="4559"/>
                    <a:pt x="104866" y="4559"/>
                    <a:pt x="103346" y="3040"/>
                  </a:cubicBezTo>
                  <a:cubicBezTo>
                    <a:pt x="97267" y="0"/>
                    <a:pt x="89668" y="0"/>
                    <a:pt x="83588" y="0"/>
                  </a:cubicBezTo>
                  <a:cubicBezTo>
                    <a:pt x="50153" y="0"/>
                    <a:pt x="22797" y="27356"/>
                    <a:pt x="22797" y="62311"/>
                  </a:cubicBezTo>
                  <a:cubicBezTo>
                    <a:pt x="22797" y="79029"/>
                    <a:pt x="30396" y="94227"/>
                    <a:pt x="41034" y="106385"/>
                  </a:cubicBezTo>
                  <a:cubicBezTo>
                    <a:pt x="16718" y="121583"/>
                    <a:pt x="0" y="148939"/>
                    <a:pt x="0" y="179335"/>
                  </a:cubicBezTo>
                  <a:cubicBezTo>
                    <a:pt x="0" y="188454"/>
                    <a:pt x="7599" y="194533"/>
                    <a:pt x="15198" y="194533"/>
                  </a:cubicBezTo>
                  <a:cubicBezTo>
                    <a:pt x="22797" y="194533"/>
                    <a:pt x="30396" y="186934"/>
                    <a:pt x="30396" y="179335"/>
                  </a:cubicBezTo>
                  <a:cubicBezTo>
                    <a:pt x="30396" y="148939"/>
                    <a:pt x="54712" y="124623"/>
                    <a:pt x="85108" y="124623"/>
                  </a:cubicBezTo>
                  <a:cubicBezTo>
                    <a:pt x="91187" y="124623"/>
                    <a:pt x="97267" y="120063"/>
                    <a:pt x="98786" y="115504"/>
                  </a:cubicBezTo>
                  <a:close/>
                </a:path>
              </a:pathLst>
            </a:custGeom>
            <a:grpFill/>
            <a:ln w="147638" cap="flat">
              <a:noFill/>
              <a:prstDash val="solid"/>
              <a:miter/>
            </a:ln>
          </p:spPr>
          <p:txBody>
            <a:bodyPr rtlCol="0" anchor="ctr"/>
            <a:lstStyle/>
            <a:p>
              <a:endParaRPr lang="zh-CN" altLang="en-US"/>
            </a:p>
          </p:txBody>
        </p:sp>
      </p:grpSp>
      <p:sp>
        <p:nvSpPr>
          <p:cNvPr id="51" name="文本框 50"/>
          <p:cNvSpPr txBox="1"/>
          <p:nvPr/>
        </p:nvSpPr>
        <p:spPr>
          <a:xfrm>
            <a:off x="4390608" y="4657283"/>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汇报人：</a:t>
            </a:r>
            <a:r>
              <a:rPr lang="zh-CN" altLang="en-US" sz="1600" b="1" dirty="0">
                <a:solidFill>
                  <a:schemeClr val="tx1">
                    <a:lumMod val="75000"/>
                    <a:lumOff val="25000"/>
                  </a:schemeClr>
                </a:solidFill>
                <a:sym typeface="Arial" panose="020B0604020202020204" pitchFamily="34" charset="0"/>
              </a:rPr>
              <a:t>黄卓谌</a:t>
            </a:r>
            <a:endParaRPr lang="zh-CN" altLang="en-US" sz="1600" b="1" dirty="0">
              <a:solidFill>
                <a:schemeClr val="tx1">
                  <a:lumMod val="75000"/>
                  <a:lumOff val="25000"/>
                </a:schemeClr>
              </a:solidFill>
              <a:sym typeface="Arial" panose="020B0604020202020204" pitchFamily="34" charset="0"/>
            </a:endParaRPr>
          </a:p>
        </p:txBody>
      </p:sp>
      <p:sp>
        <p:nvSpPr>
          <p:cNvPr id="53" name="文本框 52"/>
          <p:cNvSpPr txBox="1"/>
          <p:nvPr/>
        </p:nvSpPr>
        <p:spPr>
          <a:xfrm>
            <a:off x="6547980" y="4657283"/>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指导老师：</a:t>
            </a:r>
            <a:r>
              <a:rPr lang="zh-CN" altLang="en-US" sz="1600" b="1" dirty="0">
                <a:solidFill>
                  <a:schemeClr val="tx1">
                    <a:lumMod val="75000"/>
                    <a:lumOff val="25000"/>
                  </a:schemeClr>
                </a:solidFill>
                <a:sym typeface="Arial" panose="020B0604020202020204" pitchFamily="34" charset="0"/>
              </a:rPr>
              <a:t>彭鑫</a:t>
            </a:r>
            <a:endParaRPr lang="zh-CN" altLang="en-US" sz="1600" b="1" dirty="0">
              <a:solidFill>
                <a:schemeClr val="tx1">
                  <a:lumMod val="75000"/>
                  <a:lumOff val="25000"/>
                </a:schemeClr>
              </a:solidFill>
              <a:sym typeface="Arial" panose="020B0604020202020204" pitchFamily="34" charset="0"/>
            </a:endParaRPr>
          </a:p>
        </p:txBody>
      </p:sp>
      <p:pic>
        <p:nvPicPr>
          <p:cNvPr id="2" name="log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562" y="740438"/>
            <a:ext cx="1256876" cy="1256876"/>
          </a:xfrm>
          <a:prstGeom prst="rect">
            <a:avLst/>
          </a:prstGeom>
        </p:spPr>
      </p:pic>
      <p:sp>
        <p:nvSpPr>
          <p:cNvPr id="8" name="矩形 7"/>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a:t>
            </a:r>
            <a:endParaRPr kumimoji="1" lang="en-US" altLang="zh-CN">
              <a:solidFill>
                <a:schemeClr val="tx1">
                  <a:lumMod val="50000"/>
                  <a:lumOff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2569406" y="1592187"/>
            <a:ext cx="1133966" cy="57888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80000" rIns="180000" rtlCol="0" anchor="ctr">
            <a:spAutoFit/>
          </a:bodyPr>
          <a:lstStyle/>
          <a:p>
            <a:pPr algn="ctr"/>
            <a:r>
              <a:rPr lang="zh-CN" altLang="en-US" sz="2800" dirty="0">
                <a:latin typeface="微软雅黑" panose="020B0503020204020204" pitchFamily="34" charset="-122"/>
                <a:ea typeface="微软雅黑" panose="020B0503020204020204" pitchFamily="34" charset="-122"/>
              </a:rPr>
              <a:t>目录</a:t>
            </a:r>
            <a:endParaRPr lang="zh-CN" altLang="en-US" sz="28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808729" y="1573852"/>
            <a:ext cx="2818079" cy="615553"/>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en-US" altLang="zh-CN" b="1" dirty="0">
                <a:solidFill>
                  <a:schemeClr val="accent1"/>
                </a:solidFill>
                <a:sym typeface="Arial" panose="020B0604020202020204" pitchFamily="34" charset="0"/>
              </a:rPr>
              <a:t>CONTENTS</a:t>
            </a:r>
            <a:endParaRPr lang="zh-CN" altLang="en-US" b="1" dirty="0">
              <a:solidFill>
                <a:schemeClr val="accent1"/>
              </a:solidFill>
              <a:sym typeface="Arial" panose="020B0604020202020204" pitchFamily="34" charset="0"/>
            </a:endParaRPr>
          </a:p>
        </p:txBody>
      </p:sp>
      <p:sp>
        <p:nvSpPr>
          <p:cNvPr id="5" name="文本框 4"/>
          <p:cNvSpPr txBox="1"/>
          <p:nvPr/>
        </p:nvSpPr>
        <p:spPr>
          <a:xfrm>
            <a:off x="3427095" y="2472055"/>
            <a:ext cx="3024505" cy="321945"/>
          </a:xfrm>
          <a:prstGeom prst="rect">
            <a:avLst/>
          </a:prstGeom>
          <a:noFill/>
        </p:spPr>
        <p:txBody>
          <a:bodyPr wrap="square" rtlCol="0">
            <a:spAutoFit/>
          </a:bodyPr>
          <a:lstStyle/>
          <a:p>
            <a:pPr marL="0" indent="0" algn="l">
              <a:lnSpc>
                <a:spcPts val="1800"/>
              </a:lnSpc>
              <a:buNone/>
            </a:pPr>
            <a:r>
              <a:rPr lang="zh-CN" alt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rPr>
              <a:t>研究</a:t>
            </a:r>
            <a:r>
              <a:rPr 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rPr>
              <a:t>背景与</a:t>
            </a:r>
            <a:r>
              <a:rPr lang="zh-CN" alt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rPr>
              <a:t>动机</a:t>
            </a:r>
            <a:endParaRPr lang="zh-CN" altLang="en-US" sz="2400" b="1" dirty="0" err="1">
              <a:solidFill>
                <a:srgbClr val="333333"/>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6" name="矩形: 圆角 5"/>
          <p:cNvSpPr/>
          <p:nvPr/>
        </p:nvSpPr>
        <p:spPr>
          <a:xfrm>
            <a:off x="2936137" y="2397968"/>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1</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7" name="矩形: 圆角 6"/>
          <p:cNvSpPr/>
          <p:nvPr/>
        </p:nvSpPr>
        <p:spPr>
          <a:xfrm>
            <a:off x="2936137" y="2934267"/>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2</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8" name="矩形: 圆角 7"/>
          <p:cNvSpPr/>
          <p:nvPr/>
        </p:nvSpPr>
        <p:spPr>
          <a:xfrm>
            <a:off x="2936137" y="4006865"/>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4</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9" name="矩形: 圆角 8"/>
          <p:cNvSpPr/>
          <p:nvPr/>
        </p:nvSpPr>
        <p:spPr>
          <a:xfrm>
            <a:off x="2936137" y="3470566"/>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3</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10" name="矩形: 圆角 9"/>
          <p:cNvSpPr/>
          <p:nvPr/>
        </p:nvSpPr>
        <p:spPr>
          <a:xfrm>
            <a:off x="2936137" y="4543041"/>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accent1"/>
                </a:solidFill>
                <a:latin typeface="Arial" panose="020B0604020202020204" pitchFamily="34" charset="0"/>
                <a:cs typeface="Arial" panose="020B0604020202020204" pitchFamily="34" charset="0"/>
              </a:rPr>
              <a:t>5</a:t>
            </a:r>
            <a:endParaRPr lang="zh-CN" altLang="en-US" sz="2000" b="1" dirty="0">
              <a:solidFill>
                <a:schemeClr val="accent1"/>
              </a:solidFill>
              <a:latin typeface="Arial" panose="020B0604020202020204" pitchFamily="34" charset="0"/>
              <a:cs typeface="Arial" panose="020B0604020202020204" pitchFamily="34" charset="0"/>
            </a:endParaRPr>
          </a:p>
        </p:txBody>
      </p:sp>
      <p:sp>
        <p:nvSpPr>
          <p:cNvPr id="12" name="文本框 11"/>
          <p:cNvSpPr txBox="1"/>
          <p:nvPr/>
        </p:nvSpPr>
        <p:spPr>
          <a:xfrm>
            <a:off x="3427095" y="2888615"/>
            <a:ext cx="3114675" cy="829945"/>
          </a:xfrm>
          <a:prstGeom prst="rect">
            <a:avLst/>
          </a:prstGeom>
          <a:noFill/>
        </p:spPr>
        <p:txBody>
          <a:bodyPr wrap="square" rtlCol="0">
            <a:spAutoFit/>
          </a:bodyPr>
          <a:lstStyle/>
          <a:p>
            <a:pPr algn="l"/>
            <a:r>
              <a:rPr lang="en-US" sz="2400" b="1" dirty="0">
                <a:solidFill>
                  <a:srgbClr val="333333"/>
                </a:solidFill>
                <a:latin typeface="微软雅黑" panose="020B0503020204020204" pitchFamily="34" charset="-122"/>
                <a:ea typeface="微软雅黑" panose="020B0503020204020204" pitchFamily="34" charset="-122"/>
                <a:sym typeface="+mn-ea"/>
              </a:rPr>
              <a:t>研究内容</a:t>
            </a:r>
            <a:r>
              <a:rPr lang="en-US" sz="2400" b="1" dirty="0" err="1">
                <a:solidFill>
                  <a:srgbClr val="333333"/>
                </a:solidFill>
                <a:latin typeface="微软雅黑" panose="020B0503020204020204" pitchFamily="34" charset="-122"/>
                <a:ea typeface="微软雅黑" panose="020B0503020204020204" pitchFamily="34" charset="-122"/>
                <a:sym typeface="+mn-ea"/>
              </a:rPr>
              <a:t>与目标</a:t>
            </a:r>
            <a:endParaRPr lang="en-US" sz="2400" b="1" dirty="0">
              <a:solidFill>
                <a:srgbClr val="333333"/>
              </a:solidFill>
              <a:latin typeface="微软雅黑" panose="020B0503020204020204" pitchFamily="34" charset="-122"/>
              <a:ea typeface="微软雅黑" panose="020B0503020204020204" pitchFamily="34" charset="-122"/>
            </a:endParaRPr>
          </a:p>
          <a:p>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427177" y="3423785"/>
            <a:ext cx="2320925" cy="460375"/>
          </a:xfrm>
          <a:prstGeom prst="rect">
            <a:avLst/>
          </a:prstGeom>
          <a:noFill/>
        </p:spPr>
        <p:txBody>
          <a:bodyPr wrap="non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研究方法</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及路线</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427177" y="4494188"/>
            <a:ext cx="2320925" cy="460375"/>
          </a:xfrm>
          <a:prstGeom prst="rect">
            <a:avLst/>
          </a:prstGeom>
          <a:noFill/>
        </p:spPr>
        <p:txBody>
          <a:bodyPr wrap="non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研究计划</a:t>
            </a: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与进度</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427177" y="3958986"/>
            <a:ext cx="1404620" cy="460375"/>
          </a:xfrm>
          <a:prstGeom prst="rect">
            <a:avLst/>
          </a:prstGeom>
          <a:noFill/>
        </p:spPr>
        <p:txBody>
          <a:bodyPr wrap="none" rtlCol="0">
            <a:spAutoFit/>
          </a:bodyPr>
          <a:lstStyle/>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预期成果</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8" name="矩形 17"/>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2</a:t>
            </a:r>
            <a:endParaRPr kumimoji="1" lang="en-US" altLang="zh-CN">
              <a:solidFill>
                <a:schemeClr val="tx1">
                  <a:lumMod val="50000"/>
                  <a:lumOff val="50000"/>
                </a:schemeClr>
              </a:solidFill>
            </a:endParaRPr>
          </a:p>
        </p:txBody>
      </p:sp>
      <p:sp>
        <p:nvSpPr>
          <p:cNvPr id="4" name="矩形: 圆角 9"/>
          <p:cNvSpPr/>
          <p:nvPr/>
        </p:nvSpPr>
        <p:spPr>
          <a:xfrm>
            <a:off x="2936137" y="5128511"/>
            <a:ext cx="363958" cy="363958"/>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dirty="0">
                <a:solidFill>
                  <a:schemeClr val="accent1"/>
                </a:solidFill>
                <a:latin typeface="Arial" panose="020B0604020202020204" pitchFamily="34" charset="0"/>
                <a:cs typeface="Arial" panose="020B0604020202020204" pitchFamily="34" charset="0"/>
              </a:rPr>
              <a:t>6</a:t>
            </a:r>
            <a:endParaRPr lang="en-US" altLang="zh-CN" sz="2000" b="1" dirty="0">
              <a:solidFill>
                <a:schemeClr val="accent1"/>
              </a:solidFill>
              <a:latin typeface="Arial" panose="020B0604020202020204" pitchFamily="34" charset="0"/>
              <a:cs typeface="Arial" panose="020B0604020202020204" pitchFamily="34" charset="0"/>
            </a:endParaRPr>
          </a:p>
        </p:txBody>
      </p:sp>
      <p:sp>
        <p:nvSpPr>
          <p:cNvPr id="11" name="文本框 10"/>
          <p:cNvSpPr txBox="1"/>
          <p:nvPr/>
        </p:nvSpPr>
        <p:spPr>
          <a:xfrm>
            <a:off x="3427177" y="5079658"/>
            <a:ext cx="1710055" cy="460375"/>
          </a:xfrm>
          <a:prstGeom prst="rect">
            <a:avLst/>
          </a:prstGeom>
          <a:noFill/>
        </p:spPr>
        <p:txBody>
          <a:bodyPr wrap="none" rtlCol="0">
            <a:spAutoFit/>
          </a:bodyPr>
          <a:p>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rPr>
              <a:t>总结与展望</a:t>
            </a:r>
            <a:endPar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1359" y="2502519"/>
            <a:ext cx="5550480" cy="1011613"/>
            <a:chOff x="2656412" y="2719778"/>
            <a:chExt cx="2117914" cy="386004"/>
          </a:xfrm>
        </p:grpSpPr>
        <p:sp>
          <p:nvSpPr>
            <p:cNvPr id="5" name="文本框 4"/>
            <p:cNvSpPr txBox="1"/>
            <p:nvPr/>
          </p:nvSpPr>
          <p:spPr>
            <a:xfrm>
              <a:off x="3115496" y="2719778"/>
              <a:ext cx="1629945" cy="281793"/>
            </a:xfrm>
            <a:prstGeom prst="rect">
              <a:avLst/>
            </a:prstGeom>
            <a:noFill/>
          </p:spPr>
          <p:txBody>
            <a:bodyPr wrap="none" lIns="0" tIns="0" rIns="0" bIns="0"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研究背景与</a:t>
              </a:r>
              <a:r>
                <a:rPr lang="zh-CN" altLang="en-US" sz="4800" b="1" dirty="0">
                  <a:solidFill>
                    <a:schemeClr val="accent1"/>
                  </a:solidFill>
                  <a:latin typeface="微软雅黑" panose="020B0503020204020204" pitchFamily="34" charset="-122"/>
                  <a:ea typeface="微软雅黑" panose="020B0503020204020204" pitchFamily="34" charset="-122"/>
                </a:rPr>
                <a:t>动机</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1</a:t>
              </a:r>
              <a:endParaRPr lang="zh-CN" altLang="en-US"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1658830" cy="105695"/>
            </a:xfrm>
            <a:prstGeom prst="rect">
              <a:avLst/>
            </a:prstGeom>
            <a:noFill/>
          </p:spPr>
          <p:txBody>
            <a:bodyPr wrap="none" lIns="0" tIns="0" rIns="0" bIns="0" rtlCol="0">
              <a:spAutoFit/>
            </a:bodyPr>
            <a:lstStyle/>
            <a:p>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Background and Significance</a:t>
              </a:r>
              <a:endParaRPr lang="zh-CN" altLang="en-US"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3</a:t>
            </a:r>
            <a:endParaRPr kumimoji="1" lang="en-US" altLang="zh-CN">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a:xfrm>
            <a:off x="870222" y="192542"/>
            <a:ext cx="10515600" cy="442595"/>
          </a:xfrm>
        </p:spPr>
        <p:txBody>
          <a:bodyPr/>
          <a:lstStyle/>
          <a:p>
            <a:r>
              <a:rPr lang="zh-CN" altLang="en-US" dirty="0"/>
              <a:t>研究背景与</a:t>
            </a:r>
            <a:r>
              <a:rPr lang="zh-CN" altLang="en-US" dirty="0"/>
              <a:t>动机</a:t>
            </a:r>
            <a:endParaRPr lang="zh-CN" altLang="en-US" dirty="0"/>
          </a:p>
        </p:txBody>
      </p:sp>
      <p:sp>
        <p:nvSpPr>
          <p:cNvPr id="5" name="文本框 4"/>
          <p:cNvSpPr txBox="1"/>
          <p:nvPr/>
        </p:nvSpPr>
        <p:spPr>
          <a:xfrm>
            <a:off x="320675" y="1029970"/>
            <a:ext cx="5361940" cy="420370"/>
          </a:xfrm>
          <a:prstGeom prst="rect">
            <a:avLst/>
          </a:prstGeom>
          <a:solidFill>
            <a:schemeClr val="bg1">
              <a:lumMod val="95000"/>
            </a:schemeClr>
          </a:solidFill>
        </p:spPr>
        <p:txBody>
          <a:bodyPr wrap="square" tIns="72000" bIns="7200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软件规模与复杂性</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持续增长导致的认知鸿沟</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文本框 5"/>
          <p:cNvSpPr txBox="1"/>
          <p:nvPr/>
        </p:nvSpPr>
        <p:spPr>
          <a:xfrm>
            <a:off x="320675" y="3510280"/>
            <a:ext cx="5361940" cy="420370"/>
          </a:xfrm>
          <a:prstGeom prst="rect">
            <a:avLst/>
          </a:prstGeom>
          <a:solidFill>
            <a:schemeClr val="bg1">
              <a:lumMod val="95000"/>
            </a:schemeClr>
          </a:solidFill>
        </p:spPr>
        <p:txBody>
          <a:bodyPr wrap="square" tIns="72000" bIns="72000">
            <a:spAutoFit/>
          </a:bodyPr>
          <a:lstStyle/>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复杂软件系统的知识抽象</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与建模的必要性</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9" name="TextBox 2"/>
          <p:cNvSpPr txBox="1"/>
          <p:nvPr/>
        </p:nvSpPr>
        <p:spPr>
          <a:xfrm>
            <a:off x="320675" y="1450340"/>
            <a:ext cx="5361305" cy="737235"/>
          </a:xfrm>
          <a:prstGeom prst="rect">
            <a:avLst/>
          </a:prstGeom>
          <a:noFill/>
        </p:spPr>
        <p:txBody>
          <a:bodyPr wrap="square" lIns="72000" rIns="72000">
            <a:spAutoFit/>
          </a:bodyPr>
          <a:lstStyle/>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有研究显示，随着软件规模日益增长，开发者往往会花费更多时间在理解旧代码，而非开发新功能</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321310" y="223583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软件系统知识的混杂与散布</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3" name="图片占位符 2"/>
          <p:cNvPicPr>
            <a:picLocks noChangeAspect="1"/>
          </p:cNvPicPr>
          <p:nvPr>
            <p:ph type="pic" sz="quarter" idx="12"/>
          </p:nvPr>
        </p:nvPicPr>
        <p:blipFill>
          <a:blip r:embed="rId2"/>
          <a:stretch>
            <a:fillRect/>
          </a:stretch>
        </p:blipFill>
        <p:spPr>
          <a:xfrm>
            <a:off x="7143115" y="4305935"/>
            <a:ext cx="3975100" cy="2062480"/>
          </a:xfrm>
          <a:prstGeom prst="rect">
            <a:avLst/>
          </a:prstGeom>
        </p:spPr>
      </p:pic>
      <p:sp>
        <p:nvSpPr>
          <p:cNvPr id="4" name="TextBox 2"/>
          <p:cNvSpPr txBox="1"/>
          <p:nvPr/>
        </p:nvSpPr>
        <p:spPr>
          <a:xfrm>
            <a:off x="321310" y="2682240"/>
            <a:ext cx="5361305" cy="737235"/>
          </a:xfrm>
          <a:prstGeom prst="rect">
            <a:avLst/>
          </a:prstGeom>
          <a:noFill/>
        </p:spPr>
        <p:txBody>
          <a:bodyPr wrap="square" lIns="72000" rIns="72000">
            <a:spAutoFit/>
          </a:bodyPr>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软件系统蕴含大量概念知识，如接口语义、数据含义、模块职责等，但他们分散在代码、注释、文档中，缺乏</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统一的显式表示</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Box 2"/>
          <p:cNvSpPr txBox="1"/>
          <p:nvPr/>
        </p:nvSpPr>
        <p:spPr>
          <a:xfrm>
            <a:off x="321945" y="3914140"/>
            <a:ext cx="5361305" cy="1060450"/>
          </a:xfrm>
          <a:prstGeom prst="rect">
            <a:avLst/>
          </a:prstGeom>
          <a:noFill/>
        </p:spPr>
        <p:txBody>
          <a:bodyPr wrap="square" lIns="72000" rIns="72000">
            <a:spAutoFit/>
          </a:bodyPr>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现代软件系统不再是单纯的算法实现，而是承载了大量领域知识、设计决策、业务规则和演化历史的复杂知识体，对知识进行</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抽象建模辅助理解能大大提高</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开发效率</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nvSpPr>
        <p:spPr>
          <a:xfrm>
            <a:off x="321945" y="506666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对软件系统的高质量理解可有效支撑</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下游任务</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矩形 10"/>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4</a:t>
            </a:r>
            <a:endParaRPr kumimoji="1" lang="en-US" altLang="zh-CN">
              <a:solidFill>
                <a:schemeClr val="tx1">
                  <a:lumMod val="50000"/>
                  <a:lumOff val="50000"/>
                </a:schemeClr>
              </a:solidFill>
            </a:endParaRPr>
          </a:p>
        </p:txBody>
      </p:sp>
      <p:sp>
        <p:nvSpPr>
          <p:cNvPr id="12" name="TextBox 2"/>
          <p:cNvSpPr txBox="1"/>
          <p:nvPr/>
        </p:nvSpPr>
        <p:spPr>
          <a:xfrm>
            <a:off x="320675" y="5492750"/>
            <a:ext cx="5361305" cy="737235"/>
          </a:xfrm>
          <a:prstGeom prst="rect">
            <a:avLst/>
          </a:prstGeom>
          <a:noFill/>
        </p:spPr>
        <p:txBody>
          <a:bodyPr wrap="square" lIns="72000" rIns="72000">
            <a:spAutoFit/>
          </a:bodyPr>
          <a:p>
            <a:pPr>
              <a:lnSpc>
                <a:spcPct val="150000"/>
              </a:lnSpc>
              <a:defRPr/>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软件工程不是单一的独立任务，而应以软件理解作为前提开展一系列下游任务，如缺陷定位、功能开发、软件维护</a:t>
            </a: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等</a:t>
            </a:r>
            <a:endPar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aphicFrame>
        <p:nvGraphicFramePr>
          <p:cNvPr id="18" name="图表 17"/>
          <p:cNvGraphicFramePr/>
          <p:nvPr/>
        </p:nvGraphicFramePr>
        <p:xfrm>
          <a:off x="6339840" y="1003935"/>
          <a:ext cx="5213350" cy="3001010"/>
        </p:xfrm>
        <a:graphic>
          <a:graphicData uri="http://schemas.openxmlformats.org/drawingml/2006/chart">
            <c:chart xmlns:c="http://schemas.openxmlformats.org/drawingml/2006/chart" xmlns:r="http://schemas.openxmlformats.org/officeDocument/2006/relationships" r:id="rId1"/>
          </a:graphicData>
        </a:graphic>
      </p:graphicFrame>
      <p:sp>
        <p:nvSpPr>
          <p:cNvPr id="20" name="文本框 19"/>
          <p:cNvSpPr txBox="1"/>
          <p:nvPr/>
        </p:nvSpPr>
        <p:spPr>
          <a:xfrm>
            <a:off x="7204075" y="1029970"/>
            <a:ext cx="3853815" cy="245110"/>
          </a:xfrm>
          <a:prstGeom prst="rect">
            <a:avLst/>
          </a:prstGeom>
          <a:noFill/>
        </p:spPr>
        <p:txBody>
          <a:bodyPr wrap="square" rtlCol="0" anchor="t">
            <a:spAutoFit/>
          </a:bodyPr>
          <a:p>
            <a:r>
              <a:rPr lang="en-US" altLang="zh-CN" sz="1000"/>
              <a:t>Source</a:t>
            </a:r>
            <a:r>
              <a:rPr lang="zh-CN" altLang="en-US" sz="1000"/>
              <a:t>：Measuring Program Comprehension</a:t>
            </a:r>
            <a:r>
              <a:rPr lang="en-US" altLang="zh-CN" sz="1000"/>
              <a:t>, </a:t>
            </a:r>
            <a:r>
              <a:rPr lang="zh-CN" altLang="en-US" sz="1000"/>
              <a:t>IEEE TSE, 2017</a:t>
            </a:r>
            <a:endParaRPr lang="zh-CN" alt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a:xfrm>
            <a:off x="870222" y="192542"/>
            <a:ext cx="10515600" cy="442595"/>
          </a:xfrm>
        </p:spPr>
        <p:txBody>
          <a:bodyPr/>
          <a:lstStyle/>
          <a:p>
            <a:r>
              <a:rPr lang="zh-CN" altLang="en-US" dirty="0"/>
              <a:t>研究现状：从人工理解到自动化再到</a:t>
            </a:r>
            <a:r>
              <a:rPr lang="zh-CN" altLang="en-US" dirty="0"/>
              <a:t>智能化的</a:t>
            </a:r>
            <a:r>
              <a:rPr lang="zh-CN" altLang="en-US" dirty="0"/>
              <a:t>转型</a:t>
            </a:r>
            <a:endParaRPr lang="zh-CN" altLang="en-US" dirty="0"/>
          </a:p>
        </p:txBody>
      </p:sp>
      <p:sp>
        <p:nvSpPr>
          <p:cNvPr id="11" name="矩形 10"/>
          <p:cNvSpPr/>
          <p:nvPr/>
        </p:nvSpPr>
        <p:spPr>
          <a:xfrm>
            <a:off x="375920" y="6368415"/>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5</a:t>
            </a:r>
            <a:endParaRPr kumimoji="1" lang="en-US" altLang="zh-CN">
              <a:solidFill>
                <a:schemeClr val="tx1">
                  <a:lumMod val="50000"/>
                  <a:lumOff val="50000"/>
                </a:schemeClr>
              </a:solidFill>
            </a:endParaRPr>
          </a:p>
        </p:txBody>
      </p:sp>
      <p:sp>
        <p:nvSpPr>
          <p:cNvPr id="2" name="文本框 1"/>
          <p:cNvSpPr txBox="1"/>
          <p:nvPr/>
        </p:nvSpPr>
        <p:spPr>
          <a:xfrm>
            <a:off x="268605" y="1240790"/>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基于源码结构的</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静态分析</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9" name="Image 0" descr="preencoded.png"/>
          <p:cNvPicPr>
            <a:picLocks noChangeAspect="1"/>
          </p:cNvPicPr>
          <p:nvPr/>
        </p:nvPicPr>
        <p:blipFill>
          <a:blip r:embed="rId1"/>
          <a:stretch>
            <a:fillRect/>
          </a:stretch>
        </p:blipFill>
        <p:spPr>
          <a:xfrm>
            <a:off x="268605" y="1661160"/>
            <a:ext cx="5361940" cy="921385"/>
          </a:xfrm>
          <a:prstGeom prst="rect">
            <a:avLst/>
          </a:prstGeom>
        </p:spPr>
      </p:pic>
      <p:sp>
        <p:nvSpPr>
          <p:cNvPr id="4" name="文本框 3"/>
          <p:cNvSpPr txBox="1"/>
          <p:nvPr/>
        </p:nvSpPr>
        <p:spPr>
          <a:xfrm>
            <a:off x="304800" y="1661160"/>
            <a:ext cx="5288915" cy="922020"/>
          </a:xfrm>
          <a:prstGeom prst="rect">
            <a:avLst/>
          </a:prstGeom>
          <a:noFill/>
        </p:spPr>
        <p:txBody>
          <a:bodyPr wrap="square" rtlCol="0">
            <a:spAutoFit/>
          </a:bodyPr>
          <a:p>
            <a:r>
              <a:rPr lang="zh-CN" altLang="en-US"/>
              <a:t>通过分析源码语法结构与依赖关系，构建调用图、依赖图和控制流图，为开发者提供对系统结构和执行路径的直观认知，如</a:t>
            </a:r>
            <a:r>
              <a:rPr lang="en-US" altLang="zh-CN"/>
              <a:t>joern</a:t>
            </a:r>
            <a:r>
              <a:rPr lang="zh-CN" altLang="en-US"/>
              <a:t>、</a:t>
            </a:r>
            <a:r>
              <a:rPr lang="en-US" altLang="zh-CN"/>
              <a:t>ctags</a:t>
            </a:r>
            <a:r>
              <a:rPr lang="zh-CN" altLang="en-US"/>
              <a:t>等</a:t>
            </a:r>
            <a:endParaRPr lang="zh-CN" altLang="en-US"/>
          </a:p>
        </p:txBody>
      </p:sp>
      <p:sp>
        <p:nvSpPr>
          <p:cNvPr id="10" name="Text 5"/>
          <p:cNvSpPr/>
          <p:nvPr/>
        </p:nvSpPr>
        <p:spPr>
          <a:xfrm>
            <a:off x="268605" y="834390"/>
            <a:ext cx="4808220" cy="511175"/>
          </a:xfrm>
          <a:prstGeom prst="rect">
            <a:avLst/>
          </a:prstGeom>
          <a:noFill/>
        </p:spPr>
        <p:txBody>
          <a:bodyPr wrap="square" lIns="0" tIns="0" rIns="0" bIns="0" rtlCol="0" anchor="t"/>
          <a:p>
            <a:pPr marL="0" indent="0" algn="l">
              <a:lnSpc>
                <a:spcPts val="1800"/>
              </a:lnSpc>
              <a:buNone/>
            </a:pPr>
            <a:endParaRPr lang="en-US" dirty="0">
              <a:latin typeface="微软雅黑" panose="020B0503020204020204" pitchFamily="34" charset="-122"/>
              <a:ea typeface="微软雅黑" panose="020B0503020204020204" pitchFamily="34" charset="-122"/>
            </a:endParaRPr>
          </a:p>
        </p:txBody>
      </p:sp>
      <p:sp>
        <p:nvSpPr>
          <p:cNvPr id="12" name="Shape 4"/>
          <p:cNvSpPr/>
          <p:nvPr/>
        </p:nvSpPr>
        <p:spPr>
          <a:xfrm>
            <a:off x="268605" y="1137920"/>
            <a:ext cx="5361940" cy="13970"/>
          </a:xfrm>
          <a:prstGeom prst="line">
            <a:avLst/>
          </a:prstGeom>
          <a:noFill/>
          <a:ln w="25400">
            <a:solidFill>
              <a:srgbClr val="2255A3"/>
            </a:solidFill>
            <a:prstDash val="solid"/>
          </a:ln>
        </p:spPr>
        <p:txBody>
          <a:bodyPr/>
          <a:p>
            <a:endParaRPr lang="zh-CN" altLang="en-US"/>
          </a:p>
        </p:txBody>
      </p:sp>
      <p:sp>
        <p:nvSpPr>
          <p:cNvPr id="15" name="文本框 14"/>
          <p:cNvSpPr txBox="1"/>
          <p:nvPr/>
        </p:nvSpPr>
        <p:spPr>
          <a:xfrm>
            <a:off x="268605" y="814070"/>
            <a:ext cx="1099820" cy="368300"/>
          </a:xfrm>
          <a:prstGeom prst="rect">
            <a:avLst/>
          </a:prstGeom>
          <a:noFill/>
        </p:spPr>
        <p:txBody>
          <a:bodyPr wrap="none" rtlCol="0">
            <a:spAutoFit/>
          </a:bodyPr>
          <a:p>
            <a:r>
              <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技术路线</a:t>
            </a:r>
            <a:endPar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endParaRPr>
          </a:p>
        </p:txBody>
      </p:sp>
      <p:sp>
        <p:nvSpPr>
          <p:cNvPr id="16" name="Shape 4"/>
          <p:cNvSpPr/>
          <p:nvPr/>
        </p:nvSpPr>
        <p:spPr>
          <a:xfrm>
            <a:off x="6364605" y="1158240"/>
            <a:ext cx="5288915" cy="13970"/>
          </a:xfrm>
          <a:prstGeom prst="line">
            <a:avLst/>
          </a:prstGeom>
          <a:noFill/>
          <a:ln w="25400">
            <a:solidFill>
              <a:srgbClr val="2255A3"/>
            </a:solidFill>
            <a:prstDash val="solid"/>
          </a:ln>
        </p:spPr>
        <p:txBody>
          <a:bodyPr/>
          <a:p>
            <a:endParaRPr lang="zh-CN" altLang="en-US"/>
          </a:p>
        </p:txBody>
      </p:sp>
      <p:sp>
        <p:nvSpPr>
          <p:cNvPr id="19" name="文本框 18"/>
          <p:cNvSpPr txBox="1"/>
          <p:nvPr/>
        </p:nvSpPr>
        <p:spPr>
          <a:xfrm>
            <a:off x="6364605" y="834390"/>
            <a:ext cx="1099820" cy="368300"/>
          </a:xfrm>
          <a:prstGeom prst="rect">
            <a:avLst/>
          </a:prstGeom>
          <a:noFill/>
        </p:spPr>
        <p:txBody>
          <a:bodyPr wrap="none" rtlCol="0">
            <a:spAutoFit/>
          </a:bodyPr>
          <a:p>
            <a:r>
              <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rPr>
              <a:t>存在缺陷</a:t>
            </a:r>
            <a:endParaRPr lang="zh-CN" altLang="en-US" b="1">
              <a:solidFill>
                <a:schemeClr val="accent1"/>
              </a:solidFill>
              <a:effectLst>
                <a:outerShdw blurRad="38100" dist="25400" dir="5400000" algn="ctr" rotWithShape="0">
                  <a:srgbClr val="6E747A">
                    <a:alpha val="43000"/>
                    <a:alpha val="43000"/>
                  </a:srgbClr>
                </a:outerShdw>
              </a:effectLst>
              <a:latin typeface="微软雅黑" charset="0"/>
              <a:ea typeface="微软雅黑" charset="0"/>
            </a:endParaRPr>
          </a:p>
        </p:txBody>
      </p:sp>
      <p:sp>
        <p:nvSpPr>
          <p:cNvPr id="20" name="文本框 19"/>
          <p:cNvSpPr txBox="1"/>
          <p:nvPr/>
        </p:nvSpPr>
        <p:spPr>
          <a:xfrm>
            <a:off x="6364605" y="1702435"/>
            <a:ext cx="5288915" cy="645160"/>
          </a:xfrm>
          <a:prstGeom prst="rect">
            <a:avLst/>
          </a:prstGeom>
          <a:noFill/>
        </p:spPr>
        <p:txBody>
          <a:bodyPr wrap="square" rtlCol="0">
            <a:spAutoFit/>
          </a:bodyPr>
          <a:p>
            <a:r>
              <a:rPr lang="zh-CN" altLang="en-US">
                <a:sym typeface="+mn-ea"/>
              </a:rPr>
              <a:t>停留在代码的结构和控制层面，缺乏对高层语义与领域概念的建模，</a:t>
            </a:r>
            <a:r>
              <a:rPr lang="zh-CN" altLang="en-US">
                <a:sym typeface="+mn-ea"/>
              </a:rPr>
              <a:t>无法理解其他更大的组件的功能</a:t>
            </a:r>
            <a:endParaRPr lang="zh-CN" altLang="en-US">
              <a:sym typeface="+mn-ea"/>
            </a:endParaRPr>
          </a:p>
        </p:txBody>
      </p:sp>
      <p:sp>
        <p:nvSpPr>
          <p:cNvPr id="21" name="文本框 20"/>
          <p:cNvSpPr txBox="1"/>
          <p:nvPr/>
        </p:nvSpPr>
        <p:spPr>
          <a:xfrm>
            <a:off x="268605" y="266255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基于深度学习的</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自然语言处理</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方法</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22" name="Image 0" descr="preencoded.png"/>
          <p:cNvPicPr>
            <a:picLocks noChangeAspect="1"/>
          </p:cNvPicPr>
          <p:nvPr/>
        </p:nvPicPr>
        <p:blipFill>
          <a:blip r:embed="rId1"/>
          <a:stretch>
            <a:fillRect/>
          </a:stretch>
        </p:blipFill>
        <p:spPr>
          <a:xfrm>
            <a:off x="267970" y="3082925"/>
            <a:ext cx="5361940" cy="1638300"/>
          </a:xfrm>
          <a:prstGeom prst="rect">
            <a:avLst/>
          </a:prstGeom>
        </p:spPr>
      </p:pic>
      <p:sp>
        <p:nvSpPr>
          <p:cNvPr id="23" name="文本框 22"/>
          <p:cNvSpPr txBox="1"/>
          <p:nvPr/>
        </p:nvSpPr>
        <p:spPr>
          <a:xfrm>
            <a:off x="305435" y="3077845"/>
            <a:ext cx="5288915" cy="1414780"/>
          </a:xfrm>
          <a:prstGeom prst="rect">
            <a:avLst/>
          </a:prstGeom>
          <a:noFill/>
        </p:spPr>
        <p:txBody>
          <a:bodyPr wrap="square" rtlCol="0">
            <a:spAutoFit/>
          </a:bodyPr>
          <a:p>
            <a:r>
              <a:rPr lang="zh-CN" altLang="en-US"/>
              <a:t>针对代码、注释或文档等</a:t>
            </a:r>
            <a:r>
              <a:rPr lang="zh-CN" altLang="en-US"/>
              <a:t>文本信息进行自然语言处理，提取语义信息，用于代码检索、功能定位和自动摘要生成，在一定程度上弥补了纯结构分析的语义缺陷</a:t>
            </a:r>
            <a:endParaRPr lang="zh-CN" altLang="en-US"/>
          </a:p>
          <a:p>
            <a:pPr algn="r"/>
            <a:endParaRPr lang="zh-CN" altLang="en-US" sz="1400">
              <a:latin typeface="+mn-ea"/>
            </a:endParaRPr>
          </a:p>
        </p:txBody>
      </p:sp>
      <p:sp>
        <p:nvSpPr>
          <p:cNvPr id="24" name="文本框 23"/>
          <p:cNvSpPr txBox="1"/>
          <p:nvPr/>
        </p:nvSpPr>
        <p:spPr>
          <a:xfrm>
            <a:off x="3295015" y="5375910"/>
            <a:ext cx="1782445" cy="213995"/>
          </a:xfrm>
          <a:prstGeom prst="rect">
            <a:avLst/>
          </a:prstGeom>
          <a:noFill/>
        </p:spPr>
        <p:txBody>
          <a:bodyPr wrap="square" rtlCol="0">
            <a:spAutoFit/>
          </a:bodyPr>
          <a:p>
            <a:endParaRPr lang="zh-CN" altLang="en-US" sz="800"/>
          </a:p>
        </p:txBody>
      </p:sp>
      <p:sp>
        <p:nvSpPr>
          <p:cNvPr id="25" name="文本框 24"/>
          <p:cNvSpPr txBox="1"/>
          <p:nvPr/>
        </p:nvSpPr>
        <p:spPr>
          <a:xfrm>
            <a:off x="698500" y="4399915"/>
            <a:ext cx="4933315" cy="275590"/>
          </a:xfrm>
          <a:prstGeom prst="rect">
            <a:avLst/>
          </a:prstGeom>
          <a:noFill/>
        </p:spPr>
        <p:txBody>
          <a:bodyPr wrap="square" rtlCol="0">
            <a:spAutoFit/>
          </a:bodyPr>
          <a:p>
            <a:pPr algn="r"/>
            <a:r>
              <a:rPr lang="zh-CN" altLang="en-US" sz="1200">
                <a:latin typeface="+mn-ea"/>
                <a:sym typeface="+mn-ea"/>
              </a:rPr>
              <a:t>Deep Code Comment Generation</a:t>
            </a:r>
            <a:r>
              <a:rPr lang="en-US" altLang="zh-CN" sz="1200">
                <a:latin typeface="+mn-ea"/>
                <a:sym typeface="+mn-ea"/>
              </a:rPr>
              <a:t>, </a:t>
            </a:r>
            <a:r>
              <a:rPr lang="zh-CN" altLang="en-US" sz="1200">
                <a:latin typeface="+mn-ea"/>
                <a:sym typeface="+mn-ea"/>
              </a:rPr>
              <a:t>Empirical Software</a:t>
            </a:r>
            <a:r>
              <a:rPr lang="en-US" altLang="zh-CN" sz="1200">
                <a:latin typeface="+mn-ea"/>
                <a:sym typeface="+mn-ea"/>
              </a:rPr>
              <a:t> </a:t>
            </a:r>
            <a:r>
              <a:rPr lang="zh-CN" altLang="en-US" sz="1200">
                <a:latin typeface="+mn-ea"/>
                <a:sym typeface="+mn-ea"/>
              </a:rPr>
              <a:t>Engineering, 2020</a:t>
            </a:r>
            <a:endParaRPr lang="zh-CN" altLang="en-US" sz="1200">
              <a:latin typeface="+mn-ea"/>
              <a:sym typeface="+mn-ea"/>
            </a:endParaRPr>
          </a:p>
        </p:txBody>
      </p:sp>
      <p:sp>
        <p:nvSpPr>
          <p:cNvPr id="26" name="文本框 25"/>
          <p:cNvSpPr txBox="1"/>
          <p:nvPr/>
        </p:nvSpPr>
        <p:spPr>
          <a:xfrm>
            <a:off x="6364605" y="3207385"/>
            <a:ext cx="5288915" cy="922020"/>
          </a:xfrm>
          <a:prstGeom prst="rect">
            <a:avLst/>
          </a:prstGeom>
          <a:noFill/>
        </p:spPr>
        <p:txBody>
          <a:bodyPr wrap="square" rtlCol="0">
            <a:spAutoFit/>
          </a:bodyPr>
          <a:p>
            <a:r>
              <a:rPr lang="zh-CN" altLang="en-US">
                <a:sym typeface="+mn-ea"/>
              </a:rPr>
              <a:t>高度依赖训练集的文本质量，当数据集内注释缺失、过时或与代码不一致时，生成的语义信息容易产生偏差</a:t>
            </a:r>
            <a:endParaRPr lang="zh-CN" altLang="en-US">
              <a:latin typeface="+mn-ea"/>
              <a:cs typeface="+mn-ea"/>
              <a:sym typeface="+mn-ea"/>
            </a:endParaRPr>
          </a:p>
        </p:txBody>
      </p:sp>
      <p:sp>
        <p:nvSpPr>
          <p:cNvPr id="3" name="文本框 2"/>
          <p:cNvSpPr txBox="1"/>
          <p:nvPr/>
        </p:nvSpPr>
        <p:spPr>
          <a:xfrm>
            <a:off x="269875" y="4779645"/>
            <a:ext cx="5361940" cy="420370"/>
          </a:xfrm>
          <a:prstGeom prst="rect">
            <a:avLst/>
          </a:prstGeom>
          <a:solidFill>
            <a:schemeClr val="bg1">
              <a:lumMod val="95000"/>
            </a:schemeClr>
          </a:solidFill>
        </p:spPr>
        <p:txBody>
          <a:bodyPr wrap="square" tIns="72000" bIns="72000">
            <a:spAutoFit/>
          </a:bodyPr>
          <a:p>
            <a:pPr algn="ct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基于大模型的软件系统</a:t>
            </a:r>
            <a:r>
              <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rPr>
              <a:t>分析工具</a:t>
            </a:r>
            <a:endParaRPr lang="zh-CN" altLang="en-US" b="1" dirty="0">
              <a:solidFill>
                <a:schemeClr val="accent1"/>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5" name="Image 0" descr="preencoded.png"/>
          <p:cNvPicPr>
            <a:picLocks noChangeAspect="1"/>
          </p:cNvPicPr>
          <p:nvPr/>
        </p:nvPicPr>
        <p:blipFill>
          <a:blip r:embed="rId1"/>
          <a:stretch>
            <a:fillRect/>
          </a:stretch>
        </p:blipFill>
        <p:spPr>
          <a:xfrm>
            <a:off x="268605" y="5217160"/>
            <a:ext cx="5361940" cy="1195705"/>
          </a:xfrm>
          <a:prstGeom prst="rect">
            <a:avLst/>
          </a:prstGeom>
        </p:spPr>
      </p:pic>
      <p:sp>
        <p:nvSpPr>
          <p:cNvPr id="6" name="文本框 5"/>
          <p:cNvSpPr txBox="1"/>
          <p:nvPr/>
        </p:nvSpPr>
        <p:spPr>
          <a:xfrm>
            <a:off x="308610" y="5234305"/>
            <a:ext cx="5323205" cy="1198880"/>
          </a:xfrm>
          <a:prstGeom prst="rect">
            <a:avLst/>
          </a:prstGeom>
          <a:noFill/>
        </p:spPr>
        <p:txBody>
          <a:bodyPr wrap="square" rtlCol="0">
            <a:spAutoFit/>
          </a:bodyPr>
          <a:p>
            <a:r>
              <a:rPr lang="zh-CN" altLang="en-US"/>
              <a:t>当前的主流方式，目前已取得了不错的效果，这类工具结合多种静态分析工具，由大模型生成自然语言解释、功能总结或修改建议，在交互性和易用性方面具有显著优势，如</a:t>
            </a:r>
            <a:r>
              <a:rPr lang="en-US" altLang="zh-CN"/>
              <a:t>trae-agent</a:t>
            </a:r>
            <a:r>
              <a:rPr lang="zh-CN" altLang="en-US"/>
              <a:t>、</a:t>
            </a:r>
            <a:r>
              <a:rPr lang="en-US" altLang="zh-CN"/>
              <a:t>deep-wiki</a:t>
            </a:r>
            <a:r>
              <a:rPr lang="zh-CN" altLang="en-US"/>
              <a:t>等</a:t>
            </a:r>
            <a:endParaRPr lang="zh-CN" altLang="en-US"/>
          </a:p>
        </p:txBody>
      </p:sp>
      <p:sp>
        <p:nvSpPr>
          <p:cNvPr id="7" name="文本框 6"/>
          <p:cNvSpPr txBox="1"/>
          <p:nvPr/>
        </p:nvSpPr>
        <p:spPr>
          <a:xfrm>
            <a:off x="6364605" y="5234305"/>
            <a:ext cx="5288915" cy="922020"/>
          </a:xfrm>
          <a:prstGeom prst="rect">
            <a:avLst/>
          </a:prstGeom>
          <a:noFill/>
        </p:spPr>
        <p:txBody>
          <a:bodyPr wrap="square" rtlCol="0">
            <a:spAutoFit/>
          </a:bodyPr>
          <a:p>
            <a:r>
              <a:rPr lang="zh-CN" altLang="en-US">
                <a:sym typeface="+mn-ea"/>
              </a:rPr>
              <a:t>未合理整合多源软件知识，未结构化建模的铺平式的语料输入无法让大模型理解不同源中的非同名概念，即便这些概念</a:t>
            </a:r>
            <a:r>
              <a:rPr lang="zh-CN" altLang="en-US">
                <a:sym typeface="+mn-ea"/>
              </a:rPr>
              <a:t>可能本义</a:t>
            </a:r>
            <a:r>
              <a:rPr lang="zh-CN" altLang="en-US">
                <a:sym typeface="+mn-ea"/>
              </a:rPr>
              <a:t>相同</a:t>
            </a:r>
            <a:endParaRPr lang="zh-CN" altLang="en-U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1359" y="2502519"/>
            <a:ext cx="5474780" cy="1011474"/>
            <a:chOff x="2656412" y="2719778"/>
            <a:chExt cx="2089029" cy="385951"/>
          </a:xfrm>
        </p:grpSpPr>
        <p:sp>
          <p:nvSpPr>
            <p:cNvPr id="5" name="文本框 4"/>
            <p:cNvSpPr txBox="1"/>
            <p:nvPr/>
          </p:nvSpPr>
          <p:spPr>
            <a:xfrm>
              <a:off x="3115496" y="2719778"/>
              <a:ext cx="1629945" cy="281793"/>
            </a:xfrm>
            <a:prstGeom prst="rect">
              <a:avLst/>
            </a:prstGeom>
            <a:noFill/>
          </p:spPr>
          <p:txBody>
            <a:bodyPr wrap="none" lIns="0" tIns="0" rIns="0" bIns="0"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研究内容</a:t>
              </a:r>
              <a:r>
                <a:rPr lang="zh-CN" altLang="en-US" sz="4800" b="1" dirty="0">
                  <a:solidFill>
                    <a:schemeClr val="accent1"/>
                  </a:solidFill>
                  <a:latin typeface="微软雅黑" panose="020B0503020204020204" pitchFamily="34" charset="-122"/>
                  <a:ea typeface="微软雅黑" panose="020B0503020204020204" pitchFamily="34" charset="-122"/>
                </a:rPr>
                <a:t>与目标</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2</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1390796" cy="105642"/>
            </a:xfrm>
            <a:prstGeom prst="rect">
              <a:avLst/>
            </a:prstGeom>
            <a:noFill/>
          </p:spPr>
          <p:txBody>
            <a:bodyPr wrap="none" lIns="0" tIns="0" rIns="0" bIns="0" rtlCol="0">
              <a:spAutoFit/>
            </a:bodyPr>
            <a:lstStyle/>
            <a:p>
              <a:pPr algn="l"/>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Content and Objectives</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6</a:t>
            </a:r>
            <a:endParaRPr kumimoji="1" lang="en-US" altLang="zh-CN">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a:xfrm>
            <a:off x="870222" y="192542"/>
            <a:ext cx="10515600" cy="442595"/>
          </a:xfrm>
        </p:spPr>
        <p:txBody>
          <a:bodyPr/>
          <a:lstStyle/>
          <a:p>
            <a:r>
              <a:rPr lang="zh-CN" altLang="en-US" dirty="0"/>
              <a:t>研究内容</a:t>
            </a:r>
            <a:r>
              <a:rPr lang="zh-CN" altLang="en-US" dirty="0"/>
              <a:t>与目标</a:t>
            </a:r>
            <a:endParaRPr lang="zh-CN" altLang="en-US" dirty="0"/>
          </a:p>
        </p:txBody>
      </p:sp>
      <p:sp>
        <p:nvSpPr>
          <p:cNvPr id="6" name="Shape 4"/>
          <p:cNvSpPr/>
          <p:nvPr/>
        </p:nvSpPr>
        <p:spPr>
          <a:xfrm rot="5400000">
            <a:off x="4296410" y="-2581275"/>
            <a:ext cx="1266825" cy="8716010"/>
          </a:xfrm>
          <a:prstGeom prst="round2SameRect">
            <a:avLst/>
          </a:prstGeom>
          <a:solidFill>
            <a:srgbClr val="F2F6FA"/>
          </a:solidFill>
        </p:spPr>
        <p:txBody>
          <a:bodyPr/>
          <a:p>
            <a:endParaRPr lang="zh-CN" altLang="en-US"/>
          </a:p>
        </p:txBody>
      </p:sp>
      <p:pic>
        <p:nvPicPr>
          <p:cNvPr id="11" name="Image 0" descr="preencoded.png"/>
          <p:cNvPicPr>
            <a:picLocks noChangeAspect="1"/>
          </p:cNvPicPr>
          <p:nvPr/>
        </p:nvPicPr>
        <p:blipFill>
          <a:blip r:embed="rId1"/>
          <a:stretch>
            <a:fillRect/>
          </a:stretch>
        </p:blipFill>
        <p:spPr>
          <a:xfrm>
            <a:off x="572135" y="1143635"/>
            <a:ext cx="8964930" cy="1266825"/>
          </a:xfrm>
          <a:prstGeom prst="rect">
            <a:avLst/>
          </a:prstGeom>
        </p:spPr>
      </p:pic>
      <p:sp>
        <p:nvSpPr>
          <p:cNvPr id="12" name="Text 6"/>
          <p:cNvSpPr/>
          <p:nvPr/>
        </p:nvSpPr>
        <p:spPr>
          <a:xfrm>
            <a:off x="733425" y="1617980"/>
            <a:ext cx="8392160" cy="627380"/>
          </a:xfrm>
          <a:prstGeom prst="rect">
            <a:avLst/>
          </a:prstGeom>
          <a:noFill/>
        </p:spPr>
        <p:txBody>
          <a:bodyPr wrap="square" lIns="0" tIns="0" rIns="0" bIns="0" rtlCol="0" anchor="t"/>
          <a:p>
            <a:pPr marL="0" indent="0" algn="l">
              <a:lnSpc>
                <a:spcPts val="1600"/>
              </a:lnSpc>
              <a:buNone/>
            </a:pPr>
            <a:r>
              <a:rPr lang="zh-CN" altLang="en-US" sz="1600" dirty="0">
                <a:latin typeface="微软雅黑" panose="020B0503020204020204" pitchFamily="34" charset="-122"/>
                <a:ea typeface="微软雅黑" panose="020B0503020204020204" pitchFamily="34" charset="-122"/>
              </a:rPr>
              <a:t>从生成式理解走向概念级建模：从多源软件工件中系统性地抽取和建模软件概念知识，构建可结构化、可演化、可复用的系统级知识库，并支持软件系统的</a:t>
            </a:r>
            <a:r>
              <a:rPr lang="zh-CN" altLang="en-US" sz="1600" dirty="0">
                <a:latin typeface="微软雅黑" panose="020B0503020204020204" pitchFamily="34" charset="-122"/>
                <a:ea typeface="微软雅黑" panose="020B0503020204020204" pitchFamily="34" charset="-122"/>
              </a:rPr>
              <a:t>理解、维护、更新等一系列</a:t>
            </a:r>
            <a:r>
              <a:rPr lang="zh-CN" altLang="en-US" sz="1600" dirty="0">
                <a:latin typeface="微软雅黑" panose="020B0503020204020204" pitchFamily="34" charset="-122"/>
                <a:ea typeface="微软雅黑" panose="020B0503020204020204" pitchFamily="34" charset="-122"/>
              </a:rPr>
              <a:t>下游任务</a:t>
            </a:r>
            <a:endParaRPr lang="zh-CN" altLang="en-US" sz="1600" dirty="0">
              <a:latin typeface="微软雅黑" panose="020B0503020204020204" pitchFamily="34" charset="-122"/>
              <a:ea typeface="微软雅黑" panose="020B0503020204020204" pitchFamily="34" charset="-122"/>
            </a:endParaRPr>
          </a:p>
        </p:txBody>
      </p:sp>
      <p:sp>
        <p:nvSpPr>
          <p:cNvPr id="13" name="Text 5"/>
          <p:cNvSpPr/>
          <p:nvPr/>
        </p:nvSpPr>
        <p:spPr>
          <a:xfrm>
            <a:off x="733425" y="1302385"/>
            <a:ext cx="8392478" cy="228600"/>
          </a:xfrm>
          <a:prstGeom prst="rect">
            <a:avLst/>
          </a:prstGeom>
          <a:noFill/>
        </p:spPr>
        <p:txBody>
          <a:bodyPr wrap="square" lIns="0" tIns="0" rIns="0" bIns="0" rtlCol="0" anchor="t"/>
          <a:p>
            <a:pPr marL="0" indent="0" algn="l">
              <a:lnSpc>
                <a:spcPts val="1800"/>
              </a:lnSpc>
              <a:buNone/>
            </a:pPr>
            <a:r>
              <a:rPr lang="en-US" sz="2000" b="1" dirty="0">
                <a:solidFill>
                  <a:srgbClr val="2255A3"/>
                </a:solidFill>
                <a:latin typeface="微软雅黑" panose="020B0503020204020204" pitchFamily="34" charset="-122"/>
                <a:ea typeface="微软雅黑" panose="020B0503020204020204" pitchFamily="34" charset="-122"/>
                <a:cs typeface="ui-sans-serif" pitchFamily="34" charset="-120"/>
              </a:rPr>
              <a:t>研究核心</a:t>
            </a:r>
            <a:endParaRPr lang="en-US" sz="2000" b="1" dirty="0">
              <a:latin typeface="微软雅黑" panose="020B0503020204020204" pitchFamily="34" charset="-122"/>
              <a:ea typeface="微软雅黑" panose="020B0503020204020204" pitchFamily="34" charset="-122"/>
            </a:endParaRPr>
          </a:p>
        </p:txBody>
      </p:sp>
      <p:sp>
        <p:nvSpPr>
          <p:cNvPr id="15" name="矩形 14"/>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7</a:t>
            </a:r>
            <a:endParaRPr kumimoji="1" lang="en-US" altLang="zh-CN">
              <a:solidFill>
                <a:schemeClr val="tx1">
                  <a:lumMod val="50000"/>
                  <a:lumOff val="50000"/>
                </a:schemeClr>
              </a:solidFill>
            </a:endParaRPr>
          </a:p>
        </p:txBody>
      </p:sp>
      <p:sp>
        <p:nvSpPr>
          <p:cNvPr id="16" name="Shape 7"/>
          <p:cNvSpPr/>
          <p:nvPr/>
        </p:nvSpPr>
        <p:spPr>
          <a:xfrm>
            <a:off x="1235710" y="2844165"/>
            <a:ext cx="3887470" cy="2722880"/>
          </a:xfrm>
          <a:prstGeom prst="roundRect">
            <a:avLst>
              <a:gd name="adj" fmla="val 2974"/>
            </a:avLst>
          </a:prstGeom>
          <a:solidFill>
            <a:srgbClr val="FFFFFF"/>
          </a:solidFill>
          <a:ln w="25400">
            <a:solidFill>
              <a:srgbClr val="2255A3"/>
            </a:solidFill>
            <a:prstDash val="solid"/>
          </a:ln>
          <a:effectLst>
            <a:outerShdw blurRad="76200" dist="50800" dir="5400000" algn="bl" rotWithShape="0">
              <a:srgbClr val="000000">
                <a:alpha val="10000"/>
              </a:srgbClr>
            </a:outerShdw>
          </a:effectLst>
        </p:spPr>
        <p:txBody>
          <a:bodyPr/>
          <a:p>
            <a:endParaRPr lang="zh-CN" altLang="en-US"/>
          </a:p>
        </p:txBody>
      </p:sp>
      <p:sp>
        <p:nvSpPr>
          <p:cNvPr id="17" name="Shape 8"/>
          <p:cNvSpPr/>
          <p:nvPr/>
        </p:nvSpPr>
        <p:spPr>
          <a:xfrm>
            <a:off x="1440180" y="2955925"/>
            <a:ext cx="529590" cy="485140"/>
          </a:xfrm>
          <a:prstGeom prst="roundRect">
            <a:avLst>
              <a:gd name="adj" fmla="val 16667"/>
            </a:avLst>
          </a:prstGeom>
          <a:solidFill>
            <a:srgbClr val="2255A3"/>
          </a:solidFill>
        </p:spPr>
        <p:txBody>
          <a:bodyPr/>
          <a:p>
            <a:endParaRPr lang="zh-CN" altLang="en-US"/>
          </a:p>
        </p:txBody>
      </p:sp>
      <p:sp>
        <p:nvSpPr>
          <p:cNvPr id="18" name="Text 9"/>
          <p:cNvSpPr/>
          <p:nvPr/>
        </p:nvSpPr>
        <p:spPr>
          <a:xfrm>
            <a:off x="1426210" y="2956560"/>
            <a:ext cx="556895" cy="485140"/>
          </a:xfrm>
          <a:prstGeom prst="rect">
            <a:avLst/>
          </a:prstGeom>
          <a:noFill/>
        </p:spPr>
        <p:txBody>
          <a:bodyPr wrap="square" lIns="0" tIns="0" rIns="0" bIns="0" rtlCol="0" anchor="ctr"/>
          <a:p>
            <a:pPr marL="0" indent="0" algn="ctr">
              <a:lnSpc>
                <a:spcPts val="1800"/>
              </a:lnSpc>
              <a:buNone/>
            </a:pPr>
            <a:r>
              <a:rPr lang="en-US" sz="1400" b="1" dirty="0">
                <a:solidFill>
                  <a:srgbClr val="FFFFFF"/>
                </a:solidFill>
                <a:latin typeface="微软雅黑" panose="020B0503020204020204" pitchFamily="34" charset="-122"/>
                <a:ea typeface="微软雅黑" panose="020B0503020204020204" pitchFamily="34" charset="-122"/>
                <a:cs typeface="ui-sans-serif" pitchFamily="34" charset="-120"/>
              </a:rPr>
              <a:t>01</a:t>
            </a:r>
            <a:endParaRPr lang="en-US" sz="1400" dirty="0">
              <a:latin typeface="微软雅黑" panose="020B0503020204020204" pitchFamily="34" charset="-122"/>
              <a:ea typeface="微软雅黑" panose="020B0503020204020204" pitchFamily="34" charset="-122"/>
            </a:endParaRPr>
          </a:p>
        </p:txBody>
      </p:sp>
      <p:sp>
        <p:nvSpPr>
          <p:cNvPr id="19" name="Text 10"/>
          <p:cNvSpPr/>
          <p:nvPr/>
        </p:nvSpPr>
        <p:spPr>
          <a:xfrm>
            <a:off x="2045335" y="3042285"/>
            <a:ext cx="3107055" cy="323850"/>
          </a:xfrm>
          <a:prstGeom prst="rect">
            <a:avLst/>
          </a:prstGeom>
          <a:noFill/>
        </p:spPr>
        <p:txBody>
          <a:bodyPr wrap="square" lIns="0" tIns="0" rIns="0" bIns="0" rtlCol="0" anchor="ctr"/>
          <a:p>
            <a:pPr marL="0" indent="0" algn="l">
              <a:lnSpc>
                <a:spcPts val="1800"/>
              </a:lnSpc>
              <a:buNone/>
            </a:pPr>
            <a:r>
              <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rPr>
              <a:t>构建系统级的概念知识库</a:t>
            </a:r>
            <a:endPar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endParaRPr>
          </a:p>
        </p:txBody>
      </p:sp>
      <p:sp>
        <p:nvSpPr>
          <p:cNvPr id="32" name="Text 11"/>
          <p:cNvSpPr/>
          <p:nvPr/>
        </p:nvSpPr>
        <p:spPr>
          <a:xfrm>
            <a:off x="1348105" y="3618230"/>
            <a:ext cx="499110" cy="546100"/>
          </a:xfrm>
          <a:prstGeom prst="rect">
            <a:avLst/>
          </a:prstGeom>
          <a:noFill/>
        </p:spPr>
        <p:txBody>
          <a:bodyPr wrap="square" lIns="0" tIns="0" rIns="0" bIns="0" rtlCol="0" anchor="t"/>
          <a:lstStyle/>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33" name="Text 12"/>
          <p:cNvSpPr/>
          <p:nvPr/>
        </p:nvSpPr>
        <p:spPr>
          <a:xfrm>
            <a:off x="1508125" y="3618230"/>
            <a:ext cx="2558415" cy="213360"/>
          </a:xfrm>
          <a:prstGeom prst="rect">
            <a:avLst/>
          </a:prstGeom>
          <a:noFill/>
        </p:spPr>
        <p:txBody>
          <a:bodyPr wrap="square" lIns="0" tIns="0" rIns="0" bIns="0" rtlCol="0" anchor="t"/>
          <a:lstStyle/>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多源软件工件的概念抽取</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34" name="Text 11"/>
          <p:cNvSpPr/>
          <p:nvPr/>
        </p:nvSpPr>
        <p:spPr>
          <a:xfrm>
            <a:off x="1348105" y="3988435"/>
            <a:ext cx="499110" cy="546100"/>
          </a:xfrm>
          <a:prstGeom prst="rect">
            <a:avLst/>
          </a:prstGeom>
          <a:noFill/>
        </p:spPr>
        <p:txBody>
          <a:bodyPr wrap="square" lIns="0" tIns="0" rIns="0" bIns="0" rtlCol="0" anchor="t"/>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35" name="Text 12"/>
          <p:cNvSpPr/>
          <p:nvPr/>
        </p:nvSpPr>
        <p:spPr>
          <a:xfrm>
            <a:off x="1508125" y="3988435"/>
            <a:ext cx="2558415" cy="213360"/>
          </a:xfrm>
          <a:prstGeom prst="rect">
            <a:avLst/>
          </a:prstGeom>
          <a:noFill/>
        </p:spPr>
        <p:txBody>
          <a:bodyPr wrap="square" lIns="0" tIns="0" rIns="0" bIns="0" rtlCol="0" anchor="t"/>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概念间关系</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建模</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36" name="Text 11"/>
          <p:cNvSpPr/>
          <p:nvPr/>
        </p:nvSpPr>
        <p:spPr>
          <a:xfrm>
            <a:off x="1348105" y="4358640"/>
            <a:ext cx="499110" cy="546100"/>
          </a:xfrm>
          <a:prstGeom prst="rect">
            <a:avLst/>
          </a:prstGeom>
          <a:noFill/>
        </p:spPr>
        <p:txBody>
          <a:bodyPr wrap="square" lIns="0" tIns="0" rIns="0" bIns="0" rtlCol="0" anchor="t"/>
          <a:lstStyle/>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37" name="Text 12"/>
          <p:cNvSpPr/>
          <p:nvPr/>
        </p:nvSpPr>
        <p:spPr>
          <a:xfrm>
            <a:off x="1508125" y="4358640"/>
            <a:ext cx="2558415" cy="213360"/>
          </a:xfrm>
          <a:prstGeom prst="rect">
            <a:avLst/>
          </a:prstGeom>
          <a:noFill/>
        </p:spPr>
        <p:txBody>
          <a:bodyPr wrap="square" lIns="0" tIns="0" rIns="0" bIns="0" rtlCol="0" anchor="t"/>
          <a:lstStyle/>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概念的</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定义与实现</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绑定</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38" name="Shape 17"/>
          <p:cNvSpPr/>
          <p:nvPr/>
        </p:nvSpPr>
        <p:spPr>
          <a:xfrm>
            <a:off x="1397000" y="4621530"/>
            <a:ext cx="3589655" cy="43180"/>
          </a:xfrm>
          <a:prstGeom prst="line">
            <a:avLst/>
          </a:prstGeom>
          <a:noFill/>
          <a:ln w="12700">
            <a:solidFill>
              <a:srgbClr val="E5E7EB"/>
            </a:solidFill>
            <a:prstDash val="solid"/>
          </a:ln>
        </p:spPr>
        <p:txBody>
          <a:bodyPr/>
          <a:p>
            <a:endParaRPr lang="zh-CN" altLang="en-US"/>
          </a:p>
        </p:txBody>
      </p:sp>
      <p:sp>
        <p:nvSpPr>
          <p:cNvPr id="39" name="Text 18"/>
          <p:cNvSpPr/>
          <p:nvPr/>
        </p:nvSpPr>
        <p:spPr>
          <a:xfrm>
            <a:off x="1348105" y="4824730"/>
            <a:ext cx="1167130" cy="423545"/>
          </a:xfrm>
          <a:prstGeom prst="rect">
            <a:avLst/>
          </a:prstGeom>
          <a:noFill/>
        </p:spPr>
        <p:txBody>
          <a:bodyPr wrap="square" lIns="0" tIns="0" rIns="0" bIns="0" rtlCol="0" anchor="t"/>
          <a:p>
            <a:pPr marL="0" indent="0" algn="l">
              <a:lnSpc>
                <a:spcPts val="1100"/>
              </a:lnSpc>
              <a:buNone/>
            </a:pP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目标</a:t>
            </a:r>
            <a:r>
              <a:rPr lang="zh-CN" altLang="en-US" sz="1600" dirty="0">
                <a:solidFill>
                  <a:srgbClr val="2255A3"/>
                </a:solidFill>
                <a:latin typeface="微软雅黑" panose="020B0503020204020204" pitchFamily="34" charset="-122"/>
                <a:ea typeface="微软雅黑" panose="020B0503020204020204" pitchFamily="34" charset="-122"/>
                <a:cs typeface="ui-sans-serif" pitchFamily="34" charset="-120"/>
              </a:rPr>
              <a:t>效果</a:t>
            </a: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a:t>
            </a:r>
            <a:endParaRPr lang="en-US" sz="1600"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2248535" y="4686300"/>
            <a:ext cx="3026410" cy="1076325"/>
          </a:xfrm>
          <a:prstGeom prst="rect">
            <a:avLst/>
          </a:prstGeom>
          <a:noFill/>
        </p:spPr>
        <p:txBody>
          <a:bodyPr wrap="square" rtlCol="0">
            <a:spAutoFit/>
          </a:bodyPr>
          <a:p>
            <a:r>
              <a:rPr lang="en-US" sz="1600" dirty="0">
                <a:solidFill>
                  <a:srgbClr val="4B5563"/>
                </a:solidFill>
                <a:latin typeface="微软雅黑" panose="020B0503020204020204" pitchFamily="34" charset="-122"/>
                <a:ea typeface="微软雅黑" panose="020B0503020204020204" pitchFamily="34" charset="-122"/>
                <a:cs typeface="ui-sans-serif" pitchFamily="34" charset="-120"/>
                <a:sym typeface="+mn-ea"/>
              </a:rPr>
              <a:t>形成超越教材或百科式描述的、与实际代码强关联的分层概念体系</a:t>
            </a:r>
            <a:endParaRPr lang="en-US" sz="1600" dirty="0">
              <a:solidFill>
                <a:srgbClr val="4B5563"/>
              </a:solidFill>
              <a:latin typeface="微软雅黑" panose="020B0503020204020204" pitchFamily="34" charset="-122"/>
              <a:ea typeface="微软雅黑" panose="020B0503020204020204" pitchFamily="34" charset="-122"/>
              <a:cs typeface="ui-sans-serif" pitchFamily="34" charset="-120"/>
            </a:endParaRPr>
          </a:p>
          <a:p>
            <a:endParaRPr lang="zh-CN" altLang="en-US" sz="1600"/>
          </a:p>
        </p:txBody>
      </p:sp>
      <p:sp>
        <p:nvSpPr>
          <p:cNvPr id="42" name="Shape 7"/>
          <p:cNvSpPr/>
          <p:nvPr/>
        </p:nvSpPr>
        <p:spPr>
          <a:xfrm>
            <a:off x="6836410" y="2856230"/>
            <a:ext cx="3888105" cy="2723515"/>
          </a:xfrm>
          <a:prstGeom prst="roundRect">
            <a:avLst>
              <a:gd name="adj" fmla="val 2974"/>
            </a:avLst>
          </a:prstGeom>
          <a:solidFill>
            <a:srgbClr val="FFFFFF"/>
          </a:solidFill>
          <a:ln w="25400">
            <a:solidFill>
              <a:srgbClr val="2255A3"/>
            </a:solidFill>
            <a:prstDash val="solid"/>
          </a:ln>
          <a:effectLst>
            <a:outerShdw blurRad="76200" dist="50800" dir="5400000" algn="bl" rotWithShape="0">
              <a:srgbClr val="000000">
                <a:alpha val="10000"/>
              </a:srgbClr>
            </a:outerShdw>
          </a:effectLst>
        </p:spPr>
        <p:txBody>
          <a:bodyPr/>
          <a:p>
            <a:endParaRPr lang="zh-CN" altLang="en-US"/>
          </a:p>
        </p:txBody>
      </p:sp>
      <p:sp>
        <p:nvSpPr>
          <p:cNvPr id="43" name="Shape 8"/>
          <p:cNvSpPr/>
          <p:nvPr/>
        </p:nvSpPr>
        <p:spPr>
          <a:xfrm>
            <a:off x="7018655" y="2974340"/>
            <a:ext cx="509270" cy="485775"/>
          </a:xfrm>
          <a:prstGeom prst="roundRect">
            <a:avLst>
              <a:gd name="adj" fmla="val 16667"/>
            </a:avLst>
          </a:prstGeom>
          <a:solidFill>
            <a:srgbClr val="2255A3"/>
          </a:solidFill>
        </p:spPr>
        <p:txBody>
          <a:bodyPr/>
          <a:p>
            <a:endParaRPr lang="zh-CN" altLang="en-US"/>
          </a:p>
        </p:txBody>
      </p:sp>
      <p:sp>
        <p:nvSpPr>
          <p:cNvPr id="44" name="Text 9"/>
          <p:cNvSpPr/>
          <p:nvPr/>
        </p:nvSpPr>
        <p:spPr>
          <a:xfrm>
            <a:off x="7004685" y="2974975"/>
            <a:ext cx="535305" cy="485775"/>
          </a:xfrm>
          <a:prstGeom prst="rect">
            <a:avLst/>
          </a:prstGeom>
          <a:noFill/>
        </p:spPr>
        <p:txBody>
          <a:bodyPr wrap="square" lIns="0" tIns="0" rIns="0" bIns="0" rtlCol="0" anchor="ctr"/>
          <a:p>
            <a:pPr marL="0" indent="0" algn="ctr">
              <a:lnSpc>
                <a:spcPts val="1800"/>
              </a:lnSpc>
              <a:buNone/>
            </a:pPr>
            <a:r>
              <a:rPr lang="en-US" sz="1400" b="1" dirty="0">
                <a:solidFill>
                  <a:srgbClr val="FFFFFF"/>
                </a:solidFill>
                <a:latin typeface="微软雅黑" panose="020B0503020204020204" pitchFamily="34" charset="-122"/>
                <a:ea typeface="微软雅黑" panose="020B0503020204020204" pitchFamily="34" charset="-122"/>
                <a:cs typeface="ui-sans-serif" pitchFamily="34" charset="-120"/>
              </a:rPr>
              <a:t>02</a:t>
            </a:r>
            <a:endParaRPr lang="en-US" sz="1400" dirty="0">
              <a:latin typeface="微软雅黑" panose="020B0503020204020204" pitchFamily="34" charset="-122"/>
              <a:ea typeface="微软雅黑" panose="020B0503020204020204" pitchFamily="34" charset="-122"/>
            </a:endParaRPr>
          </a:p>
        </p:txBody>
      </p:sp>
      <p:sp>
        <p:nvSpPr>
          <p:cNvPr id="45" name="Text 10"/>
          <p:cNvSpPr/>
          <p:nvPr/>
        </p:nvSpPr>
        <p:spPr>
          <a:xfrm>
            <a:off x="7623810" y="3060700"/>
            <a:ext cx="2987675" cy="323850"/>
          </a:xfrm>
          <a:prstGeom prst="rect">
            <a:avLst/>
          </a:prstGeom>
          <a:noFill/>
        </p:spPr>
        <p:txBody>
          <a:bodyPr wrap="square" lIns="0" tIns="0" rIns="0" bIns="0" rtlCol="0" anchor="ctr"/>
          <a:p>
            <a:pPr marL="0" indent="0" algn="l">
              <a:lnSpc>
                <a:spcPts val="1800"/>
              </a:lnSpc>
              <a:buNone/>
            </a:pPr>
            <a:r>
              <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rPr>
              <a:t>支持概念驱动的</a:t>
            </a:r>
            <a:r>
              <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rPr>
              <a:t>多种下游任务</a:t>
            </a:r>
            <a:endParaRPr lang="zh-CN" altLang="en-US" sz="1600" b="1" dirty="0">
              <a:solidFill>
                <a:schemeClr val="accent1"/>
              </a:solidFill>
              <a:effectLst>
                <a:outerShdw blurRad="38100" dist="25400" dir="5400000" algn="ctr" rotWithShape="0">
                  <a:srgbClr val="6E747A">
                    <a:alpha val="43000"/>
                    <a:alpha val="43000"/>
                  </a:srgbClr>
                </a:outerShdw>
              </a:effectLst>
              <a:latin typeface="微软雅黑" panose="020B0503020204020204" pitchFamily="34" charset="-122"/>
              <a:ea typeface="微软雅黑" panose="020B0503020204020204" pitchFamily="34" charset="-122"/>
            </a:endParaRPr>
          </a:p>
        </p:txBody>
      </p:sp>
      <p:sp>
        <p:nvSpPr>
          <p:cNvPr id="46" name="Text 11"/>
          <p:cNvSpPr/>
          <p:nvPr/>
        </p:nvSpPr>
        <p:spPr>
          <a:xfrm>
            <a:off x="6995160" y="3717925"/>
            <a:ext cx="480060" cy="546100"/>
          </a:xfrm>
          <a:prstGeom prst="rect">
            <a:avLst/>
          </a:prstGeom>
          <a:noFill/>
        </p:spPr>
        <p:txBody>
          <a:bodyPr wrap="square" lIns="0" tIns="0" rIns="0" bIns="0" rtlCol="0" anchor="t"/>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47" name="Text 12"/>
          <p:cNvSpPr/>
          <p:nvPr/>
        </p:nvSpPr>
        <p:spPr>
          <a:xfrm>
            <a:off x="7198360" y="3717925"/>
            <a:ext cx="3737610" cy="192405"/>
          </a:xfrm>
          <a:prstGeom prst="rect">
            <a:avLst/>
          </a:prstGeom>
          <a:noFill/>
        </p:spPr>
        <p:txBody>
          <a:bodyPr wrap="square" lIns="0" tIns="0" rIns="0" bIns="0" rtlCol="0" anchor="t"/>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构建概念—代码—文档的双向映射关系</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48" name="Text 11"/>
          <p:cNvSpPr/>
          <p:nvPr/>
        </p:nvSpPr>
        <p:spPr>
          <a:xfrm>
            <a:off x="6995160" y="4234180"/>
            <a:ext cx="480060" cy="546100"/>
          </a:xfrm>
          <a:prstGeom prst="rect">
            <a:avLst/>
          </a:prstGeom>
          <a:noFill/>
        </p:spPr>
        <p:txBody>
          <a:bodyPr wrap="square" lIns="0" tIns="0" rIns="0" bIns="0" rtlCol="0" anchor="t"/>
          <a:p>
            <a:pPr marL="0" indent="0" algn="l">
              <a:lnSpc>
                <a:spcPts val="1400"/>
              </a:lnSpc>
              <a:buNone/>
            </a:pPr>
            <a:r>
              <a:rPr lang="en-US" dirty="0">
                <a:solidFill>
                  <a:srgbClr val="FF7F2A"/>
                </a:solidFill>
                <a:latin typeface="微软雅黑" panose="020B0503020204020204" pitchFamily="34" charset="-122"/>
                <a:ea typeface="微软雅黑" panose="020B0503020204020204" pitchFamily="34" charset="-122"/>
                <a:cs typeface="ui-sans-serif" pitchFamily="34" charset="-120"/>
              </a:rPr>
              <a:t>▸</a:t>
            </a:r>
            <a:endParaRPr lang="en-US" dirty="0">
              <a:latin typeface="微软雅黑" panose="020B0503020204020204" pitchFamily="34" charset="-122"/>
              <a:ea typeface="微软雅黑" panose="020B0503020204020204" pitchFamily="34" charset="-122"/>
            </a:endParaRPr>
          </a:p>
        </p:txBody>
      </p:sp>
      <p:sp>
        <p:nvSpPr>
          <p:cNvPr id="49" name="Text 12"/>
          <p:cNvSpPr/>
          <p:nvPr/>
        </p:nvSpPr>
        <p:spPr>
          <a:xfrm>
            <a:off x="7194550" y="4234180"/>
            <a:ext cx="3343275" cy="280670"/>
          </a:xfrm>
          <a:prstGeom prst="rect">
            <a:avLst/>
          </a:prstGeom>
          <a:noFill/>
        </p:spPr>
        <p:txBody>
          <a:bodyPr wrap="square" lIns="0" tIns="0" rIns="0" bIns="0" rtlCol="0" anchor="t"/>
          <a:p>
            <a:pPr marL="0" indent="0" algn="l">
              <a:lnSpc>
                <a:spcPts val="1400"/>
              </a:lnSpc>
              <a:buNone/>
            </a:pP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可复用、可持续演化的</a:t>
            </a:r>
            <a:r>
              <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rPr>
              <a:t>软件基础设施</a:t>
            </a:r>
            <a:endParaRPr lang="zh-CN" altLang="en-US" sz="1600" dirty="0">
              <a:solidFill>
                <a:srgbClr val="374151"/>
              </a:solidFill>
              <a:latin typeface="微软雅黑" panose="020B0503020204020204" pitchFamily="34" charset="-122"/>
              <a:ea typeface="微软雅黑" panose="020B0503020204020204" pitchFamily="34" charset="-122"/>
              <a:cs typeface="ui-sans-serif" pitchFamily="34" charset="-120"/>
            </a:endParaRPr>
          </a:p>
        </p:txBody>
      </p:sp>
      <p:sp>
        <p:nvSpPr>
          <p:cNvPr id="52" name="Shape 17"/>
          <p:cNvSpPr/>
          <p:nvPr/>
        </p:nvSpPr>
        <p:spPr>
          <a:xfrm>
            <a:off x="6995160" y="4683125"/>
            <a:ext cx="3642995" cy="635"/>
          </a:xfrm>
          <a:prstGeom prst="line">
            <a:avLst/>
          </a:prstGeom>
          <a:noFill/>
          <a:ln w="12700">
            <a:solidFill>
              <a:srgbClr val="E5E7EB"/>
            </a:solidFill>
            <a:prstDash val="solid"/>
          </a:ln>
        </p:spPr>
        <p:txBody>
          <a:bodyPr/>
          <a:p>
            <a:endParaRPr lang="zh-CN" altLang="en-US"/>
          </a:p>
        </p:txBody>
      </p:sp>
      <p:sp>
        <p:nvSpPr>
          <p:cNvPr id="53" name="Text 18"/>
          <p:cNvSpPr/>
          <p:nvPr/>
        </p:nvSpPr>
        <p:spPr>
          <a:xfrm>
            <a:off x="6995160" y="4875530"/>
            <a:ext cx="1122045" cy="423545"/>
          </a:xfrm>
          <a:prstGeom prst="rect">
            <a:avLst/>
          </a:prstGeom>
          <a:noFill/>
        </p:spPr>
        <p:txBody>
          <a:bodyPr wrap="square" lIns="0" tIns="0" rIns="0" bIns="0" rtlCol="0" anchor="t"/>
          <a:p>
            <a:pPr marL="0" indent="0" algn="l">
              <a:lnSpc>
                <a:spcPts val="1100"/>
              </a:lnSpc>
              <a:buNone/>
            </a:pP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目标</a:t>
            </a:r>
            <a:r>
              <a:rPr lang="zh-CN" altLang="en-US" sz="1600" dirty="0">
                <a:solidFill>
                  <a:srgbClr val="2255A3"/>
                </a:solidFill>
                <a:latin typeface="微软雅黑" panose="020B0503020204020204" pitchFamily="34" charset="-122"/>
                <a:ea typeface="微软雅黑" panose="020B0503020204020204" pitchFamily="34" charset="-122"/>
                <a:cs typeface="ui-sans-serif" pitchFamily="34" charset="-120"/>
              </a:rPr>
              <a:t>效果</a:t>
            </a:r>
            <a:r>
              <a:rPr lang="en-US" sz="1600" dirty="0">
                <a:solidFill>
                  <a:srgbClr val="2255A3"/>
                </a:solidFill>
                <a:latin typeface="微软雅黑" panose="020B0503020204020204" pitchFamily="34" charset="-122"/>
                <a:ea typeface="微软雅黑" panose="020B0503020204020204" pitchFamily="34" charset="-122"/>
                <a:cs typeface="ui-sans-serif" pitchFamily="34" charset="-120"/>
              </a:rPr>
              <a:t>：</a:t>
            </a:r>
            <a:endParaRPr lang="en-US" sz="1600"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7884795" y="4737100"/>
            <a:ext cx="2909570" cy="829945"/>
          </a:xfrm>
          <a:prstGeom prst="rect">
            <a:avLst/>
          </a:prstGeom>
          <a:noFill/>
        </p:spPr>
        <p:txBody>
          <a:bodyPr wrap="square" rtlCol="0">
            <a:spAutoFit/>
          </a:bodyPr>
          <a:p>
            <a:r>
              <a:rPr lang="zh-CN" altLang="en-US" sz="1600"/>
              <a:t>不同于大模型基于版本快照的一次性生成解释，</a:t>
            </a:r>
            <a:r>
              <a:rPr lang="zh-CN" altLang="en-US" sz="1600"/>
              <a:t>应该形成概念驱动的软件理解范式</a:t>
            </a:r>
            <a:endParaRPr lang="zh-CN"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221359" y="2502519"/>
            <a:ext cx="5474780" cy="1011474"/>
            <a:chOff x="2656412" y="2719778"/>
            <a:chExt cx="2089029" cy="385951"/>
          </a:xfrm>
        </p:grpSpPr>
        <p:sp>
          <p:nvSpPr>
            <p:cNvPr id="5" name="文本框 4"/>
            <p:cNvSpPr txBox="1"/>
            <p:nvPr/>
          </p:nvSpPr>
          <p:spPr>
            <a:xfrm>
              <a:off x="3115496" y="2719778"/>
              <a:ext cx="1629945" cy="281793"/>
            </a:xfrm>
            <a:prstGeom prst="rect">
              <a:avLst/>
            </a:prstGeom>
            <a:noFill/>
          </p:spPr>
          <p:txBody>
            <a:bodyPr wrap="none" lIns="0" tIns="0" rIns="0" bIns="0" rtlCol="0">
              <a:spAutoFit/>
            </a:bodyPr>
            <a:lstStyle/>
            <a:p>
              <a:r>
                <a:rPr lang="zh-CN" altLang="en-US" sz="4800" b="1" dirty="0">
                  <a:solidFill>
                    <a:schemeClr val="accent1"/>
                  </a:solidFill>
                  <a:latin typeface="微软雅黑" panose="020B0503020204020204" pitchFamily="34" charset="-122"/>
                  <a:ea typeface="微软雅黑" panose="020B0503020204020204" pitchFamily="34" charset="-122"/>
                </a:rPr>
                <a:t>研究方法</a:t>
              </a:r>
              <a:r>
                <a:rPr lang="zh-CN" altLang="en-US" sz="4800" b="1" dirty="0">
                  <a:solidFill>
                    <a:schemeClr val="accent1"/>
                  </a:solidFill>
                  <a:latin typeface="微软雅黑" panose="020B0503020204020204" pitchFamily="34" charset="-122"/>
                  <a:ea typeface="微软雅黑" panose="020B0503020204020204" pitchFamily="34" charset="-122"/>
                </a:rPr>
                <a:t>与路线</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3</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1385950" cy="105642"/>
            </a:xfrm>
            <a:prstGeom prst="rect">
              <a:avLst/>
            </a:prstGeom>
            <a:noFill/>
          </p:spPr>
          <p:txBody>
            <a:bodyPr wrap="none" lIns="0" tIns="0" rIns="0" bIns="0" rtlCol="0">
              <a:spAutoFit/>
            </a:bodyPr>
            <a:lstStyle/>
            <a:p>
              <a:pPr algn="l"/>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Methods and Approach</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8</a:t>
            </a:r>
            <a:endParaRPr kumimoji="1" lang="en-US" altLang="zh-CN">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标题 26"/>
          <p:cNvSpPr>
            <a:spLocks noGrp="1"/>
          </p:cNvSpPr>
          <p:nvPr>
            <p:ph type="title"/>
          </p:nvPr>
        </p:nvSpPr>
        <p:spPr>
          <a:xfrm>
            <a:off x="870222" y="192542"/>
            <a:ext cx="10066818" cy="442595"/>
          </a:xfrm>
        </p:spPr>
        <p:txBody>
          <a:bodyPr/>
          <a:lstStyle/>
          <a:p>
            <a:r>
              <a:rPr dirty="0"/>
              <a:t>研究方法</a:t>
            </a:r>
            <a:r>
              <a:rPr dirty="0"/>
              <a:t>与路线</a:t>
            </a:r>
            <a:endParaRPr dirty="0"/>
          </a:p>
        </p:txBody>
      </p:sp>
      <p:sp>
        <p:nvSpPr>
          <p:cNvPr id="4" name="矩形 3"/>
          <p:cNvSpPr/>
          <p:nvPr/>
        </p:nvSpPr>
        <p:spPr>
          <a:xfrm>
            <a:off x="8239770" y="3071832"/>
            <a:ext cx="2549467" cy="2937060"/>
          </a:xfrm>
          <a:prstGeom prst="rect">
            <a:avLst/>
          </a:prstGeom>
          <a:solidFill>
            <a:schemeClr val="bg1">
              <a:lumMod val="9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5" name="矩形 4"/>
          <p:cNvSpPr/>
          <p:nvPr/>
        </p:nvSpPr>
        <p:spPr>
          <a:xfrm>
            <a:off x="4686271" y="3071832"/>
            <a:ext cx="2549467" cy="2937060"/>
          </a:xfrm>
          <a:prstGeom prst="rect">
            <a:avLst/>
          </a:prstGeom>
          <a:solidFill>
            <a:schemeClr val="bg1">
              <a:lumMod val="9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7" name="矩形 6"/>
          <p:cNvSpPr/>
          <p:nvPr/>
        </p:nvSpPr>
        <p:spPr>
          <a:xfrm>
            <a:off x="1132733" y="3069292"/>
            <a:ext cx="2549467" cy="2937060"/>
          </a:xfrm>
          <a:prstGeom prst="rect">
            <a:avLst/>
          </a:prstGeom>
          <a:solidFill>
            <a:schemeClr val="bg1">
              <a:lumMod val="95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3765"/>
            <a:endParaRPr lang="zh-CN" altLang="en-US" sz="2000" b="1" dirty="0">
              <a:solidFill>
                <a:schemeClr val="bg1"/>
              </a:solidFill>
            </a:endParaRPr>
          </a:p>
        </p:txBody>
      </p:sp>
      <p:sp>
        <p:nvSpPr>
          <p:cNvPr id="9" name="五边形 11"/>
          <p:cNvSpPr/>
          <p:nvPr/>
        </p:nvSpPr>
        <p:spPr>
          <a:xfrm>
            <a:off x="1132733" y="2599810"/>
            <a:ext cx="2787920" cy="472395"/>
          </a:xfrm>
          <a:prstGeom prst="homePlat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软件规模大、</a:t>
            </a:r>
            <a:r>
              <a:rPr lang="zh-CN" altLang="en-US" sz="1600" b="1" dirty="0">
                <a:solidFill>
                  <a:srgbClr val="FFFFFF"/>
                </a:solidFill>
                <a:latin typeface="微软雅黑" panose="020B0503020204020204" pitchFamily="34" charset="-122"/>
                <a:ea typeface="微软雅黑" panose="020B0503020204020204" pitchFamily="34" charset="-122"/>
              </a:rPr>
              <a:t>结构复杂</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16" name="任意多边形 58"/>
          <p:cNvSpPr/>
          <p:nvPr/>
        </p:nvSpPr>
        <p:spPr>
          <a:xfrm>
            <a:off x="4686271" y="2602350"/>
            <a:ext cx="2787920" cy="472395"/>
          </a:xfrm>
          <a:custGeom>
            <a:avLst/>
            <a:gdLst>
              <a:gd name="connsiteX0" fmla="*/ 0 w 2529604"/>
              <a:gd name="connsiteY0" fmla="*/ 0 h 428625"/>
              <a:gd name="connsiteX1" fmla="*/ 2315292 w 2529604"/>
              <a:gd name="connsiteY1" fmla="*/ 0 h 428625"/>
              <a:gd name="connsiteX2" fmla="*/ 2529604 w 2529604"/>
              <a:gd name="connsiteY2" fmla="*/ 214313 h 428625"/>
              <a:gd name="connsiteX3" fmla="*/ 2315292 w 2529604"/>
              <a:gd name="connsiteY3" fmla="*/ 428625 h 428625"/>
              <a:gd name="connsiteX4" fmla="*/ 0 w 2529604"/>
              <a:gd name="connsiteY4" fmla="*/ 428625 h 428625"/>
              <a:gd name="connsiteX5" fmla="*/ 0 w 2529604"/>
              <a:gd name="connsiteY5" fmla="*/ 427673 h 428625"/>
              <a:gd name="connsiteX6" fmla="*/ 213360 w 2529604"/>
              <a:gd name="connsiteY6" fmla="*/ 214313 h 428625"/>
              <a:gd name="connsiteX7" fmla="*/ 0 w 2529604"/>
              <a:gd name="connsiteY7" fmla="*/ 95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29604" h="428625">
                <a:moveTo>
                  <a:pt x="0" y="0"/>
                </a:moveTo>
                <a:lnTo>
                  <a:pt x="2315292" y="0"/>
                </a:lnTo>
                <a:lnTo>
                  <a:pt x="2529604" y="214313"/>
                </a:lnTo>
                <a:lnTo>
                  <a:pt x="2315292" y="428625"/>
                </a:lnTo>
                <a:lnTo>
                  <a:pt x="0" y="428625"/>
                </a:lnTo>
                <a:lnTo>
                  <a:pt x="0" y="427673"/>
                </a:lnTo>
                <a:lnTo>
                  <a:pt x="213360" y="214313"/>
                </a:lnTo>
                <a:lnTo>
                  <a:pt x="0" y="952"/>
                </a:ln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大规模</a:t>
            </a:r>
            <a:r>
              <a:rPr lang="zh-CN" altLang="en-US" sz="1600" b="1" dirty="0">
                <a:solidFill>
                  <a:srgbClr val="FFFFFF"/>
                </a:solidFill>
                <a:latin typeface="微软雅黑" panose="020B0503020204020204" pitchFamily="34" charset="-122"/>
                <a:ea typeface="微软雅黑" panose="020B0503020204020204" pitchFamily="34" charset="-122"/>
              </a:rPr>
              <a:t>的用户与开发者生态</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17" name="任意多边形 59"/>
          <p:cNvSpPr/>
          <p:nvPr/>
        </p:nvSpPr>
        <p:spPr>
          <a:xfrm>
            <a:off x="8239770" y="2602350"/>
            <a:ext cx="2787920" cy="472395"/>
          </a:xfrm>
          <a:custGeom>
            <a:avLst/>
            <a:gdLst>
              <a:gd name="connsiteX0" fmla="*/ 0 w 2529604"/>
              <a:gd name="connsiteY0" fmla="*/ 0 h 428625"/>
              <a:gd name="connsiteX1" fmla="*/ 2315292 w 2529604"/>
              <a:gd name="connsiteY1" fmla="*/ 0 h 428625"/>
              <a:gd name="connsiteX2" fmla="*/ 2529604 w 2529604"/>
              <a:gd name="connsiteY2" fmla="*/ 214313 h 428625"/>
              <a:gd name="connsiteX3" fmla="*/ 2315292 w 2529604"/>
              <a:gd name="connsiteY3" fmla="*/ 428625 h 428625"/>
              <a:gd name="connsiteX4" fmla="*/ 0 w 2529604"/>
              <a:gd name="connsiteY4" fmla="*/ 428625 h 428625"/>
              <a:gd name="connsiteX5" fmla="*/ 0 w 2529604"/>
              <a:gd name="connsiteY5" fmla="*/ 427673 h 428625"/>
              <a:gd name="connsiteX6" fmla="*/ 213360 w 2529604"/>
              <a:gd name="connsiteY6" fmla="*/ 214313 h 428625"/>
              <a:gd name="connsiteX7" fmla="*/ 0 w 2529604"/>
              <a:gd name="connsiteY7" fmla="*/ 95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29604" h="428625">
                <a:moveTo>
                  <a:pt x="0" y="0"/>
                </a:moveTo>
                <a:lnTo>
                  <a:pt x="2315292" y="0"/>
                </a:lnTo>
                <a:lnTo>
                  <a:pt x="2529604" y="214313"/>
                </a:lnTo>
                <a:lnTo>
                  <a:pt x="2315292" y="428625"/>
                </a:lnTo>
                <a:lnTo>
                  <a:pt x="0" y="428625"/>
                </a:lnTo>
                <a:lnTo>
                  <a:pt x="0" y="427673"/>
                </a:lnTo>
                <a:lnTo>
                  <a:pt x="213360" y="214313"/>
                </a:lnTo>
                <a:lnTo>
                  <a:pt x="0" y="952"/>
                </a:ln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软工研究的重要基准系统</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29" name="TextBox 7"/>
          <p:cNvSpPr txBox="1"/>
          <p:nvPr/>
        </p:nvSpPr>
        <p:spPr>
          <a:xfrm>
            <a:off x="148475" y="861351"/>
            <a:ext cx="9402040" cy="1014730"/>
          </a:xfrm>
          <a:prstGeom prst="rect">
            <a:avLst/>
          </a:prstGeom>
          <a:noFill/>
        </p:spPr>
        <p:txBody>
          <a:bodyPr wrap="square">
            <a:spAutoFit/>
          </a:bodyPr>
          <a:lstStyle/>
          <a:p>
            <a:pPr algn="l" fontAlgn="auto" latinLnBrk="1">
              <a:lnSpc>
                <a:spcPct val="150000"/>
              </a:lnSpc>
              <a:spcBef>
                <a:spcPts val="0"/>
              </a:spcBef>
              <a:spcAft>
                <a:spcPts val="0"/>
              </a:spcAft>
              <a:defRPr/>
            </a:pP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以 Linux Kernel 作为</a:t>
            </a:r>
            <a:r>
              <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rPr>
              <a:t>研究方法的主要实验对象</a:t>
            </a:r>
            <a:endParaRPr lang="zh-CN" altLang="en-US" sz="2400" b="1" dirty="0">
              <a:solidFill>
                <a:schemeClr val="accent1"/>
              </a:solidFill>
              <a:latin typeface="微软雅黑" panose="020B0503020204020204" pitchFamily="34" charset="-122"/>
              <a:ea typeface="微软雅黑" panose="020B0503020204020204" pitchFamily="34" charset="-122"/>
              <a:cs typeface="+mn-ea"/>
              <a:sym typeface="+mn-lt"/>
            </a:endParaRPr>
          </a:p>
          <a:p>
            <a:pPr algn="l" fontAlgn="auto" latinLnBrk="1">
              <a:lnSpc>
                <a:spcPct val="150000"/>
              </a:lnSpc>
              <a:spcBef>
                <a:spcPts val="0"/>
              </a:spcBef>
              <a:spcAft>
                <a:spcPts val="0"/>
              </a:spcAft>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Linux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Kernel</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是世界上规模最大、结构最复杂、演化时间最长的也是最权威的开源软件系统之一</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1" name="内容占位符 2"/>
          <p:cNvSpPr txBox="1"/>
          <p:nvPr/>
        </p:nvSpPr>
        <p:spPr bwMode="auto">
          <a:xfrm>
            <a:off x="1132733" y="3212572"/>
            <a:ext cx="2549467" cy="279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6000" tIns="45720" rIns="216000" bIns="45720" numCol="1" anchor="t" anchorCtr="0" compatLnSpc="1">
            <a:normAutofit/>
          </a:bodyPr>
          <a:lstStyle>
            <a:lvl1pPr marL="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4572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2pPr>
            <a:lvl3pPr marL="9144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3pPr>
            <a:lvl4pPr marL="13716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4pPr>
            <a:lvl5pPr marL="18288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en-US" altLang="zh-CN" sz="1400" dirty="0">
                <a:solidFill>
                  <a:schemeClr val="tx1">
                    <a:lumMod val="75000"/>
                    <a:lumOff val="25000"/>
                  </a:schemeClr>
                </a:solidFill>
                <a:sym typeface="微软雅黑" panose="020B0503020204020204" pitchFamily="34" charset="-122"/>
              </a:rPr>
              <a:t>Linux Kernel</a:t>
            </a:r>
            <a:r>
              <a:rPr lang="zh-CN" altLang="en-US" sz="1400" dirty="0">
                <a:solidFill>
                  <a:schemeClr val="tx1">
                    <a:lumMod val="75000"/>
                    <a:lumOff val="25000"/>
                  </a:schemeClr>
                </a:solidFill>
                <a:sym typeface="微软雅黑" panose="020B0503020204020204" pitchFamily="34" charset="-122"/>
              </a:rPr>
              <a:t>拥有</a:t>
            </a:r>
            <a:r>
              <a:rPr lang="zh-CN" altLang="en-US" sz="1400" dirty="0">
                <a:solidFill>
                  <a:schemeClr val="tx1">
                    <a:lumMod val="75000"/>
                    <a:lumOff val="25000"/>
                  </a:schemeClr>
                </a:solidFill>
                <a:sym typeface="微软雅黑" panose="020B0503020204020204" pitchFamily="34" charset="-122"/>
              </a:rPr>
              <a:t>千万行级别代码量，且知识高度抽象和分散，</a:t>
            </a:r>
            <a:r>
              <a:rPr lang="zh-CN" altLang="en-US" sz="1400" dirty="0">
                <a:solidFill>
                  <a:schemeClr val="tx1">
                    <a:lumMod val="75000"/>
                    <a:lumOff val="25000"/>
                  </a:schemeClr>
                </a:solidFill>
                <a:sym typeface="微软雅黑" panose="020B0503020204020204" pitchFamily="34" charset="-122"/>
              </a:rPr>
              <a:t>其高度复杂化能够充分验证方法的可行性和可扩展性。</a:t>
            </a:r>
            <a:endParaRPr lang="zh-CN" altLang="en-US" sz="1400" dirty="0">
              <a:solidFill>
                <a:schemeClr val="tx1">
                  <a:lumMod val="75000"/>
                  <a:lumOff val="25000"/>
                </a:schemeClr>
              </a:solidFill>
              <a:sym typeface="微软雅黑" panose="020B0503020204020204" pitchFamily="34" charset="-122"/>
            </a:endParaRPr>
          </a:p>
          <a:p>
            <a:pPr>
              <a:lnSpc>
                <a:spcPct val="150000"/>
              </a:lnSpc>
            </a:pPr>
            <a:endParaRPr lang="zh-CN" altLang="zh-CN" sz="1400" dirty="0">
              <a:solidFill>
                <a:schemeClr val="tx1">
                  <a:lumMod val="75000"/>
                  <a:lumOff val="25000"/>
                </a:schemeClr>
              </a:solidFill>
              <a:sym typeface="微软雅黑" panose="020B0503020204020204" pitchFamily="34" charset="-122"/>
            </a:endParaRPr>
          </a:p>
        </p:txBody>
      </p:sp>
      <p:sp>
        <p:nvSpPr>
          <p:cNvPr id="34" name="内容占位符 2"/>
          <p:cNvSpPr txBox="1"/>
          <p:nvPr/>
        </p:nvSpPr>
        <p:spPr bwMode="auto">
          <a:xfrm>
            <a:off x="4686271" y="3215112"/>
            <a:ext cx="2549467" cy="279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6000" tIns="45720" rIns="216000" bIns="45720" numCol="1" anchor="t" anchorCtr="0" compatLnSpc="1">
            <a:normAutofit/>
          </a:bodyPr>
          <a:lstStyle>
            <a:lvl1pPr marL="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4572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2pPr>
            <a:lvl3pPr marL="9144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3pPr>
            <a:lvl4pPr marL="13716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4pPr>
            <a:lvl5pPr marL="18288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sz="1400" dirty="0">
                <a:sym typeface="微软雅黑" panose="020B0503020204020204" pitchFamily="34" charset="-122"/>
              </a:rPr>
              <a:t>Linux 内核拥有规模庞大的用户群体和开发者社区</a:t>
            </a:r>
            <a:r>
              <a:rPr lang="zh-CN" sz="1400" dirty="0">
                <a:sym typeface="微软雅黑" panose="020B0503020204020204" pitchFamily="34" charset="-122"/>
              </a:rPr>
              <a:t>，经过长期的持续使用与迭代，其软件质量、架构设计和关键概念得到了反复验证，</a:t>
            </a:r>
            <a:r>
              <a:rPr lang="en-US" altLang="zh-CN" sz="1400" dirty="0">
                <a:sym typeface="微软雅黑" panose="020B0503020204020204" pitchFamily="34" charset="-122"/>
              </a:rPr>
              <a:t>代表了高质量、强约束的软件系统</a:t>
            </a:r>
            <a:endParaRPr lang="zh-CN" sz="1400" dirty="0">
              <a:sym typeface="微软雅黑" panose="020B0503020204020204" pitchFamily="34" charset="-122"/>
            </a:endParaRPr>
          </a:p>
        </p:txBody>
      </p:sp>
      <p:sp>
        <p:nvSpPr>
          <p:cNvPr id="35" name="内容占位符 2"/>
          <p:cNvSpPr txBox="1"/>
          <p:nvPr/>
        </p:nvSpPr>
        <p:spPr bwMode="auto">
          <a:xfrm>
            <a:off x="8239770" y="3215112"/>
            <a:ext cx="2549467" cy="2793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216000" tIns="45720" rIns="216000" bIns="45720" numCol="1" anchor="t" anchorCtr="0" compatLnSpc="1">
            <a:normAutofit fontScale="90000" lnSpcReduction="10000"/>
          </a:bodyPr>
          <a:lstStyle>
            <a:lvl1pPr marL="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1pPr>
            <a:lvl2pPr marL="4572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2pPr>
            <a:lvl3pPr marL="9144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3pPr>
            <a:lvl4pPr marL="13716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4pPr>
            <a:lvl5pPr marL="1828800" indent="0" algn="l" rtl="0" eaLnBrk="0" fontAlgn="base" hangingPunct="0">
              <a:spcBef>
                <a:spcPct val="20000"/>
              </a:spcBef>
              <a:spcAft>
                <a:spcPct val="0"/>
              </a:spcAft>
              <a:buFont typeface="Arial" panose="020B0604020202020204" pitchFamily="34" charset="0"/>
              <a:buNone/>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dirty="0">
                <a:sym typeface="微软雅黑" panose="020B0503020204020204" pitchFamily="34" charset="-122"/>
              </a:rPr>
              <a:t>作为软件工程领域的重要研究对象，围绕 Linux </a:t>
            </a:r>
            <a:r>
              <a:rPr lang="en-US" dirty="0">
                <a:sym typeface="微软雅黑" panose="020B0503020204020204" pitchFamily="34" charset="-122"/>
              </a:rPr>
              <a:t>Kernel</a:t>
            </a:r>
            <a:r>
              <a:rPr dirty="0">
                <a:sym typeface="微软雅黑" panose="020B0503020204020204" pitchFamily="34" charset="-122"/>
              </a:rPr>
              <a:t>已形成大量相关研究，本文方法构建</a:t>
            </a:r>
            <a:r>
              <a:rPr lang="zh-CN" dirty="0">
                <a:sym typeface="微软雅黑" panose="020B0503020204020204" pitchFamily="34" charset="-122"/>
              </a:rPr>
              <a:t>的</a:t>
            </a:r>
            <a:r>
              <a:rPr dirty="0">
                <a:sym typeface="微软雅黑" panose="020B0503020204020204" pitchFamily="34" charset="-122"/>
              </a:rPr>
              <a:t>系统级概念知识库，将可为后续研究提供可复用的知识支撑，</a:t>
            </a:r>
            <a:r>
              <a:rPr lang="zh-CN" dirty="0">
                <a:sym typeface="微软雅黑" panose="020B0503020204020204" pitchFamily="34" charset="-122"/>
              </a:rPr>
              <a:t>体现方法有效性的同时也</a:t>
            </a:r>
            <a:r>
              <a:rPr dirty="0">
                <a:sym typeface="微软雅黑" panose="020B0503020204020204" pitchFamily="34" charset="-122"/>
              </a:rPr>
              <a:t>具有显著学术与工程价值</a:t>
            </a:r>
            <a:endParaRPr dirty="0">
              <a:sym typeface="微软雅黑" panose="020B0503020204020204" pitchFamily="34" charset="-122"/>
            </a:endParaRPr>
          </a:p>
        </p:txBody>
      </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9</a:t>
            </a:r>
            <a:endParaRPr kumimoji="1" lang="en-US" altLang="zh-CN">
              <a:solidFill>
                <a:schemeClr val="tx1">
                  <a:lumMod val="50000"/>
                  <a:lumOff val="50000"/>
                </a:schemeClr>
              </a:solidFill>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00710" y="1292860"/>
            <a:ext cx="11280140" cy="5003165"/>
            <a:chOff x="571500" y="1457325"/>
            <a:chExt cx="8079963" cy="3314700"/>
          </a:xfrm>
        </p:grpSpPr>
        <p:sp>
          <p:nvSpPr>
            <p:cNvPr id="3" name="Shape 5"/>
            <p:cNvSpPr/>
            <p:nvPr/>
          </p:nvSpPr>
          <p:spPr>
            <a:xfrm>
              <a:off x="571500" y="1457325"/>
              <a:ext cx="2552663" cy="3314700"/>
            </a:xfrm>
            <a:prstGeom prst="roundRect">
              <a:avLst>
                <a:gd name="adj" fmla="val 2239"/>
              </a:avLst>
            </a:prstGeom>
            <a:solidFill>
              <a:srgbClr val="F8FAFC"/>
            </a:solidFill>
            <a:ln w="25400">
              <a:solidFill>
                <a:srgbClr val="2255A3"/>
              </a:solidFill>
              <a:prstDash val="solid"/>
            </a:ln>
          </p:spPr>
          <p:txBody>
            <a:bodyPr/>
            <a:p>
              <a:endParaRPr lang="zh-CN" altLang="en-US"/>
            </a:p>
          </p:txBody>
        </p:sp>
        <p:sp>
          <p:nvSpPr>
            <p:cNvPr id="13" name="Shape 6"/>
            <p:cNvSpPr/>
            <p:nvPr/>
          </p:nvSpPr>
          <p:spPr>
            <a:xfrm>
              <a:off x="728878" y="1517485"/>
              <a:ext cx="715480" cy="310477"/>
            </a:xfrm>
            <a:prstGeom prst="roundRect">
              <a:avLst>
                <a:gd name="adj" fmla="val 14286"/>
              </a:avLst>
            </a:prstGeom>
            <a:solidFill>
              <a:srgbClr val="2255A3"/>
            </a:solidFill>
          </p:spPr>
          <p:txBody>
            <a:bodyPr anchor="ctr" anchorCtr="0"/>
            <a:p>
              <a:pPr algn="ctr"/>
              <a:r>
                <a:rPr lang="zh-CN" altLang="en-US" b="1">
                  <a:solidFill>
                    <a:schemeClr val="bg1"/>
                  </a:solidFill>
                  <a:latin typeface="微软雅黑" charset="0"/>
                  <a:ea typeface="微软雅黑" charset="0"/>
                </a:rPr>
                <a:t>路线一</a:t>
              </a:r>
              <a:endParaRPr lang="zh-CN" altLang="en-US" b="1">
                <a:solidFill>
                  <a:schemeClr val="bg1"/>
                </a:solidFill>
                <a:latin typeface="微软雅黑" charset="0"/>
                <a:ea typeface="微软雅黑" charset="0"/>
              </a:endParaRPr>
            </a:p>
          </p:txBody>
        </p:sp>
        <p:sp>
          <p:nvSpPr>
            <p:cNvPr id="15" name="Text 8"/>
            <p:cNvSpPr/>
            <p:nvPr/>
          </p:nvSpPr>
          <p:spPr>
            <a:xfrm>
              <a:off x="735486" y="1931823"/>
              <a:ext cx="2462172" cy="200025"/>
            </a:xfrm>
            <a:prstGeom prst="rect">
              <a:avLst/>
            </a:prstGeom>
            <a:noFill/>
          </p:spPr>
          <p:txBody>
            <a:bodyPr wrap="square" lIns="0" tIns="0" rIns="0" bIns="0" rtlCol="0" anchor="t"/>
            <a:p>
              <a:pPr marL="0" indent="0" algn="l">
                <a:lnSpc>
                  <a:spcPts val="1600"/>
                </a:lnSpc>
                <a:buNone/>
              </a:pPr>
              <a:r>
                <a:rPr lang="zh-CN" altLang="en-US" sz="1400" dirty="0">
                  <a:latin typeface="微软雅黑" panose="020B0503020204020204" pitchFamily="34" charset="-122"/>
                  <a:ea typeface="微软雅黑" panose="020B0503020204020204" pitchFamily="34" charset="-122"/>
                </a:rPr>
                <a:t>多源软件工件中的概念候选抽取</a:t>
              </a:r>
              <a:endParaRPr lang="zh-CN" altLang="en-US" sz="1400" dirty="0">
                <a:latin typeface="微软雅黑" panose="020B0503020204020204" pitchFamily="34" charset="-122"/>
                <a:ea typeface="微软雅黑" panose="020B0503020204020204" pitchFamily="34" charset="-122"/>
              </a:endParaRPr>
            </a:p>
          </p:txBody>
        </p:sp>
        <p:sp>
          <p:nvSpPr>
            <p:cNvPr id="16" name="Shape 9"/>
            <p:cNvSpPr/>
            <p:nvPr/>
          </p:nvSpPr>
          <p:spPr>
            <a:xfrm>
              <a:off x="728663" y="2185988"/>
              <a:ext cx="2238338" cy="628650"/>
            </a:xfrm>
            <a:prstGeom prst="roundRect">
              <a:avLst>
                <a:gd name="adj" fmla="val 0"/>
              </a:avLst>
            </a:prstGeom>
            <a:solidFill>
              <a:srgbClr val="FEF2F2"/>
            </a:solidFill>
          </p:spPr>
          <p:txBody>
            <a:bodyPr/>
            <a:p>
              <a:endParaRPr lang="zh-CN" altLang="en-US"/>
            </a:p>
          </p:txBody>
        </p:sp>
        <p:sp>
          <p:nvSpPr>
            <p:cNvPr id="17" name="Shape 10"/>
            <p:cNvSpPr/>
            <p:nvPr/>
          </p:nvSpPr>
          <p:spPr>
            <a:xfrm>
              <a:off x="728663" y="2185988"/>
              <a:ext cx="7144" cy="628650"/>
            </a:xfrm>
            <a:prstGeom prst="line">
              <a:avLst/>
            </a:prstGeom>
            <a:noFill/>
            <a:ln w="50800">
              <a:solidFill>
                <a:srgbClr val="EF4444"/>
              </a:solidFill>
              <a:prstDash val="solid"/>
            </a:ln>
          </p:spPr>
          <p:txBody>
            <a:bodyPr/>
            <a:p>
              <a:endParaRPr lang="zh-CN" altLang="en-US"/>
            </a:p>
          </p:txBody>
        </p:sp>
        <p:sp>
          <p:nvSpPr>
            <p:cNvPr id="18" name="Text 11"/>
            <p:cNvSpPr/>
            <p:nvPr/>
          </p:nvSpPr>
          <p:spPr>
            <a:xfrm>
              <a:off x="842963" y="2271713"/>
              <a:ext cx="2257769" cy="142875"/>
            </a:xfrm>
            <a:prstGeom prst="rect">
              <a:avLst/>
            </a:prstGeom>
            <a:noFill/>
          </p:spPr>
          <p:txBody>
            <a:bodyPr wrap="square" lIns="0" tIns="0" rIns="0" bIns="0" rtlCol="0" anchor="t"/>
            <a:p>
              <a:pPr marL="0" indent="0" algn="l">
                <a:lnSpc>
                  <a:spcPts val="1100"/>
                </a:lnSpc>
                <a:buNone/>
              </a:pPr>
              <a:r>
                <a:rPr lang="en-US" sz="1200" dirty="0">
                  <a:solidFill>
                    <a:srgbClr val="B91C1C"/>
                  </a:solidFill>
                  <a:latin typeface="微软雅黑" panose="020B0503020204020204" pitchFamily="34" charset="-122"/>
                  <a:ea typeface="微软雅黑" panose="020B0503020204020204" pitchFamily="34" charset="-122"/>
                  <a:cs typeface="ui-sans-serif" pitchFamily="34" charset="-120"/>
                </a:rPr>
                <a:t>研究挑战</a:t>
              </a:r>
              <a:endParaRPr lang="en-US" sz="1200" dirty="0">
                <a:latin typeface="微软雅黑" panose="020B0503020204020204" pitchFamily="34" charset="-122"/>
                <a:ea typeface="微软雅黑" panose="020B0503020204020204" pitchFamily="34" charset="-122"/>
              </a:endParaRPr>
            </a:p>
          </p:txBody>
        </p:sp>
        <p:sp>
          <p:nvSpPr>
            <p:cNvPr id="20" name="Shape 13"/>
            <p:cNvSpPr/>
            <p:nvPr/>
          </p:nvSpPr>
          <p:spPr>
            <a:xfrm>
              <a:off x="728663" y="2928937"/>
              <a:ext cx="2238338" cy="1685925"/>
            </a:xfrm>
            <a:prstGeom prst="roundRect">
              <a:avLst>
                <a:gd name="adj" fmla="val 0"/>
              </a:avLst>
            </a:prstGeom>
            <a:solidFill>
              <a:srgbClr val="F0FDF4"/>
            </a:solidFill>
          </p:spPr>
          <p:txBody>
            <a:bodyPr/>
            <a:p>
              <a:endParaRPr lang="zh-CN" altLang="en-US"/>
            </a:p>
          </p:txBody>
        </p:sp>
        <p:sp>
          <p:nvSpPr>
            <p:cNvPr id="21" name="Shape 14"/>
            <p:cNvSpPr/>
            <p:nvPr/>
          </p:nvSpPr>
          <p:spPr>
            <a:xfrm>
              <a:off x="728663" y="2928937"/>
              <a:ext cx="7144" cy="1685925"/>
            </a:xfrm>
            <a:prstGeom prst="line">
              <a:avLst/>
            </a:prstGeom>
            <a:noFill/>
            <a:ln w="50800">
              <a:solidFill>
                <a:srgbClr val="16A34A"/>
              </a:solidFill>
              <a:prstDash val="solid"/>
            </a:ln>
          </p:spPr>
          <p:txBody>
            <a:bodyPr/>
            <a:p>
              <a:endParaRPr lang="zh-CN" altLang="en-US"/>
            </a:p>
          </p:txBody>
        </p:sp>
        <p:sp>
          <p:nvSpPr>
            <p:cNvPr id="22" name="Text 15"/>
            <p:cNvSpPr/>
            <p:nvPr/>
          </p:nvSpPr>
          <p:spPr>
            <a:xfrm>
              <a:off x="842963" y="3014663"/>
              <a:ext cx="2257769" cy="142875"/>
            </a:xfrm>
            <a:prstGeom prst="rect">
              <a:avLst/>
            </a:prstGeom>
            <a:noFill/>
          </p:spPr>
          <p:txBody>
            <a:bodyPr wrap="square" lIns="0" tIns="0" rIns="0" bIns="0" rtlCol="0" anchor="t"/>
            <a:p>
              <a:pPr marL="0" indent="0" algn="l">
                <a:lnSpc>
                  <a:spcPts val="1100"/>
                </a:lnSpc>
                <a:buNone/>
              </a:pPr>
              <a:r>
                <a:rPr lang="en-US" sz="1200" dirty="0">
                  <a:solidFill>
                    <a:srgbClr val="15803D"/>
                  </a:solidFill>
                  <a:latin typeface="微软雅黑" panose="020B0503020204020204" pitchFamily="34" charset="-122"/>
                  <a:ea typeface="微软雅黑" panose="020B0503020204020204" pitchFamily="34" charset="-122"/>
                  <a:cs typeface="ui-sans-serif" pitchFamily="34" charset="-120"/>
                </a:rPr>
                <a:t>研究思路</a:t>
              </a:r>
              <a:endParaRPr lang="en-US" sz="1200" dirty="0">
                <a:latin typeface="微软雅黑" panose="020B0503020204020204" pitchFamily="34" charset="-122"/>
                <a:ea typeface="微软雅黑" panose="020B0503020204020204" pitchFamily="34" charset="-122"/>
              </a:endParaRPr>
            </a:p>
          </p:txBody>
        </p:sp>
        <p:sp>
          <p:nvSpPr>
            <p:cNvPr id="23" name="Text 17"/>
            <p:cNvSpPr/>
            <p:nvPr/>
          </p:nvSpPr>
          <p:spPr>
            <a:xfrm>
              <a:off x="937729" y="3214688"/>
              <a:ext cx="2003554" cy="285750"/>
            </a:xfrm>
            <a:prstGeom prst="rect">
              <a:avLst/>
            </a:prstGeom>
            <a:noFill/>
          </p:spPr>
          <p:txBody>
            <a:bodyPr wrap="square" lIns="0" tIns="0" rIns="0" bIns="0" rtlCol="0" anchor="t"/>
            <a:p>
              <a:pPr marL="0" indent="0" algn="l">
                <a:lnSpc>
                  <a:spcPts val="1100"/>
                </a:lnSpc>
                <a:buNone/>
              </a:pPr>
              <a:endParaRPr lang="en-US" sz="1050" dirty="0">
                <a:solidFill>
                  <a:srgbClr val="374151"/>
                </a:solidFill>
                <a:latin typeface="微软雅黑" panose="020B0503020204020204" pitchFamily="34" charset="-122"/>
                <a:ea typeface="微软雅黑" panose="020B0503020204020204" pitchFamily="34" charset="-122"/>
              </a:endParaRPr>
            </a:p>
          </p:txBody>
        </p:sp>
        <p:sp>
          <p:nvSpPr>
            <p:cNvPr id="24" name="Text 19"/>
            <p:cNvSpPr/>
            <p:nvPr/>
          </p:nvSpPr>
          <p:spPr>
            <a:xfrm>
              <a:off x="937729" y="3557588"/>
              <a:ext cx="2003554" cy="285750"/>
            </a:xfrm>
            <a:prstGeom prst="rect">
              <a:avLst/>
            </a:prstGeom>
            <a:noFill/>
          </p:spPr>
          <p:txBody>
            <a:bodyPr wrap="square" lIns="0" tIns="0" rIns="0" bIns="0" rtlCol="0" anchor="t"/>
            <a:p>
              <a:pPr marL="0" indent="0" algn="l">
                <a:lnSpc>
                  <a:spcPts val="1100"/>
                </a:lnSpc>
                <a:buNone/>
              </a:pPr>
              <a:endParaRPr lang="en-US" sz="1050" dirty="0">
                <a:solidFill>
                  <a:srgbClr val="374151"/>
                </a:solidFill>
                <a:latin typeface="微软雅黑" panose="020B0503020204020204" pitchFamily="34" charset="-122"/>
                <a:ea typeface="微软雅黑" panose="020B0503020204020204" pitchFamily="34" charset="-122"/>
              </a:endParaRPr>
            </a:p>
          </p:txBody>
        </p:sp>
        <p:sp>
          <p:nvSpPr>
            <p:cNvPr id="25" name="Text 21"/>
            <p:cNvSpPr/>
            <p:nvPr/>
          </p:nvSpPr>
          <p:spPr>
            <a:xfrm>
              <a:off x="860219" y="3157277"/>
              <a:ext cx="2019681" cy="1338084"/>
            </a:xfrm>
            <a:prstGeom prst="rect">
              <a:avLst/>
            </a:prstGeom>
            <a:noFill/>
          </p:spPr>
          <p:txBody>
            <a:bodyPr wrap="square" lIns="0" tIns="0" rIns="0" bIns="0" rtlCol="0" anchor="t"/>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多源</a:t>
              </a:r>
              <a:r>
                <a:rPr lang="zh-CN" altLang="en-US" sz="1200" b="1" dirty="0">
                  <a:solidFill>
                    <a:srgbClr val="374151"/>
                  </a:solidFill>
                  <a:latin typeface="微软雅黑" panose="020B0503020204020204" pitchFamily="34" charset="-122"/>
                  <a:ea typeface="微软雅黑" panose="020B0503020204020204" pitchFamily="34" charset="-122"/>
                </a:rPr>
                <a:t>抽取</a:t>
              </a:r>
              <a:r>
                <a:rPr lang="en-US" sz="1200" b="1" dirty="0">
                  <a:solidFill>
                    <a:srgbClr val="374151"/>
                  </a:solidFill>
                  <a:latin typeface="微软雅黑" panose="020B0503020204020204" pitchFamily="34" charset="-122"/>
                  <a:ea typeface="微软雅黑" panose="020B0503020204020204" pitchFamily="34" charset="-122"/>
                </a:rPr>
                <a:t>以保障概念覆盖性</a:t>
              </a:r>
              <a:endParaRPr lang="en-US" sz="14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en-US" sz="1200" dirty="0">
                  <a:solidFill>
                    <a:srgbClr val="374151"/>
                  </a:solidFill>
                  <a:latin typeface="微软雅黑" panose="020B0503020204020204" pitchFamily="34" charset="-122"/>
                  <a:ea typeface="微软雅黑" panose="020B0503020204020204" pitchFamily="34" charset="-122"/>
                </a:rPr>
                <a:t>从源码结构、源码注释以及官方文档等多种软件工件中生成概念候选集合，避免单一来源带来的</a:t>
              </a:r>
              <a:r>
                <a:rPr lang="zh-CN" altLang="en-US" sz="1200" dirty="0">
                  <a:solidFill>
                    <a:srgbClr val="374151"/>
                  </a:solidFill>
                  <a:latin typeface="微软雅黑" panose="020B0503020204020204" pitchFamily="34" charset="-122"/>
                  <a:ea typeface="微软雅黑" panose="020B0503020204020204" pitchFamily="34" charset="-122"/>
                </a:rPr>
                <a:t>概念</a:t>
              </a:r>
              <a:r>
                <a:rPr lang="en-US" sz="1200" dirty="0">
                  <a:solidFill>
                    <a:srgbClr val="374151"/>
                  </a:solidFill>
                  <a:latin typeface="微软雅黑" panose="020B0503020204020204" pitchFamily="34" charset="-122"/>
                  <a:ea typeface="微软雅黑" panose="020B0503020204020204" pitchFamily="34" charset="-122"/>
                </a:rPr>
                <a:t>遗漏</a:t>
              </a:r>
              <a:endParaRPr lang="en-US" sz="120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源码–文档双向验证增强概念真实性</a:t>
              </a: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zh-CN" altLang="en-US" sz="1200" dirty="0">
                  <a:solidFill>
                    <a:srgbClr val="374151"/>
                  </a:solidFill>
                  <a:latin typeface="微软雅黑" panose="020B0503020204020204" pitchFamily="34" charset="-122"/>
                  <a:ea typeface="微软雅黑" panose="020B0503020204020204" pitchFamily="34" charset="-122"/>
                </a:rPr>
                <a:t>源码层面：基于静态分析的结构化抽取</a:t>
              </a: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zh-CN" altLang="en-US" sz="1200" dirty="0">
                  <a:solidFill>
                    <a:srgbClr val="374151"/>
                  </a:solidFill>
                  <a:latin typeface="微软雅黑" panose="020B0503020204020204" pitchFamily="34" charset="-122"/>
                  <a:ea typeface="微软雅黑" panose="020B0503020204020204" pitchFamily="34" charset="-122"/>
                </a:rPr>
                <a:t>文档层面：基于上下文一致性的概念有效性判别</a:t>
              </a: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p:txBody>
        </p:sp>
        <p:sp>
          <p:nvSpPr>
            <p:cNvPr id="26" name="Shape 22"/>
            <p:cNvSpPr/>
            <p:nvPr/>
          </p:nvSpPr>
          <p:spPr>
            <a:xfrm>
              <a:off x="3295613" y="1457325"/>
              <a:ext cx="2552663" cy="3314700"/>
            </a:xfrm>
            <a:prstGeom prst="roundRect">
              <a:avLst>
                <a:gd name="adj" fmla="val 2239"/>
              </a:avLst>
            </a:prstGeom>
            <a:solidFill>
              <a:srgbClr val="F8FAFC"/>
            </a:solidFill>
            <a:ln w="25400">
              <a:solidFill>
                <a:schemeClr val="accent1"/>
              </a:solidFill>
              <a:prstDash val="solid"/>
            </a:ln>
          </p:spPr>
          <p:txBody>
            <a:bodyPr/>
            <a:p>
              <a:endParaRPr lang="zh-CN" altLang="en-US"/>
            </a:p>
          </p:txBody>
        </p:sp>
        <p:sp>
          <p:nvSpPr>
            <p:cNvPr id="28" name="Text 24"/>
            <p:cNvSpPr/>
            <p:nvPr/>
          </p:nvSpPr>
          <p:spPr>
            <a:xfrm>
              <a:off x="3452775" y="1614488"/>
              <a:ext cx="690944" cy="200025"/>
            </a:xfrm>
            <a:prstGeom prst="rect">
              <a:avLst/>
            </a:prstGeom>
            <a:noFill/>
          </p:spPr>
          <p:txBody>
            <a:bodyPr wrap="square" lIns="28575" tIns="28575" rIns="28575" bIns="28575" rtlCol="0" anchor="t"/>
            <a:p>
              <a:pPr marL="0" indent="0" algn="l">
                <a:lnSpc>
                  <a:spcPts val="1100"/>
                </a:lnSpc>
                <a:buNone/>
              </a:pPr>
              <a:r>
                <a:rPr lang="en-US" sz="800" b="1" dirty="0">
                  <a:solidFill>
                    <a:srgbClr val="FFFFFF"/>
                  </a:solidFill>
                  <a:latin typeface="微软雅黑" panose="020B0503020204020204" pitchFamily="34" charset="-122"/>
                  <a:ea typeface="微软雅黑" panose="020B0503020204020204" pitchFamily="34" charset="-122"/>
                  <a:cs typeface="ui-sans-serif" pitchFamily="34" charset="-120"/>
                </a:rPr>
                <a:t>问题二</a:t>
              </a:r>
              <a:endParaRPr lang="en-US" sz="800" dirty="0">
                <a:latin typeface="微软雅黑" panose="020B0503020204020204" pitchFamily="34" charset="-122"/>
                <a:ea typeface="微软雅黑" panose="020B0503020204020204" pitchFamily="34" charset="-122"/>
              </a:endParaRPr>
            </a:p>
          </p:txBody>
        </p:sp>
        <p:sp>
          <p:nvSpPr>
            <p:cNvPr id="30" name="Shape 26"/>
            <p:cNvSpPr/>
            <p:nvPr/>
          </p:nvSpPr>
          <p:spPr>
            <a:xfrm>
              <a:off x="3452775" y="2185988"/>
              <a:ext cx="2238338" cy="628650"/>
            </a:xfrm>
            <a:prstGeom prst="roundRect">
              <a:avLst>
                <a:gd name="adj" fmla="val 0"/>
              </a:avLst>
            </a:prstGeom>
            <a:solidFill>
              <a:srgbClr val="FEF2F2"/>
            </a:solidFill>
          </p:spPr>
          <p:txBody>
            <a:bodyPr/>
            <a:p>
              <a:endParaRPr lang="zh-CN" altLang="en-US"/>
            </a:p>
          </p:txBody>
        </p:sp>
        <p:sp>
          <p:nvSpPr>
            <p:cNvPr id="31" name="Shape 27"/>
            <p:cNvSpPr/>
            <p:nvPr/>
          </p:nvSpPr>
          <p:spPr>
            <a:xfrm>
              <a:off x="3452775" y="2185988"/>
              <a:ext cx="7144" cy="628650"/>
            </a:xfrm>
            <a:prstGeom prst="line">
              <a:avLst/>
            </a:prstGeom>
            <a:noFill/>
            <a:ln w="50800">
              <a:solidFill>
                <a:srgbClr val="EF4444"/>
              </a:solidFill>
              <a:prstDash val="solid"/>
            </a:ln>
          </p:spPr>
          <p:txBody>
            <a:bodyPr/>
            <a:p>
              <a:endParaRPr lang="zh-CN" altLang="en-US"/>
            </a:p>
          </p:txBody>
        </p:sp>
        <p:sp>
          <p:nvSpPr>
            <p:cNvPr id="33" name="Text 28"/>
            <p:cNvSpPr/>
            <p:nvPr/>
          </p:nvSpPr>
          <p:spPr>
            <a:xfrm>
              <a:off x="3567075" y="2271713"/>
              <a:ext cx="2257769" cy="142875"/>
            </a:xfrm>
            <a:prstGeom prst="rect">
              <a:avLst/>
            </a:prstGeom>
            <a:noFill/>
          </p:spPr>
          <p:txBody>
            <a:bodyPr wrap="square" lIns="0" tIns="0" rIns="0" bIns="0" rtlCol="0" anchor="t"/>
            <a:p>
              <a:pPr marL="0" indent="0" algn="l">
                <a:lnSpc>
                  <a:spcPts val="1100"/>
                </a:lnSpc>
                <a:buNone/>
              </a:pPr>
              <a:r>
                <a:rPr lang="en-US" sz="1200" dirty="0" err="1">
                  <a:solidFill>
                    <a:srgbClr val="B91C1C"/>
                  </a:solidFill>
                  <a:latin typeface="微软雅黑" panose="020B0503020204020204" pitchFamily="34" charset="-122"/>
                  <a:ea typeface="微软雅黑" panose="020B0503020204020204" pitchFamily="34" charset="-122"/>
                </a:rPr>
                <a:t>研究挑战</a:t>
              </a:r>
              <a:endParaRPr lang="en-US" sz="1200" dirty="0">
                <a:solidFill>
                  <a:srgbClr val="B91C1C"/>
                </a:solidFill>
                <a:latin typeface="微软雅黑" panose="020B0503020204020204" pitchFamily="34" charset="-122"/>
                <a:ea typeface="微软雅黑" panose="020B0503020204020204" pitchFamily="34" charset="-122"/>
              </a:endParaRPr>
            </a:p>
          </p:txBody>
        </p:sp>
        <p:sp>
          <p:nvSpPr>
            <p:cNvPr id="35" name="Shape 30"/>
            <p:cNvSpPr/>
            <p:nvPr/>
          </p:nvSpPr>
          <p:spPr>
            <a:xfrm>
              <a:off x="3436442" y="2928938"/>
              <a:ext cx="2238338" cy="1685925"/>
            </a:xfrm>
            <a:prstGeom prst="roundRect">
              <a:avLst>
                <a:gd name="adj" fmla="val 0"/>
              </a:avLst>
            </a:prstGeom>
            <a:solidFill>
              <a:srgbClr val="F0FDF4"/>
            </a:solidFill>
          </p:spPr>
          <p:txBody>
            <a:bodyPr/>
            <a:p>
              <a:endParaRPr lang="zh-CN" altLang="en-US"/>
            </a:p>
          </p:txBody>
        </p:sp>
        <p:sp>
          <p:nvSpPr>
            <p:cNvPr id="37" name="Shape 31"/>
            <p:cNvSpPr/>
            <p:nvPr/>
          </p:nvSpPr>
          <p:spPr>
            <a:xfrm>
              <a:off x="3452775" y="2928938"/>
              <a:ext cx="7144" cy="1685925"/>
            </a:xfrm>
            <a:prstGeom prst="line">
              <a:avLst/>
            </a:prstGeom>
            <a:noFill/>
            <a:ln w="50800">
              <a:solidFill>
                <a:srgbClr val="16A34A"/>
              </a:solidFill>
              <a:prstDash val="solid"/>
            </a:ln>
          </p:spPr>
          <p:txBody>
            <a:bodyPr/>
            <a:p>
              <a:endParaRPr lang="zh-CN" altLang="en-US"/>
            </a:p>
          </p:txBody>
        </p:sp>
        <p:sp>
          <p:nvSpPr>
            <p:cNvPr id="53" name="Text 32"/>
            <p:cNvSpPr/>
            <p:nvPr/>
          </p:nvSpPr>
          <p:spPr>
            <a:xfrm>
              <a:off x="3567075" y="3014663"/>
              <a:ext cx="2257769" cy="142875"/>
            </a:xfrm>
            <a:prstGeom prst="rect">
              <a:avLst/>
            </a:prstGeom>
            <a:noFill/>
          </p:spPr>
          <p:txBody>
            <a:bodyPr wrap="square" lIns="0" tIns="0" rIns="0" bIns="0" rtlCol="0" anchor="t"/>
            <a:p>
              <a:pPr marL="0" indent="0" algn="l">
                <a:lnSpc>
                  <a:spcPts val="1100"/>
                </a:lnSpc>
                <a:buNone/>
              </a:pPr>
              <a:r>
                <a:rPr lang="en-US" sz="1200" dirty="0" err="1">
                  <a:solidFill>
                    <a:srgbClr val="15803D"/>
                  </a:solidFill>
                  <a:latin typeface="微软雅黑" panose="020B0503020204020204" pitchFamily="34" charset="-122"/>
                  <a:ea typeface="微软雅黑" panose="020B0503020204020204" pitchFamily="34" charset="-122"/>
                </a:rPr>
                <a:t>研究思路</a:t>
              </a:r>
              <a:endParaRPr lang="en-US" sz="1200" dirty="0">
                <a:solidFill>
                  <a:srgbClr val="15803D"/>
                </a:solidFill>
                <a:latin typeface="微软雅黑" panose="020B0503020204020204" pitchFamily="34" charset="-122"/>
                <a:ea typeface="微软雅黑" panose="020B0503020204020204" pitchFamily="34" charset="-122"/>
              </a:endParaRPr>
            </a:p>
          </p:txBody>
        </p:sp>
        <p:sp>
          <p:nvSpPr>
            <p:cNvPr id="55" name="Text 36"/>
            <p:cNvSpPr/>
            <p:nvPr/>
          </p:nvSpPr>
          <p:spPr>
            <a:xfrm>
              <a:off x="3661842" y="3557588"/>
              <a:ext cx="2003554" cy="285750"/>
            </a:xfrm>
            <a:prstGeom prst="rect">
              <a:avLst/>
            </a:prstGeom>
            <a:noFill/>
          </p:spPr>
          <p:txBody>
            <a:bodyPr wrap="square" lIns="0" tIns="0" rIns="0" bIns="0" rtlCol="0" anchor="t"/>
            <a:p>
              <a:pPr>
                <a:lnSpc>
                  <a:spcPts val="1100"/>
                </a:lnSpc>
              </a:pPr>
              <a:endParaRPr lang="en-US" altLang="zh-CN" sz="1050" dirty="0">
                <a:solidFill>
                  <a:srgbClr val="374151"/>
                </a:solidFill>
                <a:latin typeface="微软雅黑" panose="020B0503020204020204" pitchFamily="34" charset="-122"/>
                <a:ea typeface="微软雅黑" panose="020B0503020204020204" pitchFamily="34" charset="-122"/>
              </a:endParaRPr>
            </a:p>
          </p:txBody>
        </p:sp>
        <p:sp>
          <p:nvSpPr>
            <p:cNvPr id="65" name="Text 38"/>
            <p:cNvSpPr/>
            <p:nvPr/>
          </p:nvSpPr>
          <p:spPr>
            <a:xfrm>
              <a:off x="3661842" y="3900488"/>
              <a:ext cx="2003554" cy="285750"/>
            </a:xfrm>
            <a:prstGeom prst="rect">
              <a:avLst/>
            </a:prstGeom>
            <a:noFill/>
          </p:spPr>
          <p:txBody>
            <a:bodyPr wrap="square" lIns="0" tIns="0" rIns="0" bIns="0" rtlCol="0" anchor="t"/>
            <a:p>
              <a:pPr>
                <a:lnSpc>
                  <a:spcPts val="1100"/>
                </a:lnSpc>
              </a:pPr>
              <a:endParaRPr lang="en-US" sz="900" dirty="0">
                <a:solidFill>
                  <a:srgbClr val="374151"/>
                </a:solidFill>
                <a:latin typeface="微软雅黑" panose="020B0503020204020204" pitchFamily="34" charset="-122"/>
                <a:ea typeface="微软雅黑" panose="020B0503020204020204" pitchFamily="34" charset="-122"/>
              </a:endParaRPr>
            </a:p>
          </p:txBody>
        </p:sp>
        <p:sp>
          <p:nvSpPr>
            <p:cNvPr id="66" name="Shape 41"/>
            <p:cNvSpPr/>
            <p:nvPr/>
          </p:nvSpPr>
          <p:spPr>
            <a:xfrm>
              <a:off x="6019726" y="1457325"/>
              <a:ext cx="2552774" cy="3314700"/>
            </a:xfrm>
            <a:prstGeom prst="roundRect">
              <a:avLst>
                <a:gd name="adj" fmla="val 2239"/>
              </a:avLst>
            </a:prstGeom>
            <a:solidFill>
              <a:srgbClr val="F8FAFC"/>
            </a:solidFill>
            <a:ln w="25400">
              <a:solidFill>
                <a:schemeClr val="accent1"/>
              </a:solidFill>
              <a:prstDash val="solid"/>
            </a:ln>
          </p:spPr>
          <p:txBody>
            <a:bodyPr/>
            <a:p>
              <a:endParaRPr lang="zh-CN" altLang="en-US"/>
            </a:p>
          </p:txBody>
        </p:sp>
        <p:sp>
          <p:nvSpPr>
            <p:cNvPr id="68" name="Text 43"/>
            <p:cNvSpPr/>
            <p:nvPr/>
          </p:nvSpPr>
          <p:spPr>
            <a:xfrm>
              <a:off x="6176888" y="1614488"/>
              <a:ext cx="690944" cy="200025"/>
            </a:xfrm>
            <a:prstGeom prst="rect">
              <a:avLst/>
            </a:prstGeom>
            <a:noFill/>
          </p:spPr>
          <p:txBody>
            <a:bodyPr wrap="square" lIns="28575" tIns="28575" rIns="28575" bIns="28575" rtlCol="0" anchor="t"/>
            <a:p>
              <a:pPr marL="0" indent="0" algn="l">
                <a:lnSpc>
                  <a:spcPts val="1100"/>
                </a:lnSpc>
                <a:buNone/>
              </a:pPr>
              <a:r>
                <a:rPr lang="en-US" sz="800" b="1" dirty="0">
                  <a:solidFill>
                    <a:srgbClr val="FFFFFF"/>
                  </a:solidFill>
                  <a:latin typeface="微软雅黑" panose="020B0503020204020204" pitchFamily="34" charset="-122"/>
                  <a:ea typeface="微软雅黑" panose="020B0503020204020204" pitchFamily="34" charset="-122"/>
                  <a:cs typeface="ui-sans-serif" pitchFamily="34" charset="-120"/>
                </a:rPr>
                <a:t>问题三</a:t>
              </a:r>
              <a:endParaRPr lang="en-US" sz="800" dirty="0">
                <a:latin typeface="微软雅黑" panose="020B0503020204020204" pitchFamily="34" charset="-122"/>
                <a:ea typeface="微软雅黑" panose="020B0503020204020204" pitchFamily="34" charset="-122"/>
              </a:endParaRPr>
            </a:p>
          </p:txBody>
        </p:sp>
        <p:sp>
          <p:nvSpPr>
            <p:cNvPr id="69" name="Text 44"/>
            <p:cNvSpPr/>
            <p:nvPr/>
          </p:nvSpPr>
          <p:spPr>
            <a:xfrm>
              <a:off x="6189169" y="1931823"/>
              <a:ext cx="2462294" cy="200025"/>
            </a:xfrm>
            <a:prstGeom prst="rect">
              <a:avLst/>
            </a:prstGeom>
            <a:noFill/>
          </p:spPr>
          <p:txBody>
            <a:bodyPr wrap="square" lIns="0" tIns="0" rIns="0" bIns="0" rtlCol="0" anchor="t"/>
            <a:p>
              <a:pPr marL="0" indent="0" algn="l">
                <a:lnSpc>
                  <a:spcPts val="1600"/>
                </a:lnSpc>
                <a:buNone/>
              </a:pPr>
              <a:r>
                <a:rPr lang="en-US" sz="1400" dirty="0">
                  <a:latin typeface="微软雅黑" panose="020B0503020204020204" pitchFamily="34" charset="-122"/>
                  <a:ea typeface="微软雅黑" panose="020B0503020204020204" pitchFamily="34" charset="-122"/>
                </a:rPr>
                <a:t>面向系统的概念建模与</a:t>
              </a:r>
              <a:r>
                <a:rPr lang="zh-CN" altLang="en-US" sz="1400" dirty="0">
                  <a:latin typeface="微软雅黑" panose="020B0503020204020204" pitchFamily="34" charset="-122"/>
                  <a:ea typeface="微软雅黑" panose="020B0503020204020204" pitchFamily="34" charset="-122"/>
                </a:rPr>
                <a:t>映射</a:t>
              </a:r>
              <a:endParaRPr lang="zh-CN" altLang="en-US" sz="1400" dirty="0">
                <a:latin typeface="微软雅黑" panose="020B0503020204020204" pitchFamily="34" charset="-122"/>
                <a:ea typeface="微软雅黑" panose="020B0503020204020204" pitchFamily="34" charset="-122"/>
              </a:endParaRPr>
            </a:p>
          </p:txBody>
        </p:sp>
        <p:sp>
          <p:nvSpPr>
            <p:cNvPr id="70" name="Shape 45"/>
            <p:cNvSpPr/>
            <p:nvPr/>
          </p:nvSpPr>
          <p:spPr>
            <a:xfrm>
              <a:off x="6176888" y="2185988"/>
              <a:ext cx="2238449" cy="628650"/>
            </a:xfrm>
            <a:prstGeom prst="roundRect">
              <a:avLst>
                <a:gd name="adj" fmla="val 0"/>
              </a:avLst>
            </a:prstGeom>
            <a:solidFill>
              <a:srgbClr val="FEF2F2"/>
            </a:solidFill>
          </p:spPr>
          <p:txBody>
            <a:bodyPr/>
            <a:p>
              <a:endParaRPr lang="zh-CN" altLang="en-US"/>
            </a:p>
          </p:txBody>
        </p:sp>
        <p:sp>
          <p:nvSpPr>
            <p:cNvPr id="73" name="Shape 46"/>
            <p:cNvSpPr/>
            <p:nvPr/>
          </p:nvSpPr>
          <p:spPr>
            <a:xfrm>
              <a:off x="6176888" y="2185988"/>
              <a:ext cx="7144" cy="628650"/>
            </a:xfrm>
            <a:prstGeom prst="line">
              <a:avLst/>
            </a:prstGeom>
            <a:noFill/>
            <a:ln w="50800">
              <a:solidFill>
                <a:srgbClr val="EF4444"/>
              </a:solidFill>
              <a:prstDash val="solid"/>
            </a:ln>
          </p:spPr>
          <p:txBody>
            <a:bodyPr/>
            <a:p>
              <a:endParaRPr lang="zh-CN" altLang="en-US"/>
            </a:p>
          </p:txBody>
        </p:sp>
        <p:sp>
          <p:nvSpPr>
            <p:cNvPr id="78" name="Text 47"/>
            <p:cNvSpPr/>
            <p:nvPr/>
          </p:nvSpPr>
          <p:spPr>
            <a:xfrm>
              <a:off x="6291188" y="2271713"/>
              <a:ext cx="2257880" cy="142875"/>
            </a:xfrm>
            <a:prstGeom prst="rect">
              <a:avLst/>
            </a:prstGeom>
            <a:noFill/>
          </p:spPr>
          <p:txBody>
            <a:bodyPr wrap="square" lIns="0" tIns="0" rIns="0" bIns="0" rtlCol="0" anchor="t"/>
            <a:p>
              <a:pPr marL="0" indent="0" algn="l">
                <a:lnSpc>
                  <a:spcPts val="1100"/>
                </a:lnSpc>
                <a:buNone/>
              </a:pPr>
              <a:r>
                <a:rPr lang="en-US" sz="1200" dirty="0" err="1">
                  <a:solidFill>
                    <a:srgbClr val="B91C1C"/>
                  </a:solidFill>
                  <a:latin typeface="微软雅黑" panose="020B0503020204020204" pitchFamily="34" charset="-122"/>
                  <a:ea typeface="微软雅黑" panose="020B0503020204020204" pitchFamily="34" charset="-122"/>
                </a:rPr>
                <a:t>研究挑战</a:t>
              </a:r>
              <a:endParaRPr lang="en-US" sz="1200" dirty="0">
                <a:solidFill>
                  <a:srgbClr val="B91C1C"/>
                </a:solidFill>
                <a:latin typeface="微软雅黑" panose="020B0503020204020204" pitchFamily="34" charset="-122"/>
                <a:ea typeface="微软雅黑" panose="020B0503020204020204" pitchFamily="34" charset="-122"/>
              </a:endParaRPr>
            </a:p>
          </p:txBody>
        </p:sp>
        <p:sp>
          <p:nvSpPr>
            <p:cNvPr id="80" name="Shape 49"/>
            <p:cNvSpPr/>
            <p:nvPr/>
          </p:nvSpPr>
          <p:spPr>
            <a:xfrm>
              <a:off x="6176888" y="2928938"/>
              <a:ext cx="2238449" cy="1685925"/>
            </a:xfrm>
            <a:prstGeom prst="roundRect">
              <a:avLst>
                <a:gd name="adj" fmla="val 0"/>
              </a:avLst>
            </a:prstGeom>
            <a:solidFill>
              <a:srgbClr val="F0FDF4"/>
            </a:solidFill>
          </p:spPr>
          <p:txBody>
            <a:bodyPr/>
            <a:p>
              <a:endParaRPr lang="zh-CN" altLang="en-US"/>
            </a:p>
          </p:txBody>
        </p:sp>
        <p:sp>
          <p:nvSpPr>
            <p:cNvPr id="81" name="Shape 50"/>
            <p:cNvSpPr/>
            <p:nvPr/>
          </p:nvSpPr>
          <p:spPr>
            <a:xfrm>
              <a:off x="6176888" y="2928938"/>
              <a:ext cx="7144" cy="1685925"/>
            </a:xfrm>
            <a:prstGeom prst="line">
              <a:avLst/>
            </a:prstGeom>
            <a:noFill/>
            <a:ln w="50800">
              <a:solidFill>
                <a:srgbClr val="16A34A"/>
              </a:solidFill>
              <a:prstDash val="solid"/>
            </a:ln>
          </p:spPr>
          <p:txBody>
            <a:bodyPr/>
            <a:p>
              <a:endParaRPr lang="zh-CN" altLang="en-US"/>
            </a:p>
          </p:txBody>
        </p:sp>
        <p:sp>
          <p:nvSpPr>
            <p:cNvPr id="82" name="Text 51"/>
            <p:cNvSpPr/>
            <p:nvPr/>
          </p:nvSpPr>
          <p:spPr>
            <a:xfrm>
              <a:off x="6291188" y="3014663"/>
              <a:ext cx="2257880" cy="142875"/>
            </a:xfrm>
            <a:prstGeom prst="rect">
              <a:avLst/>
            </a:prstGeom>
            <a:noFill/>
          </p:spPr>
          <p:txBody>
            <a:bodyPr wrap="square" lIns="0" tIns="0" rIns="0" bIns="0" rtlCol="0" anchor="t"/>
            <a:p>
              <a:pPr marL="0" indent="0" algn="l">
                <a:lnSpc>
                  <a:spcPts val="1100"/>
                </a:lnSpc>
                <a:buNone/>
              </a:pPr>
              <a:r>
                <a:rPr lang="en-US" sz="1200" dirty="0" err="1">
                  <a:solidFill>
                    <a:srgbClr val="15803D"/>
                  </a:solidFill>
                  <a:latin typeface="微软雅黑" panose="020B0503020204020204" pitchFamily="34" charset="-122"/>
                  <a:ea typeface="微软雅黑" panose="020B0503020204020204" pitchFamily="34" charset="-122"/>
                </a:rPr>
                <a:t>研究思路</a:t>
              </a:r>
              <a:endParaRPr lang="en-US" sz="1200" dirty="0">
                <a:solidFill>
                  <a:srgbClr val="15803D"/>
                </a:solidFill>
                <a:latin typeface="微软雅黑" panose="020B0503020204020204" pitchFamily="34" charset="-122"/>
                <a:ea typeface="微软雅黑" panose="020B0503020204020204" pitchFamily="34" charset="-122"/>
              </a:endParaRPr>
            </a:p>
          </p:txBody>
        </p:sp>
        <p:sp>
          <p:nvSpPr>
            <p:cNvPr id="84" name="Text 55"/>
            <p:cNvSpPr/>
            <p:nvPr/>
          </p:nvSpPr>
          <p:spPr>
            <a:xfrm>
              <a:off x="6385954" y="3557588"/>
              <a:ext cx="2003666" cy="285750"/>
            </a:xfrm>
            <a:prstGeom prst="rect">
              <a:avLst/>
            </a:prstGeom>
            <a:noFill/>
          </p:spPr>
          <p:txBody>
            <a:bodyPr wrap="square" lIns="0" tIns="0" rIns="0" bIns="0" rtlCol="0" anchor="t"/>
            <a:p>
              <a:pPr>
                <a:lnSpc>
                  <a:spcPts val="1100"/>
                </a:lnSpc>
              </a:pPr>
              <a:endParaRPr lang="en-US" sz="1050" dirty="0">
                <a:solidFill>
                  <a:srgbClr val="374151"/>
                </a:solidFill>
                <a:latin typeface="微软雅黑" panose="020B0503020204020204" pitchFamily="34" charset="-122"/>
                <a:ea typeface="微软雅黑" panose="020B0503020204020204" pitchFamily="34" charset="-122"/>
              </a:endParaRPr>
            </a:p>
          </p:txBody>
        </p:sp>
        <p:sp>
          <p:nvSpPr>
            <p:cNvPr id="85" name="Text 57"/>
            <p:cNvSpPr/>
            <p:nvPr/>
          </p:nvSpPr>
          <p:spPr>
            <a:xfrm>
              <a:off x="6385954" y="3900488"/>
              <a:ext cx="2003666" cy="285750"/>
            </a:xfrm>
            <a:prstGeom prst="rect">
              <a:avLst/>
            </a:prstGeom>
            <a:noFill/>
          </p:spPr>
          <p:txBody>
            <a:bodyPr wrap="square" lIns="0" tIns="0" rIns="0" bIns="0" rtlCol="0" anchor="t"/>
            <a:p>
              <a:pPr>
                <a:lnSpc>
                  <a:spcPts val="1100"/>
                </a:lnSpc>
              </a:pPr>
              <a:endParaRPr lang="en-US" sz="1050" dirty="0">
                <a:solidFill>
                  <a:srgbClr val="374151"/>
                </a:solidFill>
                <a:latin typeface="微软雅黑" panose="020B0503020204020204" pitchFamily="34" charset="-122"/>
                <a:ea typeface="微软雅黑" panose="020B0503020204020204" pitchFamily="34" charset="-122"/>
              </a:endParaRPr>
            </a:p>
          </p:txBody>
        </p:sp>
      </p:grpSp>
      <p:sp>
        <p:nvSpPr>
          <p:cNvPr id="88" name="标题 87"/>
          <p:cNvSpPr>
            <a:spLocks noGrp="1"/>
          </p:cNvSpPr>
          <p:nvPr>
            <p:ph type="title"/>
          </p:nvPr>
        </p:nvSpPr>
        <p:spPr>
          <a:xfrm>
            <a:off x="870222" y="192542"/>
            <a:ext cx="10066818" cy="442595"/>
          </a:xfrm>
        </p:spPr>
        <p:txBody>
          <a:bodyPr/>
          <a:lstStyle/>
          <a:p>
            <a:r>
              <a:rPr dirty="0"/>
              <a:t>研究方法</a:t>
            </a:r>
            <a:r>
              <a:rPr dirty="0"/>
              <a:t>与路线</a:t>
            </a:r>
            <a:endParaRPr dirty="0"/>
          </a:p>
        </p:txBody>
      </p:sp>
      <p:sp>
        <p:nvSpPr>
          <p:cNvPr id="89" name="Shape 6"/>
          <p:cNvSpPr/>
          <p:nvPr/>
        </p:nvSpPr>
        <p:spPr>
          <a:xfrm>
            <a:off x="4603750" y="1400810"/>
            <a:ext cx="998855" cy="468630"/>
          </a:xfrm>
          <a:prstGeom prst="roundRect">
            <a:avLst>
              <a:gd name="adj" fmla="val 14286"/>
            </a:avLst>
          </a:prstGeom>
          <a:solidFill>
            <a:srgbClr val="2255A3"/>
          </a:solidFill>
        </p:spPr>
        <p:txBody>
          <a:bodyPr anchor="ctr" anchorCtr="0"/>
          <a:p>
            <a:pPr algn="ctr"/>
            <a:r>
              <a:rPr lang="zh-CN" altLang="en-US" b="1">
                <a:solidFill>
                  <a:schemeClr val="bg1"/>
                </a:solidFill>
                <a:latin typeface="微软雅黑" charset="0"/>
                <a:ea typeface="微软雅黑" charset="0"/>
              </a:rPr>
              <a:t>路线</a:t>
            </a:r>
            <a:r>
              <a:rPr lang="zh-CN" altLang="en-US" b="1">
                <a:solidFill>
                  <a:schemeClr val="bg1"/>
                </a:solidFill>
                <a:latin typeface="微软雅黑" charset="0"/>
                <a:ea typeface="微软雅黑" charset="0"/>
              </a:rPr>
              <a:t>二</a:t>
            </a:r>
            <a:endParaRPr lang="zh-CN" altLang="en-US" b="1">
              <a:solidFill>
                <a:schemeClr val="bg1"/>
              </a:solidFill>
              <a:latin typeface="微软雅黑" charset="0"/>
              <a:ea typeface="微软雅黑" charset="0"/>
            </a:endParaRPr>
          </a:p>
        </p:txBody>
      </p:sp>
      <p:sp>
        <p:nvSpPr>
          <p:cNvPr id="90" name="Shape 6"/>
          <p:cNvSpPr/>
          <p:nvPr/>
        </p:nvSpPr>
        <p:spPr>
          <a:xfrm>
            <a:off x="8475980" y="1400810"/>
            <a:ext cx="998855" cy="469265"/>
          </a:xfrm>
          <a:prstGeom prst="roundRect">
            <a:avLst>
              <a:gd name="adj" fmla="val 14286"/>
            </a:avLst>
          </a:prstGeom>
          <a:solidFill>
            <a:srgbClr val="2255A3"/>
          </a:solidFill>
        </p:spPr>
        <p:txBody>
          <a:bodyPr anchor="ctr" anchorCtr="0"/>
          <a:p>
            <a:pPr algn="ctr"/>
            <a:r>
              <a:rPr lang="zh-CN" altLang="en-US" b="1">
                <a:solidFill>
                  <a:schemeClr val="bg1"/>
                </a:solidFill>
                <a:latin typeface="微软雅黑" charset="0"/>
                <a:ea typeface="微软雅黑" charset="0"/>
              </a:rPr>
              <a:t>路线</a:t>
            </a:r>
            <a:r>
              <a:rPr lang="zh-CN" altLang="en-US" b="1">
                <a:solidFill>
                  <a:schemeClr val="bg1"/>
                </a:solidFill>
                <a:latin typeface="微软雅黑" charset="0"/>
                <a:ea typeface="微软雅黑" charset="0"/>
              </a:rPr>
              <a:t>三</a:t>
            </a:r>
            <a:endParaRPr lang="zh-CN" altLang="en-US" b="1">
              <a:solidFill>
                <a:schemeClr val="bg1"/>
              </a:solidFill>
              <a:latin typeface="微软雅黑" charset="0"/>
              <a:ea typeface="微软雅黑" charset="0"/>
            </a:endParaRPr>
          </a:p>
        </p:txBody>
      </p:sp>
      <p:sp>
        <p:nvSpPr>
          <p:cNvPr id="92" name="文本框 91"/>
          <p:cNvSpPr txBox="1"/>
          <p:nvPr/>
        </p:nvSpPr>
        <p:spPr>
          <a:xfrm>
            <a:off x="889000" y="2734310"/>
            <a:ext cx="2990850" cy="558165"/>
          </a:xfrm>
          <a:prstGeom prst="rect">
            <a:avLst/>
          </a:prstGeom>
          <a:noFill/>
        </p:spPr>
        <p:txBody>
          <a:bodyPr wrap="square" rtlCol="0">
            <a:spAutoFit/>
          </a:bodyPr>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C1</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概念覆盖性与抽取完整性</a:t>
            </a:r>
            <a:endParaRPr lang="en-US" sz="1200" dirty="0">
              <a:solidFill>
                <a:srgbClr val="374151"/>
              </a:solidFill>
              <a:latin typeface="微软雅黑" panose="020B0503020204020204" pitchFamily="34" charset="-122"/>
              <a:ea typeface="微软雅黑" panose="020B0503020204020204" pitchFamily="34" charset="-122"/>
              <a:cs typeface="ui-sans-serif" pitchFamily="34" charset="-120"/>
            </a:endParaRPr>
          </a:p>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C2</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：真实系统概念与噪声难以区分</a:t>
            </a:r>
            <a:endPar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endParaRPr>
          </a:p>
          <a:p>
            <a:endParaRPr lang="zh-CN" altLang="en-US" sz="1200"/>
          </a:p>
        </p:txBody>
      </p:sp>
      <p:sp>
        <p:nvSpPr>
          <p:cNvPr id="93" name="Text 8"/>
          <p:cNvSpPr/>
          <p:nvPr/>
        </p:nvSpPr>
        <p:spPr>
          <a:xfrm>
            <a:off x="4603450" y="2026206"/>
            <a:ext cx="3437348" cy="301915"/>
          </a:xfrm>
          <a:prstGeom prst="rect">
            <a:avLst/>
          </a:prstGeom>
          <a:noFill/>
        </p:spPr>
        <p:txBody>
          <a:bodyPr wrap="square" lIns="0" tIns="0" rIns="0" bIns="0" rtlCol="0" anchor="t"/>
          <a:p>
            <a:pPr marL="0" indent="0" algn="l">
              <a:lnSpc>
                <a:spcPts val="1600"/>
              </a:lnSpc>
              <a:buNone/>
            </a:pPr>
            <a:r>
              <a:rPr lang="zh-CN" altLang="en-US" sz="1400" dirty="0">
                <a:latin typeface="微软雅黑" panose="020B0503020204020204" pitchFamily="34" charset="-122"/>
                <a:ea typeface="微软雅黑" panose="020B0503020204020204" pitchFamily="34" charset="-122"/>
              </a:rPr>
              <a:t>概念的去重与</a:t>
            </a:r>
            <a:r>
              <a:rPr lang="zh-CN" altLang="en-US" sz="1400" dirty="0">
                <a:latin typeface="微软雅黑" panose="020B0503020204020204" pitchFamily="34" charset="-122"/>
                <a:ea typeface="微软雅黑" panose="020B0503020204020204" pitchFamily="34" charset="-122"/>
              </a:rPr>
              <a:t>消歧</a:t>
            </a:r>
            <a:endParaRPr lang="zh-CN" altLang="en-US" sz="1400" dirty="0">
              <a:latin typeface="微软雅黑" panose="020B0503020204020204" pitchFamily="34" charset="-122"/>
              <a:ea typeface="微软雅黑" panose="020B0503020204020204" pitchFamily="34" charset="-122"/>
            </a:endParaRPr>
          </a:p>
        </p:txBody>
      </p:sp>
      <p:sp>
        <p:nvSpPr>
          <p:cNvPr id="94" name="文本框 93"/>
          <p:cNvSpPr txBox="1"/>
          <p:nvPr/>
        </p:nvSpPr>
        <p:spPr>
          <a:xfrm>
            <a:off x="4753610" y="2734310"/>
            <a:ext cx="2990850" cy="373380"/>
          </a:xfrm>
          <a:prstGeom prst="rect">
            <a:avLst/>
          </a:prstGeom>
          <a:noFill/>
        </p:spPr>
        <p:txBody>
          <a:bodyPr wrap="square" rtlCol="0">
            <a:spAutoFit/>
          </a:bodyPr>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C1</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同一概念的多重表达与命名差异</a:t>
            </a:r>
            <a:endPar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C2</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同名异义概念的语义歧义问题</a:t>
            </a:r>
            <a:endPar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96" name="Text 21"/>
          <p:cNvSpPr/>
          <p:nvPr/>
        </p:nvSpPr>
        <p:spPr>
          <a:xfrm>
            <a:off x="4753455" y="3858745"/>
            <a:ext cx="2819603" cy="2019687"/>
          </a:xfrm>
          <a:prstGeom prst="rect">
            <a:avLst/>
          </a:prstGeom>
          <a:noFill/>
        </p:spPr>
        <p:txBody>
          <a:bodyPr wrap="square" lIns="0" tIns="0" rIns="0" bIns="0" rtlCol="0" anchor="t"/>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字符串与语义联合的概念去重</a:t>
            </a:r>
            <a:endParaRPr lang="en-US" sz="12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en-US" sz="1200" dirty="0">
                <a:solidFill>
                  <a:srgbClr val="374151"/>
                </a:solidFill>
                <a:latin typeface="微软雅黑" panose="020B0503020204020204" pitchFamily="34" charset="-122"/>
                <a:ea typeface="微软雅黑" panose="020B0503020204020204" pitchFamily="34" charset="-122"/>
              </a:rPr>
              <a:t>首先进行词形归一与命名规范化的初步去重；随后基于概念上下文表示（源码上下文 + 文档上下文）进行语义</a:t>
            </a:r>
            <a:r>
              <a:rPr lang="zh-CN" altLang="en-US" sz="1200" dirty="0">
                <a:solidFill>
                  <a:srgbClr val="374151"/>
                </a:solidFill>
                <a:latin typeface="微软雅黑" panose="020B0503020204020204" pitchFamily="34" charset="-122"/>
                <a:ea typeface="微软雅黑" panose="020B0503020204020204" pitchFamily="34" charset="-122"/>
              </a:rPr>
              <a:t>的判断</a:t>
            </a:r>
            <a:r>
              <a:rPr lang="en-US" sz="1200" dirty="0">
                <a:solidFill>
                  <a:srgbClr val="374151"/>
                </a:solidFill>
                <a:latin typeface="微软雅黑" panose="020B0503020204020204" pitchFamily="34" charset="-122"/>
                <a:ea typeface="微软雅黑" panose="020B0503020204020204" pitchFamily="34" charset="-122"/>
              </a:rPr>
              <a:t>，实现更精细的概念合并</a:t>
            </a:r>
            <a:endParaRPr 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en-US" sz="120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上下文感知的语义消歧机制</a:t>
            </a:r>
            <a:endParaRPr lang="en-US" sz="14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lang="en-US" sz="1200" dirty="0">
                <a:solidFill>
                  <a:srgbClr val="374151"/>
                </a:solidFill>
                <a:latin typeface="微软雅黑" panose="020B0503020204020204" pitchFamily="34" charset="-122"/>
                <a:ea typeface="微软雅黑" panose="020B0503020204020204" pitchFamily="34" charset="-122"/>
              </a:rPr>
              <a:t>通过分析概念在源码中的</a:t>
            </a:r>
            <a:r>
              <a:rPr lang="zh-CN" altLang="en-US" sz="1200" dirty="0">
                <a:solidFill>
                  <a:srgbClr val="374151"/>
                </a:solidFill>
                <a:latin typeface="微软雅黑" panose="020B0503020204020204" pitchFamily="34" charset="-122"/>
                <a:ea typeface="微软雅黑" panose="020B0503020204020204" pitchFamily="34" charset="-122"/>
              </a:rPr>
              <a:t>上下文</a:t>
            </a:r>
            <a:r>
              <a:rPr lang="en-US" sz="1200" dirty="0">
                <a:solidFill>
                  <a:srgbClr val="374151"/>
                </a:solidFill>
                <a:latin typeface="微软雅黑" panose="020B0503020204020204" pitchFamily="34" charset="-122"/>
                <a:ea typeface="微软雅黑" panose="020B0503020204020204" pitchFamily="34" charset="-122"/>
              </a:rPr>
              <a:t>、文件路径、注释描述</a:t>
            </a:r>
            <a:r>
              <a:rPr lang="zh-CN" altLang="en-US" sz="1200" dirty="0">
                <a:solidFill>
                  <a:srgbClr val="374151"/>
                </a:solidFill>
                <a:latin typeface="微软雅黑" panose="020B0503020204020204" pitchFamily="34" charset="-122"/>
                <a:ea typeface="微软雅黑" panose="020B0503020204020204" pitchFamily="34" charset="-122"/>
              </a:rPr>
              <a:t>结合文档内的特征描述</a:t>
            </a:r>
            <a:r>
              <a:rPr lang="en-US" sz="1200" dirty="0">
                <a:solidFill>
                  <a:srgbClr val="374151"/>
                </a:solidFill>
                <a:latin typeface="微软雅黑" panose="020B0503020204020204" pitchFamily="34" charset="-122"/>
                <a:ea typeface="微软雅黑" panose="020B0503020204020204" pitchFamily="34" charset="-122"/>
              </a:rPr>
              <a:t>，对同名概念进行语义区分</a:t>
            </a: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p:txBody>
      </p:sp>
      <p:sp>
        <p:nvSpPr>
          <p:cNvPr id="97" name="矩形 96"/>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10</a:t>
            </a:r>
            <a:endParaRPr kumimoji="1" lang="en-US" altLang="zh-CN">
              <a:solidFill>
                <a:schemeClr val="tx1">
                  <a:lumMod val="50000"/>
                  <a:lumOff val="50000"/>
                </a:schemeClr>
              </a:solidFill>
            </a:endParaRPr>
          </a:p>
        </p:txBody>
      </p:sp>
      <p:sp>
        <p:nvSpPr>
          <p:cNvPr id="98" name="文本框 97"/>
          <p:cNvSpPr txBox="1"/>
          <p:nvPr/>
        </p:nvSpPr>
        <p:spPr>
          <a:xfrm>
            <a:off x="8585835" y="2737485"/>
            <a:ext cx="2990850" cy="373380"/>
          </a:xfrm>
          <a:prstGeom prst="rect">
            <a:avLst/>
          </a:prstGeom>
          <a:noFill/>
        </p:spPr>
        <p:txBody>
          <a:bodyPr wrap="square" rtlCol="0">
            <a:spAutoFit/>
          </a:bodyPr>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C1</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a:t>
            </a:r>
            <a:r>
              <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概念关系类型多样且</a:t>
            </a:r>
            <a:r>
              <a:rPr lang="zh-CN"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隐式表示</a:t>
            </a:r>
            <a:endParaRPr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a:p>
            <a:pPr marL="0" indent="0" algn="l">
              <a:lnSpc>
                <a:spcPts val="1100"/>
              </a:lnSpc>
              <a:buNone/>
            </a:pPr>
            <a:r>
              <a:rPr 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C2</a:t>
            </a:r>
            <a:r>
              <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rPr>
              <a:t>：概念与工件映射缺乏统一表示</a:t>
            </a:r>
            <a:endParaRPr lang="zh-CN" altLang="en-US" sz="1200" dirty="0">
              <a:solidFill>
                <a:srgbClr val="374151"/>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99" name="Text 21"/>
          <p:cNvSpPr/>
          <p:nvPr/>
        </p:nvSpPr>
        <p:spPr>
          <a:xfrm>
            <a:off x="8585680" y="3858745"/>
            <a:ext cx="2819603" cy="2019687"/>
          </a:xfrm>
          <a:prstGeom prst="rect">
            <a:avLst/>
          </a:prstGeom>
          <a:noFill/>
        </p:spPr>
        <p:txBody>
          <a:bodyPr wrap="square" lIns="0" tIns="0" rIns="0" bIns="0" rtlCol="0" anchor="t"/>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概念关系的多源联合建模</a:t>
            </a:r>
            <a:endParaRPr lang="en-US" sz="12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20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sz="1200" dirty="0">
                <a:solidFill>
                  <a:srgbClr val="374151"/>
                </a:solidFill>
                <a:latin typeface="微软雅黑" panose="020B0503020204020204" pitchFamily="34" charset="-122"/>
                <a:ea typeface="微软雅黑" panose="020B0503020204020204" pitchFamily="34" charset="-122"/>
              </a:rPr>
              <a:t>利用静态分析结果、文档语义线索以及目录结构信息</a:t>
            </a:r>
            <a:r>
              <a:rPr lang="zh-CN" sz="1200" dirty="0">
                <a:solidFill>
                  <a:srgbClr val="374151"/>
                </a:solidFill>
                <a:latin typeface="微软雅黑" panose="020B0503020204020204" pitchFamily="34" charset="-122"/>
                <a:ea typeface="微软雅黑" panose="020B0503020204020204" pitchFamily="34" charset="-122"/>
              </a:rPr>
              <a:t>等明确</a:t>
            </a:r>
            <a:r>
              <a:rPr sz="1200" dirty="0">
                <a:solidFill>
                  <a:srgbClr val="374151"/>
                </a:solidFill>
                <a:latin typeface="微软雅黑" panose="020B0503020204020204" pitchFamily="34" charset="-122"/>
                <a:ea typeface="微软雅黑" panose="020B0503020204020204" pitchFamily="34" charset="-122"/>
              </a:rPr>
              <a:t>概念间的结构关系与语义关系，</a:t>
            </a:r>
            <a:r>
              <a:rPr lang="zh-CN" sz="1200" dirty="0">
                <a:solidFill>
                  <a:srgbClr val="374151"/>
                </a:solidFill>
                <a:latin typeface="微软雅黑" panose="020B0503020204020204" pitchFamily="34" charset="-122"/>
                <a:ea typeface="微软雅黑" panose="020B0503020204020204" pitchFamily="34" charset="-122"/>
              </a:rPr>
              <a:t>确保</a:t>
            </a:r>
            <a:r>
              <a:rPr sz="1200" dirty="0">
                <a:solidFill>
                  <a:srgbClr val="374151"/>
                </a:solidFill>
                <a:latin typeface="微软雅黑" panose="020B0503020204020204" pitchFamily="34" charset="-122"/>
                <a:ea typeface="微软雅黑" panose="020B0503020204020204" pitchFamily="34" charset="-122"/>
              </a:rPr>
              <a:t>关键关系的正确性</a:t>
            </a:r>
            <a:endParaRPr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sz="1200"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r>
              <a:rPr lang="en-US" sz="1200" b="1" dirty="0">
                <a:solidFill>
                  <a:srgbClr val="374151"/>
                </a:solidFill>
                <a:latin typeface="微软雅黑" panose="020B0503020204020204" pitchFamily="34" charset="-122"/>
                <a:ea typeface="微软雅黑" panose="020B0503020204020204" pitchFamily="34" charset="-122"/>
              </a:rPr>
              <a:t>以概念为中心的多工件映射机制</a:t>
            </a:r>
            <a:endParaRPr lang="en-US" sz="1200" b="1" dirty="0">
              <a:solidFill>
                <a:srgbClr val="374151"/>
              </a:solidFill>
              <a:latin typeface="微软雅黑" panose="020B0503020204020204" pitchFamily="34" charset="-122"/>
              <a:ea typeface="微软雅黑" panose="020B0503020204020204" pitchFamily="34" charset="-122"/>
            </a:endParaRPr>
          </a:p>
          <a:p>
            <a:pPr marL="171450" indent="-171450" algn="l">
              <a:lnSpc>
                <a:spcPts val="1100"/>
              </a:lnSpc>
              <a:buFont typeface="Arial" panose="020B0604020202020204" pitchFamily="34" charset="0"/>
              <a:buChar char="•"/>
            </a:pPr>
            <a:endParaRPr lang="en-US" sz="1050" b="1"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r>
              <a:rPr sz="1200" dirty="0">
                <a:solidFill>
                  <a:srgbClr val="374151"/>
                </a:solidFill>
                <a:latin typeface="微软雅黑" panose="020B0503020204020204" pitchFamily="34" charset="-122"/>
                <a:ea typeface="微软雅黑" panose="020B0503020204020204" pitchFamily="34" charset="-122"/>
              </a:rPr>
              <a:t>建立概念与源码实体、文档段落</a:t>
            </a:r>
            <a:r>
              <a:rPr lang="zh-CN" sz="1200" dirty="0">
                <a:solidFill>
                  <a:srgbClr val="374151"/>
                </a:solidFill>
                <a:latin typeface="微软雅黑" panose="020B0503020204020204" pitchFamily="34" charset="-122"/>
                <a:ea typeface="微软雅黑" panose="020B0503020204020204" pitchFamily="34" charset="-122"/>
              </a:rPr>
              <a:t>以及其他工件</a:t>
            </a:r>
            <a:r>
              <a:rPr sz="1200" dirty="0">
                <a:solidFill>
                  <a:srgbClr val="374151"/>
                </a:solidFill>
                <a:latin typeface="微软雅黑" panose="020B0503020204020204" pitchFamily="34" charset="-122"/>
                <a:ea typeface="微软雅黑" panose="020B0503020204020204" pitchFamily="34" charset="-122"/>
              </a:rPr>
              <a:t>之间的双向映射关系，使概念成为连接不同软件工件的统一知识枢纽</a:t>
            </a:r>
            <a:endParaRPr sz="1200" dirty="0">
              <a:solidFill>
                <a:srgbClr val="374151"/>
              </a:solidFill>
              <a:latin typeface="微软雅黑" panose="020B0503020204020204" pitchFamily="34" charset="-122"/>
              <a:ea typeface="微软雅黑" panose="020B0503020204020204" pitchFamily="34" charset="-122"/>
            </a:endParaRPr>
          </a:p>
          <a:p>
            <a:pPr indent="0" algn="l">
              <a:lnSpc>
                <a:spcPts val="1100"/>
              </a:lnSpc>
              <a:buFont typeface="Arial" panose="020B0604020202020204" pitchFamily="34" charset="0"/>
              <a:buNone/>
            </a:pPr>
            <a:endParaRPr lang="zh-CN" altLang="en-US" sz="1200" dirty="0">
              <a:solidFill>
                <a:srgbClr val="37415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093849" y="2616184"/>
            <a:ext cx="3644075" cy="1011474"/>
            <a:chOff x="2656412" y="2719778"/>
            <a:chExt cx="1390481" cy="385951"/>
          </a:xfrm>
        </p:grpSpPr>
        <p:sp>
          <p:nvSpPr>
            <p:cNvPr id="5" name="文本框 4"/>
            <p:cNvSpPr txBox="1"/>
            <p:nvPr/>
          </p:nvSpPr>
          <p:spPr>
            <a:xfrm>
              <a:off x="3115496" y="2719778"/>
              <a:ext cx="931397" cy="281793"/>
            </a:xfrm>
            <a:prstGeom prst="rect">
              <a:avLst/>
            </a:prstGeom>
            <a:noFill/>
          </p:spPr>
          <p:txBody>
            <a:bodyPr wrap="none" lIns="0" tIns="0" rIns="0" bIns="0"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预期成果</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656412" y="2751761"/>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4</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3115496" y="3000087"/>
              <a:ext cx="838354" cy="105642"/>
            </a:xfrm>
            <a:prstGeom prst="rect">
              <a:avLst/>
            </a:prstGeom>
            <a:noFill/>
          </p:spPr>
          <p:txBody>
            <a:bodyPr wrap="none" lIns="0" tIns="0" rIns="0" bIns="0" rtlCol="0">
              <a:spAutoFit/>
            </a:bodyPr>
            <a:lstStyle/>
            <a:p>
              <a:pPr algn="ctr"/>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Expected Outcomes</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11</a:t>
            </a:r>
            <a:endParaRPr kumimoji="1" lang="en-US" altLang="zh-CN">
              <a:solidFill>
                <a:schemeClr val="tx1">
                  <a:lumMod val="50000"/>
                  <a:lumOff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标题 27"/>
          <p:cNvSpPr>
            <a:spLocks noGrp="1"/>
          </p:cNvSpPr>
          <p:nvPr>
            <p:ph type="title"/>
          </p:nvPr>
        </p:nvSpPr>
        <p:spPr>
          <a:xfrm>
            <a:off x="870222" y="192542"/>
            <a:ext cx="10066818" cy="442595"/>
          </a:xfrm>
        </p:spPr>
        <p:txBody>
          <a:bodyPr/>
          <a:lstStyle/>
          <a:p>
            <a:r>
              <a:rPr dirty="0"/>
              <a:t>预期成果</a:t>
            </a:r>
            <a:endParaRPr dirty="0"/>
          </a:p>
        </p:txBody>
      </p:sp>
      <p:sp>
        <p:nvSpPr>
          <p:cNvPr id="13" name="椭圆 12"/>
          <p:cNvSpPr/>
          <p:nvPr/>
        </p:nvSpPr>
        <p:spPr>
          <a:xfrm>
            <a:off x="156210" y="1788795"/>
            <a:ext cx="3586480" cy="3280410"/>
          </a:xfrm>
          <a:prstGeom prst="ellipse">
            <a:avLst/>
          </a:prstGeom>
          <a:solidFill>
            <a:schemeClr val="accent1"/>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4" name="椭圆 13"/>
          <p:cNvSpPr/>
          <p:nvPr/>
        </p:nvSpPr>
        <p:spPr>
          <a:xfrm>
            <a:off x="342900" y="1788795"/>
            <a:ext cx="3586480" cy="3280410"/>
          </a:xfrm>
          <a:prstGeom prst="ellipse">
            <a:avLst/>
          </a:prstGeom>
          <a:solidFill>
            <a:schemeClr val="bg1">
              <a:lumMod val="95000"/>
            </a:schemeClr>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bg1"/>
              </a:solidFill>
            </a:endParaRPr>
          </a:p>
        </p:txBody>
      </p:sp>
      <p:sp>
        <p:nvSpPr>
          <p:cNvPr id="34" name="TextBox 7"/>
          <p:cNvSpPr txBox="1"/>
          <p:nvPr/>
        </p:nvSpPr>
        <p:spPr>
          <a:xfrm>
            <a:off x="129540" y="1278890"/>
            <a:ext cx="4144645" cy="714375"/>
          </a:xfrm>
          <a:prstGeom prst="rect">
            <a:avLst/>
          </a:prstGeom>
          <a:noFill/>
        </p:spPr>
        <p:txBody>
          <a:bodyPr wrap="square">
            <a:spAutoFit/>
          </a:bodyPr>
          <a:lstStyle/>
          <a:p>
            <a:pPr fontAlgn="auto" latinLnBrk="1">
              <a:lnSpc>
                <a:spcPct val="150000"/>
              </a:lnSpc>
              <a:spcBef>
                <a:spcPts val="0"/>
              </a:spcBef>
              <a:spcAft>
                <a:spcPts val="0"/>
              </a:spcAft>
              <a:defRPr/>
            </a:pPr>
            <a:r>
              <a:rPr lang="zh-CN" altLang="en-US" sz="1600" b="1" dirty="0">
                <a:solidFill>
                  <a:schemeClr val="accent1"/>
                </a:solidFill>
                <a:latin typeface="微软雅黑" panose="020B0503020204020204" pitchFamily="34" charset="-122"/>
                <a:ea typeface="微软雅黑" panose="020B0503020204020204" pitchFamily="34" charset="-122"/>
                <a:cs typeface="+mn-ea"/>
                <a:sym typeface="+mn-lt"/>
              </a:rPr>
              <a:t>形成完整且系统化的</a:t>
            </a:r>
            <a:r>
              <a:rPr lang="en-US" altLang="zh-CN" sz="1600" b="1" dirty="0">
                <a:solidFill>
                  <a:schemeClr val="accent1"/>
                </a:solidFill>
                <a:latin typeface="微软雅黑" panose="020B0503020204020204" pitchFamily="34" charset="-122"/>
                <a:ea typeface="微软雅黑" panose="020B0503020204020204" pitchFamily="34" charset="-122"/>
                <a:cs typeface="+mn-ea"/>
                <a:sym typeface="+mn-lt"/>
              </a:rPr>
              <a:t>Linux </a:t>
            </a:r>
            <a:r>
              <a:rPr lang="en-US" altLang="zh-CN" sz="1600" b="1" dirty="0">
                <a:solidFill>
                  <a:schemeClr val="accent1"/>
                </a:solidFill>
                <a:latin typeface="微软雅黑" panose="020B0503020204020204" pitchFamily="34" charset="-122"/>
                <a:ea typeface="微软雅黑" panose="020B0503020204020204" pitchFamily="34" charset="-122"/>
                <a:cs typeface="+mn-ea"/>
                <a:sym typeface="+mn-lt"/>
              </a:rPr>
              <a:t>Kernel</a:t>
            </a:r>
            <a:r>
              <a:rPr lang="zh-CN" altLang="en-US" sz="1600" b="1" dirty="0">
                <a:solidFill>
                  <a:schemeClr val="accent1"/>
                </a:solidFill>
                <a:latin typeface="微软雅黑" panose="020B0503020204020204" pitchFamily="34" charset="-122"/>
                <a:ea typeface="微软雅黑" panose="020B0503020204020204" pitchFamily="34" charset="-122"/>
                <a:cs typeface="+mn-ea"/>
                <a:sym typeface="+mn-lt"/>
              </a:rPr>
              <a:t>概念库</a:t>
            </a:r>
            <a:endParaRPr lang="zh-CN" altLang="en-US" sz="1600" b="1" dirty="0">
              <a:solidFill>
                <a:schemeClr val="accent1"/>
              </a:solidFill>
              <a:latin typeface="微软雅黑" panose="020B0503020204020204" pitchFamily="34" charset="-122"/>
              <a:ea typeface="微软雅黑" panose="020B0503020204020204" pitchFamily="34" charset="-122"/>
              <a:cs typeface="+mn-ea"/>
              <a:sym typeface="+mn-lt"/>
            </a:endParaRPr>
          </a:p>
          <a:p>
            <a:pPr latinLnBrk="1">
              <a:lnSpc>
                <a:spcPct val="150000"/>
              </a:lnSpc>
              <a:defRPr/>
            </a:pP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 name="椭圆 1"/>
          <p:cNvSpPr/>
          <p:nvPr/>
        </p:nvSpPr>
        <p:spPr>
          <a:xfrm>
            <a:off x="4187825" y="1878965"/>
            <a:ext cx="3586480" cy="3280410"/>
          </a:xfrm>
          <a:prstGeom prst="ellipse">
            <a:avLst/>
          </a:prstGeom>
          <a:solidFill>
            <a:schemeClr val="accent1"/>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p>
            <a:pPr algn="ctr" defTabSz="914400"/>
            <a:endParaRPr lang="zh-CN" altLang="en-US" sz="2000" b="1" dirty="0">
              <a:solidFill>
                <a:schemeClr val="bg1"/>
              </a:solidFill>
            </a:endParaRPr>
          </a:p>
        </p:txBody>
      </p:sp>
      <p:sp>
        <p:nvSpPr>
          <p:cNvPr id="3" name="椭圆 2"/>
          <p:cNvSpPr/>
          <p:nvPr/>
        </p:nvSpPr>
        <p:spPr>
          <a:xfrm>
            <a:off x="4374515" y="1878965"/>
            <a:ext cx="3586480" cy="3280410"/>
          </a:xfrm>
          <a:prstGeom prst="ellipse">
            <a:avLst/>
          </a:prstGeom>
          <a:solidFill>
            <a:schemeClr val="bg1">
              <a:lumMod val="95000"/>
            </a:schemeClr>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p>
            <a:pPr algn="ctr" defTabSz="914400"/>
            <a:endParaRPr lang="zh-CN" altLang="en-US" sz="2000" b="1">
              <a:solidFill>
                <a:schemeClr val="bg1"/>
              </a:solidFill>
            </a:endParaRPr>
          </a:p>
        </p:txBody>
      </p:sp>
      <p:sp>
        <p:nvSpPr>
          <p:cNvPr id="4" name="TextBox 7"/>
          <p:cNvSpPr txBox="1"/>
          <p:nvPr/>
        </p:nvSpPr>
        <p:spPr>
          <a:xfrm>
            <a:off x="4524375" y="2567940"/>
            <a:ext cx="3159125" cy="1568450"/>
          </a:xfrm>
          <a:prstGeom prst="rect">
            <a:avLst/>
          </a:prstGeom>
          <a:noFill/>
        </p:spPr>
        <p:txBody>
          <a:bodyPr wrap="square">
            <a:spAutoFit/>
          </a:bodyPr>
          <a:p>
            <a:pPr fontAlgn="auto" latinLnBrk="1">
              <a:lnSpc>
                <a:spcPct val="150000"/>
              </a:lnSpc>
              <a:spcBef>
                <a:spcPts val="0"/>
              </a:spcBef>
              <a:spcAft>
                <a:spcPts val="0"/>
              </a:spcAft>
              <a:defRPr/>
            </a:pPr>
            <a:r>
              <a:rPr lang="zh-CN" altLang="en-US" sz="1600" dirty="0">
                <a:solidFill>
                  <a:schemeClr val="tx1"/>
                </a:solidFill>
                <a:effectLst/>
                <a:latin typeface="+mn-ea"/>
                <a:cs typeface="+mn-ea"/>
                <a:sym typeface="+mn-lt"/>
              </a:rPr>
              <a:t>所构建的概念库能够直接服务于软件系统分析，为下游任务，如代码理解，漏洞定位，数据集构建等提供结构化知识支持</a:t>
            </a:r>
            <a:endParaRPr lang="zh-CN" altLang="en-US" sz="1600" dirty="0">
              <a:solidFill>
                <a:schemeClr val="tx1"/>
              </a:solidFill>
              <a:effectLst/>
              <a:latin typeface="+mn-ea"/>
              <a:cs typeface="+mn-ea"/>
              <a:sym typeface="+mn-lt"/>
            </a:endParaRPr>
          </a:p>
        </p:txBody>
      </p:sp>
      <p:sp>
        <p:nvSpPr>
          <p:cNvPr id="7" name="椭圆 6"/>
          <p:cNvSpPr/>
          <p:nvPr/>
        </p:nvSpPr>
        <p:spPr>
          <a:xfrm>
            <a:off x="8219440" y="1878965"/>
            <a:ext cx="3586480" cy="3280410"/>
          </a:xfrm>
          <a:prstGeom prst="ellipse">
            <a:avLst/>
          </a:prstGeom>
          <a:solidFill>
            <a:schemeClr val="accent1"/>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8" name="椭圆 7"/>
          <p:cNvSpPr/>
          <p:nvPr/>
        </p:nvSpPr>
        <p:spPr>
          <a:xfrm>
            <a:off x="8406130" y="1878965"/>
            <a:ext cx="3586480" cy="3280410"/>
          </a:xfrm>
          <a:prstGeom prst="ellipse">
            <a:avLst/>
          </a:prstGeom>
          <a:solidFill>
            <a:schemeClr val="bg1">
              <a:lumMod val="95000"/>
            </a:schemeClr>
          </a:solidFill>
          <a:ln w="254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a:solidFill>
                <a:schemeClr val="bg1"/>
              </a:solidFill>
            </a:endParaRPr>
          </a:p>
        </p:txBody>
      </p:sp>
      <p:sp>
        <p:nvSpPr>
          <p:cNvPr id="11" name="TextBox 7"/>
          <p:cNvSpPr txBox="1"/>
          <p:nvPr/>
        </p:nvSpPr>
        <p:spPr>
          <a:xfrm>
            <a:off x="8555990" y="2567940"/>
            <a:ext cx="3159125" cy="1938020"/>
          </a:xfrm>
          <a:prstGeom prst="rect">
            <a:avLst/>
          </a:prstGeom>
          <a:noFill/>
        </p:spPr>
        <p:txBody>
          <a:bodyPr wrap="square">
            <a:spAutoFit/>
          </a:bodyPr>
          <a:lstStyle/>
          <a:p>
            <a:pPr fontAlgn="auto" latinLnBrk="1">
              <a:lnSpc>
                <a:spcPct val="150000"/>
              </a:lnSpc>
              <a:spcBef>
                <a:spcPts val="0"/>
              </a:spcBef>
              <a:spcAft>
                <a:spcPts val="0"/>
              </a:spcAft>
              <a:defRPr/>
            </a:pPr>
            <a:r>
              <a:rPr lang="zh-CN" altLang="en-US" sz="1600" dirty="0">
                <a:solidFill>
                  <a:schemeClr val="tx1"/>
                </a:solidFill>
                <a:effectLst/>
                <a:latin typeface="+mn-ea"/>
                <a:cs typeface="+mn-ea"/>
                <a:sym typeface="+mn-lt"/>
              </a:rPr>
              <a:t>提出一套通用的软件概念抽取与建模方法，并形成可复用的工具原型，能够适配不同规模与领域的软件系统，并支持知识的持续演化。</a:t>
            </a:r>
            <a:endParaRPr lang="zh-CN" altLang="en-US" sz="1600" dirty="0">
              <a:solidFill>
                <a:schemeClr val="tx1"/>
              </a:solidFill>
              <a:effectLst/>
              <a:latin typeface="+mn-ea"/>
              <a:cs typeface="+mn-ea"/>
              <a:sym typeface="+mn-lt"/>
            </a:endParaRPr>
          </a:p>
        </p:txBody>
      </p:sp>
      <p:sp>
        <p:nvSpPr>
          <p:cNvPr id="15" name="TextBox 7"/>
          <p:cNvSpPr txBox="1"/>
          <p:nvPr/>
        </p:nvSpPr>
        <p:spPr>
          <a:xfrm>
            <a:off x="4411345" y="1278890"/>
            <a:ext cx="4144645" cy="714375"/>
          </a:xfrm>
          <a:prstGeom prst="rect">
            <a:avLst/>
          </a:prstGeom>
          <a:noFill/>
        </p:spPr>
        <p:txBody>
          <a:bodyPr wrap="square">
            <a:spAutoFit/>
          </a:bodyPr>
          <a:p>
            <a:pPr fontAlgn="auto" latinLnBrk="1">
              <a:lnSpc>
                <a:spcPct val="150000"/>
              </a:lnSpc>
              <a:spcBef>
                <a:spcPts val="0"/>
              </a:spcBef>
              <a:spcAft>
                <a:spcPts val="0"/>
              </a:spcAft>
              <a:defRPr/>
            </a:pPr>
            <a:r>
              <a:rPr sz="1600" b="1" dirty="0">
                <a:solidFill>
                  <a:schemeClr val="accent1"/>
                </a:solidFill>
                <a:latin typeface="微软雅黑" panose="020B0503020204020204" pitchFamily="34" charset="-122"/>
                <a:ea typeface="微软雅黑" panose="020B0503020204020204" pitchFamily="34" charset="-122"/>
                <a:cs typeface="+mn-ea"/>
                <a:sym typeface="+mn-lt"/>
              </a:rPr>
              <a:t>具备良好的实用性与工程支持能力</a:t>
            </a:r>
            <a:endParaRPr sz="1600" b="1" dirty="0">
              <a:solidFill>
                <a:schemeClr val="accent1"/>
              </a:solidFill>
              <a:latin typeface="微软雅黑" panose="020B0503020204020204" pitchFamily="34" charset="-122"/>
              <a:ea typeface="微软雅黑" panose="020B0503020204020204" pitchFamily="34" charset="-122"/>
              <a:cs typeface="+mn-ea"/>
              <a:sym typeface="+mn-lt"/>
            </a:endParaRPr>
          </a:p>
          <a:p>
            <a:pPr latinLnBrk="1">
              <a:lnSpc>
                <a:spcPct val="150000"/>
              </a:lnSpc>
              <a:defRPr/>
            </a:pP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6" name="TextBox 7"/>
          <p:cNvSpPr txBox="1"/>
          <p:nvPr/>
        </p:nvSpPr>
        <p:spPr>
          <a:xfrm>
            <a:off x="8406130" y="1278890"/>
            <a:ext cx="4144645" cy="460375"/>
          </a:xfrm>
          <a:prstGeom prst="rect">
            <a:avLst/>
          </a:prstGeom>
          <a:noFill/>
        </p:spPr>
        <p:txBody>
          <a:bodyPr wrap="square">
            <a:spAutoFit/>
          </a:bodyPr>
          <a:p>
            <a:pPr fontAlgn="auto" latinLnBrk="1">
              <a:lnSpc>
                <a:spcPct val="150000"/>
              </a:lnSpc>
              <a:spcBef>
                <a:spcPts val="0"/>
              </a:spcBef>
              <a:spcAft>
                <a:spcPts val="0"/>
              </a:spcAft>
              <a:defRPr/>
            </a:pPr>
            <a:r>
              <a:rPr lang="zh-CN" sz="1600" b="1" dirty="0">
                <a:solidFill>
                  <a:schemeClr val="accent1"/>
                </a:solidFill>
                <a:latin typeface="微软雅黑" panose="020B0503020204020204" pitchFamily="34" charset="-122"/>
                <a:ea typeface="微软雅黑" panose="020B0503020204020204" pitchFamily="34" charset="-122"/>
                <a:cs typeface="+mn-ea"/>
                <a:sym typeface="+mn-lt"/>
              </a:rPr>
              <a:t>形成可</a:t>
            </a:r>
            <a:r>
              <a:rPr sz="1600" b="1" dirty="0">
                <a:solidFill>
                  <a:schemeClr val="accent1"/>
                </a:solidFill>
                <a:latin typeface="微软雅黑" panose="020B0503020204020204" pitchFamily="34" charset="-122"/>
                <a:ea typeface="微软雅黑" panose="020B0503020204020204" pitchFamily="34" charset="-122"/>
                <a:cs typeface="+mn-ea"/>
                <a:sym typeface="+mn-lt"/>
              </a:rPr>
              <a:t>演化的通用软件</a:t>
            </a:r>
            <a:r>
              <a:rPr lang="zh-CN" sz="1600" b="1" dirty="0">
                <a:solidFill>
                  <a:schemeClr val="accent1"/>
                </a:solidFill>
                <a:latin typeface="微软雅黑" panose="020B0503020204020204" pitchFamily="34" charset="-122"/>
                <a:ea typeface="微软雅黑" panose="020B0503020204020204" pitchFamily="34" charset="-122"/>
                <a:cs typeface="+mn-ea"/>
                <a:sym typeface="+mn-lt"/>
              </a:rPr>
              <a:t>知识</a:t>
            </a:r>
            <a:r>
              <a:rPr sz="1600" b="1" dirty="0">
                <a:solidFill>
                  <a:schemeClr val="accent1"/>
                </a:solidFill>
                <a:latin typeface="微软雅黑" panose="020B0503020204020204" pitchFamily="34" charset="-122"/>
                <a:ea typeface="微软雅黑" panose="020B0503020204020204" pitchFamily="34" charset="-122"/>
                <a:cs typeface="+mn-ea"/>
                <a:sym typeface="+mn-lt"/>
              </a:rPr>
              <a:t>抽取方法</a:t>
            </a:r>
            <a:endParaRPr sz="1600" b="1"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17" name="TextBox 7"/>
          <p:cNvSpPr txBox="1"/>
          <p:nvPr/>
        </p:nvSpPr>
        <p:spPr>
          <a:xfrm>
            <a:off x="538480" y="2567940"/>
            <a:ext cx="3159125" cy="1938020"/>
          </a:xfrm>
          <a:prstGeom prst="rect">
            <a:avLst/>
          </a:prstGeom>
          <a:noFill/>
        </p:spPr>
        <p:txBody>
          <a:bodyPr wrap="square">
            <a:spAutoFit/>
          </a:bodyPr>
          <a:p>
            <a:pPr fontAlgn="auto" latinLnBrk="1">
              <a:lnSpc>
                <a:spcPct val="150000"/>
              </a:lnSpc>
              <a:spcBef>
                <a:spcPts val="0"/>
              </a:spcBef>
              <a:spcAft>
                <a:spcPts val="0"/>
              </a:spcAft>
              <a:defRPr/>
            </a:pPr>
            <a:r>
              <a:rPr lang="zh-CN" altLang="en-US" sz="1600">
                <a:effectLst/>
                <a:sym typeface="+mn-ea"/>
              </a:rPr>
              <a:t>构建一个面向 Linux 内核的软件系统概念库，其概念数量与覆盖范围超越主流教材与通用知识库（如维基百科），能够反映真实的功能划分与实现细节</a:t>
            </a:r>
            <a:endParaRPr lang="zh-CN" altLang="en-US" sz="1600" dirty="0">
              <a:solidFill>
                <a:schemeClr val="tx1"/>
              </a:solidFill>
              <a:effectLst/>
              <a:latin typeface="+mn-ea"/>
              <a:cs typeface="+mn-ea"/>
              <a:sym typeface="+mn-lt"/>
            </a:endParaRPr>
          </a:p>
        </p:txBody>
      </p:sp>
      <p:sp>
        <p:nvSpPr>
          <p:cNvPr id="18" name="矩形 17"/>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12</a:t>
            </a:r>
            <a:endParaRPr kumimoji="1" lang="en-US" altLang="zh-CN">
              <a:solidFill>
                <a:schemeClr val="tx1">
                  <a:lumMod val="50000"/>
                  <a:lumOff val="50000"/>
                </a:schemeClr>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300732" y="2616184"/>
            <a:ext cx="5352544" cy="1011474"/>
            <a:chOff x="2353780" y="2719778"/>
            <a:chExt cx="2042387" cy="385951"/>
          </a:xfrm>
        </p:grpSpPr>
        <p:sp>
          <p:nvSpPr>
            <p:cNvPr id="5" name="文本框 4"/>
            <p:cNvSpPr txBox="1"/>
            <p:nvPr/>
          </p:nvSpPr>
          <p:spPr>
            <a:xfrm>
              <a:off x="2766222" y="2719778"/>
              <a:ext cx="1629945" cy="281793"/>
            </a:xfrm>
            <a:prstGeom prst="rect">
              <a:avLst/>
            </a:prstGeom>
            <a:noFill/>
          </p:spPr>
          <p:txBody>
            <a:bodyPr wrap="none" lIns="0" tIns="0" rIns="0" bIns="0"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研究计划与进度</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353780" y="2752246"/>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5</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2943464" y="3000087"/>
              <a:ext cx="1182419" cy="105642"/>
            </a:xfrm>
            <a:prstGeom prst="rect">
              <a:avLst/>
            </a:prstGeom>
            <a:noFill/>
          </p:spPr>
          <p:txBody>
            <a:bodyPr wrap="none" lIns="0" tIns="0" rIns="0" bIns="0" rtlCol="0">
              <a:spAutoFit/>
            </a:bodyPr>
            <a:lstStyle/>
            <a:p>
              <a:pPr algn="ctr"/>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Research Plan and Progress</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13</a:t>
            </a:r>
            <a:endParaRPr kumimoji="1" lang="en-US" altLang="zh-CN">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ïŝlîďé"/>
        <p:cNvGrpSpPr/>
        <p:nvPr/>
      </p:nvGrpSpPr>
      <p:grpSpPr>
        <a:xfrm>
          <a:off x="0" y="0"/>
          <a:ext cx="0" cy="0"/>
          <a:chOff x="0" y="0"/>
          <a:chExt cx="0" cy="0"/>
        </a:xfrm>
      </p:grpSpPr>
      <p:sp>
        <p:nvSpPr>
          <p:cNvPr id="55" name="矩形 54"/>
          <p:cNvSpPr/>
          <p:nvPr/>
        </p:nvSpPr>
        <p:spPr>
          <a:xfrm>
            <a:off x="2581739" y="4278261"/>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6781588" y="4278896"/>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79426" y="1622164"/>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735155" y="1622799"/>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8944555" y="1622164"/>
            <a:ext cx="2864710" cy="1479121"/>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iṥlïḍè"/>
          <p:cNvCxnSpPr/>
          <p:nvPr/>
        </p:nvCxnSpPr>
        <p:spPr>
          <a:xfrm>
            <a:off x="0" y="3689773"/>
            <a:ext cx="12192000" cy="0"/>
          </a:xfrm>
          <a:prstGeom prst="line">
            <a:avLst/>
          </a:prstGeom>
          <a:ln w="381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6" name="îs1ïḋè"/>
          <p:cNvCxnSpPr/>
          <p:nvPr/>
        </p:nvCxnSpPr>
        <p:spPr>
          <a:xfrm flipV="1">
            <a:off x="1911782" y="2953912"/>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4" name="ïṩḷïďé"/>
          <p:cNvSpPr/>
          <p:nvPr/>
        </p:nvSpPr>
        <p:spPr>
          <a:xfrm rot="10800000" flipV="1">
            <a:off x="1760711" y="3538702"/>
            <a:ext cx="302142" cy="302142"/>
          </a:xfrm>
          <a:prstGeom prst="ellipse">
            <a:avLst/>
          </a:prstGeom>
          <a:solidFill>
            <a:schemeClr val="bg1"/>
          </a:solidFill>
          <a:ln w="381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16" name="íṩḷïḑè"/>
          <p:cNvCxnSpPr/>
          <p:nvPr/>
        </p:nvCxnSpPr>
        <p:spPr>
          <a:xfrm flipV="1">
            <a:off x="6177366" y="2954547"/>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17" name="ïṡ1ïdè"/>
          <p:cNvSpPr/>
          <p:nvPr/>
        </p:nvSpPr>
        <p:spPr>
          <a:xfrm rot="10800000" flipV="1">
            <a:off x="6026295" y="3539337"/>
            <a:ext cx="302142" cy="302142"/>
          </a:xfrm>
          <a:prstGeom prst="ellipse">
            <a:avLst/>
          </a:prstGeom>
          <a:solidFill>
            <a:schemeClr val="bg1"/>
          </a:solidFill>
          <a:ln w="381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24" name="ïṧlïḍê"/>
          <p:cNvCxnSpPr/>
          <p:nvPr/>
        </p:nvCxnSpPr>
        <p:spPr>
          <a:xfrm flipV="1">
            <a:off x="10376910" y="2953912"/>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25" name="iṧľîdé"/>
          <p:cNvSpPr/>
          <p:nvPr/>
        </p:nvSpPr>
        <p:spPr>
          <a:xfrm rot="10800000" flipV="1">
            <a:off x="10225839" y="3538702"/>
            <a:ext cx="302142" cy="302142"/>
          </a:xfrm>
          <a:prstGeom prst="ellipse">
            <a:avLst/>
          </a:prstGeom>
          <a:solidFill>
            <a:schemeClr val="bg1"/>
          </a:solidFill>
          <a:ln w="381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12" name="í$ḷïḋê"/>
          <p:cNvCxnSpPr/>
          <p:nvPr/>
        </p:nvCxnSpPr>
        <p:spPr>
          <a:xfrm>
            <a:off x="4014094" y="3840843"/>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13" name="ïş1îḑè"/>
          <p:cNvSpPr/>
          <p:nvPr/>
        </p:nvSpPr>
        <p:spPr>
          <a:xfrm rot="10800000" flipV="1">
            <a:off x="3863023" y="3538702"/>
            <a:ext cx="302142" cy="302142"/>
          </a:xfrm>
          <a:prstGeom prst="ellipse">
            <a:avLst/>
          </a:prstGeom>
          <a:solidFill>
            <a:schemeClr val="accent1"/>
          </a:solidFill>
          <a:ln w="254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cxnSp>
        <p:nvCxnSpPr>
          <p:cNvPr id="20" name="ïṩlíḑe"/>
          <p:cNvCxnSpPr/>
          <p:nvPr/>
        </p:nvCxnSpPr>
        <p:spPr>
          <a:xfrm>
            <a:off x="8223798" y="3841478"/>
            <a:ext cx="0" cy="584791"/>
          </a:xfrm>
          <a:prstGeom prst="straightConnector1">
            <a:avLst/>
          </a:prstGeom>
          <a:ln w="25400" cap="rnd">
            <a:solidFill>
              <a:schemeClr val="accent1"/>
            </a:solidFill>
            <a:round/>
            <a:headEnd w="lg" len="lg"/>
            <a:tailEnd type="oval" w="lg" len="lg"/>
          </a:ln>
        </p:spPr>
        <p:style>
          <a:lnRef idx="1">
            <a:schemeClr val="accent1"/>
          </a:lnRef>
          <a:fillRef idx="0">
            <a:schemeClr val="accent1"/>
          </a:fillRef>
          <a:effectRef idx="0">
            <a:schemeClr val="accent1"/>
          </a:effectRef>
          <a:fontRef idx="minor">
            <a:schemeClr val="tx1"/>
          </a:fontRef>
        </p:style>
      </p:cxnSp>
      <p:sp>
        <p:nvSpPr>
          <p:cNvPr id="21" name="íṩľíďê"/>
          <p:cNvSpPr/>
          <p:nvPr/>
        </p:nvSpPr>
        <p:spPr>
          <a:xfrm rot="10800000" flipV="1">
            <a:off x="8072727" y="3539337"/>
            <a:ext cx="302142" cy="302142"/>
          </a:xfrm>
          <a:prstGeom prst="ellipse">
            <a:avLst/>
          </a:prstGeom>
          <a:solidFill>
            <a:schemeClr val="accent1"/>
          </a:solidFill>
          <a:ln w="25400" cap="rnd">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40000" lnSpcReduction="20000"/>
          </a:bodyPr>
          <a:lstStyle/>
          <a:p>
            <a:pPr algn="ctr" defTabSz="914400"/>
            <a:endParaRPr lang="zh-CN" altLang="en-US" sz="2000" b="1" dirty="0">
              <a:solidFill>
                <a:schemeClr val="bg1"/>
              </a:solidFill>
            </a:endParaRPr>
          </a:p>
        </p:txBody>
      </p:sp>
      <p:sp>
        <p:nvSpPr>
          <p:cNvPr id="22" name="îṧ1ídé"/>
          <p:cNvSpPr txBox="1"/>
          <p:nvPr/>
        </p:nvSpPr>
        <p:spPr>
          <a:xfrm>
            <a:off x="7410075" y="4609464"/>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2026.08-2026.10</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a:xfrm>
            <a:off x="870222" y="192542"/>
            <a:ext cx="10066818" cy="442595"/>
          </a:xfrm>
        </p:spPr>
        <p:txBody>
          <a:bodyPr/>
          <a:lstStyle/>
          <a:p>
            <a:r>
              <a:rPr lang="zh-CN" altLang="en-US" dirty="0"/>
              <a:t>研究计划与进度</a:t>
            </a:r>
            <a:endParaRPr lang="zh-CN" altLang="en-US" dirty="0"/>
          </a:p>
        </p:txBody>
      </p:sp>
      <p:grpSp>
        <p:nvGrpSpPr>
          <p:cNvPr id="34" name="组合 33"/>
          <p:cNvGrpSpPr/>
          <p:nvPr/>
        </p:nvGrpSpPr>
        <p:grpSpPr>
          <a:xfrm>
            <a:off x="5338373" y="1805967"/>
            <a:ext cx="1658275" cy="965385"/>
            <a:chOff x="4420163" y="2472989"/>
            <a:chExt cx="1658275" cy="965385"/>
          </a:xfrm>
        </p:grpSpPr>
        <p:sp>
          <p:nvSpPr>
            <p:cNvPr id="18" name="íṧļiďe"/>
            <p:cNvSpPr txBox="1"/>
            <p:nvPr/>
          </p:nvSpPr>
          <p:spPr>
            <a:xfrm>
              <a:off x="4420163" y="3097572"/>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rPr>
                <a:t>2026.05-2026.08</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2" name="ïṥḻíḑè"/>
            <p:cNvSpPr txBox="1"/>
            <p:nvPr/>
          </p:nvSpPr>
          <p:spPr>
            <a:xfrm>
              <a:off x="4420163" y="2472989"/>
              <a:ext cx="1658275" cy="671830"/>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建立完整方法体系，明确概念抽取， 概念去重、消歧，概念建模技术路线</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082644" y="1934872"/>
            <a:ext cx="1658275" cy="835845"/>
            <a:chOff x="4420163" y="2602529"/>
            <a:chExt cx="1658275" cy="835845"/>
          </a:xfrm>
        </p:grpSpPr>
        <p:sp>
          <p:nvSpPr>
            <p:cNvPr id="38" name="íṧļiďe"/>
            <p:cNvSpPr txBox="1"/>
            <p:nvPr/>
          </p:nvSpPr>
          <p:spPr>
            <a:xfrm>
              <a:off x="4420163" y="3097572"/>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rPr>
                <a:t>2025.11-2026.02</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40" name="ïṥḻíḑè"/>
            <p:cNvSpPr txBox="1"/>
            <p:nvPr/>
          </p:nvSpPr>
          <p:spPr>
            <a:xfrm>
              <a:off x="4420163" y="2602529"/>
              <a:ext cx="1658275" cy="478155"/>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确定研究课题与方向，完成开题相关事宜</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9419451" y="1826922"/>
            <a:ext cx="1658275" cy="943795"/>
            <a:chOff x="4420163" y="2494579"/>
            <a:chExt cx="1658275" cy="943795"/>
          </a:xfrm>
        </p:grpSpPr>
        <p:sp>
          <p:nvSpPr>
            <p:cNvPr id="42" name="íṧļiďe"/>
            <p:cNvSpPr txBox="1"/>
            <p:nvPr/>
          </p:nvSpPr>
          <p:spPr>
            <a:xfrm>
              <a:off x="4420163" y="3097572"/>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accent1"/>
                  </a:solidFill>
                  <a:latin typeface="微软雅黑" panose="020B0503020204020204" pitchFamily="34" charset="-122"/>
                  <a:ea typeface="微软雅黑" panose="020B0503020204020204" pitchFamily="34" charset="-122"/>
                </a:rPr>
                <a:t>2026.11-2026.12</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43" name="ïṥḻíḑè"/>
            <p:cNvSpPr txBox="1"/>
            <p:nvPr/>
          </p:nvSpPr>
          <p:spPr>
            <a:xfrm>
              <a:off x="4420163" y="2494579"/>
              <a:ext cx="1658275" cy="671830"/>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微调方法，完成论文修改，形成论文，并准备答辩的相关工作</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45" name="ïṥḻíḑè"/>
          <p:cNvSpPr txBox="1"/>
          <p:nvPr/>
        </p:nvSpPr>
        <p:spPr>
          <a:xfrm>
            <a:off x="7410075" y="4985143"/>
            <a:ext cx="1658275" cy="671830"/>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完成实验</a:t>
            </a:r>
            <a:r>
              <a:rPr lang="zh-CN" altLang="en-US" sz="1050" dirty="0">
                <a:solidFill>
                  <a:schemeClr val="bg1">
                    <a:lumMod val="50000"/>
                  </a:schemeClr>
                </a:solidFill>
                <a:latin typeface="微软雅黑" panose="020B0503020204020204" pitchFamily="34" charset="-122"/>
                <a:ea typeface="微软雅黑" panose="020B0503020204020204" pitchFamily="34" charset="-122"/>
              </a:rPr>
              <a:t>并整理数据以及相关项目代码， 完成论文全文，形成初稿</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8" name="îṧ1ídé"/>
          <p:cNvSpPr txBox="1"/>
          <p:nvPr/>
        </p:nvSpPr>
        <p:spPr>
          <a:xfrm>
            <a:off x="3169544" y="4608829"/>
            <a:ext cx="1658275" cy="340802"/>
          </a:xfrm>
          <a:prstGeom prst="rect">
            <a:avLst/>
          </a:prstGeom>
          <a:noFill/>
        </p:spPr>
        <p:txBody>
          <a:bodyPr wrap="square" rtlCol="0" anchor="b" anchorCtr="0">
            <a:normAutofit fontScale="65000" lnSpcReduction="20000"/>
          </a:bodyPr>
          <a:lstStyle/>
          <a:p>
            <a:pPr algn="ctr">
              <a:lnSpc>
                <a:spcPct val="11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2026.03-2026.04</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9" name="ïṥḻíḑè"/>
          <p:cNvSpPr txBox="1"/>
          <p:nvPr/>
        </p:nvSpPr>
        <p:spPr>
          <a:xfrm>
            <a:off x="3169544" y="4984508"/>
            <a:ext cx="1658275" cy="478155"/>
          </a:xfrm>
          <a:prstGeom prst="rect">
            <a:avLst/>
          </a:prstGeom>
          <a:noFill/>
        </p:spPr>
        <p:txBody>
          <a:bodyPr wrap="square" rtlCol="0">
            <a:spAutoFit/>
          </a:bodyPr>
          <a:lstStyle/>
          <a:p>
            <a:pPr lvl="0" algn="ctr">
              <a:lnSpc>
                <a:spcPct val="120000"/>
              </a:lnSpc>
              <a:defRPr/>
            </a:pPr>
            <a:r>
              <a:rPr lang="zh-CN" altLang="en-US" sz="1050" dirty="0">
                <a:solidFill>
                  <a:schemeClr val="bg1">
                    <a:lumMod val="50000"/>
                  </a:schemeClr>
                </a:solidFill>
                <a:latin typeface="微软雅黑" panose="020B0503020204020204" pitchFamily="34" charset="-122"/>
                <a:ea typeface="微软雅黑" panose="020B0503020204020204" pitchFamily="34" charset="-122"/>
              </a:rPr>
              <a:t>调研现有技术</a:t>
            </a:r>
            <a:r>
              <a:rPr lang="zh-CN" altLang="en-US" sz="1050" dirty="0">
                <a:solidFill>
                  <a:schemeClr val="bg1">
                    <a:lumMod val="50000"/>
                  </a:schemeClr>
                </a:solidFill>
                <a:latin typeface="微软雅黑" panose="020B0503020204020204" pitchFamily="34" charset="-122"/>
                <a:ea typeface="微软雅黑" panose="020B0503020204020204" pitchFamily="34" charset="-122"/>
              </a:rPr>
              <a:t>优缺点，完成对课题相关文献综述</a:t>
            </a:r>
            <a:endParaRPr lang="zh-CN" altLang="en-US" sz="105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14</a:t>
            </a:r>
            <a:endParaRPr kumimoji="1" lang="en-US" altLang="zh-CN">
              <a:solidFill>
                <a:schemeClr val="tx1">
                  <a:lumMod val="50000"/>
                  <a:lumOff val="50000"/>
                </a:schemeClr>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894457" y="2616184"/>
            <a:ext cx="4180978" cy="1011474"/>
            <a:chOff x="2353780" y="2719778"/>
            <a:chExt cx="1595349" cy="385951"/>
          </a:xfrm>
        </p:grpSpPr>
        <p:sp>
          <p:nvSpPr>
            <p:cNvPr id="5" name="文本框 4"/>
            <p:cNvSpPr txBox="1"/>
            <p:nvPr/>
          </p:nvSpPr>
          <p:spPr>
            <a:xfrm>
              <a:off x="2784883" y="2719778"/>
              <a:ext cx="1164246" cy="281793"/>
            </a:xfrm>
            <a:prstGeom prst="rect">
              <a:avLst/>
            </a:prstGeom>
            <a:noFill/>
          </p:spPr>
          <p:txBody>
            <a:bodyPr wrap="none" lIns="0" tIns="0" rIns="0" bIns="0"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总结与展望</a:t>
              </a:r>
              <a:endParaRPr lang="zh-CN" altLang="en-US" sz="4800" b="1" dirty="0">
                <a:solidFill>
                  <a:schemeClr val="accent1"/>
                </a:solidFill>
                <a:latin typeface="微软雅黑" panose="020B0503020204020204" pitchFamily="34" charset="-122"/>
                <a:ea typeface="微软雅黑" panose="020B0503020204020204" pitchFamily="34" charset="-122"/>
              </a:endParaRPr>
            </a:p>
          </p:txBody>
        </p:sp>
        <p:sp>
          <p:nvSpPr>
            <p:cNvPr id="6" name="矩形: 圆角 5"/>
            <p:cNvSpPr/>
            <p:nvPr/>
          </p:nvSpPr>
          <p:spPr>
            <a:xfrm>
              <a:off x="2353780" y="2752246"/>
              <a:ext cx="341212" cy="341212"/>
            </a:xfrm>
            <a:prstGeom prst="roundRect">
              <a:avLst>
                <a:gd name="adj" fmla="val 7315"/>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accent1"/>
                  </a:solidFill>
                  <a:latin typeface="Arial" panose="020B0604020202020204" pitchFamily="34" charset="0"/>
                  <a:cs typeface="Arial" panose="020B0604020202020204" pitchFamily="34" charset="0"/>
                </a:rPr>
                <a:t>6</a:t>
              </a:r>
              <a:endParaRPr lang="en-US" altLang="zh-CN" sz="6000" b="1" dirty="0">
                <a:solidFill>
                  <a:schemeClr val="accent1"/>
                </a:solidFill>
                <a:latin typeface="Arial" panose="020B0604020202020204" pitchFamily="34" charset="0"/>
                <a:cs typeface="Arial" panose="020B0604020202020204" pitchFamily="34" charset="0"/>
              </a:endParaRPr>
            </a:p>
          </p:txBody>
        </p:sp>
        <p:sp>
          <p:nvSpPr>
            <p:cNvPr id="18" name="文本框 17"/>
            <p:cNvSpPr txBox="1"/>
            <p:nvPr/>
          </p:nvSpPr>
          <p:spPr>
            <a:xfrm>
              <a:off x="2917057" y="3000087"/>
              <a:ext cx="930428" cy="105642"/>
            </a:xfrm>
            <a:prstGeom prst="rect">
              <a:avLst/>
            </a:prstGeom>
            <a:noFill/>
          </p:spPr>
          <p:txBody>
            <a:bodyPr wrap="none" lIns="0" tIns="0" rIns="0" bIns="0" rtlCol="0">
              <a:spAutoFit/>
            </a:bodyPr>
            <a:lstStyle/>
            <a:p>
              <a:pPr algn="ctr"/>
              <a:r>
                <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Summary and Outlook</a:t>
              </a:r>
              <a:endParaRPr lang="en-US" altLang="zh-CN" b="1"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 name="矩形 1"/>
          <p:cNvSpPr/>
          <p:nvPr/>
        </p:nvSpPr>
        <p:spPr>
          <a:xfrm>
            <a:off x="375920" y="641096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15</a:t>
            </a:r>
            <a:endParaRPr kumimoji="1" lang="en-US" altLang="zh-CN">
              <a:solidFill>
                <a:schemeClr val="tx1">
                  <a:lumMod val="50000"/>
                  <a:lumOff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70222" y="192542"/>
            <a:ext cx="10066818" cy="442595"/>
          </a:xfrm>
        </p:spPr>
        <p:txBody>
          <a:bodyPr/>
          <a:lstStyle/>
          <a:p>
            <a:r>
              <a:rPr lang="zh-CN" altLang="en-US" dirty="0"/>
              <a:t>总结与展望</a:t>
            </a:r>
            <a:endParaRPr lang="zh-CN" altLang="en-US" dirty="0"/>
          </a:p>
        </p:txBody>
      </p:sp>
      <p:sp>
        <p:nvSpPr>
          <p:cNvPr id="3" name="Shape 4"/>
          <p:cNvSpPr/>
          <p:nvPr/>
        </p:nvSpPr>
        <p:spPr>
          <a:xfrm rot="5400000">
            <a:off x="3574616" y="-1772664"/>
            <a:ext cx="2039540" cy="8045772"/>
          </a:xfrm>
          <a:prstGeom prst="round2SameRect">
            <a:avLst/>
          </a:prstGeom>
          <a:solidFill>
            <a:srgbClr val="F2F6FA"/>
          </a:solidFill>
        </p:spPr>
        <p:txBody>
          <a:bodyPr/>
          <a:p>
            <a:endParaRPr lang="zh-CN" altLang="en-US"/>
          </a:p>
        </p:txBody>
      </p:sp>
      <p:pic>
        <p:nvPicPr>
          <p:cNvPr id="8" name="Image 0" descr="preencoded.png"/>
          <p:cNvPicPr>
            <a:picLocks noChangeAspect="1"/>
          </p:cNvPicPr>
          <p:nvPr/>
        </p:nvPicPr>
        <p:blipFill>
          <a:blip r:embed="rId1"/>
          <a:stretch>
            <a:fillRect/>
          </a:stretch>
        </p:blipFill>
        <p:spPr>
          <a:xfrm>
            <a:off x="572600" y="1235809"/>
            <a:ext cx="8002100" cy="2034183"/>
          </a:xfrm>
          <a:prstGeom prst="rect">
            <a:avLst/>
          </a:prstGeom>
        </p:spPr>
      </p:pic>
      <p:sp>
        <p:nvSpPr>
          <p:cNvPr id="9" name="Text 5"/>
          <p:cNvSpPr/>
          <p:nvPr/>
        </p:nvSpPr>
        <p:spPr>
          <a:xfrm>
            <a:off x="792480" y="1404581"/>
            <a:ext cx="8392478" cy="228600"/>
          </a:xfrm>
          <a:prstGeom prst="rect">
            <a:avLst/>
          </a:prstGeom>
          <a:noFill/>
        </p:spPr>
        <p:txBody>
          <a:bodyPr wrap="square" lIns="0" tIns="0" rIns="0" bIns="0" rtlCol="0" anchor="t"/>
          <a:p>
            <a:pPr marL="0" indent="0" algn="l">
              <a:lnSpc>
                <a:spcPts val="1800"/>
              </a:lnSpc>
              <a:buNone/>
            </a:pPr>
            <a:r>
              <a:rPr lang="en-US" sz="1600" b="1" dirty="0">
                <a:solidFill>
                  <a:srgbClr val="2255A3"/>
                </a:solidFill>
                <a:latin typeface="微软雅黑" panose="020B0503020204020204" pitchFamily="34" charset="-122"/>
                <a:ea typeface="微软雅黑" panose="020B0503020204020204" pitchFamily="34" charset="-122"/>
                <a:cs typeface="ui-sans-serif" pitchFamily="34" charset="-120"/>
              </a:rPr>
              <a:t>研究总结</a:t>
            </a:r>
            <a:endParaRPr lang="en-US" sz="16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792480" y="1779270"/>
            <a:ext cx="7705090" cy="1158240"/>
          </a:xfrm>
          <a:prstGeom prst="rect">
            <a:avLst/>
          </a:prstGeom>
          <a:noFill/>
        </p:spPr>
        <p:txBody>
          <a:bodyPr wrap="square" rtlCol="0">
            <a:spAutoFit/>
            <a:scene3d>
              <a:camera prst="orthographicFront"/>
              <a:lightRig rig="threePt" dir="t"/>
            </a:scene3d>
          </a:bodyPr>
          <a:p>
            <a:pPr marL="0" indent="0" algn="l">
              <a:lnSpc>
                <a:spcPts val="1600"/>
              </a:lnSpc>
              <a:buNone/>
            </a:pPr>
            <a:r>
              <a:rPr lang="zh-CN" altLang="en-US" sz="1600">
                <a:solidFill>
                  <a:schemeClr val="tx1"/>
                </a:solidFill>
                <a:effectLst/>
                <a:latin typeface="+mn-ea"/>
                <a:cs typeface="+mn-ea"/>
                <a:sym typeface="+mn-ea"/>
              </a:rPr>
              <a:t>方法：构</a:t>
            </a:r>
            <a:r>
              <a:rPr lang="zh-CN" altLang="en-US" sz="1600">
                <a:sym typeface="+mn-ea"/>
              </a:rPr>
              <a:t>建一种从多源软件工件中抽取并建模概念知识的方法</a:t>
            </a:r>
            <a:endParaRPr lang="zh-CN" altLang="en-US" sz="1600">
              <a:sym typeface="+mn-ea"/>
            </a:endParaRPr>
          </a:p>
          <a:p>
            <a:pPr marL="0" indent="0" algn="l">
              <a:lnSpc>
                <a:spcPts val="1600"/>
              </a:lnSpc>
              <a:buNone/>
            </a:pPr>
            <a:endParaRPr lang="zh-CN" altLang="en-US" sz="1600">
              <a:sym typeface="+mn-ea"/>
            </a:endParaRPr>
          </a:p>
          <a:p>
            <a:pPr marL="0" indent="0" algn="l">
              <a:lnSpc>
                <a:spcPts val="1600"/>
              </a:lnSpc>
              <a:buNone/>
            </a:pPr>
            <a:r>
              <a:rPr lang="zh-CN" altLang="en-US" sz="1600">
                <a:solidFill>
                  <a:schemeClr val="tx1"/>
                </a:solidFill>
                <a:effectLst/>
                <a:latin typeface="+mn-ea"/>
                <a:cs typeface="+mn-ea"/>
                <a:sym typeface="+mn-ea"/>
              </a:rPr>
              <a:t>成果：面向</a:t>
            </a:r>
            <a:r>
              <a:rPr lang="en-US" altLang="zh-CN" sz="1600">
                <a:solidFill>
                  <a:schemeClr val="tx1"/>
                </a:solidFill>
                <a:effectLst/>
                <a:latin typeface="+mn-ea"/>
                <a:cs typeface="+mn-ea"/>
                <a:sym typeface="+mn-ea"/>
              </a:rPr>
              <a:t>Linux Kernel</a:t>
            </a:r>
            <a:r>
              <a:rPr lang="en-US" sz="1600">
                <a:solidFill>
                  <a:schemeClr val="tx1"/>
                </a:solidFill>
                <a:effectLst/>
                <a:latin typeface="+mn-ea"/>
                <a:cs typeface="+mn-ea"/>
                <a:sym typeface="+mn-ea"/>
              </a:rPr>
              <a:t>构建了可演化、可复用的系统级概念知识库，</a:t>
            </a:r>
            <a:r>
              <a:rPr lang="zh-CN" altLang="en-US" sz="1600">
                <a:solidFill>
                  <a:schemeClr val="tx1"/>
                </a:solidFill>
                <a:effectLst/>
                <a:latin typeface="+mn-ea"/>
                <a:cs typeface="+mn-ea"/>
                <a:sym typeface="+mn-ea"/>
              </a:rPr>
              <a:t>同时</a:t>
            </a:r>
            <a:r>
              <a:rPr lang="en-US" sz="1600">
                <a:solidFill>
                  <a:schemeClr val="tx1"/>
                </a:solidFill>
                <a:effectLst/>
                <a:latin typeface="+mn-ea"/>
                <a:cs typeface="+mn-ea"/>
                <a:sym typeface="+mn-ea"/>
              </a:rPr>
              <a:t>支持系统的理解、维护和更新等下游任务。</a:t>
            </a:r>
            <a:endParaRPr lang="en-US" sz="1600">
              <a:solidFill>
                <a:schemeClr val="tx1"/>
              </a:solidFill>
              <a:effectLst/>
              <a:latin typeface="+mn-ea"/>
              <a:cs typeface="+mn-ea"/>
            </a:endParaRPr>
          </a:p>
          <a:p>
            <a:endParaRPr lang="en-US" altLang="en-US" sz="1600">
              <a:solidFill>
                <a:schemeClr val="tx1"/>
              </a:solidFill>
              <a:effectLst/>
              <a:latin typeface="+mn-ea"/>
              <a:cs typeface="+mn-ea"/>
            </a:endParaRPr>
          </a:p>
        </p:txBody>
      </p:sp>
      <p:sp>
        <p:nvSpPr>
          <p:cNvPr id="21" name="Shape 16"/>
          <p:cNvSpPr/>
          <p:nvPr/>
        </p:nvSpPr>
        <p:spPr>
          <a:xfrm>
            <a:off x="572770" y="3926205"/>
            <a:ext cx="6139180" cy="1270"/>
          </a:xfrm>
          <a:prstGeom prst="line">
            <a:avLst/>
          </a:prstGeom>
          <a:noFill/>
          <a:ln w="25400">
            <a:solidFill>
              <a:srgbClr val="2255A3"/>
            </a:solidFill>
            <a:prstDash val="solid"/>
          </a:ln>
        </p:spPr>
        <p:txBody>
          <a:bodyPr/>
          <a:p>
            <a:endParaRPr lang="zh-CN" altLang="en-US"/>
          </a:p>
        </p:txBody>
      </p:sp>
      <p:sp>
        <p:nvSpPr>
          <p:cNvPr id="22" name="Text 17"/>
          <p:cNvSpPr/>
          <p:nvPr/>
        </p:nvSpPr>
        <p:spPr>
          <a:xfrm>
            <a:off x="792480" y="3597910"/>
            <a:ext cx="5240020" cy="444500"/>
          </a:xfrm>
          <a:prstGeom prst="rect">
            <a:avLst/>
          </a:prstGeom>
          <a:noFill/>
        </p:spPr>
        <p:txBody>
          <a:bodyPr wrap="square" lIns="0" tIns="0" rIns="0" bIns="0" rtlCol="0" anchor="t"/>
          <a:p>
            <a:pPr marL="0" indent="0" algn="l">
              <a:lnSpc>
                <a:spcPts val="1800"/>
              </a:lnSpc>
              <a:buNone/>
            </a:pPr>
            <a:r>
              <a:rPr lang="en-US" sz="1600" b="1" dirty="0">
                <a:solidFill>
                  <a:srgbClr val="2255A3"/>
                </a:solidFill>
                <a:latin typeface="微软雅黑" panose="020B0503020204020204" pitchFamily="34" charset="-122"/>
                <a:ea typeface="微软雅黑" panose="020B0503020204020204" pitchFamily="34" charset="-122"/>
                <a:cs typeface="ui-sans-serif" pitchFamily="34" charset="-120"/>
              </a:rPr>
              <a:t>核心创新点</a:t>
            </a:r>
            <a:endParaRPr lang="en-US" sz="1600" dirty="0">
              <a:latin typeface="微软雅黑" panose="020B0503020204020204" pitchFamily="34" charset="-122"/>
              <a:ea typeface="微软雅黑" panose="020B0503020204020204" pitchFamily="34" charset="-122"/>
            </a:endParaRPr>
          </a:p>
        </p:txBody>
      </p:sp>
      <p:grpSp>
        <p:nvGrpSpPr>
          <p:cNvPr id="71" name="组合 70"/>
          <p:cNvGrpSpPr/>
          <p:nvPr/>
        </p:nvGrpSpPr>
        <p:grpSpPr>
          <a:xfrm>
            <a:off x="565785" y="4098290"/>
            <a:ext cx="5601335" cy="1707515"/>
            <a:chOff x="571500" y="3746897"/>
            <a:chExt cx="3857625" cy="1028700"/>
          </a:xfrm>
        </p:grpSpPr>
        <p:sp>
          <p:nvSpPr>
            <p:cNvPr id="23" name="Shape 18"/>
            <p:cNvSpPr/>
            <p:nvPr/>
          </p:nvSpPr>
          <p:spPr>
            <a:xfrm>
              <a:off x="571500" y="3746897"/>
              <a:ext cx="3857625" cy="571500"/>
            </a:xfrm>
            <a:prstGeom prst="roundRect">
              <a:avLst>
                <a:gd name="adj" fmla="val 10000"/>
              </a:avLst>
            </a:prstGeom>
            <a:solidFill>
              <a:srgbClr val="F8FAFC"/>
            </a:solidFill>
          </p:spPr>
          <p:txBody>
            <a:bodyPr/>
            <a:p>
              <a:endParaRPr lang="zh-CN" altLang="en-US"/>
            </a:p>
          </p:txBody>
        </p:sp>
        <p:pic>
          <p:nvPicPr>
            <p:cNvPr id="24" name="Image 1" descr="preencoded.png"/>
            <p:cNvPicPr>
              <a:picLocks noChangeAspect="1"/>
            </p:cNvPicPr>
            <p:nvPr/>
          </p:nvPicPr>
          <p:blipFill>
            <a:blip r:embed="rId2"/>
            <a:stretch>
              <a:fillRect/>
            </a:stretch>
          </p:blipFill>
          <p:spPr>
            <a:xfrm>
              <a:off x="571500" y="3746897"/>
              <a:ext cx="3857625" cy="571500"/>
            </a:xfrm>
            <a:prstGeom prst="rect">
              <a:avLst/>
            </a:prstGeom>
          </p:spPr>
        </p:pic>
        <p:sp>
          <p:nvSpPr>
            <p:cNvPr id="25" name="Shape 19"/>
            <p:cNvSpPr/>
            <p:nvPr/>
          </p:nvSpPr>
          <p:spPr>
            <a:xfrm>
              <a:off x="714375" y="3861197"/>
              <a:ext cx="228600" cy="228600"/>
            </a:xfrm>
            <a:prstGeom prst="roundRect">
              <a:avLst>
                <a:gd name="adj" fmla="val 50000"/>
              </a:avLst>
            </a:prstGeom>
            <a:solidFill>
              <a:srgbClr val="3B82F6"/>
            </a:solidFill>
          </p:spPr>
          <p:txBody>
            <a:bodyPr/>
            <a:p>
              <a:endParaRPr lang="zh-CN" altLang="en-US"/>
            </a:p>
          </p:txBody>
        </p:sp>
        <p:sp>
          <p:nvSpPr>
            <p:cNvPr id="26" name="Text 20"/>
            <p:cNvSpPr/>
            <p:nvPr/>
          </p:nvSpPr>
          <p:spPr>
            <a:xfrm>
              <a:off x="708660" y="3880706"/>
              <a:ext cx="240030" cy="228600"/>
            </a:xfrm>
            <a:prstGeom prst="rect">
              <a:avLst/>
            </a:prstGeom>
            <a:noFill/>
          </p:spPr>
          <p:txBody>
            <a:bodyPr wrap="square" lIns="0" tIns="0" rIns="0" bIns="0" rtlCol="0" anchor="ctr"/>
            <a:p>
              <a:pPr marL="0" indent="0" algn="ctr">
                <a:lnSpc>
                  <a:spcPts val="1400"/>
                </a:lnSpc>
                <a:buNone/>
              </a:pPr>
              <a:r>
                <a:rPr lang="en-US" sz="1400" dirty="0">
                  <a:latin typeface="微软雅黑" panose="020B0503020204020204" pitchFamily="34" charset="-122"/>
                  <a:ea typeface="微软雅黑" panose="020B0503020204020204" pitchFamily="34" charset="-122"/>
                </a:rPr>
                <a:t>1</a:t>
              </a:r>
              <a:endParaRPr lang="en-US" sz="1400" dirty="0">
                <a:latin typeface="微软雅黑" panose="020B0503020204020204" pitchFamily="34" charset="-122"/>
                <a:ea typeface="微软雅黑" panose="020B0503020204020204" pitchFamily="34" charset="-122"/>
              </a:endParaRPr>
            </a:p>
          </p:txBody>
        </p:sp>
        <p:sp>
          <p:nvSpPr>
            <p:cNvPr id="32" name="Text 25"/>
            <p:cNvSpPr/>
            <p:nvPr/>
          </p:nvSpPr>
          <p:spPr>
            <a:xfrm>
              <a:off x="708660" y="4546997"/>
              <a:ext cx="240030" cy="228600"/>
            </a:xfrm>
            <a:prstGeom prst="rect">
              <a:avLst/>
            </a:prstGeom>
            <a:noFill/>
          </p:spPr>
          <p:txBody>
            <a:bodyPr wrap="square" lIns="0" tIns="0" rIns="0" bIns="0" rtlCol="0" anchor="ctr"/>
            <a:p>
              <a:pPr marL="0" indent="0" algn="ctr">
                <a:lnSpc>
                  <a:spcPts val="1400"/>
                </a:lnSpc>
                <a:buNone/>
              </a:pPr>
              <a:r>
                <a:rPr lang="en-US" sz="900" b="1" dirty="0">
                  <a:solidFill>
                    <a:srgbClr val="FFFFFF"/>
                  </a:solidFill>
                  <a:latin typeface="微软雅黑" panose="020B0503020204020204" pitchFamily="34" charset="-122"/>
                  <a:ea typeface="微软雅黑" panose="020B0503020204020204" pitchFamily="34" charset="-122"/>
                  <a:cs typeface="ui-sans-serif" pitchFamily="34" charset="-120"/>
                </a:rPr>
                <a:t>2</a:t>
              </a:r>
              <a:endParaRPr lang="en-US" sz="900" dirty="0">
                <a:latin typeface="微软雅黑" panose="020B0503020204020204" pitchFamily="34" charset="-122"/>
                <a:ea typeface="微软雅黑" panose="020B0503020204020204" pitchFamily="34" charset="-122"/>
              </a:endParaRPr>
            </a:p>
          </p:txBody>
        </p:sp>
      </p:grpSp>
      <p:sp>
        <p:nvSpPr>
          <p:cNvPr id="42" name="文本框 41"/>
          <p:cNvSpPr txBox="1"/>
          <p:nvPr/>
        </p:nvSpPr>
        <p:spPr>
          <a:xfrm>
            <a:off x="1210945" y="4200525"/>
            <a:ext cx="4956175" cy="829945"/>
          </a:xfrm>
          <a:prstGeom prst="rect">
            <a:avLst/>
          </a:prstGeom>
          <a:noFill/>
        </p:spPr>
        <p:txBody>
          <a:bodyPr wrap="square" rtlCol="0">
            <a:spAutoFit/>
          </a:bodyPr>
          <a:p>
            <a:r>
              <a:rPr lang="zh-CN" altLang="en-US"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将</a:t>
            </a:r>
            <a:r>
              <a:rPr lang="en-US"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软件理解从“代码级阅读”上升到“概念级结构认知”，为系统级分析提供基础支撑。</a:t>
            </a:r>
            <a:endParaRPr lang="en-US" sz="1600" b="1" dirty="0">
              <a:solidFill>
                <a:srgbClr val="1F2937"/>
              </a:solidFill>
              <a:latin typeface="微软雅黑" panose="020B0503020204020204" pitchFamily="34" charset="-122"/>
              <a:ea typeface="微软雅黑" panose="020B0503020204020204" pitchFamily="34" charset="-122"/>
              <a:cs typeface="ui-sans-serif" pitchFamily="34" charset="-120"/>
            </a:endParaRPr>
          </a:p>
          <a:p>
            <a:endParaRPr lang="zh-CN" altLang="en-US" sz="1600"/>
          </a:p>
        </p:txBody>
      </p:sp>
      <p:grpSp>
        <p:nvGrpSpPr>
          <p:cNvPr id="44" name="组合 43"/>
          <p:cNvGrpSpPr/>
          <p:nvPr/>
        </p:nvGrpSpPr>
        <p:grpSpPr>
          <a:xfrm>
            <a:off x="6492875" y="4100830"/>
            <a:ext cx="5601335" cy="1707515"/>
            <a:chOff x="571500" y="3746897"/>
            <a:chExt cx="3857625" cy="1028700"/>
          </a:xfrm>
        </p:grpSpPr>
        <p:sp>
          <p:nvSpPr>
            <p:cNvPr id="45" name="Shape 18"/>
            <p:cNvSpPr/>
            <p:nvPr/>
          </p:nvSpPr>
          <p:spPr>
            <a:xfrm>
              <a:off x="571500" y="3746897"/>
              <a:ext cx="3857625" cy="571500"/>
            </a:xfrm>
            <a:prstGeom prst="roundRect">
              <a:avLst>
                <a:gd name="adj" fmla="val 10000"/>
              </a:avLst>
            </a:prstGeom>
            <a:solidFill>
              <a:srgbClr val="F8FAFC"/>
            </a:solidFill>
          </p:spPr>
          <p:txBody>
            <a:bodyPr/>
            <a:p>
              <a:endParaRPr lang="zh-CN" altLang="en-US"/>
            </a:p>
          </p:txBody>
        </p:sp>
        <p:pic>
          <p:nvPicPr>
            <p:cNvPr id="46" name="Image 1" descr="preencoded.png"/>
            <p:cNvPicPr>
              <a:picLocks noChangeAspect="1"/>
            </p:cNvPicPr>
            <p:nvPr/>
          </p:nvPicPr>
          <p:blipFill>
            <a:blip r:embed="rId2"/>
            <a:stretch>
              <a:fillRect/>
            </a:stretch>
          </p:blipFill>
          <p:spPr>
            <a:xfrm>
              <a:off x="571500" y="3746897"/>
              <a:ext cx="3857625" cy="571500"/>
            </a:xfrm>
            <a:prstGeom prst="rect">
              <a:avLst/>
            </a:prstGeom>
          </p:spPr>
        </p:pic>
        <p:sp>
          <p:nvSpPr>
            <p:cNvPr id="47" name="Shape 19"/>
            <p:cNvSpPr/>
            <p:nvPr/>
          </p:nvSpPr>
          <p:spPr>
            <a:xfrm>
              <a:off x="714375" y="3861197"/>
              <a:ext cx="228600" cy="228600"/>
            </a:xfrm>
            <a:prstGeom prst="roundRect">
              <a:avLst>
                <a:gd name="adj" fmla="val 50000"/>
              </a:avLst>
            </a:prstGeom>
            <a:solidFill>
              <a:srgbClr val="3B82F6"/>
            </a:solidFill>
          </p:spPr>
          <p:txBody>
            <a:bodyPr/>
            <a:p>
              <a:endParaRPr lang="zh-CN" altLang="en-US"/>
            </a:p>
          </p:txBody>
        </p:sp>
        <p:sp>
          <p:nvSpPr>
            <p:cNvPr id="48" name="Text 20"/>
            <p:cNvSpPr/>
            <p:nvPr/>
          </p:nvSpPr>
          <p:spPr>
            <a:xfrm>
              <a:off x="708660" y="3880706"/>
              <a:ext cx="240030" cy="228600"/>
            </a:xfrm>
            <a:prstGeom prst="rect">
              <a:avLst/>
            </a:prstGeom>
            <a:noFill/>
          </p:spPr>
          <p:txBody>
            <a:bodyPr wrap="square" lIns="0" tIns="0" rIns="0" bIns="0" rtlCol="0" anchor="ctr"/>
            <a:p>
              <a:pPr marL="0" indent="0" algn="ctr">
                <a:lnSpc>
                  <a:spcPts val="1400"/>
                </a:lnSpc>
                <a:buNone/>
              </a:pPr>
              <a:r>
                <a:rPr lang="en-US" sz="1400" dirty="0">
                  <a:latin typeface="微软雅黑" panose="020B0503020204020204" pitchFamily="34" charset="-122"/>
                  <a:ea typeface="微软雅黑" panose="020B0503020204020204" pitchFamily="34" charset="-122"/>
                </a:rPr>
                <a:t>2</a:t>
              </a:r>
              <a:endParaRPr lang="en-US" sz="1400" dirty="0">
                <a:latin typeface="微软雅黑" panose="020B0503020204020204" pitchFamily="34" charset="-122"/>
                <a:ea typeface="微软雅黑" panose="020B0503020204020204" pitchFamily="34" charset="-122"/>
              </a:endParaRPr>
            </a:p>
          </p:txBody>
        </p:sp>
        <p:sp>
          <p:nvSpPr>
            <p:cNvPr id="49" name="Text 25"/>
            <p:cNvSpPr/>
            <p:nvPr/>
          </p:nvSpPr>
          <p:spPr>
            <a:xfrm>
              <a:off x="708660" y="4546997"/>
              <a:ext cx="240030" cy="228600"/>
            </a:xfrm>
            <a:prstGeom prst="rect">
              <a:avLst/>
            </a:prstGeom>
            <a:noFill/>
          </p:spPr>
          <p:txBody>
            <a:bodyPr wrap="square" lIns="0" tIns="0" rIns="0" bIns="0" rtlCol="0" anchor="ctr"/>
            <a:p>
              <a:pPr marL="0" indent="0" algn="ctr">
                <a:lnSpc>
                  <a:spcPts val="1400"/>
                </a:lnSpc>
                <a:buNone/>
              </a:pPr>
              <a:r>
                <a:rPr lang="en-US" sz="900" b="1" dirty="0">
                  <a:solidFill>
                    <a:srgbClr val="FFFFFF"/>
                  </a:solidFill>
                  <a:latin typeface="微软雅黑" panose="020B0503020204020204" pitchFamily="34" charset="-122"/>
                  <a:ea typeface="微软雅黑" panose="020B0503020204020204" pitchFamily="34" charset="-122"/>
                  <a:cs typeface="ui-sans-serif" pitchFamily="34" charset="-120"/>
                </a:rPr>
                <a:t>2</a:t>
              </a:r>
              <a:endParaRPr lang="en-US" sz="900" dirty="0">
                <a:latin typeface="微软雅黑" panose="020B0503020204020204" pitchFamily="34" charset="-122"/>
                <a:ea typeface="微软雅黑" panose="020B0503020204020204" pitchFamily="34" charset="-122"/>
              </a:endParaRPr>
            </a:p>
          </p:txBody>
        </p:sp>
      </p:grpSp>
      <p:sp>
        <p:nvSpPr>
          <p:cNvPr id="50" name="文本框 49"/>
          <p:cNvSpPr txBox="1"/>
          <p:nvPr/>
        </p:nvSpPr>
        <p:spPr>
          <a:xfrm>
            <a:off x="7138035" y="4235450"/>
            <a:ext cx="4956175" cy="583565"/>
          </a:xfrm>
          <a:prstGeom prst="rect">
            <a:avLst/>
          </a:prstGeom>
          <a:noFill/>
        </p:spPr>
        <p:txBody>
          <a:bodyPr wrap="square" rtlCol="0">
            <a:spAutoFit/>
          </a:bodyPr>
          <a:p>
            <a:r>
              <a:rPr lang="zh-CN"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以</a:t>
            </a:r>
            <a:r>
              <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概念为核心的统一知识枢纽：通过概念与其他工件的双向映射，实现系统级知识的统一连接</a:t>
            </a:r>
            <a:endPar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endParaRPr>
          </a:p>
        </p:txBody>
      </p:sp>
      <p:grpSp>
        <p:nvGrpSpPr>
          <p:cNvPr id="60" name="组合 59"/>
          <p:cNvGrpSpPr/>
          <p:nvPr/>
        </p:nvGrpSpPr>
        <p:grpSpPr>
          <a:xfrm>
            <a:off x="565785" y="5217795"/>
            <a:ext cx="5601335" cy="1707515"/>
            <a:chOff x="571500" y="3746897"/>
            <a:chExt cx="3857625" cy="1028700"/>
          </a:xfrm>
        </p:grpSpPr>
        <p:sp>
          <p:nvSpPr>
            <p:cNvPr id="61" name="Shape 18"/>
            <p:cNvSpPr/>
            <p:nvPr/>
          </p:nvSpPr>
          <p:spPr>
            <a:xfrm>
              <a:off x="571500" y="3746897"/>
              <a:ext cx="3857625" cy="571500"/>
            </a:xfrm>
            <a:prstGeom prst="roundRect">
              <a:avLst>
                <a:gd name="adj" fmla="val 10000"/>
              </a:avLst>
            </a:prstGeom>
            <a:solidFill>
              <a:srgbClr val="F8FAFC"/>
            </a:solidFill>
          </p:spPr>
          <p:txBody>
            <a:bodyPr/>
            <a:p>
              <a:endParaRPr lang="zh-CN" altLang="en-US"/>
            </a:p>
          </p:txBody>
        </p:sp>
        <p:pic>
          <p:nvPicPr>
            <p:cNvPr id="62" name="Image 1" descr="preencoded.png"/>
            <p:cNvPicPr>
              <a:picLocks noChangeAspect="1"/>
            </p:cNvPicPr>
            <p:nvPr/>
          </p:nvPicPr>
          <p:blipFill>
            <a:blip r:embed="rId2"/>
            <a:stretch>
              <a:fillRect/>
            </a:stretch>
          </p:blipFill>
          <p:spPr>
            <a:xfrm>
              <a:off x="571500" y="3746897"/>
              <a:ext cx="3857625" cy="571500"/>
            </a:xfrm>
            <a:prstGeom prst="rect">
              <a:avLst/>
            </a:prstGeom>
          </p:spPr>
        </p:pic>
        <p:sp>
          <p:nvSpPr>
            <p:cNvPr id="63" name="Shape 19"/>
            <p:cNvSpPr/>
            <p:nvPr/>
          </p:nvSpPr>
          <p:spPr>
            <a:xfrm>
              <a:off x="714375" y="3861197"/>
              <a:ext cx="228600" cy="228600"/>
            </a:xfrm>
            <a:prstGeom prst="roundRect">
              <a:avLst>
                <a:gd name="adj" fmla="val 50000"/>
              </a:avLst>
            </a:prstGeom>
            <a:solidFill>
              <a:srgbClr val="3B82F6"/>
            </a:solidFill>
          </p:spPr>
          <p:txBody>
            <a:bodyPr/>
            <a:p>
              <a:endParaRPr lang="zh-CN" altLang="en-US"/>
            </a:p>
          </p:txBody>
        </p:sp>
        <p:sp>
          <p:nvSpPr>
            <p:cNvPr id="64" name="Text 20"/>
            <p:cNvSpPr/>
            <p:nvPr/>
          </p:nvSpPr>
          <p:spPr>
            <a:xfrm>
              <a:off x="708660" y="3880706"/>
              <a:ext cx="240030" cy="228600"/>
            </a:xfrm>
            <a:prstGeom prst="rect">
              <a:avLst/>
            </a:prstGeom>
            <a:noFill/>
          </p:spPr>
          <p:txBody>
            <a:bodyPr wrap="square" lIns="0" tIns="0" rIns="0" bIns="0" rtlCol="0" anchor="ctr"/>
            <a:p>
              <a:pPr marL="0" indent="0" algn="ctr">
                <a:lnSpc>
                  <a:spcPts val="1400"/>
                </a:lnSpc>
                <a:buNone/>
              </a:pPr>
              <a:r>
                <a:rPr lang="en-US" sz="1400" dirty="0">
                  <a:latin typeface="微软雅黑" panose="020B0503020204020204" pitchFamily="34" charset="-122"/>
                  <a:ea typeface="微软雅黑" panose="020B0503020204020204" pitchFamily="34" charset="-122"/>
                </a:rPr>
                <a:t>3</a:t>
              </a:r>
              <a:endParaRPr lang="en-US" sz="1400" dirty="0">
                <a:latin typeface="微软雅黑" panose="020B0503020204020204" pitchFamily="34" charset="-122"/>
                <a:ea typeface="微软雅黑" panose="020B0503020204020204" pitchFamily="34" charset="-122"/>
              </a:endParaRPr>
            </a:p>
          </p:txBody>
        </p:sp>
        <p:sp>
          <p:nvSpPr>
            <p:cNvPr id="65" name="Text 25"/>
            <p:cNvSpPr/>
            <p:nvPr/>
          </p:nvSpPr>
          <p:spPr>
            <a:xfrm>
              <a:off x="708660" y="4546997"/>
              <a:ext cx="240030" cy="228600"/>
            </a:xfrm>
            <a:prstGeom prst="rect">
              <a:avLst/>
            </a:prstGeom>
            <a:noFill/>
          </p:spPr>
          <p:txBody>
            <a:bodyPr wrap="square" lIns="0" tIns="0" rIns="0" bIns="0" rtlCol="0" anchor="ctr"/>
            <a:p>
              <a:pPr marL="0" indent="0" algn="ctr">
                <a:lnSpc>
                  <a:spcPts val="1400"/>
                </a:lnSpc>
                <a:buNone/>
              </a:pPr>
              <a:r>
                <a:rPr lang="en-US" sz="900" b="1" dirty="0">
                  <a:solidFill>
                    <a:srgbClr val="FFFFFF"/>
                  </a:solidFill>
                  <a:latin typeface="微软雅黑" panose="020B0503020204020204" pitchFamily="34" charset="-122"/>
                  <a:ea typeface="微软雅黑" panose="020B0503020204020204" pitchFamily="34" charset="-122"/>
                  <a:cs typeface="ui-sans-serif" pitchFamily="34" charset="-120"/>
                </a:rPr>
                <a:t>2</a:t>
              </a:r>
              <a:endParaRPr lang="en-US" sz="900" dirty="0">
                <a:latin typeface="微软雅黑" panose="020B0503020204020204" pitchFamily="34" charset="-122"/>
                <a:ea typeface="微软雅黑" panose="020B0503020204020204" pitchFamily="34" charset="-122"/>
              </a:endParaRPr>
            </a:p>
          </p:txBody>
        </p:sp>
      </p:grpSp>
      <p:sp>
        <p:nvSpPr>
          <p:cNvPr id="66" name="文本框 65"/>
          <p:cNvSpPr txBox="1"/>
          <p:nvPr/>
        </p:nvSpPr>
        <p:spPr>
          <a:xfrm>
            <a:off x="1210945" y="5320030"/>
            <a:ext cx="4956175" cy="583565"/>
          </a:xfrm>
          <a:prstGeom prst="rect">
            <a:avLst/>
          </a:prstGeom>
          <a:noFill/>
        </p:spPr>
        <p:txBody>
          <a:bodyPr wrap="square" rtlCol="0">
            <a:spAutoFit/>
          </a:bodyPr>
          <a:p>
            <a:r>
              <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rPr>
              <a:t>多源软件工件融合与概念演化分析：统一抽取多源软件知识，并支持概念随系统演化的动态更新与维护</a:t>
            </a:r>
            <a:endParaRPr sz="1600" b="1" dirty="0">
              <a:solidFill>
                <a:srgbClr val="1F2937"/>
              </a:solidFill>
              <a:latin typeface="微软雅黑" panose="020B0503020204020204" pitchFamily="34" charset="-122"/>
              <a:ea typeface="微软雅黑" panose="020B0503020204020204" pitchFamily="34" charset="-122"/>
              <a:cs typeface="ui-sans-serif" pitchFamily="34" charset="-120"/>
              <a:sym typeface="+mn-ea"/>
            </a:endParaRPr>
          </a:p>
        </p:txBody>
      </p:sp>
      <p:sp>
        <p:nvSpPr>
          <p:cNvPr id="67" name="矩形 66"/>
          <p:cNvSpPr/>
          <p:nvPr/>
        </p:nvSpPr>
        <p:spPr>
          <a:xfrm>
            <a:off x="375920" y="639953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16</a:t>
            </a:r>
            <a:endParaRPr kumimoji="1" lang="en-US" altLang="zh-CN">
              <a:solidFill>
                <a:schemeClr val="tx1">
                  <a:lumMod val="50000"/>
                  <a:lumOff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0222" y="192542"/>
            <a:ext cx="10066818" cy="443198"/>
          </a:xfrm>
        </p:spPr>
        <p:txBody>
          <a:bodyPr/>
          <a:lstStyle/>
          <a:p>
            <a:r>
              <a:rPr lang="zh-CN" altLang="en-US">
                <a:latin typeface="Arial" panose="020B0604020202020204" pitchFamily="34" charset="0"/>
                <a:ea typeface="微软雅黑" panose="020B0503020204020204" pitchFamily="34" charset="-122"/>
                <a:sym typeface="Arial" panose="020B0604020202020204" pitchFamily="34" charset="0"/>
              </a:rPr>
              <a:t>主要参考文献</a:t>
            </a: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6" name="文本框 25"/>
          <p:cNvSpPr txBox="1"/>
          <p:nvPr/>
        </p:nvSpPr>
        <p:spPr>
          <a:xfrm>
            <a:off x="387985" y="998855"/>
            <a:ext cx="10891520" cy="5170805"/>
          </a:xfrm>
          <a:prstGeom prst="rect">
            <a:avLst/>
          </a:prstGeom>
          <a:noFill/>
        </p:spPr>
        <p:txBody>
          <a:bodyPr wrap="square" lIns="0" tIns="0" rIns="0" bIns="0" rtlCol="0">
            <a:spAutoFit/>
          </a:bodyPr>
          <a:lstStyle/>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[1]</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Xia X, Bao L, Lo D, et al. Measuring program comprehension: A large-scale field study with professionals[J]. IEEE Transactions on Software Engineering, 2017, 44(10): 951-976.</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[2]</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Hindle A, Barr E T, Gabel M, et al. On the naturalness of software[J]. Communications of the ACM, 2016, 59(5): 122-131.</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[3]</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Hu X, Li G, Xia X, et al. Deep code comment generation with hybrid lexical and syntactical information[J]. Empirical Software Engineering, 2020, 25(3): 2179-2217.</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[4]</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Hu X, Li G, Xia X, et al. Deep code comment generation[C]//Proceedings of the 26th conference on program comprehension. 2018: 200-210.</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a:t>
            </a:r>
            <a:r>
              <a:rPr lang="en-US" altLang="zh-CN" sz="1400" dirty="0">
                <a:solidFill>
                  <a:schemeClr val="tx1">
                    <a:lumMod val="85000"/>
                    <a:lumOff val="15000"/>
                  </a:schemeClr>
                </a:solidFill>
                <a:latin typeface="微软雅黑" panose="020B0503020204020204" pitchFamily="34" charset="-122"/>
                <a:ea typeface="微软雅黑" panose="020B0503020204020204" pitchFamily="34" charset="-122"/>
              </a:rPr>
              <a:t>5</a:t>
            </a: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Dagdelen J, Dunn A, Lee S, et al. Structured information extraction from scientific text with large language models[J]. Nature communications, 2024, 15(1): 1418.</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[6]</a:t>
            </a:r>
            <a:r>
              <a:rPr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Ozkaya I. Can architecture knowledge guide software development with generative AI?[J]. IEEE Software, 2023, 40(5): 4-8.</a:t>
            </a:r>
            <a:endParaRPr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a:p>
            <a:pPr algn="l">
              <a:lnSpc>
                <a:spcPct val="200000"/>
              </a:lnSpc>
            </a:pPr>
            <a:r>
              <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rPr>
              <a:t>[7]]Nasar Z, Jaffry S W, Malik M K. Named entity recognition and relation extraction: State-of-the-art[J]. ACM Computing Surveys (CSUR), 2021, 54(1): 1-39.</a:t>
            </a:r>
            <a:endParaRPr lang="en-US" altLang="zh-CN" sz="1400" b="0" i="0" dirty="0">
              <a:solidFill>
                <a:schemeClr val="tx1">
                  <a:lumMod val="85000"/>
                  <a:lumOff val="15000"/>
                </a:schemeClr>
              </a:solidFill>
              <a:effectLst/>
              <a:latin typeface="微软雅黑" panose="020B0503020204020204" pitchFamily="34" charset="-122"/>
              <a:ea typeface="微软雅黑" panose="020B0503020204020204" pitchFamily="34" charset="-122"/>
            </a:endParaRPr>
          </a:p>
        </p:txBody>
      </p:sp>
      <p:sp>
        <p:nvSpPr>
          <p:cNvPr id="67" name="矩形 66"/>
          <p:cNvSpPr/>
          <p:nvPr/>
        </p:nvSpPr>
        <p:spPr>
          <a:xfrm>
            <a:off x="375920" y="639953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17</a:t>
            </a:r>
            <a:endParaRPr kumimoji="1" lang="en-US" altLang="zh-CN">
              <a:solidFill>
                <a:schemeClr val="tx1">
                  <a:lumMod val="50000"/>
                  <a:lumOff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38171" y="2615071"/>
            <a:ext cx="3715658" cy="1015365"/>
          </a:xfrm>
          <a:prstGeom prst="rect">
            <a:avLst/>
          </a:prstGeom>
          <a:noFill/>
        </p:spPr>
        <p:txBody>
          <a:bodyPr wrap="square" lIns="0" tIns="0" rIns="0" bIns="0">
            <a:spAutoFit/>
          </a:bodyPr>
          <a:lstStyle/>
          <a:p>
            <a:pPr algn="dist"/>
            <a:r>
              <a:rPr lang="zh-CN" altLang="en-US" sz="66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感谢聆听</a:t>
            </a:r>
            <a:endParaRPr lang="zh-CN" altLang="en-US" sz="66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6"/>
          <p:cNvSpPr txBox="1"/>
          <p:nvPr/>
        </p:nvSpPr>
        <p:spPr>
          <a:xfrm>
            <a:off x="4238171" y="3860577"/>
            <a:ext cx="3715658" cy="369332"/>
          </a:xfrm>
          <a:prstGeom prst="rect">
            <a:avLst/>
          </a:prstGeom>
          <a:noFill/>
        </p:spPr>
        <p:txBody>
          <a:bodyPr wrap="square" lIns="0" tIns="0" rIns="0" bIns="0">
            <a:spAutoFit/>
          </a:bodyPr>
          <a:lstStyle/>
          <a:p>
            <a:pPr algn="dist"/>
            <a:r>
              <a:rPr lang="zh-CN" altLang="en-US" sz="2400" dirty="0">
                <a:latin typeface="Arial" panose="020B0604020202020204" pitchFamily="34" charset="0"/>
                <a:ea typeface="微软雅黑" panose="020B0503020204020204" pitchFamily="34" charset="-122"/>
                <a:sym typeface="Arial" panose="020B0604020202020204" pitchFamily="34" charset="0"/>
              </a:rPr>
              <a:t>敬请批评指正！</a:t>
            </a:r>
            <a:endParaRPr lang="zh-CN" altLang="en-US" sz="2400" dirty="0">
              <a:latin typeface="Arial" panose="020B0604020202020204" pitchFamily="34" charset="0"/>
              <a:ea typeface="微软雅黑" panose="020B0503020204020204" pitchFamily="34" charset="-122"/>
              <a:sym typeface="Arial" panose="020B0604020202020204" pitchFamily="34" charset="0"/>
            </a:endParaRPr>
          </a:p>
        </p:txBody>
      </p:sp>
      <p:sp>
        <p:nvSpPr>
          <p:cNvPr id="2" name="图形 46"/>
          <p:cNvSpPr/>
          <p:nvPr/>
        </p:nvSpPr>
        <p:spPr>
          <a:xfrm>
            <a:off x="4100899" y="4716212"/>
            <a:ext cx="206755" cy="234587"/>
          </a:xfrm>
          <a:custGeom>
            <a:avLst/>
            <a:gdLst>
              <a:gd name="connsiteX0" fmla="*/ 149765 w 206755"/>
              <a:gd name="connsiteY0" fmla="*/ 129885 h 234587"/>
              <a:gd name="connsiteX1" fmla="*/ 177598 w 206755"/>
              <a:gd name="connsiteY1" fmla="*/ 72895 h 234587"/>
              <a:gd name="connsiteX2" fmla="*/ 104703 w 206755"/>
              <a:gd name="connsiteY2" fmla="*/ 0 h 234587"/>
              <a:gd name="connsiteX3" fmla="*/ 30483 w 206755"/>
              <a:gd name="connsiteY3" fmla="*/ 71569 h 234587"/>
              <a:gd name="connsiteX4" fmla="*/ 58316 w 206755"/>
              <a:gd name="connsiteY4" fmla="*/ 128559 h 234587"/>
              <a:gd name="connsiteX5" fmla="*/ 0 w 206755"/>
              <a:gd name="connsiteY5" fmla="*/ 221334 h 234587"/>
              <a:gd name="connsiteX6" fmla="*/ 13254 w 206755"/>
              <a:gd name="connsiteY6" fmla="*/ 234588 h 234587"/>
              <a:gd name="connsiteX7" fmla="*/ 26507 w 206755"/>
              <a:gd name="connsiteY7" fmla="*/ 221334 h 234587"/>
              <a:gd name="connsiteX8" fmla="*/ 103378 w 206755"/>
              <a:gd name="connsiteY8" fmla="*/ 144464 h 234587"/>
              <a:gd name="connsiteX9" fmla="*/ 180248 w 206755"/>
              <a:gd name="connsiteY9" fmla="*/ 221334 h 234587"/>
              <a:gd name="connsiteX10" fmla="*/ 193502 w 206755"/>
              <a:gd name="connsiteY10" fmla="*/ 234588 h 234587"/>
              <a:gd name="connsiteX11" fmla="*/ 206755 w 206755"/>
              <a:gd name="connsiteY11" fmla="*/ 221334 h 234587"/>
              <a:gd name="connsiteX12" fmla="*/ 148440 w 206755"/>
              <a:gd name="connsiteY12" fmla="*/ 128559 h 234587"/>
              <a:gd name="connsiteX13" fmla="*/ 103378 w 206755"/>
              <a:gd name="connsiteY13" fmla="*/ 25182 h 234587"/>
              <a:gd name="connsiteX14" fmla="*/ 149765 w 206755"/>
              <a:gd name="connsiteY14" fmla="*/ 71569 h 234587"/>
              <a:gd name="connsiteX15" fmla="*/ 103378 w 206755"/>
              <a:gd name="connsiteY15" fmla="*/ 117957 h 234587"/>
              <a:gd name="connsiteX16" fmla="*/ 56990 w 206755"/>
              <a:gd name="connsiteY16" fmla="*/ 71569 h 234587"/>
              <a:gd name="connsiteX17" fmla="*/ 103378 w 206755"/>
              <a:gd name="connsiteY17" fmla="*/ 25182 h 23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755" h="234587">
                <a:moveTo>
                  <a:pt x="149765" y="129885"/>
                </a:moveTo>
                <a:cubicBezTo>
                  <a:pt x="166995" y="116631"/>
                  <a:pt x="177598" y="95426"/>
                  <a:pt x="177598" y="72895"/>
                </a:cubicBezTo>
                <a:cubicBezTo>
                  <a:pt x="177598" y="31809"/>
                  <a:pt x="144464" y="0"/>
                  <a:pt x="104703" y="0"/>
                </a:cubicBezTo>
                <a:cubicBezTo>
                  <a:pt x="64942" y="0"/>
                  <a:pt x="30483" y="31809"/>
                  <a:pt x="30483" y="71569"/>
                </a:cubicBezTo>
                <a:cubicBezTo>
                  <a:pt x="30483" y="95426"/>
                  <a:pt x="41086" y="115306"/>
                  <a:pt x="58316" y="128559"/>
                </a:cubicBezTo>
                <a:cubicBezTo>
                  <a:pt x="23856" y="145789"/>
                  <a:pt x="0" y="180248"/>
                  <a:pt x="0" y="221334"/>
                </a:cubicBezTo>
                <a:cubicBezTo>
                  <a:pt x="0" y="229286"/>
                  <a:pt x="6627" y="234588"/>
                  <a:pt x="13254" y="234588"/>
                </a:cubicBezTo>
                <a:cubicBezTo>
                  <a:pt x="19880" y="234588"/>
                  <a:pt x="26507" y="227961"/>
                  <a:pt x="26507" y="221334"/>
                </a:cubicBezTo>
                <a:cubicBezTo>
                  <a:pt x="26507" y="178923"/>
                  <a:pt x="60966" y="144464"/>
                  <a:pt x="103378" y="144464"/>
                </a:cubicBezTo>
                <a:cubicBezTo>
                  <a:pt x="145789" y="144464"/>
                  <a:pt x="180248" y="178923"/>
                  <a:pt x="180248" y="221334"/>
                </a:cubicBezTo>
                <a:cubicBezTo>
                  <a:pt x="180248" y="229286"/>
                  <a:pt x="186875" y="234588"/>
                  <a:pt x="193502" y="234588"/>
                </a:cubicBezTo>
                <a:cubicBezTo>
                  <a:pt x="200129" y="234588"/>
                  <a:pt x="206755" y="227961"/>
                  <a:pt x="206755" y="221334"/>
                </a:cubicBezTo>
                <a:cubicBezTo>
                  <a:pt x="206755" y="180248"/>
                  <a:pt x="182899" y="145789"/>
                  <a:pt x="148440" y="128559"/>
                </a:cubicBezTo>
                <a:close/>
                <a:moveTo>
                  <a:pt x="103378" y="25182"/>
                </a:moveTo>
                <a:cubicBezTo>
                  <a:pt x="128559" y="25182"/>
                  <a:pt x="149765" y="46387"/>
                  <a:pt x="149765" y="71569"/>
                </a:cubicBezTo>
                <a:cubicBezTo>
                  <a:pt x="149765" y="96751"/>
                  <a:pt x="128559" y="117957"/>
                  <a:pt x="103378" y="117957"/>
                </a:cubicBezTo>
                <a:cubicBezTo>
                  <a:pt x="78196" y="117957"/>
                  <a:pt x="56990" y="96751"/>
                  <a:pt x="56990" y="71569"/>
                </a:cubicBezTo>
                <a:cubicBezTo>
                  <a:pt x="56990" y="46387"/>
                  <a:pt x="78196" y="25182"/>
                  <a:pt x="103378" y="25182"/>
                </a:cubicBezTo>
                <a:close/>
              </a:path>
            </a:pathLst>
          </a:custGeom>
          <a:solidFill>
            <a:schemeClr val="tx1">
              <a:lumMod val="75000"/>
              <a:lumOff val="25000"/>
            </a:schemeClr>
          </a:solidFill>
          <a:ln w="128588" cap="flat">
            <a:noFill/>
            <a:prstDash val="solid"/>
            <a:miter/>
          </a:ln>
        </p:spPr>
        <p:txBody>
          <a:bodyPr rtlCol="0" anchor="ctr"/>
          <a:lstStyle/>
          <a:p>
            <a:endParaRPr lang="zh-CN" altLang="en-US"/>
          </a:p>
        </p:txBody>
      </p:sp>
      <p:grpSp>
        <p:nvGrpSpPr>
          <p:cNvPr id="12" name="组合 11"/>
          <p:cNvGrpSpPr/>
          <p:nvPr/>
        </p:nvGrpSpPr>
        <p:grpSpPr>
          <a:xfrm>
            <a:off x="6143603" y="4676697"/>
            <a:ext cx="317636" cy="269002"/>
            <a:chOff x="6143603" y="4601132"/>
            <a:chExt cx="317636" cy="269002"/>
          </a:xfrm>
          <a:solidFill>
            <a:schemeClr val="tx1">
              <a:lumMod val="75000"/>
              <a:lumOff val="25000"/>
            </a:schemeClr>
          </a:solidFill>
        </p:grpSpPr>
        <p:sp>
          <p:nvSpPr>
            <p:cNvPr id="9" name="任意多边形: 形状 8"/>
            <p:cNvSpPr/>
            <p:nvPr/>
          </p:nvSpPr>
          <p:spPr>
            <a:xfrm>
              <a:off x="6224152" y="4601132"/>
              <a:ext cx="237087" cy="269002"/>
            </a:xfrm>
            <a:custGeom>
              <a:avLst/>
              <a:gdLst>
                <a:gd name="connsiteX0" fmla="*/ 171736 w 237087"/>
                <a:gd name="connsiteY0" fmla="*/ 148939 h 269002"/>
                <a:gd name="connsiteX1" fmla="*/ 203652 w 237087"/>
                <a:gd name="connsiteY1" fmla="*/ 83588 h 269002"/>
                <a:gd name="connsiteX2" fmla="*/ 120063 w 237087"/>
                <a:gd name="connsiteY2" fmla="*/ 0 h 269002"/>
                <a:gd name="connsiteX3" fmla="*/ 34955 w 237087"/>
                <a:gd name="connsiteY3" fmla="*/ 82069 h 269002"/>
                <a:gd name="connsiteX4" fmla="*/ 66871 w 237087"/>
                <a:gd name="connsiteY4" fmla="*/ 147420 h 269002"/>
                <a:gd name="connsiteX5" fmla="*/ 0 w 237087"/>
                <a:gd name="connsiteY5" fmla="*/ 253805 h 269002"/>
                <a:gd name="connsiteX6" fmla="*/ 15198 w 237087"/>
                <a:gd name="connsiteY6" fmla="*/ 269003 h 269002"/>
                <a:gd name="connsiteX7" fmla="*/ 30396 w 237087"/>
                <a:gd name="connsiteY7" fmla="*/ 253805 h 269002"/>
                <a:gd name="connsiteX8" fmla="*/ 118544 w 237087"/>
                <a:gd name="connsiteY8" fmla="*/ 165657 h 269002"/>
                <a:gd name="connsiteX9" fmla="*/ 206691 w 237087"/>
                <a:gd name="connsiteY9" fmla="*/ 253805 h 269002"/>
                <a:gd name="connsiteX10" fmla="*/ 221889 w 237087"/>
                <a:gd name="connsiteY10" fmla="*/ 269003 h 269002"/>
                <a:gd name="connsiteX11" fmla="*/ 237087 w 237087"/>
                <a:gd name="connsiteY11" fmla="*/ 253805 h 269002"/>
                <a:gd name="connsiteX12" fmla="*/ 170216 w 237087"/>
                <a:gd name="connsiteY12" fmla="*/ 147420 h 269002"/>
                <a:gd name="connsiteX13" fmla="*/ 120063 w 237087"/>
                <a:gd name="connsiteY13" fmla="*/ 136781 h 269002"/>
                <a:gd name="connsiteX14" fmla="*/ 66871 w 237087"/>
                <a:gd name="connsiteY14" fmla="*/ 83588 h 269002"/>
                <a:gd name="connsiteX15" fmla="*/ 120063 w 237087"/>
                <a:gd name="connsiteY15" fmla="*/ 30396 h 269002"/>
                <a:gd name="connsiteX16" fmla="*/ 173256 w 237087"/>
                <a:gd name="connsiteY16" fmla="*/ 83588 h 269002"/>
                <a:gd name="connsiteX17" fmla="*/ 120063 w 237087"/>
                <a:gd name="connsiteY17" fmla="*/ 136781 h 26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087" h="269002">
                  <a:moveTo>
                    <a:pt x="171736" y="148939"/>
                  </a:moveTo>
                  <a:cubicBezTo>
                    <a:pt x="191494" y="133742"/>
                    <a:pt x="203652" y="109425"/>
                    <a:pt x="203652" y="83588"/>
                  </a:cubicBezTo>
                  <a:cubicBezTo>
                    <a:pt x="203652" y="36475"/>
                    <a:pt x="165657" y="0"/>
                    <a:pt x="120063" y="0"/>
                  </a:cubicBezTo>
                  <a:cubicBezTo>
                    <a:pt x="74470" y="0"/>
                    <a:pt x="34955" y="36475"/>
                    <a:pt x="34955" y="82069"/>
                  </a:cubicBezTo>
                  <a:cubicBezTo>
                    <a:pt x="34955" y="109425"/>
                    <a:pt x="47113" y="132222"/>
                    <a:pt x="66871" y="147420"/>
                  </a:cubicBezTo>
                  <a:cubicBezTo>
                    <a:pt x="27356" y="167177"/>
                    <a:pt x="0" y="206691"/>
                    <a:pt x="0" y="253805"/>
                  </a:cubicBezTo>
                  <a:cubicBezTo>
                    <a:pt x="0" y="262924"/>
                    <a:pt x="7599" y="269003"/>
                    <a:pt x="15198" y="269003"/>
                  </a:cubicBezTo>
                  <a:cubicBezTo>
                    <a:pt x="22797" y="269003"/>
                    <a:pt x="30396" y="261404"/>
                    <a:pt x="30396" y="253805"/>
                  </a:cubicBezTo>
                  <a:cubicBezTo>
                    <a:pt x="30396" y="205172"/>
                    <a:pt x="69910" y="165657"/>
                    <a:pt x="118544" y="165657"/>
                  </a:cubicBezTo>
                  <a:cubicBezTo>
                    <a:pt x="167177" y="165657"/>
                    <a:pt x="206691" y="205172"/>
                    <a:pt x="206691" y="253805"/>
                  </a:cubicBezTo>
                  <a:cubicBezTo>
                    <a:pt x="206691" y="262924"/>
                    <a:pt x="214290" y="269003"/>
                    <a:pt x="221889" y="269003"/>
                  </a:cubicBezTo>
                  <a:cubicBezTo>
                    <a:pt x="229488" y="269003"/>
                    <a:pt x="237087" y="261404"/>
                    <a:pt x="237087" y="253805"/>
                  </a:cubicBezTo>
                  <a:cubicBezTo>
                    <a:pt x="237087" y="206691"/>
                    <a:pt x="209731" y="167177"/>
                    <a:pt x="170216" y="147420"/>
                  </a:cubicBezTo>
                  <a:close/>
                  <a:moveTo>
                    <a:pt x="120063" y="136781"/>
                  </a:moveTo>
                  <a:cubicBezTo>
                    <a:pt x="91187" y="136781"/>
                    <a:pt x="66871" y="112464"/>
                    <a:pt x="66871" y="83588"/>
                  </a:cubicBezTo>
                  <a:cubicBezTo>
                    <a:pt x="66871" y="54712"/>
                    <a:pt x="91187" y="30396"/>
                    <a:pt x="120063" y="30396"/>
                  </a:cubicBezTo>
                  <a:cubicBezTo>
                    <a:pt x="148939" y="30396"/>
                    <a:pt x="173256" y="54712"/>
                    <a:pt x="173256" y="83588"/>
                  </a:cubicBezTo>
                  <a:cubicBezTo>
                    <a:pt x="173256" y="112464"/>
                    <a:pt x="148939" y="136781"/>
                    <a:pt x="120063" y="136781"/>
                  </a:cubicBezTo>
                  <a:close/>
                </a:path>
              </a:pathLst>
            </a:custGeom>
            <a:grpFill/>
            <a:ln w="147638" cap="flat">
              <a:noFill/>
              <a:prstDash val="solid"/>
              <a:miter/>
            </a:ln>
          </p:spPr>
          <p:txBody>
            <a:bodyPr rtlCol="0" anchor="ctr"/>
            <a:lstStyle/>
            <a:p>
              <a:endParaRPr lang="zh-CN" altLang="en-US"/>
            </a:p>
          </p:txBody>
        </p:sp>
        <p:sp>
          <p:nvSpPr>
            <p:cNvPr id="10" name="任意多边形: 形状 9"/>
            <p:cNvSpPr/>
            <p:nvPr/>
          </p:nvSpPr>
          <p:spPr>
            <a:xfrm>
              <a:off x="6143603" y="4640647"/>
              <a:ext cx="106385" cy="194533"/>
            </a:xfrm>
            <a:custGeom>
              <a:avLst/>
              <a:gdLst>
                <a:gd name="connsiteX0" fmla="*/ 97267 w 106385"/>
                <a:gd name="connsiteY0" fmla="*/ 113984 h 194533"/>
                <a:gd name="connsiteX1" fmla="*/ 97267 w 106385"/>
                <a:gd name="connsiteY1" fmla="*/ 107905 h 194533"/>
                <a:gd name="connsiteX2" fmla="*/ 82069 w 106385"/>
                <a:gd name="connsiteY2" fmla="*/ 92707 h 194533"/>
                <a:gd name="connsiteX3" fmla="*/ 51673 w 106385"/>
                <a:gd name="connsiteY3" fmla="*/ 62311 h 194533"/>
                <a:gd name="connsiteX4" fmla="*/ 82069 w 106385"/>
                <a:gd name="connsiteY4" fmla="*/ 31916 h 194533"/>
                <a:gd name="connsiteX5" fmla="*/ 92707 w 106385"/>
                <a:gd name="connsiteY5" fmla="*/ 33435 h 194533"/>
                <a:gd name="connsiteX6" fmla="*/ 98786 w 106385"/>
                <a:gd name="connsiteY6" fmla="*/ 33435 h 194533"/>
                <a:gd name="connsiteX7" fmla="*/ 106385 w 106385"/>
                <a:gd name="connsiteY7" fmla="*/ 4559 h 194533"/>
                <a:gd name="connsiteX8" fmla="*/ 103346 w 106385"/>
                <a:gd name="connsiteY8" fmla="*/ 3040 h 194533"/>
                <a:gd name="connsiteX9" fmla="*/ 83588 w 106385"/>
                <a:gd name="connsiteY9" fmla="*/ 0 h 194533"/>
                <a:gd name="connsiteX10" fmla="*/ 22797 w 106385"/>
                <a:gd name="connsiteY10" fmla="*/ 62311 h 194533"/>
                <a:gd name="connsiteX11" fmla="*/ 41034 w 106385"/>
                <a:gd name="connsiteY11" fmla="*/ 106385 h 194533"/>
                <a:gd name="connsiteX12" fmla="*/ 0 w 106385"/>
                <a:gd name="connsiteY12" fmla="*/ 179335 h 194533"/>
                <a:gd name="connsiteX13" fmla="*/ 15198 w 106385"/>
                <a:gd name="connsiteY13" fmla="*/ 194533 h 194533"/>
                <a:gd name="connsiteX14" fmla="*/ 30396 w 106385"/>
                <a:gd name="connsiteY14" fmla="*/ 179335 h 194533"/>
                <a:gd name="connsiteX15" fmla="*/ 85108 w 106385"/>
                <a:gd name="connsiteY15" fmla="*/ 124623 h 194533"/>
                <a:gd name="connsiteX16" fmla="*/ 98786 w 106385"/>
                <a:gd name="connsiteY16" fmla="*/ 115504 h 19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6385" h="194533">
                  <a:moveTo>
                    <a:pt x="97267" y="113984"/>
                  </a:moveTo>
                  <a:cubicBezTo>
                    <a:pt x="97267" y="113984"/>
                    <a:pt x="97267" y="109425"/>
                    <a:pt x="97267" y="107905"/>
                  </a:cubicBezTo>
                  <a:cubicBezTo>
                    <a:pt x="97267" y="98786"/>
                    <a:pt x="89668" y="92707"/>
                    <a:pt x="82069" y="92707"/>
                  </a:cubicBezTo>
                  <a:cubicBezTo>
                    <a:pt x="65351" y="92707"/>
                    <a:pt x="51673" y="79029"/>
                    <a:pt x="51673" y="62311"/>
                  </a:cubicBezTo>
                  <a:cubicBezTo>
                    <a:pt x="51673" y="45594"/>
                    <a:pt x="65351" y="31916"/>
                    <a:pt x="82069" y="31916"/>
                  </a:cubicBezTo>
                  <a:cubicBezTo>
                    <a:pt x="85108" y="31916"/>
                    <a:pt x="88148" y="31916"/>
                    <a:pt x="92707" y="33435"/>
                  </a:cubicBezTo>
                  <a:cubicBezTo>
                    <a:pt x="94227" y="33435"/>
                    <a:pt x="97267" y="33435"/>
                    <a:pt x="98786" y="33435"/>
                  </a:cubicBezTo>
                  <a:cubicBezTo>
                    <a:pt x="98786" y="22797"/>
                    <a:pt x="101826" y="13678"/>
                    <a:pt x="106385" y="4559"/>
                  </a:cubicBezTo>
                  <a:cubicBezTo>
                    <a:pt x="106385" y="4559"/>
                    <a:pt x="104866" y="4559"/>
                    <a:pt x="103346" y="3040"/>
                  </a:cubicBezTo>
                  <a:cubicBezTo>
                    <a:pt x="97267" y="0"/>
                    <a:pt x="89668" y="0"/>
                    <a:pt x="83588" y="0"/>
                  </a:cubicBezTo>
                  <a:cubicBezTo>
                    <a:pt x="50153" y="0"/>
                    <a:pt x="22797" y="27356"/>
                    <a:pt x="22797" y="62311"/>
                  </a:cubicBezTo>
                  <a:cubicBezTo>
                    <a:pt x="22797" y="79029"/>
                    <a:pt x="30396" y="94227"/>
                    <a:pt x="41034" y="106385"/>
                  </a:cubicBezTo>
                  <a:cubicBezTo>
                    <a:pt x="16718" y="121583"/>
                    <a:pt x="0" y="148939"/>
                    <a:pt x="0" y="179335"/>
                  </a:cubicBezTo>
                  <a:cubicBezTo>
                    <a:pt x="0" y="188454"/>
                    <a:pt x="7599" y="194533"/>
                    <a:pt x="15198" y="194533"/>
                  </a:cubicBezTo>
                  <a:cubicBezTo>
                    <a:pt x="22797" y="194533"/>
                    <a:pt x="30396" y="186934"/>
                    <a:pt x="30396" y="179335"/>
                  </a:cubicBezTo>
                  <a:cubicBezTo>
                    <a:pt x="30396" y="148939"/>
                    <a:pt x="54712" y="124623"/>
                    <a:pt x="85108" y="124623"/>
                  </a:cubicBezTo>
                  <a:cubicBezTo>
                    <a:pt x="91187" y="124623"/>
                    <a:pt x="97267" y="120063"/>
                    <a:pt x="98786" y="115504"/>
                  </a:cubicBezTo>
                  <a:close/>
                </a:path>
              </a:pathLst>
            </a:custGeom>
            <a:grpFill/>
            <a:ln w="147638" cap="flat">
              <a:noFill/>
              <a:prstDash val="solid"/>
              <a:miter/>
            </a:ln>
          </p:spPr>
          <p:txBody>
            <a:bodyPr rtlCol="0" anchor="ctr"/>
            <a:lstStyle/>
            <a:p>
              <a:endParaRPr lang="zh-CN" altLang="en-US"/>
            </a:p>
          </p:txBody>
        </p:sp>
      </p:grpSp>
      <p:sp>
        <p:nvSpPr>
          <p:cNvPr id="51" name="文本框 50"/>
          <p:cNvSpPr txBox="1"/>
          <p:nvPr/>
        </p:nvSpPr>
        <p:spPr>
          <a:xfrm>
            <a:off x="4390608" y="4732848"/>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汇报人：</a:t>
            </a:r>
            <a:r>
              <a:rPr lang="zh-CN" altLang="en-US" sz="1600" b="1" dirty="0">
                <a:solidFill>
                  <a:schemeClr val="tx1">
                    <a:lumMod val="75000"/>
                    <a:lumOff val="25000"/>
                  </a:schemeClr>
                </a:solidFill>
                <a:sym typeface="Arial" panose="020B0604020202020204" pitchFamily="34" charset="0"/>
              </a:rPr>
              <a:t>黄卓谌</a:t>
            </a:r>
            <a:endParaRPr lang="zh-CN" altLang="en-US" sz="1600" b="1" dirty="0">
              <a:solidFill>
                <a:schemeClr val="tx1">
                  <a:lumMod val="75000"/>
                  <a:lumOff val="25000"/>
                </a:schemeClr>
              </a:solidFill>
              <a:sym typeface="Arial" panose="020B0604020202020204" pitchFamily="34" charset="0"/>
            </a:endParaRPr>
          </a:p>
        </p:txBody>
      </p:sp>
      <p:sp>
        <p:nvSpPr>
          <p:cNvPr id="53" name="文本框 52"/>
          <p:cNvSpPr txBox="1"/>
          <p:nvPr/>
        </p:nvSpPr>
        <p:spPr>
          <a:xfrm>
            <a:off x="6547980" y="4732848"/>
            <a:ext cx="1426845" cy="245745"/>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tx1">
                    <a:lumMod val="75000"/>
                    <a:lumOff val="25000"/>
                  </a:schemeClr>
                </a:solidFill>
                <a:sym typeface="Arial" panose="020B0604020202020204" pitchFamily="34" charset="0"/>
              </a:rPr>
              <a:t>指导老师：</a:t>
            </a:r>
            <a:r>
              <a:rPr lang="zh-CN" altLang="en-US" sz="1600" b="1" dirty="0">
                <a:solidFill>
                  <a:schemeClr val="tx1">
                    <a:lumMod val="75000"/>
                    <a:lumOff val="25000"/>
                  </a:schemeClr>
                </a:solidFill>
                <a:sym typeface="Arial" panose="020B0604020202020204" pitchFamily="34" charset="0"/>
              </a:rPr>
              <a:t>彭鑫</a:t>
            </a:r>
            <a:endParaRPr lang="zh-CN" altLang="en-US" sz="1600" b="1" dirty="0">
              <a:solidFill>
                <a:schemeClr val="tx1">
                  <a:lumMod val="75000"/>
                  <a:lumOff val="25000"/>
                </a:schemeClr>
              </a:solidFill>
              <a:sym typeface="Arial" panose="020B0604020202020204" pitchFamily="34" charset="0"/>
            </a:endParaRPr>
          </a:p>
        </p:txBody>
      </p:sp>
      <p:sp>
        <p:nvSpPr>
          <p:cNvPr id="3" name="Text 6"/>
          <p:cNvSpPr/>
          <p:nvPr/>
        </p:nvSpPr>
        <p:spPr>
          <a:xfrm>
            <a:off x="4390230" y="4239379"/>
            <a:ext cx="3420428" cy="417909"/>
          </a:xfrm>
          <a:prstGeom prst="rect">
            <a:avLst/>
          </a:prstGeom>
          <a:noFill/>
        </p:spPr>
        <p:txBody>
          <a:bodyPr wrap="square" lIns="0" tIns="0" rIns="0" bIns="0" rtlCol="0" anchor="t"/>
          <a:p>
            <a:pPr marL="0" indent="0" algn="ctr">
              <a:lnSpc>
                <a:spcPts val="1600"/>
              </a:lnSpc>
              <a:buNone/>
            </a:pPr>
            <a:r>
              <a:rPr lang="en-US" sz="1000" dirty="0">
                <a:solidFill>
                  <a:srgbClr val="4B5563"/>
                </a:solidFill>
                <a:latin typeface="微软雅黑" panose="020B0503020204020204" pitchFamily="34" charset="-122"/>
                <a:ea typeface="微软雅黑" panose="020B0503020204020204" pitchFamily="34" charset="-122"/>
                <a:cs typeface="ui-sans-serif" pitchFamily="34" charset="-120"/>
              </a:rPr>
              <a:t>感谢各位评审专家在百忙之中抽出时间参加本次开题答辩，
您的宝贵意见将为本研究指明方向。</a:t>
            </a:r>
            <a:endParaRPr lang="en-US" sz="1000" dirty="0">
              <a:latin typeface="微软雅黑" panose="020B0503020204020204" pitchFamily="34" charset="-122"/>
              <a:ea typeface="微软雅黑" panose="020B0503020204020204" pitchFamily="34" charset="-122"/>
            </a:endParaRPr>
          </a:p>
        </p:txBody>
      </p:sp>
      <p:sp>
        <p:nvSpPr>
          <p:cNvPr id="67" name="矩形 66"/>
          <p:cNvSpPr/>
          <p:nvPr/>
        </p:nvSpPr>
        <p:spPr>
          <a:xfrm>
            <a:off x="375920" y="6399530"/>
            <a:ext cx="11816080" cy="4470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r"/>
            <a:r>
              <a:rPr kumimoji="1" lang="en-US" altLang="zh-CN">
                <a:solidFill>
                  <a:schemeClr val="tx1">
                    <a:lumMod val="50000"/>
                    <a:lumOff val="50000"/>
                  </a:schemeClr>
                </a:solidFill>
              </a:rPr>
              <a:t>|  18</a:t>
            </a:r>
            <a:endParaRPr kumimoji="1" lang="en-US" altLang="zh-CN">
              <a:solidFill>
                <a:schemeClr val="tx1">
                  <a:lumMod val="50000"/>
                  <a:lumOff val="50000"/>
                </a:schemeClr>
              </a:solidFill>
            </a:endParaRPr>
          </a:p>
        </p:txBody>
      </p:sp>
    </p:spTree>
  </p:cSld>
  <p:clrMapOvr>
    <a:masterClrMapping/>
  </p:clrMapOvr>
</p:sld>
</file>

<file path=ppt/tags/tag1.xml><?xml version="1.0" encoding="utf-8"?>
<p:tagLst xmlns:p="http://schemas.openxmlformats.org/presentationml/2006/main">
  <p:tag name="ISLIDE.DIAGRAM" val="#607880;"/>
</p:tagLst>
</file>

<file path=ppt/tags/tag2.xml><?xml version="1.0" encoding="utf-8"?>
<p:tagLst xmlns:p="http://schemas.openxmlformats.org/presentationml/2006/main">
  <p:tag name="ISLIDE.DIAGRAM" val="#652351;"/>
  <p:tag name="ISLIDE.ICON" val="#134866;#8493;#151850;#167798;#152190;#166610;#67520;"/>
</p:tagLst>
</file>

<file path=ppt/tags/tag3.xml><?xml version="1.0" encoding="utf-8"?>
<p:tagLst xmlns:p="http://schemas.openxmlformats.org/presentationml/2006/main">
  <p:tag name="ISLIDE.DIAGRAM" val="#577152;"/>
  <p:tag name="ISLIDE.ICON" val="#41814;#167613;#168399;#135270;#152539;"/>
</p:tagLst>
</file>

<file path=ppt/tags/tag4.xml><?xml version="1.0" encoding="utf-8"?>
<p:tagLst xmlns:p="http://schemas.openxmlformats.org/presentationml/2006/main">
  <p:tag name="ISLIDE.DIAGRAM" val="#462296;"/>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4546A"/>
      </a:dk2>
      <a:lt2>
        <a:srgbClr val="E7E6E6"/>
      </a:lt2>
      <a:accent1>
        <a:srgbClr val="1F3F84"/>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bg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4223</Words>
  <Application>WPS 文字</Application>
  <PresentationFormat>宽屏</PresentationFormat>
  <Paragraphs>376</Paragraphs>
  <Slides>18</Slides>
  <Notes>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Arial</vt:lpstr>
      <vt:lpstr>宋体</vt:lpstr>
      <vt:lpstr>Wingdings</vt:lpstr>
      <vt:lpstr>微软雅黑</vt:lpstr>
      <vt:lpstr>汉仪旗黑</vt:lpstr>
      <vt:lpstr>ui-sans-serif</vt:lpstr>
      <vt:lpstr>微软雅黑</vt:lpstr>
      <vt:lpstr>Calibri</vt:lpstr>
      <vt:lpstr>Helvetica Neue</vt:lpstr>
      <vt:lpstr>宋体</vt:lpstr>
      <vt:lpstr>Arial Unicode MS</vt:lpstr>
      <vt:lpstr>等线</vt:lpstr>
      <vt:lpstr>汉仪中等线KW</vt:lpstr>
      <vt:lpstr>汉仪书宋二KW</vt:lpstr>
      <vt:lpstr>苹方-简</vt:lpstr>
      <vt:lpstr>Office 主题​​</vt:lpstr>
      <vt:lpstr>PowerPoint 演示文稿</vt:lpstr>
      <vt:lpstr>PowerPoint 演示文稿</vt:lpstr>
      <vt:lpstr>PowerPoint 演示文稿</vt:lpstr>
      <vt:lpstr>研究背景与动机</vt:lpstr>
      <vt:lpstr>研究现状：从人工理解到自动化再到智能化的转型</vt:lpstr>
      <vt:lpstr>PowerPoint 演示文稿</vt:lpstr>
      <vt:lpstr>研究内容与目标</vt:lpstr>
      <vt:lpstr>PowerPoint 演示文稿</vt:lpstr>
      <vt:lpstr>研究方法与路线</vt:lpstr>
      <vt:lpstr>研究方法与路线</vt:lpstr>
      <vt:lpstr>PowerPoint 演示文稿</vt:lpstr>
      <vt:lpstr>预期成果</vt:lpstr>
      <vt:lpstr>PowerPoint 演示文稿</vt:lpstr>
      <vt:lpstr>研究计划与进度</vt:lpstr>
      <vt:lpstr>PowerPoint 演示文稿</vt:lpstr>
      <vt:lpstr>总结与展望</vt:lpstr>
      <vt:lpstr>主要参考文献</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论文答辩报告</dc:title>
  <dc:creator>辉强 林</dc:creator>
  <cp:keywords>校神网原创版权模板</cp:keywords>
  <dc:description>www.pptgenius.com</dc:description>
  <cp:lastModifiedBy>OLD帅MA</cp:lastModifiedBy>
  <cp:revision>509</cp:revision>
  <dcterms:created xsi:type="dcterms:W3CDTF">2026-05-24T07:16:09Z</dcterms:created>
  <dcterms:modified xsi:type="dcterms:W3CDTF">2026-05-24T07:16:09Z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1597B7EE490E2A31B9A5126A41FC59A5</vt:lpwstr>
  </property>
  <property fmtid="{D5CDD505-2E9C-101B-9397-08002B2CF9AE}" pid="3" name="KSOProductBuildVer">
    <vt:lpwstr>2052-4.1.1.6613</vt:lpwstr>
  </property>
</Properties>
</file>