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7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本次汇报介绍一个面向 Agent Query 的代码搜索框架，目标是在真实工程中同时实现高召回与高精度。我们的方法从 query 结构化开始，经过多路检索、过滤与双阶段重排，最终输出可解释的高质量结果。今天重点放在整体方法链路和关键设计动机。</a:t>
            </a:r>
            <a:endParaRPr lang="zh-CN" dirty="0"/>
          </a:p>
          <a:p>
            <a:r>
              <a:rPr lang="zh-CN" dirty="0"/>
              <a:t>要点：① 任务目标与场景 ② 方法主链路 ③ 汇报结构</a:t>
            </a:r>
            <a:endParaRPr lang="zh-CN" dirty="0"/>
          </a:p>
          <a:p>
            <a:r>
              <a:rPr lang="zh-CN" dirty="0"/>
              <a:t>时长：1分钟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在介绍方法之前，我们先看为什么传统代码检索难以直接服务 Agent Query。</a:t>
            </a:r>
            <a:endParaRPr lang="zh-CN" dirty="0"/>
          </a:p>
          <a:p>
            <a:r>
              <a:rPr lang="zh-CN" dirty="0"/>
              <a:t>首先，Agent Query 常包含隐式约束，不只是关键词匹配问题。其次，若缺少结构化过滤，候选噪声会显著增加。最后，仅做单元素相关性打分会忽略调用链关系，导致关键函数被低估。[停顿]</a:t>
            </a:r>
            <a:endParaRPr lang="zh-CN" dirty="0"/>
          </a:p>
          <a:p>
            <a:r>
              <a:rPr lang="zh-CN" dirty="0"/>
              <a:t>要点：① 语义复杂性 ② 噪声问题 ③ 关系信息缺失</a:t>
            </a:r>
            <a:endParaRPr lang="zh-CN" dirty="0"/>
          </a:p>
          <a:p>
            <a:r>
              <a:rPr lang="zh-CN" dirty="0"/>
              <a:t>时长：1.5分钟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针对这些挑战，我们采用一个分阶段、可解释的流水线。</a:t>
            </a:r>
            <a:endParaRPr lang="zh-CN" dirty="0"/>
          </a:p>
          <a:p>
            <a:r>
              <a:rPr lang="zh-CN" dirty="0"/>
              <a:t>流程从 query 输入开始，经 DSL 解析得到 structured query，然后通过三路检索形成高召回候选集。之后通过规则与语义过滤提升候选质量，最后进行 single 与 group rerank，输出最终结果。</a:t>
            </a:r>
            <a:endParaRPr lang="zh-CN" dirty="0"/>
          </a:p>
          <a:p>
            <a:r>
              <a:rPr lang="zh-CN" dirty="0"/>
              <a:t>要点：① 五阶段流程 ② 高召回到高质量的收敛 ③ 可解释闭环</a:t>
            </a:r>
            <a:endParaRPr lang="zh-CN" dirty="0"/>
          </a:p>
          <a:p>
            <a:r>
              <a:rPr lang="zh-CN" dirty="0"/>
              <a:t>时长：1.5分钟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首先看第一步：DSL-Driven query parsing。</a:t>
            </a:r>
            <a:endParaRPr lang="zh-CN" dirty="0"/>
          </a:p>
          <a:p>
            <a:r>
              <a:rPr lang="zh-CN" dirty="0"/>
              <a:t>我们把自然语言 query 解析为结构化字段，包括关键词、目标类型和过滤约束。这个统一表示使后续模块之间有一致接口，避免“检索、过滤、重排”各自理解 query 的偏差。</a:t>
            </a:r>
            <a:endParaRPr lang="zh-CN" dirty="0"/>
          </a:p>
          <a:p>
            <a:r>
              <a:rPr lang="zh-CN" dirty="0"/>
              <a:t>要点：① structured query 字段 ② DSL 的接口作用 ③ 对下游模块的支撑</a:t>
            </a:r>
            <a:endParaRPr lang="zh-CN" dirty="0"/>
          </a:p>
          <a:p>
            <a:r>
              <a:rPr lang="zh-CN" dirty="0"/>
              <a:t>时长：1.5分钟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grep</a:t>
            </a:r>
            <a:r>
              <a:rPr lang="zh-CN" altLang="en-US" dirty="0"/>
              <a:t>正则如果是直接对代码仓内文件做，那会有很多匹配结果，可能还是要大模型逐步筛选分析，耗时耗</a:t>
            </a:r>
            <a:r>
              <a:rPr lang="en-US" altLang="zh-CN" dirty="0"/>
              <a:t>token</a:t>
            </a:r>
            <a:r>
              <a:rPr lang="zh-CN" altLang="en-US" dirty="0"/>
              <a:t>，与现在</a:t>
            </a:r>
            <a:r>
              <a:rPr lang="en-US" altLang="zh-CN" dirty="0"/>
              <a:t>agent</a:t>
            </a:r>
            <a:r>
              <a:rPr lang="zh-CN" altLang="en-US" dirty="0"/>
              <a:t>的代码搜索的问题一样，如果对解析好的代码元素名做，那么对名字这种短字段做正则不如直接把对代码元素</a:t>
            </a:r>
            <a:r>
              <a:rPr lang="en-US" altLang="zh-CN" dirty="0"/>
              <a:t>ngram</a:t>
            </a:r>
            <a:r>
              <a:rPr lang="zh-CN" altLang="en-US" dirty="0"/>
              <a:t>切分后的子词当作倒排索引定位相关</a:t>
            </a:r>
            <a:r>
              <a:rPr lang="zh-CN" altLang="en-US" dirty="0"/>
              <a:t>代码元素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下一步是把高召回候选收敛为高质量候选。</a:t>
            </a:r>
            <a:endParaRPr lang="zh-CN" dirty="0"/>
          </a:p>
          <a:p>
            <a:r>
              <a:rPr lang="zh-CN" dirty="0"/>
              <a:t>规则过滤直接利用 DSL 约束，例如 target=function 时去除 class。语义过滤则借助大模型判断候选是否真正符合 filter 的语义要求，过滤掉仅表面相关的结果。[停顿]</a:t>
            </a:r>
            <a:endParaRPr lang="zh-CN" dirty="0"/>
          </a:p>
          <a:p>
            <a:r>
              <a:rPr lang="zh-CN" dirty="0"/>
              <a:t>要点：① Rule filtering ② Semantic filtering ③ 质量收敛</a:t>
            </a:r>
            <a:endParaRPr lang="zh-CN" dirty="0"/>
          </a:p>
          <a:p>
            <a:r>
              <a:rPr lang="zh-CN" dirty="0"/>
              <a:t>时长：1.5分钟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过滤后我们进入第一层重排：single rerank。</a:t>
            </a:r>
            <a:endParaRPr lang="zh-CN" dirty="0"/>
          </a:p>
          <a:p>
            <a:r>
              <a:rPr lang="zh-CN" dirty="0"/>
              <a:t>每个候选元素独立打分，主要包含 LLM 相关性判断、token overlap 和代码权重 scoring。这里既考虑语义匹配，也考虑代码结构特征与 query 偏好，实现更稳健的个体排序。</a:t>
            </a:r>
            <a:endParaRPr lang="zh-CN" dirty="0"/>
          </a:p>
          <a:p>
            <a:r>
              <a:rPr lang="zh-CN" dirty="0"/>
              <a:t>要点：① 三类单元素信号 ② 语义+结构结合 ③ Top-K 初筛</a:t>
            </a:r>
            <a:endParaRPr lang="zh-CN" dirty="0"/>
          </a:p>
          <a:p>
            <a:r>
              <a:rPr lang="zh-CN" dirty="0"/>
              <a:t>时长：1.5分钟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仅靠单元素分数仍不够，因此我们引入 group rerank。</a:t>
            </a:r>
            <a:endParaRPr lang="zh-CN" dirty="0"/>
          </a:p>
          <a:p>
            <a:r>
              <a:rPr lang="zh-CN" dirty="0"/>
              <a:t>关键思想是把调用链或结构关系作为组上下文来重新评估相关性。比如 malloc_disk 单看与 readahead 弱相关，但在 init_readahead 的调用链中，其任务相关性应被提升。</a:t>
            </a:r>
            <a:endParaRPr lang="zh-CN" dirty="0"/>
          </a:p>
          <a:p>
            <a:r>
              <a:rPr lang="zh-CN" dirty="0"/>
              <a:t>要点：① 组级关系建模 ② 调用链增强 ③ 弱相关节点重估</a:t>
            </a:r>
            <a:endParaRPr lang="zh-CN" dirty="0"/>
          </a:p>
          <a:p>
            <a:r>
              <a:rPr lang="zh-CN" dirty="0"/>
              <a:t>时长：1.5分钟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将 single 与 group 两层信息融合后，得到最终排序分数。</a:t>
            </a:r>
            <a:endParaRPr lang="zh-CN" dirty="0"/>
          </a:p>
          <a:p>
            <a:r>
              <a:rPr lang="zh-CN" dirty="0"/>
              <a:t>我们使用可调权重融合多类信号，并可依据 query 类型动态调整。这样既保留单点语义匹配能力，也能吸收关系结构带来的全局信息。</a:t>
            </a:r>
            <a:endParaRPr lang="zh-CN" dirty="0"/>
          </a:p>
          <a:p>
            <a:r>
              <a:rPr lang="zh-CN" dirty="0"/>
              <a:t>要点：① 融合公式 ② 动态权重 ③ 全局相关性提升</a:t>
            </a:r>
            <a:endParaRPr lang="zh-CN" dirty="0"/>
          </a:p>
          <a:p>
            <a:r>
              <a:rPr lang="zh-CN" dirty="0"/>
              <a:t>时长：1.2分钟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接下来通过一个 disk + readahead 的实际查询看全链路效果。</a:t>
            </a:r>
            <a:endParaRPr lang="zh-CN" dirty="0"/>
          </a:p>
          <a:p>
            <a:r>
              <a:rPr lang="zh-CN" dirty="0"/>
              <a:t>从 1200+ 高召回候选经过过滤与重排收敛到可解释的 Top-K 结果。案例中 malloc_disk 的上升体现了 group rerank 的价值，即结构关系能纠正单点评分偏差。</a:t>
            </a:r>
            <a:endParaRPr lang="zh-CN" dirty="0"/>
          </a:p>
          <a:p>
            <a:r>
              <a:rPr lang="zh-CN" dirty="0"/>
              <a:t>要点：① 候选收敛轨迹 ② Top 结果解释 ③ group 增益示例</a:t>
            </a:r>
            <a:endParaRPr lang="zh-CN" dirty="0"/>
          </a:p>
          <a:p>
            <a:r>
              <a:rPr lang="zh-CN" dirty="0"/>
              <a:t>时长：1.5分钟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综合来看，这套框架在四个维度上形成优势。</a:t>
            </a:r>
            <a:endParaRPr lang="zh-CN" dirty="0"/>
          </a:p>
          <a:p>
            <a:r>
              <a:rPr lang="zh-CN" dirty="0"/>
              <a:t>一是召回提升，二是精度提升，三是可解释性增强，四是工程扩展性强。模块化设计允许增量接入新 filter、新 ranker 以及新的结构特征。</a:t>
            </a:r>
            <a:endParaRPr lang="zh-CN" dirty="0"/>
          </a:p>
          <a:p>
            <a:r>
              <a:rPr lang="zh-CN" dirty="0"/>
              <a:t>要点：① Recall ② Precision ③ Explainability ④ Extensibility</a:t>
            </a:r>
            <a:endParaRPr lang="zh-CN" dirty="0"/>
          </a:p>
          <a:p>
            <a:r>
              <a:rPr lang="zh-CN" dirty="0"/>
              <a:t>时长：1.2分钟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最后做一个简短总结。</a:t>
            </a:r>
            <a:endParaRPr lang="zh-CN" dirty="0"/>
          </a:p>
          <a:p>
            <a:r>
              <a:rPr lang="zh-CN" dirty="0"/>
              <a:t>我们通过 DSL 驱动、检索增强、过滤与双阶段重排，构建了适配 Agent Query 的代码搜索方案。后续可进一步探索在线反馈学习、跨仓库检索与端到端重排训练。感谢大家，欢迎交流问题。</a:t>
            </a:r>
            <a:endParaRPr lang="zh-CN" dirty="0"/>
          </a:p>
          <a:p>
            <a:r>
              <a:rPr lang="zh-CN" dirty="0"/>
              <a:t>要点：① 方法总结 ② 未来工作 ③ Q&amp;A</a:t>
            </a:r>
            <a:endParaRPr lang="zh-CN" dirty="0"/>
          </a:p>
          <a:p>
            <a:r>
              <a:rPr lang="zh-CN" dirty="0"/>
              <a:t>时长：1分钟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095500"/>
          </a:xfrm>
          <a:prstGeom prst="rect">
            <a:avLst/>
          </a:prstGeom>
          <a:gradFill>
            <a:gsLst>
              <a:gs pos="0">
                <a:srgbClr val="0B1F3A"/>
              </a:gs>
              <a:gs pos="100000">
                <a:srgbClr val="1F6FEB"/>
              </a:gs>
            </a:gsLst>
            <a:lin ang="2700000" scaled="1"/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34500" y="-857250"/>
            <a:ext cx="3429000" cy="3429000"/>
          </a:xfrm>
          <a:prstGeom prst="ellipse">
            <a:avLst/>
          </a:prstGeom>
          <a:solidFill>
            <a:srgbClr val="12B5CB">
              <a:alpha val="22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609600" y="2667000"/>
            <a:ext cx="10972800" cy="2667000"/>
          </a:xfrm>
          <a:custGeom>
            <a:avLst/>
            <a:gdLst/>
            <a:ahLst/>
            <a:cxnLst/>
            <a:rect l="l" t="t" r="r" b="b"/>
            <a:pathLst>
              <a:path w="10972800" h="2667000">
                <a:moveTo>
                  <a:pt x="190500" y="0"/>
                </a:moveTo>
                <a:lnTo>
                  <a:pt x="10782300" y="0"/>
                </a:lnTo>
                <a:cubicBezTo>
                  <a:pt x="10887510" y="0"/>
                  <a:pt x="10972800" y="85290"/>
                  <a:pt x="10972800" y="190500"/>
                </a:cubicBezTo>
                <a:lnTo>
                  <a:pt x="10972800" y="2476500"/>
                </a:lnTo>
                <a:cubicBezTo>
                  <a:pt x="10972800" y="2581710"/>
                  <a:pt x="10887510" y="2667000"/>
                  <a:pt x="10782300" y="2667000"/>
                </a:cubicBezTo>
                <a:lnTo>
                  <a:pt x="190500" y="2667000"/>
                </a:lnTo>
                <a:cubicBezTo>
                  <a:pt x="85290" y="2667000"/>
                  <a:pt x="0" y="2581710"/>
                  <a:pt x="0" y="24765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EAF1F8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609600" y="2667000"/>
            <a:ext cx="76200" cy="266700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49630" y="2973705"/>
            <a:ext cx="15536866" cy="1036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1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面向 Agent Query 的高效精准 Code Search</a:t>
            </a:r>
            <a:endParaRPr lang="zh-CN" sz="51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85825" y="3852862"/>
            <a:ext cx="464129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DSL 驱动检索与多阶段重排框架</a:t>
            </a:r>
            <a:endParaRPr lang="zh-CN" sz="22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91540" y="4491990"/>
            <a:ext cx="565842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CodeSearch Project | Academic Report | 2026</a:t>
            </a:r>
            <a:endParaRPr lang="zh-CN" sz="18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Rectangle 10"/>
          <p:cNvSpPr/>
          <p:nvPr/>
        </p:nvSpPr>
        <p:spPr>
          <a:xfrm>
            <a:off x="609600" y="5810250"/>
            <a:ext cx="4000500" cy="266700"/>
          </a:xfrm>
          <a:prstGeom prst="rect">
            <a:avLst/>
          </a:prstGeom>
          <a:gradFill>
            <a:gsLst>
              <a:gs pos="0">
                <a:srgbClr val="1F6FEB">
                  <a:alpha val="18000"/>
                </a:srgbClr>
              </a:gs>
              <a:gs pos="100000">
                <a:srgbClr val="12B5CB">
                  <a:alpha val="18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94360" y="6442710"/>
            <a:ext cx="1794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01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895531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为什么传统代码检索难以满足 Agent Query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09600" y="1333500"/>
            <a:ext cx="3143250" cy="4667250"/>
          </a:xfrm>
          <a:custGeom>
            <a:avLst/>
            <a:gdLst/>
            <a:ahLst/>
            <a:cxnLst/>
            <a:rect l="l" t="t" r="r" b="b"/>
            <a:pathLst>
              <a:path w="3143250" h="4667250">
                <a:moveTo>
                  <a:pt x="133350" y="0"/>
                </a:moveTo>
                <a:lnTo>
                  <a:pt x="3009900" y="0"/>
                </a:lnTo>
                <a:cubicBezTo>
                  <a:pt x="3083547" y="0"/>
                  <a:pt x="3143250" y="59703"/>
                  <a:pt x="3143250" y="133350"/>
                </a:cubicBezTo>
                <a:lnTo>
                  <a:pt x="3143250" y="4533900"/>
                </a:lnTo>
                <a:cubicBezTo>
                  <a:pt x="3143250" y="4607547"/>
                  <a:pt x="3083547" y="4667250"/>
                  <a:pt x="3009900" y="4667250"/>
                </a:cubicBezTo>
                <a:lnTo>
                  <a:pt x="133350" y="4667250"/>
                </a:lnTo>
                <a:cubicBezTo>
                  <a:pt x="59703" y="4667250"/>
                  <a:pt x="0" y="4607547"/>
                  <a:pt x="0" y="4533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85825" y="1795462"/>
            <a:ext cx="143732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问题定义</a:t>
            </a:r>
            <a:endParaRPr lang="zh-CN" sz="2250" b="1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91540" y="2358390"/>
            <a:ext cx="354215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Agent Query 不仅有关键词，</a:t>
            </a:r>
            <a:endParaRPr lang="zh-CN" sz="1800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91540" y="2701290"/>
            <a:ext cx="26746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还包含隐式类型约束、</a:t>
            </a:r>
            <a:endParaRPr lang="zh-CN" sz="1800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91540" y="3044190"/>
            <a:ext cx="29375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语义关系与上下文偏好。</a:t>
            </a:r>
            <a:endParaRPr lang="zh-CN" sz="1800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4095750" y="1333500"/>
            <a:ext cx="7486650" cy="1333500"/>
          </a:xfrm>
          <a:custGeom>
            <a:avLst/>
            <a:gdLst/>
            <a:ahLst/>
            <a:cxnLst/>
            <a:rect l="l" t="t" r="r" b="b"/>
            <a:pathLst>
              <a:path w="7486650" h="1333500">
                <a:moveTo>
                  <a:pt x="133350" y="0"/>
                </a:moveTo>
                <a:lnTo>
                  <a:pt x="7353300" y="0"/>
                </a:lnTo>
                <a:cubicBezTo>
                  <a:pt x="7426947" y="0"/>
                  <a:pt x="7486650" y="59703"/>
                  <a:pt x="7486650" y="133350"/>
                </a:cubicBezTo>
                <a:lnTo>
                  <a:pt x="7486650" y="1200150"/>
                </a:lnTo>
                <a:cubicBezTo>
                  <a:pt x="7486650" y="1273797"/>
                  <a:pt x="7426947" y="1333500"/>
                  <a:pt x="7353300" y="1333500"/>
                </a:cubicBezTo>
                <a:lnTo>
                  <a:pt x="133350" y="1333500"/>
                </a:lnTo>
                <a:cubicBezTo>
                  <a:pt x="59703" y="1333500"/>
                  <a:pt x="0" y="1273797"/>
                  <a:pt x="0" y="1200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352925" y="1662112"/>
            <a:ext cx="612990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挑战 1：语义复杂，关键词直搜召回不足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362450" y="2085975"/>
            <a:ext cx="59531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自然语言表达的目标对象、模块范围、关系条件难以一次命中</a:t>
            </a:r>
            <a:endParaRPr lang="zh-CN" sz="15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4095750" y="3000375"/>
            <a:ext cx="7486650" cy="1333500"/>
          </a:xfrm>
          <a:custGeom>
            <a:avLst/>
            <a:gdLst/>
            <a:ahLst/>
            <a:cxnLst/>
            <a:rect l="l" t="t" r="r" b="b"/>
            <a:pathLst>
              <a:path w="7486650" h="1333500">
                <a:moveTo>
                  <a:pt x="133350" y="0"/>
                </a:moveTo>
                <a:lnTo>
                  <a:pt x="7353300" y="0"/>
                </a:lnTo>
                <a:cubicBezTo>
                  <a:pt x="7426947" y="0"/>
                  <a:pt x="7486650" y="59703"/>
                  <a:pt x="7486650" y="133350"/>
                </a:cubicBezTo>
                <a:lnTo>
                  <a:pt x="7486650" y="1200150"/>
                </a:lnTo>
                <a:cubicBezTo>
                  <a:pt x="7486650" y="1273797"/>
                  <a:pt x="7426947" y="1333500"/>
                  <a:pt x="7353300" y="1333500"/>
                </a:cubicBezTo>
                <a:lnTo>
                  <a:pt x="133350" y="1333500"/>
                </a:lnTo>
                <a:cubicBezTo>
                  <a:pt x="59703" y="1333500"/>
                  <a:pt x="0" y="1273797"/>
                  <a:pt x="0" y="1200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352925" y="3328988"/>
            <a:ext cx="656121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挑战 2：候选噪声高，精度与可解释性不足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362450" y="3752850"/>
            <a:ext cx="531780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缺少结构化过滤与语义验证会引入大量“看似相关”结果</a:t>
            </a:r>
            <a:endParaRPr lang="zh-CN" sz="15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4095750" y="4667250"/>
            <a:ext cx="7486650" cy="1333500"/>
          </a:xfrm>
          <a:custGeom>
            <a:avLst/>
            <a:gdLst/>
            <a:ahLst/>
            <a:cxnLst/>
            <a:rect l="l" t="t" r="r" b="b"/>
            <a:pathLst>
              <a:path w="7486650" h="1333500">
                <a:moveTo>
                  <a:pt x="133350" y="0"/>
                </a:moveTo>
                <a:lnTo>
                  <a:pt x="7353300" y="0"/>
                </a:lnTo>
                <a:cubicBezTo>
                  <a:pt x="7426947" y="0"/>
                  <a:pt x="7486650" y="59703"/>
                  <a:pt x="7486650" y="133350"/>
                </a:cubicBezTo>
                <a:lnTo>
                  <a:pt x="7486650" y="1200150"/>
                </a:lnTo>
                <a:cubicBezTo>
                  <a:pt x="7486650" y="1273797"/>
                  <a:pt x="7426947" y="1333500"/>
                  <a:pt x="7353300" y="1333500"/>
                </a:cubicBezTo>
                <a:lnTo>
                  <a:pt x="133350" y="1333500"/>
                </a:lnTo>
                <a:cubicBezTo>
                  <a:pt x="59703" y="1333500"/>
                  <a:pt x="0" y="1273797"/>
                  <a:pt x="0" y="1200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352925" y="4995862"/>
            <a:ext cx="656121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挑战 3：仅看单点相关，忽略调用链组关系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362450" y="5419725"/>
            <a:ext cx="57340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单元素得分高不等于任务相关高，关系上下文必须纳入排序</a:t>
            </a:r>
            <a:endParaRPr lang="zh-CN" sz="15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94360" y="64427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02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442374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End-to-End Pipeline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88900" y="1333500"/>
            <a:ext cx="1714500" cy="1143000"/>
          </a:xfrm>
          <a:custGeom>
            <a:avLst/>
            <a:gdLst/>
            <a:ahLst/>
            <a:cxnLst/>
            <a:rect l="l" t="t" r="r" b="b"/>
            <a:pathLst>
              <a:path w="1714500" h="1143000">
                <a:moveTo>
                  <a:pt x="114300" y="0"/>
                </a:moveTo>
                <a:lnTo>
                  <a:pt x="1600200" y="0"/>
                </a:lnTo>
                <a:cubicBezTo>
                  <a:pt x="1663326" y="0"/>
                  <a:pt x="1714500" y="51174"/>
                  <a:pt x="1714500" y="114300"/>
                </a:cubicBezTo>
                <a:lnTo>
                  <a:pt x="1714500" y="1028700"/>
                </a:lnTo>
                <a:cubicBezTo>
                  <a:pt x="1714500" y="1091826"/>
                  <a:pt x="1663326" y="1143000"/>
                  <a:pt x="160020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33204" y="1748790"/>
            <a:ext cx="142589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Query 输入</a:t>
            </a:r>
            <a:endParaRPr lang="zh-CN" sz="1800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" name="Polygon 7"/>
          <p:cNvSpPr/>
          <p:nvPr/>
        </p:nvSpPr>
        <p:spPr>
          <a:xfrm>
            <a:off x="1926590" y="1672590"/>
            <a:ext cx="762000" cy="647700"/>
          </a:xfrm>
          <a:custGeom>
            <a:avLst/>
            <a:gdLst/>
            <a:ahLst/>
            <a:cxnLst/>
            <a:rect l="l" t="t" r="r" b="b"/>
            <a:pathLst>
              <a:path w="762000" h="647700">
                <a:moveTo>
                  <a:pt x="0" y="133350"/>
                </a:moveTo>
                <a:lnTo>
                  <a:pt x="476250" y="133350"/>
                </a:lnTo>
                <a:lnTo>
                  <a:pt x="476250" y="0"/>
                </a:lnTo>
                <a:lnTo>
                  <a:pt x="762000" y="323850"/>
                </a:lnTo>
                <a:lnTo>
                  <a:pt x="476250" y="647700"/>
                </a:lnTo>
                <a:lnTo>
                  <a:pt x="476250" y="514350"/>
                </a:lnTo>
                <a:lnTo>
                  <a:pt x="0" y="514350"/>
                </a:ln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2812415" y="1333500"/>
            <a:ext cx="3848100" cy="1143000"/>
          </a:xfrm>
          <a:custGeom>
            <a:avLst/>
            <a:gdLst/>
            <a:ahLst/>
            <a:cxnLst/>
            <a:rect l="l" t="t" r="r" b="b"/>
            <a:pathLst>
              <a:path w="2095500" h="1143000">
                <a:moveTo>
                  <a:pt x="114300" y="0"/>
                </a:moveTo>
                <a:lnTo>
                  <a:pt x="1981200" y="0"/>
                </a:lnTo>
                <a:cubicBezTo>
                  <a:pt x="2044326" y="0"/>
                  <a:pt x="2095500" y="51174"/>
                  <a:pt x="2095500" y="114300"/>
                </a:cubicBezTo>
                <a:lnTo>
                  <a:pt x="2095500" y="1028700"/>
                </a:lnTo>
                <a:cubicBezTo>
                  <a:pt x="2095500" y="1091826"/>
                  <a:pt x="2044326" y="1143000"/>
                  <a:pt x="198120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1F6FEB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977515" y="1634490"/>
            <a:ext cx="351790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DSL </a:t>
            </a:r>
            <a:r>
              <a:rPr lang="en-US" altLang="zh-CN" sz="18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-Driven Keyword </a:t>
            </a:r>
            <a:r>
              <a:rPr lang="en-US" altLang="zh-CN" sz="18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Extraction</a:t>
            </a:r>
            <a:endParaRPr lang="en-US" altLang="zh-CN" sz="180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995609" y="2054860"/>
            <a:ext cx="15289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structured query</a:t>
            </a:r>
            <a:endParaRPr lang="zh-CN" sz="12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1" name="Polygon 11"/>
          <p:cNvSpPr/>
          <p:nvPr/>
        </p:nvSpPr>
        <p:spPr>
          <a:xfrm>
            <a:off x="6998970" y="1658620"/>
            <a:ext cx="663575" cy="647700"/>
          </a:xfrm>
          <a:custGeom>
            <a:avLst/>
            <a:gdLst/>
            <a:ahLst/>
            <a:cxnLst/>
            <a:rect l="l" t="t" r="r" b="b"/>
            <a:pathLst>
              <a:path w="762000" h="647700">
                <a:moveTo>
                  <a:pt x="0" y="133350"/>
                </a:moveTo>
                <a:lnTo>
                  <a:pt x="476250" y="133350"/>
                </a:lnTo>
                <a:lnTo>
                  <a:pt x="476250" y="0"/>
                </a:lnTo>
                <a:lnTo>
                  <a:pt x="762000" y="323850"/>
                </a:lnTo>
                <a:lnTo>
                  <a:pt x="476250" y="647700"/>
                </a:lnTo>
                <a:lnTo>
                  <a:pt x="476250" y="514350"/>
                </a:lnTo>
                <a:lnTo>
                  <a:pt x="0" y="514350"/>
                </a:ln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8001000" y="1276985"/>
            <a:ext cx="4112895" cy="1143000"/>
          </a:xfrm>
          <a:custGeom>
            <a:avLst/>
            <a:gdLst/>
            <a:ahLst/>
            <a:cxnLst/>
            <a:rect l="l" t="t" r="r" b="b"/>
            <a:pathLst>
              <a:path w="4724400" h="1143000">
                <a:moveTo>
                  <a:pt x="114300" y="0"/>
                </a:moveTo>
                <a:lnTo>
                  <a:pt x="4610100" y="0"/>
                </a:lnTo>
                <a:cubicBezTo>
                  <a:pt x="4673226" y="0"/>
                  <a:pt x="4724400" y="51174"/>
                  <a:pt x="4724400" y="114300"/>
                </a:cubicBezTo>
                <a:lnTo>
                  <a:pt x="4724400" y="1028700"/>
                </a:lnTo>
                <a:cubicBezTo>
                  <a:pt x="4724400" y="1091826"/>
                  <a:pt x="4673226" y="1143000"/>
                  <a:pt x="461010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8244840" y="1577975"/>
            <a:ext cx="1722120" cy="276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F172A"/>
                </a:solidFill>
                <a:latin typeface="Arial" panose="020B0604020202020204"/>
                <a:ea typeface="微软雅黑"/>
                <a:cs typeface="Arial" panose="020B0604020202020204"/>
              </a:rPr>
              <a:t>多路高召回搜索</a:t>
            </a:r>
            <a:endParaRPr lang="zh-CN" sz="1800" b="1" dirty="0">
              <a:solidFill>
                <a:srgbClr val="0F172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248650" y="1934210"/>
            <a:ext cx="3847465" cy="2305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grep 正则 / 倒排索引 / embedding 语义检索</a:t>
            </a:r>
            <a:endParaRPr lang="zh-CN" sz="15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1238250" y="3143250"/>
            <a:ext cx="9715500" cy="857250"/>
          </a:xfrm>
          <a:custGeom>
            <a:avLst/>
            <a:gdLst/>
            <a:ahLst/>
            <a:cxnLst/>
            <a:rect l="l" t="t" r="r" b="b"/>
            <a:pathLst>
              <a:path w="9715500" h="857250">
                <a:moveTo>
                  <a:pt x="114300" y="0"/>
                </a:moveTo>
                <a:lnTo>
                  <a:pt x="9601200" y="0"/>
                </a:lnTo>
                <a:cubicBezTo>
                  <a:pt x="9664326" y="0"/>
                  <a:pt x="9715500" y="51174"/>
                  <a:pt x="9715500" y="114300"/>
                </a:cubicBezTo>
                <a:lnTo>
                  <a:pt x="9715500" y="742950"/>
                </a:lnTo>
                <a:cubicBezTo>
                  <a:pt x="9715500" y="806076"/>
                  <a:pt x="9664326" y="857250"/>
                  <a:pt x="9601200" y="857250"/>
                </a:cubicBezTo>
                <a:lnTo>
                  <a:pt x="114300" y="857250"/>
                </a:lnTo>
                <a:cubicBezTo>
                  <a:pt x="51174" y="857250"/>
                  <a:pt x="0" y="806076"/>
                  <a:pt x="0" y="742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2B5CB">
              <a:alpha val="12000"/>
            </a:srgbClr>
          </a:solidFill>
          <a:ln w="9525">
            <a:solidFill>
              <a:srgbClr val="12B5CB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750640" y="3449955"/>
            <a:ext cx="469072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得到高 Recall 候选代码元素集合</a:t>
            </a:r>
            <a:endParaRPr lang="zh-CN" sz="21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1143000" y="4476750"/>
            <a:ext cx="2010410" cy="1428750"/>
          </a:xfrm>
          <a:custGeom>
            <a:avLst/>
            <a:gdLst/>
            <a:ahLst/>
            <a:cxnLst/>
            <a:rect l="l" t="t" r="r" b="b"/>
            <a:pathLst>
              <a:path w="3048000" h="1428750">
                <a:moveTo>
                  <a:pt x="114300" y="0"/>
                </a:moveTo>
                <a:lnTo>
                  <a:pt x="2933700" y="0"/>
                </a:lnTo>
                <a:cubicBezTo>
                  <a:pt x="2996826" y="0"/>
                  <a:pt x="3048000" y="51174"/>
                  <a:pt x="3048000" y="114300"/>
                </a:cubicBezTo>
                <a:lnTo>
                  <a:pt x="3048000" y="1314450"/>
                </a:lnTo>
                <a:cubicBezTo>
                  <a:pt x="3048000" y="1377576"/>
                  <a:pt x="2996826" y="1428750"/>
                  <a:pt x="2933700" y="1428750"/>
                </a:cubicBezTo>
                <a:lnTo>
                  <a:pt x="114300" y="1428750"/>
                </a:lnTo>
                <a:cubicBezTo>
                  <a:pt x="51174" y="1428750"/>
                  <a:pt x="0" y="1377576"/>
                  <a:pt x="0" y="1314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1403985" y="4790122"/>
            <a:ext cx="130548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Filtering</a:t>
            </a:r>
            <a:endParaRPr lang="zh-CN" sz="19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409700" y="5191125"/>
            <a:ext cx="167020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Rule + Semantic</a:t>
            </a:r>
            <a:endParaRPr lang="zh-CN" sz="15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4572000" y="4476750"/>
            <a:ext cx="1915160" cy="1428750"/>
          </a:xfrm>
          <a:custGeom>
            <a:avLst/>
            <a:gdLst/>
            <a:ahLst/>
            <a:cxnLst/>
            <a:rect l="l" t="t" r="r" b="b"/>
            <a:pathLst>
              <a:path w="3048000" h="1428750">
                <a:moveTo>
                  <a:pt x="114300" y="0"/>
                </a:moveTo>
                <a:lnTo>
                  <a:pt x="2933700" y="0"/>
                </a:lnTo>
                <a:cubicBezTo>
                  <a:pt x="2996826" y="0"/>
                  <a:pt x="3048000" y="51174"/>
                  <a:pt x="3048000" y="114300"/>
                </a:cubicBezTo>
                <a:lnTo>
                  <a:pt x="3048000" y="1314450"/>
                </a:lnTo>
                <a:cubicBezTo>
                  <a:pt x="3048000" y="1377576"/>
                  <a:pt x="2996826" y="1428750"/>
                  <a:pt x="2933700" y="1428750"/>
                </a:cubicBezTo>
                <a:lnTo>
                  <a:pt x="114300" y="1428750"/>
                </a:lnTo>
                <a:cubicBezTo>
                  <a:pt x="51174" y="1428750"/>
                  <a:pt x="0" y="1377576"/>
                  <a:pt x="0" y="1314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832985" y="4790122"/>
            <a:ext cx="145500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Reranking</a:t>
            </a:r>
            <a:endParaRPr lang="zh-CN" sz="19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838700" y="5191125"/>
            <a:ext cx="150590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Single + Group</a:t>
            </a:r>
            <a:endParaRPr lang="zh-CN" sz="15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8001000" y="4476750"/>
            <a:ext cx="3048000" cy="1428750"/>
          </a:xfrm>
          <a:custGeom>
            <a:avLst/>
            <a:gdLst/>
            <a:ahLst/>
            <a:cxnLst/>
            <a:rect l="l" t="t" r="r" b="b"/>
            <a:pathLst>
              <a:path w="3048000" h="1428750">
                <a:moveTo>
                  <a:pt x="114300" y="0"/>
                </a:moveTo>
                <a:lnTo>
                  <a:pt x="2933700" y="0"/>
                </a:lnTo>
                <a:cubicBezTo>
                  <a:pt x="2996826" y="0"/>
                  <a:pt x="3048000" y="51174"/>
                  <a:pt x="3048000" y="114300"/>
                </a:cubicBezTo>
                <a:lnTo>
                  <a:pt x="3048000" y="1314450"/>
                </a:lnTo>
                <a:cubicBezTo>
                  <a:pt x="3048000" y="1377576"/>
                  <a:pt x="2996826" y="1428750"/>
                  <a:pt x="2933700" y="1428750"/>
                </a:cubicBezTo>
                <a:lnTo>
                  <a:pt x="114300" y="1428750"/>
                </a:lnTo>
                <a:cubicBezTo>
                  <a:pt x="51174" y="1428750"/>
                  <a:pt x="0" y="1377576"/>
                  <a:pt x="0" y="1314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662930" y="4885372"/>
            <a:ext cx="1724139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Final Result</a:t>
            </a:r>
            <a:endParaRPr lang="zh-CN" sz="1950" b="1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520112" y="5267325"/>
            <a:ext cx="20097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高质量代码检索输出</a:t>
            </a:r>
            <a:endParaRPr lang="zh-CN" sz="1500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94360" y="64427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03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8" name="十字形 27"/>
          <p:cNvSpPr/>
          <p:nvPr/>
        </p:nvSpPr>
        <p:spPr>
          <a:xfrm>
            <a:off x="3598545" y="4906645"/>
            <a:ext cx="454025" cy="426720"/>
          </a:xfrm>
          <a:prstGeom prst="pl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29" name="Polygon 11"/>
          <p:cNvSpPr/>
          <p:nvPr/>
        </p:nvSpPr>
        <p:spPr>
          <a:xfrm>
            <a:off x="6840855" y="4890135"/>
            <a:ext cx="663575" cy="647700"/>
          </a:xfrm>
          <a:custGeom>
            <a:avLst/>
            <a:gdLst/>
            <a:ahLst/>
            <a:cxnLst/>
            <a:rect l="l" t="t" r="r" b="b"/>
            <a:pathLst>
              <a:path w="762000" h="647700">
                <a:moveTo>
                  <a:pt x="0" y="133350"/>
                </a:moveTo>
                <a:lnTo>
                  <a:pt x="476250" y="133350"/>
                </a:lnTo>
                <a:lnTo>
                  <a:pt x="476250" y="0"/>
                </a:lnTo>
                <a:lnTo>
                  <a:pt x="762000" y="323850"/>
                </a:lnTo>
                <a:lnTo>
                  <a:pt x="476250" y="647700"/>
                </a:lnTo>
                <a:lnTo>
                  <a:pt x="476250" y="514350"/>
                </a:lnTo>
                <a:lnTo>
                  <a:pt x="0" y="514350"/>
                </a:ln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2" name="TextBox 10"/>
          <p:cNvSpPr txBox="1"/>
          <p:nvPr/>
        </p:nvSpPr>
        <p:spPr>
          <a:xfrm>
            <a:off x="3079433" y="2079625"/>
            <a:ext cx="134429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ctr"/>
            <a:r>
              <a:rPr lang="zh-CN" sz="12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query</a:t>
            </a:r>
            <a:r>
              <a:rPr lang="en-US" altLang="zh-CN" sz="12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 </a:t>
            </a:r>
            <a:r>
              <a:rPr lang="en-US" altLang="zh-CN" sz="12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enhancement</a:t>
            </a:r>
            <a:endParaRPr lang="en-US" altLang="zh-CN" sz="12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cxnSp>
        <p:nvCxnSpPr>
          <p:cNvPr id="27" name="直接箭头连接符 26"/>
          <p:cNvCxnSpPr/>
          <p:nvPr/>
        </p:nvCxnSpPr>
        <p:spPr>
          <a:xfrm>
            <a:off x="4531995" y="2171700"/>
            <a:ext cx="571500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8587264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Step1: DSL-Driven Keyword Extraction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09600" y="1333500"/>
            <a:ext cx="5048250" cy="4762500"/>
          </a:xfrm>
          <a:custGeom>
            <a:avLst/>
            <a:gdLst/>
            <a:ahLst/>
            <a:cxnLst/>
            <a:rect l="l" t="t" r="r" b="b"/>
            <a:pathLst>
              <a:path w="5048250" h="4762500">
                <a:moveTo>
                  <a:pt x="114300" y="0"/>
                </a:moveTo>
                <a:lnTo>
                  <a:pt x="4933950" y="0"/>
                </a:lnTo>
                <a:cubicBezTo>
                  <a:pt x="4997076" y="0"/>
                  <a:pt x="5048250" y="51174"/>
                  <a:pt x="5048250" y="114300"/>
                </a:cubicBezTo>
                <a:lnTo>
                  <a:pt x="5048250" y="4648200"/>
                </a:lnTo>
                <a:cubicBezTo>
                  <a:pt x="5048250" y="4711326"/>
                  <a:pt x="4997076" y="4762500"/>
                  <a:pt x="4933950" y="4762500"/>
                </a:cubicBezTo>
                <a:lnTo>
                  <a:pt x="114300" y="4762500"/>
                </a:lnTo>
                <a:cubicBezTo>
                  <a:pt x="51174" y="4762500"/>
                  <a:pt x="0" y="4711326"/>
                  <a:pt x="0" y="464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70585" y="1561148"/>
            <a:ext cx="389216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Query → Structured Query</a:t>
            </a:r>
            <a:endParaRPr lang="zh-CN" sz="19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895350" y="2095500"/>
            <a:ext cx="4476750" cy="3714750"/>
          </a:xfrm>
          <a:custGeom>
            <a:avLst/>
            <a:gdLst/>
            <a:ahLst/>
            <a:cxnLst/>
            <a:rect l="l" t="t" r="r" b="b"/>
            <a:pathLst>
              <a:path w="4476750" h="3714750">
                <a:moveTo>
                  <a:pt x="95250" y="0"/>
                </a:moveTo>
                <a:lnTo>
                  <a:pt x="4381500" y="0"/>
                </a:lnTo>
                <a:cubicBezTo>
                  <a:pt x="4434105" y="0"/>
                  <a:pt x="4476750" y="42645"/>
                  <a:pt x="4476750" y="95250"/>
                </a:cubicBezTo>
                <a:lnTo>
                  <a:pt x="4476750" y="3619500"/>
                </a:lnTo>
                <a:cubicBezTo>
                  <a:pt x="4476750" y="3672105"/>
                  <a:pt x="4434105" y="3714750"/>
                  <a:pt x="4381500" y="3714750"/>
                </a:cubicBezTo>
                <a:lnTo>
                  <a:pt x="95250" y="3714750"/>
                </a:lnTo>
                <a:cubicBezTo>
                  <a:pt x="42645" y="3714750"/>
                  <a:pt x="0" y="3672105"/>
                  <a:pt x="0" y="3619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87755" y="2330768"/>
            <a:ext cx="36917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{"keywords":[{"term":"readahead",</a:t>
            </a:r>
            <a:endParaRPr lang="zh-CN" sz="1350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87755" y="2635568"/>
            <a:ext cx="430296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"synonyms":["read_ahead","prefetch"]}],</a:t>
            </a:r>
            <a:endParaRPr lang="zh-CN" sz="1350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87755" y="2940368"/>
            <a:ext cx="215384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"target":"function",</a:t>
            </a:r>
            <a:endParaRPr lang="zh-CN" sz="1350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87755" y="3245168"/>
            <a:ext cx="31396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"filters":[{"concept":"disk"},</a:t>
            </a:r>
            <a:endParaRPr lang="zh-CN" sz="1350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87755" y="3549968"/>
            <a:ext cx="30016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{"concept":"performance"}]}</a:t>
            </a:r>
            <a:endParaRPr lang="zh-CN" sz="1350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6096000" y="1333500"/>
            <a:ext cx="5486400" cy="1428750"/>
          </a:xfrm>
          <a:custGeom>
            <a:avLst/>
            <a:gdLst/>
            <a:ahLst/>
            <a:cxnLst/>
            <a:rect l="l" t="t" r="r" b="b"/>
            <a:pathLst>
              <a:path w="5486400" h="1428750">
                <a:moveTo>
                  <a:pt x="114300" y="0"/>
                </a:moveTo>
                <a:lnTo>
                  <a:pt x="5372100" y="0"/>
                </a:lnTo>
                <a:cubicBezTo>
                  <a:pt x="5435226" y="0"/>
                  <a:pt x="5486400" y="51174"/>
                  <a:pt x="5486400" y="114300"/>
                </a:cubicBezTo>
                <a:lnTo>
                  <a:pt x="5486400" y="1314450"/>
                </a:lnTo>
                <a:cubicBezTo>
                  <a:pt x="5486400" y="1377576"/>
                  <a:pt x="5435226" y="1428750"/>
                  <a:pt x="5372100" y="1428750"/>
                </a:cubicBezTo>
                <a:lnTo>
                  <a:pt x="114300" y="1428750"/>
                </a:lnTo>
                <a:cubicBezTo>
                  <a:pt x="51174" y="1428750"/>
                  <a:pt x="0" y="1377576"/>
                  <a:pt x="0" y="1314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356985" y="1656398"/>
            <a:ext cx="184375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统一语义接口</a:t>
            </a:r>
            <a:endParaRPr lang="zh-CN" sz="19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361748" y="2058829"/>
            <a:ext cx="4261033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将自然语言 query 映射为可执行检索意图</a:t>
            </a:r>
            <a:endParaRPr lang="zh-CN" sz="1575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6096000" y="3000375"/>
            <a:ext cx="5486400" cy="1428750"/>
          </a:xfrm>
          <a:custGeom>
            <a:avLst/>
            <a:gdLst/>
            <a:ahLst/>
            <a:cxnLst/>
            <a:rect l="l" t="t" r="r" b="b"/>
            <a:pathLst>
              <a:path w="5486400" h="1428750">
                <a:moveTo>
                  <a:pt x="114300" y="0"/>
                </a:moveTo>
                <a:lnTo>
                  <a:pt x="5372100" y="0"/>
                </a:lnTo>
                <a:cubicBezTo>
                  <a:pt x="5435226" y="0"/>
                  <a:pt x="5486400" y="51174"/>
                  <a:pt x="5486400" y="114300"/>
                </a:cubicBezTo>
                <a:lnTo>
                  <a:pt x="5486400" y="1314450"/>
                </a:lnTo>
                <a:cubicBezTo>
                  <a:pt x="5486400" y="1377576"/>
                  <a:pt x="5435226" y="1428750"/>
                  <a:pt x="5372100" y="1428750"/>
                </a:cubicBezTo>
                <a:lnTo>
                  <a:pt x="114300" y="1428750"/>
                </a:lnTo>
                <a:cubicBezTo>
                  <a:pt x="51174" y="1428750"/>
                  <a:pt x="0" y="1377576"/>
                  <a:pt x="0" y="1314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356985" y="3323272"/>
            <a:ext cx="154471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结构化字段</a:t>
            </a:r>
            <a:endParaRPr lang="zh-CN" sz="19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361748" y="3725704"/>
            <a:ext cx="424953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keywords / target / filters / exclude</a:t>
            </a:r>
            <a:endParaRPr lang="zh-CN" sz="1575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6096000" y="4667250"/>
            <a:ext cx="5486400" cy="1428750"/>
          </a:xfrm>
          <a:custGeom>
            <a:avLst/>
            <a:gdLst/>
            <a:ahLst/>
            <a:cxnLst/>
            <a:rect l="l" t="t" r="r" b="b"/>
            <a:pathLst>
              <a:path w="5486400" h="1428750">
                <a:moveTo>
                  <a:pt x="114300" y="0"/>
                </a:moveTo>
                <a:lnTo>
                  <a:pt x="5372100" y="0"/>
                </a:lnTo>
                <a:cubicBezTo>
                  <a:pt x="5435226" y="0"/>
                  <a:pt x="5486400" y="51174"/>
                  <a:pt x="5486400" y="114300"/>
                </a:cubicBezTo>
                <a:lnTo>
                  <a:pt x="5486400" y="1314450"/>
                </a:lnTo>
                <a:cubicBezTo>
                  <a:pt x="5486400" y="1377576"/>
                  <a:pt x="5435226" y="1428750"/>
                  <a:pt x="5372100" y="1428750"/>
                </a:cubicBezTo>
                <a:lnTo>
                  <a:pt x="114300" y="1428750"/>
                </a:lnTo>
                <a:cubicBezTo>
                  <a:pt x="51174" y="1428750"/>
                  <a:pt x="0" y="1377576"/>
                  <a:pt x="0" y="1314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2B5CB">
              <a:alpha val="12000"/>
            </a:srgbClr>
          </a:solidFill>
          <a:ln w="9525">
            <a:solidFill>
              <a:srgbClr val="12B5C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356985" y="4990148"/>
            <a:ext cx="124568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工程价值</a:t>
            </a:r>
            <a:endParaRPr lang="zh-CN" sz="195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361748" y="5392579"/>
            <a:ext cx="395049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为检索、过滤、重排提供一致输入协议</a:t>
            </a:r>
            <a:endParaRPr lang="zh-CN" sz="1575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94360" y="64427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04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865627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Step2: High-Recall Candidate Retrieval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09600" y="1428750"/>
            <a:ext cx="3467100" cy="4000500"/>
          </a:xfrm>
          <a:custGeom>
            <a:avLst/>
            <a:gdLst/>
            <a:ahLst/>
            <a:cxnLst/>
            <a:rect l="l" t="t" r="r" b="b"/>
            <a:pathLst>
              <a:path w="3467100" h="4000500">
                <a:moveTo>
                  <a:pt x="133350" y="0"/>
                </a:moveTo>
                <a:lnTo>
                  <a:pt x="3333750" y="0"/>
                </a:lnTo>
                <a:cubicBezTo>
                  <a:pt x="3407397" y="0"/>
                  <a:pt x="3467100" y="59703"/>
                  <a:pt x="3467100" y="133350"/>
                </a:cubicBezTo>
                <a:lnTo>
                  <a:pt x="3467100" y="3867150"/>
                </a:lnTo>
                <a:cubicBezTo>
                  <a:pt x="3467100" y="3940797"/>
                  <a:pt x="3407397" y="4000500"/>
                  <a:pt x="3333750" y="4000500"/>
                </a:cubicBezTo>
                <a:lnTo>
                  <a:pt x="133350" y="4000500"/>
                </a:lnTo>
                <a:cubicBezTo>
                  <a:pt x="59703" y="4000500"/>
                  <a:pt x="0" y="3940797"/>
                  <a:pt x="0" y="3867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6" name="Freeform 6"/>
          <p:cNvSpPr/>
          <p:nvPr/>
        </p:nvSpPr>
        <p:spPr>
          <a:xfrm>
            <a:off x="609600" y="1428750"/>
            <a:ext cx="3467100" cy="685800"/>
          </a:xfrm>
          <a:custGeom>
            <a:avLst/>
            <a:gdLst/>
            <a:ahLst/>
            <a:cxnLst/>
            <a:rect l="l" t="t" r="r" b="b"/>
            <a:pathLst>
              <a:path w="3467100" h="685800">
                <a:moveTo>
                  <a:pt x="133350" y="0"/>
                </a:moveTo>
                <a:lnTo>
                  <a:pt x="3333750" y="0"/>
                </a:lnTo>
                <a:cubicBezTo>
                  <a:pt x="3407397" y="0"/>
                  <a:pt x="3467100" y="59703"/>
                  <a:pt x="3467100" y="133350"/>
                </a:cubicBezTo>
                <a:lnTo>
                  <a:pt x="3467100" y="552450"/>
                </a:lnTo>
                <a:cubicBezTo>
                  <a:pt x="3467100" y="626097"/>
                  <a:pt x="3407397" y="685800"/>
                  <a:pt x="3333750" y="685800"/>
                </a:cubicBezTo>
                <a:lnTo>
                  <a:pt x="133350" y="685800"/>
                </a:lnTo>
                <a:cubicBezTo>
                  <a:pt x="59703" y="685800"/>
                  <a:pt x="0" y="626097"/>
                  <a:pt x="0" y="5524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269849" y="1640205"/>
            <a:ext cx="214660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grep 正则检索</a:t>
            </a:r>
            <a:endParaRPr lang="zh-CN" sz="2100" b="1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4395" y="2469832"/>
            <a:ext cx="24155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快速覆盖显式关键词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74395" y="2793682"/>
            <a:ext cx="24155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支持模式匹配与别名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74395" y="3117532"/>
            <a:ext cx="16926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高速首轮召回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4362450" y="1428750"/>
            <a:ext cx="3467100" cy="4000500"/>
          </a:xfrm>
          <a:custGeom>
            <a:avLst/>
            <a:gdLst/>
            <a:ahLst/>
            <a:cxnLst/>
            <a:rect l="l" t="t" r="r" b="b"/>
            <a:pathLst>
              <a:path w="3467100" h="4000500">
                <a:moveTo>
                  <a:pt x="133350" y="0"/>
                </a:moveTo>
                <a:lnTo>
                  <a:pt x="3333750" y="0"/>
                </a:lnTo>
                <a:cubicBezTo>
                  <a:pt x="3407397" y="0"/>
                  <a:pt x="3467100" y="59703"/>
                  <a:pt x="3467100" y="133350"/>
                </a:cubicBezTo>
                <a:lnTo>
                  <a:pt x="3467100" y="3867150"/>
                </a:lnTo>
                <a:cubicBezTo>
                  <a:pt x="3467100" y="3940797"/>
                  <a:pt x="3407397" y="4000500"/>
                  <a:pt x="3333750" y="4000500"/>
                </a:cubicBezTo>
                <a:lnTo>
                  <a:pt x="133350" y="4000500"/>
                </a:lnTo>
                <a:cubicBezTo>
                  <a:pt x="59703" y="4000500"/>
                  <a:pt x="0" y="3940797"/>
                  <a:pt x="0" y="3867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2" name="Freeform 12"/>
          <p:cNvSpPr/>
          <p:nvPr/>
        </p:nvSpPr>
        <p:spPr>
          <a:xfrm>
            <a:off x="4362450" y="1428750"/>
            <a:ext cx="3467100" cy="685800"/>
          </a:xfrm>
          <a:custGeom>
            <a:avLst/>
            <a:gdLst/>
            <a:ahLst/>
            <a:cxnLst/>
            <a:rect l="l" t="t" r="r" b="b"/>
            <a:pathLst>
              <a:path w="3467100" h="685800">
                <a:moveTo>
                  <a:pt x="133350" y="0"/>
                </a:moveTo>
                <a:lnTo>
                  <a:pt x="3333750" y="0"/>
                </a:lnTo>
                <a:cubicBezTo>
                  <a:pt x="3407397" y="0"/>
                  <a:pt x="3467100" y="59703"/>
                  <a:pt x="3467100" y="133350"/>
                </a:cubicBezTo>
                <a:lnTo>
                  <a:pt x="3467100" y="552450"/>
                </a:lnTo>
                <a:cubicBezTo>
                  <a:pt x="3467100" y="626097"/>
                  <a:pt x="3407397" y="685800"/>
                  <a:pt x="3333750" y="685800"/>
                </a:cubicBezTo>
                <a:lnTo>
                  <a:pt x="133350" y="685800"/>
                </a:lnTo>
                <a:cubicBezTo>
                  <a:pt x="59703" y="685800"/>
                  <a:pt x="0" y="626097"/>
                  <a:pt x="0" y="5524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103209" y="1640205"/>
            <a:ext cx="19855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倒排索引检索</a:t>
            </a:r>
            <a:endParaRPr lang="zh-CN" sz="2100" b="1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627245" y="2469832"/>
            <a:ext cx="1808480" cy="2533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面向大规模</a:t>
            </a:r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代码库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627245" y="2793682"/>
            <a:ext cx="24155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支持词项级高速定位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627245" y="3117532"/>
            <a:ext cx="16926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提升检索吞吐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8115300" y="1428750"/>
            <a:ext cx="3467100" cy="4000500"/>
          </a:xfrm>
          <a:custGeom>
            <a:avLst/>
            <a:gdLst/>
            <a:ahLst/>
            <a:cxnLst/>
            <a:rect l="l" t="t" r="r" b="b"/>
            <a:pathLst>
              <a:path w="3467100" h="4000500">
                <a:moveTo>
                  <a:pt x="133350" y="0"/>
                </a:moveTo>
                <a:lnTo>
                  <a:pt x="3333750" y="0"/>
                </a:lnTo>
                <a:cubicBezTo>
                  <a:pt x="3407397" y="0"/>
                  <a:pt x="3467100" y="59703"/>
                  <a:pt x="3467100" y="133350"/>
                </a:cubicBezTo>
                <a:lnTo>
                  <a:pt x="3467100" y="3867150"/>
                </a:lnTo>
                <a:cubicBezTo>
                  <a:pt x="3467100" y="3940797"/>
                  <a:pt x="3407397" y="4000500"/>
                  <a:pt x="3333750" y="4000500"/>
                </a:cubicBezTo>
                <a:lnTo>
                  <a:pt x="133350" y="4000500"/>
                </a:lnTo>
                <a:cubicBezTo>
                  <a:pt x="59703" y="4000500"/>
                  <a:pt x="0" y="3940797"/>
                  <a:pt x="0" y="3867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8" name="Freeform 18"/>
          <p:cNvSpPr/>
          <p:nvPr/>
        </p:nvSpPr>
        <p:spPr>
          <a:xfrm>
            <a:off x="8115300" y="1428750"/>
            <a:ext cx="3467100" cy="685800"/>
          </a:xfrm>
          <a:custGeom>
            <a:avLst/>
            <a:gdLst/>
            <a:ahLst/>
            <a:cxnLst/>
            <a:rect l="l" t="t" r="r" b="b"/>
            <a:pathLst>
              <a:path w="3467100" h="685800">
                <a:moveTo>
                  <a:pt x="133350" y="0"/>
                </a:moveTo>
                <a:lnTo>
                  <a:pt x="3333750" y="0"/>
                </a:lnTo>
                <a:cubicBezTo>
                  <a:pt x="3407397" y="0"/>
                  <a:pt x="3467100" y="59703"/>
                  <a:pt x="3467100" y="133350"/>
                </a:cubicBezTo>
                <a:lnTo>
                  <a:pt x="3467100" y="552450"/>
                </a:lnTo>
                <a:cubicBezTo>
                  <a:pt x="3467100" y="626097"/>
                  <a:pt x="3407397" y="685800"/>
                  <a:pt x="3333750" y="685800"/>
                </a:cubicBezTo>
                <a:lnTo>
                  <a:pt x="133350" y="685800"/>
                </a:lnTo>
                <a:cubicBezTo>
                  <a:pt x="59703" y="685800"/>
                  <a:pt x="0" y="626097"/>
                  <a:pt x="0" y="5524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12B5C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340795" y="1640205"/>
            <a:ext cx="301611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Embedding 语义检索</a:t>
            </a:r>
            <a:endParaRPr lang="zh-CN" sz="2100" b="1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380095" y="2469832"/>
            <a:ext cx="24155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捕获语义相似与变体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380095" y="2793682"/>
            <a:ext cx="21746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补齐字面匹配盲区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380095" y="3117532"/>
            <a:ext cx="16926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增强召回覆盖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609600" y="5715000"/>
            <a:ext cx="10972800" cy="666750"/>
          </a:xfrm>
          <a:custGeom>
            <a:avLst/>
            <a:gdLst/>
            <a:ahLst/>
            <a:cxnLst/>
            <a:rect l="l" t="t" r="r" b="b"/>
            <a:pathLst>
              <a:path w="10972800" h="666750">
                <a:moveTo>
                  <a:pt x="95250" y="0"/>
                </a:moveTo>
                <a:lnTo>
                  <a:pt x="10877550" y="0"/>
                </a:lnTo>
                <a:cubicBezTo>
                  <a:pt x="10930155" y="0"/>
                  <a:pt x="10972800" y="42645"/>
                  <a:pt x="10972800" y="95250"/>
                </a:cubicBezTo>
                <a:lnTo>
                  <a:pt x="10972800" y="571500"/>
                </a:lnTo>
                <a:cubicBezTo>
                  <a:pt x="10972800" y="624105"/>
                  <a:pt x="10930155" y="666750"/>
                  <a:pt x="10877550" y="666750"/>
                </a:cubicBezTo>
                <a:lnTo>
                  <a:pt x="95250" y="666750"/>
                </a:lnTo>
                <a:cubicBezTo>
                  <a:pt x="42645" y="666750"/>
                  <a:pt x="0" y="624105"/>
                  <a:pt x="0" y="571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2B5CB">
              <a:alpha val="12000"/>
            </a:srgbClr>
          </a:solidFill>
          <a:ln w="9525">
            <a:solidFill>
              <a:srgbClr val="12B5CB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428600" y="5907405"/>
            <a:ext cx="533480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三路互补合并，形成高 Recall 候选池</a:t>
            </a:r>
            <a:endParaRPr lang="zh-CN" sz="21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94360" y="64427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05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7230094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Step3: Rule + Semantic Filtering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09600" y="1333500"/>
            <a:ext cx="5143500" cy="4762500"/>
          </a:xfrm>
          <a:custGeom>
            <a:avLst/>
            <a:gdLst/>
            <a:ahLst/>
            <a:cxnLst/>
            <a:rect l="l" t="t" r="r" b="b"/>
            <a:pathLst>
              <a:path w="5143500" h="476250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4648200"/>
                </a:lnTo>
                <a:cubicBezTo>
                  <a:pt x="5143500" y="4711326"/>
                  <a:pt x="5092326" y="4762500"/>
                  <a:pt x="5029200" y="4762500"/>
                </a:cubicBezTo>
                <a:lnTo>
                  <a:pt x="114300" y="4762500"/>
                </a:lnTo>
                <a:cubicBezTo>
                  <a:pt x="51174" y="4762500"/>
                  <a:pt x="0" y="4711326"/>
                  <a:pt x="0" y="464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66775" y="1624012"/>
            <a:ext cx="342132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Rule-based Filtering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74395" y="2184082"/>
            <a:ext cx="323492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依据 DSL 约束做硬规则筛选：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6300" y="2600325"/>
            <a:ext cx="19221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F172A"/>
                </a:solidFill>
                <a:latin typeface="Arial" panose="020B0604020202020204"/>
                <a:ea typeface="微软雅黑"/>
                <a:cs typeface="Arial" panose="020B0604020202020204"/>
              </a:rPr>
              <a:t>target = function</a:t>
            </a:r>
            <a:endParaRPr lang="zh-CN" sz="1500" dirty="0">
              <a:solidFill>
                <a:srgbClr val="0F172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74395" y="2907982"/>
            <a:ext cx="39337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=&gt; 删除 class / file-level 无关元素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74395" y="3365182"/>
            <a:ext cx="337951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filters = disk + performance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74395" y="3689032"/>
            <a:ext cx="399402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=&gt; 优先保留满足模块与语义约束候选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6438900" y="1333500"/>
            <a:ext cx="5143500" cy="4762500"/>
          </a:xfrm>
          <a:custGeom>
            <a:avLst/>
            <a:gdLst/>
            <a:ahLst/>
            <a:cxnLst/>
            <a:rect l="l" t="t" r="r" b="b"/>
            <a:pathLst>
              <a:path w="5143500" h="476250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4648200"/>
                </a:lnTo>
                <a:cubicBezTo>
                  <a:pt x="5143500" y="4711326"/>
                  <a:pt x="5092326" y="4762500"/>
                  <a:pt x="5029200" y="4762500"/>
                </a:cubicBezTo>
                <a:lnTo>
                  <a:pt x="114300" y="4762500"/>
                </a:lnTo>
                <a:cubicBezTo>
                  <a:pt x="51174" y="4762500"/>
                  <a:pt x="0" y="4711326"/>
                  <a:pt x="0" y="464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696075" y="1624012"/>
            <a:ext cx="311078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Semantic Filtering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703695" y="2184082"/>
            <a:ext cx="38976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由大模型抽取候选代码语义，判定：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703695" y="2565082"/>
            <a:ext cx="27529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是否与 filter 概念一致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703695" y="2888932"/>
            <a:ext cx="298189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是否满足 query 目标语义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703695" y="3212782"/>
            <a:ext cx="337951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是否仅表面词相似但语义偏离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8" name="Polygon 18"/>
          <p:cNvSpPr/>
          <p:nvPr/>
        </p:nvSpPr>
        <p:spPr>
          <a:xfrm>
            <a:off x="5810250" y="3208655"/>
            <a:ext cx="628650" cy="647700"/>
          </a:xfrm>
          <a:custGeom>
            <a:avLst/>
            <a:gdLst/>
            <a:ahLst/>
            <a:cxnLst/>
            <a:rect l="l" t="t" r="r" b="b"/>
            <a:pathLst>
              <a:path w="628650" h="647700">
                <a:moveTo>
                  <a:pt x="0" y="133350"/>
                </a:moveTo>
                <a:lnTo>
                  <a:pt x="381000" y="133350"/>
                </a:lnTo>
                <a:lnTo>
                  <a:pt x="381000" y="0"/>
                </a:lnTo>
                <a:lnTo>
                  <a:pt x="628650" y="323850"/>
                </a:lnTo>
                <a:lnTo>
                  <a:pt x="381000" y="647700"/>
                </a:lnTo>
                <a:lnTo>
                  <a:pt x="381000" y="514350"/>
                </a:lnTo>
                <a:lnTo>
                  <a:pt x="0" y="514350"/>
                </a:lnTo>
                <a:close/>
              </a:path>
            </a:pathLst>
          </a:custGeom>
          <a:solidFill>
            <a:srgbClr val="12B5CB"/>
          </a:solidFill>
          <a:ln>
            <a:noFill/>
          </a:ln>
        </p:spPr>
      </p:sp>
      <p:sp>
        <p:nvSpPr>
          <p:cNvPr id="19" name="Freeform 19"/>
          <p:cNvSpPr/>
          <p:nvPr/>
        </p:nvSpPr>
        <p:spPr>
          <a:xfrm>
            <a:off x="609600" y="5619750"/>
            <a:ext cx="10972800" cy="476250"/>
          </a:xfrm>
          <a:custGeom>
            <a:avLst/>
            <a:gdLst/>
            <a:ahLst/>
            <a:cxnLst/>
            <a:rect l="l" t="t" r="r" b="b"/>
            <a:pathLst>
              <a:path w="10972800" h="476250">
                <a:moveTo>
                  <a:pt x="95250" y="0"/>
                </a:moveTo>
                <a:lnTo>
                  <a:pt x="10877550" y="0"/>
                </a:lnTo>
                <a:cubicBezTo>
                  <a:pt x="10930155" y="0"/>
                  <a:pt x="10972800" y="42645"/>
                  <a:pt x="10972800" y="95250"/>
                </a:cubicBezTo>
                <a:lnTo>
                  <a:pt x="10972800" y="381000"/>
                </a:lnTo>
                <a:cubicBezTo>
                  <a:pt x="10972800" y="433605"/>
                  <a:pt x="10930155" y="476250"/>
                  <a:pt x="108775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2B5CB">
              <a:alpha val="12000"/>
            </a:srgbClr>
          </a:solidFill>
          <a:ln w="9525">
            <a:solidFill>
              <a:srgbClr val="12B5C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3349995" y="5723572"/>
            <a:ext cx="549201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候选集从“高召回”进一步收敛为“高质量”</a:t>
            </a:r>
            <a:endParaRPr lang="zh-CN" sz="195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594360" y="64427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06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5711904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Step4.1: Single Reranking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09600" y="1333500"/>
            <a:ext cx="5334000" cy="2095500"/>
          </a:xfrm>
          <a:custGeom>
            <a:avLst/>
            <a:gdLst/>
            <a:ahLst/>
            <a:cxnLst/>
            <a:rect l="l" t="t" r="r" b="b"/>
            <a:pathLst>
              <a:path w="5334000" h="20955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1981200"/>
                </a:lnTo>
                <a:cubicBezTo>
                  <a:pt x="5334000" y="2044326"/>
                  <a:pt x="5282826" y="2095500"/>
                  <a:pt x="5219700" y="2095500"/>
                </a:cubicBezTo>
                <a:lnTo>
                  <a:pt x="114300" y="2095500"/>
                </a:lnTo>
                <a:cubicBezTo>
                  <a:pt x="51174" y="2095500"/>
                  <a:pt x="0" y="2044326"/>
                  <a:pt x="0" y="1981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66775" y="1624012"/>
            <a:ext cx="416316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1) LLM Relevance Scoring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74395" y="2126932"/>
            <a:ext cx="398197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逐元素判断候选与 query 语义相关性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8205" y="2521268"/>
            <a:ext cx="24791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Arial" panose="020B0604020202020204"/>
                <a:ea typeface="微软雅黑"/>
                <a:cs typeface="Arial" panose="020B0604020202020204"/>
              </a:rPr>
              <a:t>score_llm(code_i, query)</a:t>
            </a:r>
            <a:endParaRPr lang="zh-CN" sz="1350" dirty="0">
              <a:solidFill>
                <a:srgbClr val="0F172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6248400" y="1333500"/>
            <a:ext cx="5334000" cy="2095500"/>
          </a:xfrm>
          <a:custGeom>
            <a:avLst/>
            <a:gdLst/>
            <a:ahLst/>
            <a:cxnLst/>
            <a:rect l="l" t="t" r="r" b="b"/>
            <a:pathLst>
              <a:path w="5334000" h="20955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1981200"/>
                </a:lnTo>
                <a:cubicBezTo>
                  <a:pt x="5334000" y="2044326"/>
                  <a:pt x="5282826" y="2095500"/>
                  <a:pt x="5219700" y="2095500"/>
                </a:cubicBezTo>
                <a:lnTo>
                  <a:pt x="114300" y="2095500"/>
                </a:lnTo>
                <a:cubicBezTo>
                  <a:pt x="51174" y="2095500"/>
                  <a:pt x="0" y="2044326"/>
                  <a:pt x="0" y="1981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05575" y="1624012"/>
            <a:ext cx="424942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2) Token Overlap Scoring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513195" y="2126932"/>
            <a:ext cx="477721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query=netlink, code=net_link_unbounded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513195" y="2488882"/>
            <a:ext cx="422295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覆盖 net + link，缩写/全称匹配可加分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609600" y="3714750"/>
            <a:ext cx="10972800" cy="2095500"/>
          </a:xfrm>
          <a:custGeom>
            <a:avLst/>
            <a:gdLst/>
            <a:ahLst/>
            <a:cxnLst/>
            <a:rect l="l" t="t" r="r" b="b"/>
            <a:pathLst>
              <a:path w="10972800" h="2095500">
                <a:moveTo>
                  <a:pt x="114300" y="0"/>
                </a:moveTo>
                <a:lnTo>
                  <a:pt x="10858500" y="0"/>
                </a:lnTo>
                <a:cubicBezTo>
                  <a:pt x="10921626" y="0"/>
                  <a:pt x="10972800" y="51174"/>
                  <a:pt x="10972800" y="114300"/>
                </a:cubicBezTo>
                <a:lnTo>
                  <a:pt x="10972800" y="1981200"/>
                </a:lnTo>
                <a:cubicBezTo>
                  <a:pt x="10972800" y="2044326"/>
                  <a:pt x="10921626" y="2095500"/>
                  <a:pt x="10858500" y="2095500"/>
                </a:cubicBezTo>
                <a:lnTo>
                  <a:pt x="114300" y="2095500"/>
                </a:lnTo>
                <a:cubicBezTo>
                  <a:pt x="51174" y="2095500"/>
                  <a:pt x="0" y="2044326"/>
                  <a:pt x="0" y="1981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866775" y="4005262"/>
            <a:ext cx="3869877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3) Code Weight Scoring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74395" y="4508182"/>
            <a:ext cx="7083425" cy="2533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根据元素类型赋权：函数可高于类与变量</a:t>
            </a:r>
            <a:r>
              <a:rPr lang="en-US" alt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(</a:t>
            </a:r>
            <a:r>
              <a:rPr lang="zh-CN" altLang="en-US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依据具体</a:t>
            </a:r>
            <a:r>
              <a:rPr lang="en-US" alt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query</a:t>
            </a:r>
            <a:r>
              <a:rPr lang="zh-CN" altLang="en-US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目标动态计算权重</a:t>
            </a:r>
            <a:r>
              <a:rPr lang="en-US" alt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)</a:t>
            </a:r>
            <a:endParaRPr lang="en-US" alt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74395" y="4832032"/>
            <a:ext cx="57893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根据调用链距离赋权：越接近核心语义节点得分越高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74395" y="5155882"/>
            <a:ext cx="51627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与 query 目标一致性高的元素优先进入 Top-K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94360" y="64427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07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580391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Step4.2: Group Reranking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09600" y="1428750"/>
            <a:ext cx="5143500" cy="4762500"/>
          </a:xfrm>
          <a:custGeom>
            <a:avLst/>
            <a:gdLst/>
            <a:ahLst/>
            <a:cxnLst/>
            <a:rect l="l" t="t" r="r" b="b"/>
            <a:pathLst>
              <a:path w="5143500" h="476250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4648200"/>
                </a:lnTo>
                <a:cubicBezTo>
                  <a:pt x="5143500" y="4711326"/>
                  <a:pt x="5092326" y="4762500"/>
                  <a:pt x="5029200" y="4762500"/>
                </a:cubicBezTo>
                <a:lnTo>
                  <a:pt x="114300" y="4762500"/>
                </a:lnTo>
                <a:cubicBezTo>
                  <a:pt x="51174" y="4762500"/>
                  <a:pt x="0" y="4711326"/>
                  <a:pt x="0" y="464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68680" y="17164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核心思想</a:t>
            </a:r>
            <a:endParaRPr lang="zh-CN" sz="210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74395" y="2184082"/>
            <a:ext cx="43795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单元素分数低，不代表组内任务相关性低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4395" y="2546032"/>
            <a:ext cx="38976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引入调用链与关系图结构做组级加权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895350" y="3143250"/>
            <a:ext cx="4572000" cy="2667000"/>
          </a:xfrm>
          <a:custGeom>
            <a:avLst/>
            <a:gdLst/>
            <a:ahLst/>
            <a:cxnLst/>
            <a:rect l="l" t="t" r="r" b="b"/>
            <a:pathLst>
              <a:path w="4572000" h="2667000">
                <a:moveTo>
                  <a:pt x="95250" y="0"/>
                </a:moveTo>
                <a:lnTo>
                  <a:pt x="4476750" y="0"/>
                </a:lnTo>
                <a:cubicBezTo>
                  <a:pt x="4529355" y="0"/>
                  <a:pt x="4572000" y="42645"/>
                  <a:pt x="4572000" y="95250"/>
                </a:cubicBezTo>
                <a:lnTo>
                  <a:pt x="4572000" y="2571750"/>
                </a:lnTo>
                <a:cubicBezTo>
                  <a:pt x="4572000" y="2624355"/>
                  <a:pt x="4529355" y="2667000"/>
                  <a:pt x="4476750" y="2667000"/>
                </a:cubicBezTo>
                <a:lnTo>
                  <a:pt x="95250" y="2667000"/>
                </a:lnTo>
                <a:cubicBezTo>
                  <a:pt x="42645" y="2667000"/>
                  <a:pt x="0" y="2624355"/>
                  <a:pt x="0" y="2571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1F8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581150" y="3390900"/>
            <a:ext cx="1028700" cy="10287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449324" y="3851910"/>
            <a:ext cx="12923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init_readahead</a:t>
            </a:r>
            <a:endParaRPr lang="zh-CN" sz="1200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2" name="Ellipse 12"/>
          <p:cNvSpPr/>
          <p:nvPr/>
        </p:nvSpPr>
        <p:spPr>
          <a:xfrm>
            <a:off x="3867150" y="4438650"/>
            <a:ext cx="1028700" cy="102870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884295" y="4899660"/>
            <a:ext cx="99441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malloc_disk</a:t>
            </a:r>
            <a:endParaRPr lang="zh-CN" sz="1200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4" name="Line 14"/>
          <p:cNvSpPr/>
          <p:nvPr/>
        </p:nvSpPr>
        <p:spPr>
          <a:xfrm>
            <a:off x="2533650" y="4171950"/>
            <a:ext cx="1409700" cy="514350"/>
          </a:xfrm>
          <a:custGeom>
            <a:avLst/>
            <a:gdLst/>
            <a:ahLst/>
            <a:cxnLst/>
            <a:rect l="l" t="t" r="r" b="b"/>
            <a:pathLst>
              <a:path w="1409700" h="514350">
                <a:moveTo>
                  <a:pt x="0" y="0"/>
                </a:moveTo>
                <a:lnTo>
                  <a:pt x="1409700" y="514350"/>
                </a:lnTo>
              </a:path>
            </a:pathLst>
          </a:custGeom>
          <a:noFill/>
          <a:ln w="38100">
            <a:solidFill>
              <a:srgbClr val="12B5CB"/>
            </a:solidFill>
          </a:ln>
        </p:spPr>
      </p:sp>
      <p:sp>
        <p:nvSpPr>
          <p:cNvPr id="15" name="Polygon 15"/>
          <p:cNvSpPr/>
          <p:nvPr/>
        </p:nvSpPr>
        <p:spPr>
          <a:xfrm>
            <a:off x="3752850" y="45339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90500" y="152400"/>
                </a:moveTo>
                <a:lnTo>
                  <a:pt x="0" y="133350"/>
                </a:lnTo>
                <a:lnTo>
                  <a:pt x="95250" y="0"/>
                </a:lnTo>
                <a:close/>
              </a:path>
            </a:pathLst>
          </a:custGeom>
          <a:solidFill>
            <a:srgbClr val="12B5C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2705100" y="4295775"/>
            <a:ext cx="5310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calls</a:t>
            </a:r>
            <a:endParaRPr lang="zh-CN" sz="15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6134100" y="1428750"/>
            <a:ext cx="5448300" cy="4762500"/>
          </a:xfrm>
          <a:custGeom>
            <a:avLst/>
            <a:gdLst/>
            <a:ahLst/>
            <a:cxnLst/>
            <a:rect l="l" t="t" r="r" b="b"/>
            <a:pathLst>
              <a:path w="5448300" h="4762500">
                <a:moveTo>
                  <a:pt x="114300" y="0"/>
                </a:moveTo>
                <a:lnTo>
                  <a:pt x="5334000" y="0"/>
                </a:lnTo>
                <a:cubicBezTo>
                  <a:pt x="5397126" y="0"/>
                  <a:pt x="5448300" y="51174"/>
                  <a:pt x="5448300" y="114300"/>
                </a:cubicBezTo>
                <a:lnTo>
                  <a:pt x="5448300" y="4648200"/>
                </a:lnTo>
                <a:cubicBezTo>
                  <a:pt x="5448300" y="4711326"/>
                  <a:pt x="5397126" y="4762500"/>
                  <a:pt x="5334000" y="4762500"/>
                </a:cubicBezTo>
                <a:lnTo>
                  <a:pt x="114300" y="4762500"/>
                </a:lnTo>
                <a:cubicBezTo>
                  <a:pt x="51174" y="4762500"/>
                  <a:pt x="0" y="4711326"/>
                  <a:pt x="0" y="464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393180" y="17164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案例说明</a:t>
            </a:r>
            <a:endParaRPr lang="zh-CN" sz="210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398895" y="2184082"/>
            <a:ext cx="476516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Query: disk 模块下与 readahead 相关函数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398895" y="2546032"/>
            <a:ext cx="553631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malloc_disk 单看关键词不匹配，但被关键函数调用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398895" y="2907982"/>
            <a:ext cx="422295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在 group 上下文中应提升其相关性权重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6419850" y="3619500"/>
            <a:ext cx="4876800" cy="1428750"/>
          </a:xfrm>
          <a:custGeom>
            <a:avLst/>
            <a:gdLst/>
            <a:ahLst/>
            <a:cxnLst/>
            <a:rect l="l" t="t" r="r" b="b"/>
            <a:pathLst>
              <a:path w="4876800" h="1428750">
                <a:moveTo>
                  <a:pt x="95250" y="0"/>
                </a:moveTo>
                <a:lnTo>
                  <a:pt x="4781550" y="0"/>
                </a:lnTo>
                <a:cubicBezTo>
                  <a:pt x="4834155" y="0"/>
                  <a:pt x="4876800" y="42645"/>
                  <a:pt x="4876800" y="95250"/>
                </a:cubicBezTo>
                <a:lnTo>
                  <a:pt x="4876800" y="1333500"/>
                </a:lnTo>
                <a:cubicBezTo>
                  <a:pt x="4876800" y="1386105"/>
                  <a:pt x="4834155" y="1428750"/>
                  <a:pt x="478155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2B5CB">
              <a:alpha val="12000"/>
            </a:srgbClr>
          </a:solidFill>
          <a:ln w="9525">
            <a:solidFill>
              <a:srgbClr val="12B5CB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642735" y="3961448"/>
            <a:ext cx="64760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结论</a:t>
            </a:r>
            <a:endParaRPr lang="zh-CN" sz="195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646545" y="4355782"/>
            <a:ext cx="52591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group rerank 让结构相关代码在最终排序中可见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94360" y="64427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08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513683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Single + Group 融合排序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09600" y="1333500"/>
            <a:ext cx="3429000" cy="4762500"/>
          </a:xfrm>
          <a:custGeom>
            <a:avLst/>
            <a:gdLst/>
            <a:ahLst/>
            <a:cxnLst/>
            <a:rect l="l" t="t" r="r" b="b"/>
            <a:pathLst>
              <a:path w="3429000" h="476250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4648200"/>
                </a:lnTo>
                <a:cubicBezTo>
                  <a:pt x="3429000" y="4711326"/>
                  <a:pt x="3377826" y="4762500"/>
                  <a:pt x="3314700" y="4762500"/>
                </a:cubicBezTo>
                <a:lnTo>
                  <a:pt x="114300" y="4762500"/>
                </a:lnTo>
                <a:cubicBezTo>
                  <a:pt x="51174" y="4762500"/>
                  <a:pt x="0" y="4711326"/>
                  <a:pt x="0" y="464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68680" y="16021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输入分数</a:t>
            </a:r>
            <a:endParaRPr lang="zh-CN" sz="210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74395" y="2069782"/>
            <a:ext cx="189747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LLM relevance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4395" y="2393632"/>
            <a:ext cx="184927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Token overlap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74395" y="2717482"/>
            <a:ext cx="163239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Code weight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74395" y="3041332"/>
            <a:ext cx="164444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Group boost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4381500" y="1333500"/>
            <a:ext cx="3429000" cy="4762500"/>
          </a:xfrm>
          <a:custGeom>
            <a:avLst/>
            <a:gdLst/>
            <a:ahLst/>
            <a:cxnLst/>
            <a:rect l="l" t="t" r="r" b="b"/>
            <a:pathLst>
              <a:path w="3429000" h="476250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4648200"/>
                </a:lnTo>
                <a:cubicBezTo>
                  <a:pt x="3429000" y="4711326"/>
                  <a:pt x="3377826" y="4762500"/>
                  <a:pt x="3314700" y="4762500"/>
                </a:cubicBezTo>
                <a:lnTo>
                  <a:pt x="114300" y="4762500"/>
                </a:lnTo>
                <a:cubicBezTo>
                  <a:pt x="51174" y="4762500"/>
                  <a:pt x="0" y="4711326"/>
                  <a:pt x="0" y="464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4640580" y="16021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融合策略</a:t>
            </a:r>
            <a:endParaRPr lang="zh-CN" sz="210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650105" y="2102168"/>
            <a:ext cx="12961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Arial" panose="020B0604020202020204"/>
                <a:ea typeface="微软雅黑"/>
                <a:cs typeface="Arial" panose="020B0604020202020204"/>
              </a:rPr>
              <a:t>score_final =</a:t>
            </a:r>
            <a:endParaRPr lang="zh-CN" sz="1350" dirty="0">
              <a:solidFill>
                <a:srgbClr val="0F172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650105" y="2406968"/>
            <a:ext cx="213412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Arial" panose="020B0604020202020204"/>
                <a:ea typeface="微软雅黑"/>
                <a:cs typeface="Arial" panose="020B0604020202020204"/>
              </a:rPr>
              <a:t>w1*s_llm + w2*s_tok +</a:t>
            </a:r>
            <a:endParaRPr lang="zh-CN" sz="1350" dirty="0">
              <a:solidFill>
                <a:srgbClr val="0F172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650105" y="2711768"/>
            <a:ext cx="26073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Arial" panose="020B0604020202020204"/>
                <a:ea typeface="微软雅黑"/>
                <a:cs typeface="Arial" panose="020B0604020202020204"/>
              </a:rPr>
              <a:t>w3*s_weight + w4*s_group</a:t>
            </a:r>
            <a:endParaRPr lang="zh-CN" sz="1350" dirty="0">
              <a:solidFill>
                <a:srgbClr val="0F172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646295" y="3098482"/>
            <a:ext cx="301804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按 query 类型动态调节权重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8153400" y="1333500"/>
            <a:ext cx="3429000" cy="4762500"/>
          </a:xfrm>
          <a:custGeom>
            <a:avLst/>
            <a:gdLst/>
            <a:ahLst/>
            <a:cxnLst/>
            <a:rect l="l" t="t" r="r" b="b"/>
            <a:pathLst>
              <a:path w="3429000" h="476250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4648200"/>
                </a:lnTo>
                <a:cubicBezTo>
                  <a:pt x="3429000" y="4711326"/>
                  <a:pt x="3377826" y="4762500"/>
                  <a:pt x="3314700" y="4762500"/>
                </a:cubicBezTo>
                <a:lnTo>
                  <a:pt x="114300" y="4762500"/>
                </a:lnTo>
                <a:cubicBezTo>
                  <a:pt x="51174" y="4762500"/>
                  <a:pt x="0" y="4711326"/>
                  <a:pt x="0" y="464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8412480" y="16021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输出结果</a:t>
            </a:r>
            <a:endParaRPr lang="zh-CN" sz="210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8439150" y="2190750"/>
            <a:ext cx="2857500" cy="590550"/>
          </a:xfrm>
          <a:custGeom>
            <a:avLst/>
            <a:gdLst/>
            <a:ahLst/>
            <a:cxnLst/>
            <a:rect l="l" t="t" r="r" b="b"/>
            <a:pathLst>
              <a:path w="2857500" h="590550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514350"/>
                </a:lnTo>
                <a:cubicBezTo>
                  <a:pt x="2857500" y="556434"/>
                  <a:pt x="2823384" y="590550"/>
                  <a:pt x="2781300" y="590550"/>
                </a:cubicBezTo>
                <a:lnTo>
                  <a:pt x="76200" y="590550"/>
                </a:lnTo>
                <a:cubicBezTo>
                  <a:pt x="34116" y="590550"/>
                  <a:pt x="0" y="556434"/>
                  <a:pt x="0" y="5143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610600" y="2409825"/>
            <a:ext cx="186737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1. init_readahead</a:t>
            </a:r>
            <a:endParaRPr lang="zh-CN" sz="1500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1" name="Freeform 21"/>
          <p:cNvSpPr/>
          <p:nvPr/>
        </p:nvSpPr>
        <p:spPr>
          <a:xfrm>
            <a:off x="8439150" y="2914650"/>
            <a:ext cx="2857500" cy="590550"/>
          </a:xfrm>
          <a:custGeom>
            <a:avLst/>
            <a:gdLst/>
            <a:ahLst/>
            <a:cxnLst/>
            <a:rect l="l" t="t" r="r" b="b"/>
            <a:pathLst>
              <a:path w="2857500" h="590550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514350"/>
                </a:lnTo>
                <a:cubicBezTo>
                  <a:pt x="2857500" y="556434"/>
                  <a:pt x="2823384" y="590550"/>
                  <a:pt x="2781300" y="590550"/>
                </a:cubicBezTo>
                <a:lnTo>
                  <a:pt x="76200" y="590550"/>
                </a:lnTo>
                <a:cubicBezTo>
                  <a:pt x="34116" y="590550"/>
                  <a:pt x="0" y="556434"/>
                  <a:pt x="0" y="5143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610600" y="3133725"/>
            <a:ext cx="154971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2. malloc_disk</a:t>
            </a:r>
            <a:endParaRPr lang="zh-CN" sz="1500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8439150" y="3638550"/>
            <a:ext cx="2857500" cy="590550"/>
          </a:xfrm>
          <a:custGeom>
            <a:avLst/>
            <a:gdLst/>
            <a:ahLst/>
            <a:cxnLst/>
            <a:rect l="l" t="t" r="r" b="b"/>
            <a:pathLst>
              <a:path w="2857500" h="590550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514350"/>
                </a:lnTo>
                <a:cubicBezTo>
                  <a:pt x="2857500" y="556434"/>
                  <a:pt x="2823384" y="590550"/>
                  <a:pt x="2781300" y="590550"/>
                </a:cubicBezTo>
                <a:lnTo>
                  <a:pt x="76200" y="590550"/>
                </a:lnTo>
                <a:cubicBezTo>
                  <a:pt x="34116" y="590550"/>
                  <a:pt x="0" y="556434"/>
                  <a:pt x="0" y="5143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2B5C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610600" y="3857625"/>
            <a:ext cx="227266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3. readahead_buffer</a:t>
            </a:r>
            <a:endParaRPr lang="zh-CN" sz="1500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94360" y="64427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09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8564261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Case Study: disk + readahead 查询链路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86740" y="1424940"/>
            <a:ext cx="954919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172A"/>
                </a:solidFill>
                <a:latin typeface="Arial" panose="020B0604020202020204"/>
                <a:ea typeface="微软雅黑"/>
                <a:cs typeface="Arial" panose="020B0604020202020204"/>
              </a:rPr>
              <a:t>raw_query: search functions that enhance readahead performance in disk</a:t>
            </a:r>
            <a:endParaRPr lang="zh-CN" sz="1800" dirty="0">
              <a:solidFill>
                <a:srgbClr val="0F172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6" name="Line 6"/>
          <p:cNvSpPr/>
          <p:nvPr/>
        </p:nvSpPr>
        <p:spPr>
          <a:xfrm>
            <a:off x="609600" y="2286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BD5E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81025" y="2709862"/>
            <a:ext cx="247245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候选集收敛轨迹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86740" y="3196590"/>
            <a:ext cx="272719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高召回候选：N = 1200+</a:t>
            </a:r>
            <a:endParaRPr lang="zh-CN" sz="18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86740" y="3558540"/>
            <a:ext cx="394963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Rule + Semantic 过滤后：N = 180</a:t>
            </a:r>
            <a:endParaRPr lang="zh-CN" sz="18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86740" y="3920490"/>
            <a:ext cx="467258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Single + Group rerank 后：Top-K = 20</a:t>
            </a:r>
            <a:endParaRPr lang="zh-CN" sz="18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6477000" y="2724150"/>
            <a:ext cx="5105400" cy="3048000"/>
          </a:xfrm>
          <a:custGeom>
            <a:avLst/>
            <a:gdLst/>
            <a:ahLst/>
            <a:cxnLst/>
            <a:rect l="l" t="t" r="r" b="b"/>
            <a:pathLst>
              <a:path w="5105400" h="3048000">
                <a:moveTo>
                  <a:pt x="114300" y="0"/>
                </a:moveTo>
                <a:lnTo>
                  <a:pt x="4991100" y="0"/>
                </a:lnTo>
                <a:cubicBezTo>
                  <a:pt x="5054226" y="0"/>
                  <a:pt x="5105400" y="51174"/>
                  <a:pt x="5105400" y="114300"/>
                </a:cubicBezTo>
                <a:lnTo>
                  <a:pt x="5105400" y="2933700"/>
                </a:lnTo>
                <a:cubicBezTo>
                  <a:pt x="5105400" y="2996826"/>
                  <a:pt x="5054226" y="3048000"/>
                  <a:pt x="4991100" y="3048000"/>
                </a:cubicBezTo>
                <a:lnTo>
                  <a:pt x="114300" y="3048000"/>
                </a:lnTo>
                <a:cubicBezTo>
                  <a:pt x="51174" y="3048000"/>
                  <a:pt x="0" y="2996826"/>
                  <a:pt x="0" y="2933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6736080" y="3011805"/>
            <a:ext cx="196947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Top 结果示例</a:t>
            </a:r>
            <a:endParaRPr lang="zh-CN" sz="2100" b="1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742748" y="3506629"/>
            <a:ext cx="2213777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1) init_readahead()</a:t>
            </a:r>
            <a:endParaRPr lang="zh-CN" sz="1575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742748" y="3849529"/>
            <a:ext cx="188023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2) malloc_disk()</a:t>
            </a:r>
            <a:endParaRPr lang="zh-CN" sz="1575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742748" y="4192429"/>
            <a:ext cx="350193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3) adjust_readahead_window()</a:t>
            </a:r>
            <a:endParaRPr lang="zh-CN" sz="1575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741795" y="4622482"/>
            <a:ext cx="440369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B5CB"/>
                </a:solidFill>
                <a:latin typeface="Arial" panose="020B0604020202020204"/>
                <a:ea typeface="微软雅黑"/>
                <a:cs typeface="Arial" panose="020B0604020202020204"/>
              </a:rPr>
              <a:t>其中 malloc_disk 因组关系获得加权提升</a:t>
            </a:r>
            <a:endParaRPr lang="zh-CN" sz="1650" dirty="0">
              <a:solidFill>
                <a:srgbClr val="12B5C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94360" y="6442710"/>
            <a:ext cx="1794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10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421671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方法价值与可扩展性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09600" y="1333500"/>
            <a:ext cx="5295900" cy="2190750"/>
          </a:xfrm>
          <a:custGeom>
            <a:avLst/>
            <a:gdLst/>
            <a:ahLst/>
            <a:cxnLst/>
            <a:rect l="l" t="t" r="r" b="b"/>
            <a:pathLst>
              <a:path w="5295900" h="2190750">
                <a:moveTo>
                  <a:pt x="114300" y="0"/>
                </a:moveTo>
                <a:lnTo>
                  <a:pt x="5181600" y="0"/>
                </a:lnTo>
                <a:cubicBezTo>
                  <a:pt x="5244726" y="0"/>
                  <a:pt x="5295900" y="51174"/>
                  <a:pt x="5295900" y="114300"/>
                </a:cubicBezTo>
                <a:lnTo>
                  <a:pt x="5295900" y="2076450"/>
                </a:lnTo>
                <a:cubicBezTo>
                  <a:pt x="5295900" y="2139576"/>
                  <a:pt x="5244726" y="2190750"/>
                  <a:pt x="5181600" y="2190750"/>
                </a:cubicBezTo>
                <a:lnTo>
                  <a:pt x="114300" y="2190750"/>
                </a:lnTo>
                <a:cubicBezTo>
                  <a:pt x="51174" y="2190750"/>
                  <a:pt x="0" y="2139576"/>
                  <a:pt x="0" y="2076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66775" y="1643062"/>
            <a:ext cx="181687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Recall 提升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74395" y="2107882"/>
            <a:ext cx="518688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多路检索互补，减少 query 表达差异导致的漏检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6286500" y="1333500"/>
            <a:ext cx="5295900" cy="2190750"/>
          </a:xfrm>
          <a:custGeom>
            <a:avLst/>
            <a:gdLst/>
            <a:ahLst/>
            <a:cxnLst/>
            <a:rect l="l" t="t" r="r" b="b"/>
            <a:pathLst>
              <a:path w="5295900" h="2190750">
                <a:moveTo>
                  <a:pt x="114300" y="0"/>
                </a:moveTo>
                <a:lnTo>
                  <a:pt x="5181600" y="0"/>
                </a:lnTo>
                <a:cubicBezTo>
                  <a:pt x="5244726" y="0"/>
                  <a:pt x="5295900" y="51174"/>
                  <a:pt x="5295900" y="114300"/>
                </a:cubicBezTo>
                <a:lnTo>
                  <a:pt x="5295900" y="2076450"/>
                </a:lnTo>
                <a:cubicBezTo>
                  <a:pt x="5295900" y="2139576"/>
                  <a:pt x="5244726" y="2190750"/>
                  <a:pt x="5181600" y="2190750"/>
                </a:cubicBezTo>
                <a:lnTo>
                  <a:pt x="114300" y="2190750"/>
                </a:lnTo>
                <a:cubicBezTo>
                  <a:pt x="51174" y="2190750"/>
                  <a:pt x="0" y="2139576"/>
                  <a:pt x="0" y="2076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543675" y="1643062"/>
            <a:ext cx="238619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Precision 提升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551295" y="2107882"/>
            <a:ext cx="36927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规则约束 + 语义过滤压缩噪声候选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609600" y="3810000"/>
            <a:ext cx="5295900" cy="2190750"/>
          </a:xfrm>
          <a:custGeom>
            <a:avLst/>
            <a:gdLst/>
            <a:ahLst/>
            <a:cxnLst/>
            <a:rect l="l" t="t" r="r" b="b"/>
            <a:pathLst>
              <a:path w="5295900" h="2190750">
                <a:moveTo>
                  <a:pt x="114300" y="0"/>
                </a:moveTo>
                <a:lnTo>
                  <a:pt x="5181600" y="0"/>
                </a:lnTo>
                <a:cubicBezTo>
                  <a:pt x="5244726" y="0"/>
                  <a:pt x="5295900" y="51174"/>
                  <a:pt x="5295900" y="114300"/>
                </a:cubicBezTo>
                <a:lnTo>
                  <a:pt x="5295900" y="2076450"/>
                </a:lnTo>
                <a:cubicBezTo>
                  <a:pt x="5295900" y="2139576"/>
                  <a:pt x="5244726" y="2190750"/>
                  <a:pt x="5181600" y="2190750"/>
                </a:cubicBezTo>
                <a:lnTo>
                  <a:pt x="114300" y="2190750"/>
                </a:lnTo>
                <a:cubicBezTo>
                  <a:pt x="51174" y="2190750"/>
                  <a:pt x="0" y="2139576"/>
                  <a:pt x="0" y="2076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866775" y="4119562"/>
            <a:ext cx="212740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可解释性增强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74395" y="4584382"/>
            <a:ext cx="484951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DSL 字段、过滤规则、排序信号可追踪可分析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286500" y="3810000"/>
            <a:ext cx="5295900" cy="2190750"/>
          </a:xfrm>
          <a:custGeom>
            <a:avLst/>
            <a:gdLst/>
            <a:ahLst/>
            <a:cxnLst/>
            <a:rect l="l" t="t" r="r" b="b"/>
            <a:pathLst>
              <a:path w="5295900" h="2190750">
                <a:moveTo>
                  <a:pt x="114300" y="0"/>
                </a:moveTo>
                <a:lnTo>
                  <a:pt x="5181600" y="0"/>
                </a:lnTo>
                <a:cubicBezTo>
                  <a:pt x="5244726" y="0"/>
                  <a:pt x="5295900" y="51174"/>
                  <a:pt x="5295900" y="114300"/>
                </a:cubicBezTo>
                <a:lnTo>
                  <a:pt x="5295900" y="2076450"/>
                </a:lnTo>
                <a:cubicBezTo>
                  <a:pt x="5295900" y="2139576"/>
                  <a:pt x="5244726" y="2190750"/>
                  <a:pt x="5181600" y="2190750"/>
                </a:cubicBezTo>
                <a:lnTo>
                  <a:pt x="114300" y="2190750"/>
                </a:lnTo>
                <a:cubicBezTo>
                  <a:pt x="51174" y="2190750"/>
                  <a:pt x="0" y="2139576"/>
                  <a:pt x="0" y="2076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543675" y="4119562"/>
            <a:ext cx="178236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工程扩展性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551295" y="4584382"/>
            <a:ext cx="45482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可插拔新增 filter、ranker 与关系图特征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94360" y="6442710"/>
            <a:ext cx="1356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11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F3A">
                  <a:alpha val="8000"/>
                </a:srgbClr>
              </a:gs>
              <a:gs pos="100000">
                <a:srgbClr val="1F6FEB">
                  <a:alpha val="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914400" y="1047750"/>
            <a:ext cx="10363200" cy="4762500"/>
          </a:xfrm>
          <a:custGeom>
            <a:avLst/>
            <a:gdLst/>
            <a:ahLst/>
            <a:cxnLst/>
            <a:rect l="l" t="t" r="r" b="b"/>
            <a:pathLst>
              <a:path w="10363200" h="4762500">
                <a:moveTo>
                  <a:pt x="190500" y="0"/>
                </a:moveTo>
                <a:lnTo>
                  <a:pt x="10172700" y="0"/>
                </a:lnTo>
                <a:cubicBezTo>
                  <a:pt x="10277910" y="0"/>
                  <a:pt x="10363200" y="85290"/>
                  <a:pt x="10363200" y="190500"/>
                </a:cubicBezTo>
                <a:lnTo>
                  <a:pt x="10363200" y="4572000"/>
                </a:lnTo>
                <a:cubicBezTo>
                  <a:pt x="10363200" y="4677210"/>
                  <a:pt x="10277910" y="4762500"/>
                  <a:pt x="10172700" y="4762500"/>
                </a:cubicBezTo>
                <a:lnTo>
                  <a:pt x="190500" y="4762500"/>
                </a:lnTo>
                <a:cubicBezTo>
                  <a:pt x="85290" y="4762500"/>
                  <a:pt x="0" y="4677210"/>
                  <a:pt x="0" y="45720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846576" y="1609725"/>
            <a:ext cx="8498848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Conclusion &amp; Future Work</a:t>
            </a:r>
            <a:endParaRPr lang="zh-CN" sz="45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92580" y="2745105"/>
            <a:ext cx="819635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1. DSL 驱动 + 多路召回 + 过滤 + 双阶段重排，形成完整闭环</a:t>
            </a:r>
            <a:endParaRPr lang="zh-CN" sz="21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92580" y="3202305"/>
            <a:ext cx="796632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2. 在 agent query 场景下兼顾检索效率、精度与可解释性</a:t>
            </a:r>
            <a:endParaRPr lang="zh-CN" sz="21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92580" y="3659505"/>
            <a:ext cx="75369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3. 未来方向：在线反馈学习、跨仓库检索、端到端重排</a:t>
            </a:r>
            <a:endParaRPr lang="zh-CN" sz="21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088688" y="4756785"/>
            <a:ext cx="201462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Thank You</a:t>
            </a:r>
            <a:endParaRPr lang="zh-CN" sz="270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829967" y="5234940"/>
            <a:ext cx="53206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Q&amp;A</a:t>
            </a:r>
            <a:endParaRPr lang="zh-CN" sz="18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94360" y="6442710"/>
            <a:ext cx="1794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12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2532</Words>
  <Application>WPS 演示</Application>
  <PresentationFormat>On-screen Show (4:3)</PresentationFormat>
  <Paragraphs>290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汉仪旗黑</vt:lpstr>
      <vt:lpstr>微软雅黑</vt:lpstr>
      <vt:lpstr>宋体</vt:lpstr>
      <vt:lpstr>Arial Unicode MS</vt:lpstr>
      <vt:lpstr>Calibri</vt:lpstr>
      <vt:lpstr>Helvetica Neue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OLD帅MA</cp:lastModifiedBy>
  <cp:revision>6</cp:revision>
  <dcterms:created xsi:type="dcterms:W3CDTF">2026-04-30T06:07:13Z</dcterms:created>
  <dcterms:modified xsi:type="dcterms:W3CDTF">2026-04-30T06:07:13Z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0687ADD2BB44762F5DBFEC69BECDE5B7</vt:lpwstr>
  </property>
  <property fmtid="{D5CDD505-2E9C-101B-9397-08002B2CF9AE}" pid="3" name="KSOProductBuildVer">
    <vt:lpwstr>2052-4.1.1.6613</vt:lpwstr>
  </property>
</Properties>
</file>