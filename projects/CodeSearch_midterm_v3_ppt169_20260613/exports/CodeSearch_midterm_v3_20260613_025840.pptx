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本页是第三章的过渡页。第三章将重点介绍 SemCon 的三类原子语义条件以及 SemQL 的逻辑组合机制。SemCon 是整个系统的基础概念单元：每条 SemCon 代表一个独立、可执行的搜索或过滤条件。三类条件按执行代价从低到高排列——Surface 覆盖文本匹配、Relation 覆盖结构约束、Intention 覆盖语义判别。SemQL 则负责将这些原子条件通过 AND / OR / NOT 组装为可执行的高层查询计划。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本页用三栏卡片展示 SemCon 的三类原子条件。左侧 Surface Condition 覆盖字面匹配，执行成本最低；中间 Relation Condition 描述结构约束和拓扑关系，采用三级物理后端（Tier 1 Symbol Index &amp;lt;1ms, Tier 2 LSP Call Graph BFS/DFS &amp;lt;10ms, Tier 3 CodeQL）；右侧 Intention Condition 以二元判别建模语义意图，包含 intent_statement、aspect（functional/non_functional/domain）和 non_functional_type 字段，执行后端包括 Cluster Filter、Embedding Filter 和 LLM-as-a-Judge。三类条件按 Surface → Relation → Intention 的代价顺序组织，后续优化器会根据候选规模动态规划执行顺序。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 SemQL 的逻辑组合机制。查询 "Find the login function but not logout" 被拆解为三个原子条件：c1 Surface include 匹配 login，c2 Relation include 限定 function 类型，c3 Intention exclude 排除 logout。三者通过 AND/NOT 组合为逻辑树：(c1 AND c2) AND NOT c3。SemCon 抽取由 LLM 完成，输出 semCon.json；SemQL 组织按 include/exclude 分组，输出 semQL.json。执行逻辑留给 Query Optimizer 动态规划。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本页是第四章的过渡页。第四章展示 SemQL 2.0 的端到端方法流程：Query Compiler → Query Optimizer (RBO/CBO) → Executor → Bundle Generator → Grouped Reranker。核心设计思想是先用低成本条件收缩候选集，再把高成本语义判断用于少量候选。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本页展示端到端流程的五个模块。Query Compiler 通过 LLM 抽取 SemCon 再组织为 SemQL。Query Optimizer 包含 RBO 四大规则（Intention-Last/Surface-First/Dangling Ban/NOT-Pushdown）和 CBO 代价分析器（选择性优先、动态截断）。Executor 分三级执行：Stage 1 Surface（exact search/inverted index/ngram/term emb, &amp;lt;200ms, ~8,000 候选）、Stage 2 Relation（rule filter/LSP call graph BFS/DFS/CodeQL, &amp;lt;10ms~s, ~400 候选）、Stage 3 Intention（Cluster Filter/Embedding Filter/LLM Judge, &amp;lt;3s, ~15 最终候选）。Bundle Generator 通过调用边和类/文件关系将候选合并为 Context Bundles。Grouped Reranker 使用 BundleScore = mean(score_i) + α × synergy_bonus 进行协同评分。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本页是第六章的过渡页。第六章围绕实验与评测展开，介绍评测指标体系（检索质量+执行效率）和三个 Benchmark 数据集：SWE-bench（天然 Agent 检索场景）、CodeSearchNet（标准语义搜索基准）、内部 Agent Benchmark（真实 Agent 任务数据集）。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本页展示评测指标体系。检索质量六大指标：Recall@K（召回能力）、Precision@K（精度）、MRR（首个正确位置倒数均值）、nDCG@K（排序质量）、Bundle Relevance（Bundle 平均相关性）、Bundle Hit Rate（正确 Bundle Top-K 比率）。执行效率四大指标：P50/P99 延迟（Surface &amp;lt;200ms, 含 Intention &amp;lt;3s）、Intention 缓存命中率 &amp;gt;60%、LLM API 调用 &amp;lt;50次/查询、候选集截断 &amp;lt;100（大型项目 &amp;lt;0.2% 全库）。三个 Benchmark 数据集：SWE-bench、CodeSearchNet 和内部 Agent Benchmark。后续通过消融实验验证各阶段的贡献。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本页对比 SemQL 2.0 与 Grep 和 Dense Search。在语义等价召回上，SemQL 2.0 通过 term_embed 膨胀+Intention 验证实现高召回高精度。在硬性排除上，exclude property+NOT-Pushdown 实现确定性硬过滤。在调用图约束上，graph_constraint+BFS/DFS 在 &amp;lt;10ms 内完成结构过滤。在关联节点返回上，Bundle 协同评分将相关代码作为整体返回。在可解释性上，多维证据（surface+relation+intention）+LLM reasoning 给 Agent 提供完整推理依据。LLM 代价受控：前置过滤后候选集 &amp;lt;100。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（此页保留原 PPTX 内容，未做修改。）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F6FEB"/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-857250"/>
            <a:ext cx="3429000" cy="3429000"/>
          </a:xfrm>
          <a:prstGeom prst="ellipse">
            <a:avLst/>
          </a:prstGeom>
          <a:solidFill>
            <a:srgbClr val="12B5CB">
              <a:alpha val="2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90500" y="4191000"/>
            <a:ext cx="2667000" cy="2667000"/>
          </a:xfrm>
          <a:prstGeom prst="ellipse">
            <a:avLst/>
          </a:prstGeom>
          <a:solidFill>
            <a:srgbClr val="1F6FEB">
              <a:alpha val="6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-752618" y="687705"/>
            <a:ext cx="13697236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面向编码智能体的语义化代码检索方法研究</a:t>
            </a:r>
          </a:p>
        </p:txBody>
      </p:sp>
      <p:sp>
        <p:nvSpPr>
          <p:cNvPr id="7" name="Rectangle 7"/>
          <p:cNvSpPr/>
          <p:nvPr/>
        </p:nvSpPr>
        <p:spPr>
          <a:xfrm>
            <a:off x="3238500" y="1619250"/>
            <a:ext cx="5715000" cy="19050"/>
          </a:xfrm>
          <a:prstGeom prst="rect">
            <a:avLst/>
          </a:prstGeom>
          <a:solidFill>
            <a:srgbClr val="12B5CB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63123" y="3232785"/>
            <a:ext cx="94657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SemQL 2.0：面向代码智能体的条件化查询语言与执行引擎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91138" y="3885248"/>
            <a:ext cx="160972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硕士中期答辩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06832" y="4472940"/>
            <a:ext cx="49783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汇报人：黄卓谌 | 指导老师：彭鑫 | 2026年6月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99160" y="213360"/>
            <a:ext cx="416438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CONTENTS 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52500" y="914400"/>
            <a:ext cx="10287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04900" y="129540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5925" y="1376362"/>
            <a:ext cx="275748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研究背景与问题定义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4900" y="196215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5925" y="2043112"/>
            <a:ext cx="275748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研究目标与总体方案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900" y="262890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5925" y="2709862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SemCon 与 SemQL — 核心条件与逻辑组合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4900" y="329565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5925" y="3376612"/>
            <a:ext cx="370260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方法流程 — 端到端系统架构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4900" y="396240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5925" y="4043362"/>
            <a:ext cx="275748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系统实现与实验设计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900" y="462915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5925" y="4710112"/>
            <a:ext cx="15573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实验与评测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140" y="5425440"/>
            <a:ext cx="12458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F6FEB"/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solidFill>
            <a:srgbClr val="12B5CB">
              <a:alpha val="1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71500" y="4381500"/>
            <a:ext cx="2286000" cy="2286000"/>
          </a:xfrm>
          <a:prstGeom prst="ellipse">
            <a:avLst/>
          </a:prstGeom>
          <a:solidFill>
            <a:srgbClr val="1F6FEB">
              <a:alpha val="6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99160" y="1356360"/>
            <a:ext cx="43012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400" y="1485900"/>
            <a:ext cx="354163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SemCon 与 SemQL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342900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26820" y="38366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SemCon：原子级语义条件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0" y="4377690"/>
            <a:ext cx="91428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Surface（表层词法特征）· Relation（关系结构特征）· Intention（意图语义特征）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6820" y="4693920"/>
            <a:ext cx="36294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SemQL：条件逻辑组合层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4440" y="5139690"/>
            <a:ext cx="56864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AND / OR / NOT 将 SemCon 组装为可执行的查询计划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323850"/>
            <a:ext cx="532685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SemCon：三类原子语义条件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790575"/>
            <a:ext cx="705897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按执行代价从低到高排列，对应 Surface → Relation → Intention 三级执行阶段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" y="1238250"/>
            <a:ext cx="3505200" cy="485775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09600" y="1238250"/>
            <a:ext cx="3505200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F6FEB"/>
              </a:gs>
              <a:gs pos="100000">
                <a:srgbClr val="0B1F3A"/>
              </a:gs>
            </a:gsLst>
            <a:lin ang="540000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238250"/>
            <a:ext cx="3505200" cy="571500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71172" y="1373505"/>
            <a:ext cx="258205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Surface Condition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386" y="1911668"/>
            <a:ext cx="2743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表层 / 词法特征 | 低成本优先召回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4865" y="24203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关键字段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865" y="27441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type: "surface"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4865" y="299180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property: include | exclude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4865" y="3239452"/>
            <a:ext cx="1174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keywords: [...]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4865" y="3487102"/>
            <a:ext cx="1174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synonyms: [...]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4865" y="3734752"/>
            <a:ext cx="19099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match_kind: code_element |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3465" y="3982402"/>
            <a:ext cx="1664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code_snippet | code_line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865" y="4230052"/>
            <a:ext cx="21129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code_element_type: function |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3465" y="4477702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class | variable | ...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48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执行后端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4865" y="5220652"/>
            <a:ext cx="2049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exact search · inverted index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4865" y="5468302"/>
            <a:ext cx="26099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ngram · abbreviation · fuzzy matcher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4865" y="5715952"/>
            <a:ext cx="2259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term embedding (FastText + ICF)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43400" y="1238250"/>
            <a:ext cx="3505200" cy="485775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43400" y="1238250"/>
            <a:ext cx="3505200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2B5CB"/>
              </a:gs>
              <a:gs pos="100000">
                <a:srgbClr val="1F6FEB"/>
              </a:gs>
            </a:gsLst>
            <a:lin ang="5400000" scaled="1"/>
          </a:gra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343400" y="1238250"/>
            <a:ext cx="3505200" cy="571500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797621" y="1373505"/>
            <a:ext cx="25967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Relation Condition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34174" y="1911668"/>
            <a:ext cx="2923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关系 / 结构特征 | 中等成本约束收敛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24203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关键字段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27441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type: "relation"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299180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property: include | exclude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239452"/>
            <a:ext cx="21129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code_element_type: function |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11065" y="3487102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class | variable | ...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58665" y="3734752"/>
            <a:ext cx="1615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file_path: "path/*.py"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58665" y="39824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container: "ClassA"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58665" y="4230052"/>
            <a:ext cx="14198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graph_constraint: {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11065" y="4477702"/>
            <a:ext cx="1741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anchor, relation, value 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58665" y="4725352"/>
            <a:ext cx="13218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caller / callee: ...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58665" y="4973002"/>
            <a:ext cx="1398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code_ql: "..." | null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58665" y="541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执行后端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58665" y="5696902"/>
            <a:ext cx="19589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Tier 1: Symbol Index (&lt; 1ms)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58665" y="5887402"/>
            <a:ext cx="2056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Tier 2: LSP Call Graph BFS/DFS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077200" y="1238250"/>
            <a:ext cx="3505200" cy="485775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8077200" y="1238250"/>
            <a:ext cx="3505200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A34A"/>
              </a:gs>
              <a:gs pos="100000">
                <a:srgbClr val="0B1F3A"/>
              </a:gs>
            </a:gsLst>
            <a:lin ang="5400000" scaled="1"/>
          </a:gra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077200" y="1238250"/>
            <a:ext cx="3505200" cy="571500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50561" y="1373505"/>
            <a:ext cx="275847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Intention Condition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57986" y="1911668"/>
            <a:ext cx="2743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意图 / 语义特征 | 高成本后置判别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92465" y="24203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关键字段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92465" y="2744152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type: "intention"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92465" y="299180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property: include | exclude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92465" y="3239452"/>
            <a:ext cx="649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intent: {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44865" y="3487102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action: "...",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44865" y="3734752"/>
            <a:ext cx="10768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object: "..." }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92465" y="3982402"/>
            <a:ext cx="1755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intent_statement: "..."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92465" y="4230052"/>
            <a:ext cx="1391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aspect: functional |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44865" y="4477702"/>
            <a:ext cx="1615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non_functional | domain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92465" y="4725352"/>
            <a:ext cx="2413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non_functional_type: performance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44865" y="497300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| security | ... | null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292465" y="541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执行后端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92465" y="5696902"/>
            <a:ext cx="15808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Cluster Filter (粗粒度)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292465" y="5887402"/>
            <a:ext cx="17628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Embedding Filter (细粒度)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209550"/>
            <a:ext cx="770015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SemQL：从原子条件到逻辑组合查询计划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762000"/>
            <a:ext cx="5219700" cy="561975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762000"/>
            <a:ext cx="5219700" cy="457200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367591" y="888682"/>
            <a:ext cx="37037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Step 1: SemCon 抽取（LLM 驱动）</a:t>
            </a:r>
          </a:p>
        </p:txBody>
      </p:sp>
      <p:sp>
        <p:nvSpPr>
          <p:cNvPr id="7" name="Rectangle 7"/>
          <p:cNvSpPr/>
          <p:nvPr/>
        </p:nvSpPr>
        <p:spPr>
          <a:xfrm>
            <a:off x="838200" y="140970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77265" y="1410652"/>
            <a:ext cx="439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Query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360" y="1642110"/>
            <a:ext cx="3264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"Find the login function but not logout"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38200" y="2095500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38200" y="2095500"/>
            <a:ext cx="4762500" cy="342900"/>
          </a:xfrm>
          <a:prstGeom prst="roundRect">
            <a:avLst>
              <a:gd name="adj" fmla="val 22222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73455" y="2187892"/>
            <a:ext cx="29263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c1: Surface Condition (include)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8218" y="25426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"type": "surface",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218" y="2733199"/>
            <a:ext cx="35222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"keywords": ["login"], "match_kind": "code_element"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7265" y="2953702"/>
            <a:ext cx="1244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→ 匹配 login 函数名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476625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2B5CB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38200" y="3476625"/>
            <a:ext cx="4762500" cy="342900"/>
          </a:xfrm>
          <a:prstGeom prst="roundRect">
            <a:avLst>
              <a:gd name="adj" fmla="val 22222"/>
            </a:avLst>
          </a:prstGeom>
          <a:solidFill>
            <a:srgbClr val="12B5C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73455" y="3569018"/>
            <a:ext cx="29358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c2: Relation Condition (include)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8218" y="3923824"/>
            <a:ext cx="1285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"type": "relation",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218" y="4114324"/>
            <a:ext cx="21700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"code_element_type": "function"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7265" y="4334828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→ 限定目标为函数类型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38200" y="4857750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38200" y="4857750"/>
            <a:ext cx="4762500" cy="34290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73455" y="4950142"/>
            <a:ext cx="30870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c3: Intention Condition (exclude)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218" y="5304949"/>
            <a:ext cx="29046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"type": "intention", "property": "exclude",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218" y="5495449"/>
            <a:ext cx="155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"keywords": ["logout"]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7265" y="5715952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→ 排除 logout 相关代码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57900" y="762000"/>
            <a:ext cx="5524500" cy="561975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057900" y="762000"/>
            <a:ext cx="55245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F6FEB"/>
              </a:gs>
              <a:gs pos="100000">
                <a:srgbClr val="0B1F3A"/>
              </a:gs>
            </a:gsLst>
            <a:lin ang="5400000" scaled="1"/>
          </a:gra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14159" y="888682"/>
            <a:ext cx="42119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Step 2: SemQL 逻辑组合 (Agent/人工)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86500" y="1428750"/>
            <a:ext cx="5067300" cy="723900"/>
          </a:xfrm>
          <a:prstGeom prst="roundRect">
            <a:avLst>
              <a:gd name="adj" fmla="val 10526"/>
            </a:avLst>
          </a:prstGeom>
          <a:solidFill>
            <a:srgbClr val="0B1F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798689" y="1524952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2B5CB"/>
                </a:solidFill>
                <a:latin typeface="Consolas"/>
                <a:ea typeface="Microsoft YaHei"/>
                <a:cs typeface="Consolas"/>
              </a:rPr>
              <a:t>Logic: (c1 AND c2) AND NOT c3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14856" y="1854518"/>
            <a:ext cx="24105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匹配 login 函数，排除 logout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8005" y="24260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逻辑树结构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248650" y="2743200"/>
            <a:ext cx="571500" cy="3429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380543" y="2851785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AND</a:t>
            </a:r>
          </a:p>
        </p:txBody>
      </p:sp>
      <p:sp>
        <p:nvSpPr>
          <p:cNvPr id="37" name="Line 37"/>
          <p:cNvSpPr/>
          <p:nvPr/>
        </p:nvSpPr>
        <p:spPr>
          <a:xfrm>
            <a:off x="7905750" y="3086100"/>
            <a:ext cx="476250" cy="342900"/>
          </a:xfrm>
          <a:custGeom>
            <a:avLst/>
            <a:gdLst/>
            <a:ahLst/>
            <a:cxnLst/>
            <a:rect l="l" t="t" r="r" b="b"/>
            <a:pathLst>
              <a:path w="476250" h="342900">
                <a:moveTo>
                  <a:pt x="47625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1F6FEB"/>
            </a:solidFill>
          </a:ln>
        </p:spPr>
      </p:sp>
      <p:sp>
        <p:nvSpPr>
          <p:cNvPr id="38" name="Line 38"/>
          <p:cNvSpPr/>
          <p:nvPr/>
        </p:nvSpPr>
        <p:spPr>
          <a:xfrm>
            <a:off x="8534400" y="30861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1F6FEB"/>
            </a:solidFill>
          </a:ln>
        </p:spPr>
      </p:sp>
      <p:sp>
        <p:nvSpPr>
          <p:cNvPr id="39" name="Line 39"/>
          <p:cNvSpPr/>
          <p:nvPr/>
        </p:nvSpPr>
        <p:spPr>
          <a:xfrm>
            <a:off x="8858250" y="3086100"/>
            <a:ext cx="476250" cy="342900"/>
          </a:xfrm>
          <a:custGeom>
            <a:avLst/>
            <a:gdLst/>
            <a:ahLst/>
            <a:cxnLst/>
            <a:rect l="l" t="t" r="r" b="b"/>
            <a:pathLst>
              <a:path w="476250" h="342900">
                <a:moveTo>
                  <a:pt x="0" y="0"/>
                </a:moveTo>
                <a:lnTo>
                  <a:pt x="476250" y="342900"/>
                </a:lnTo>
              </a:path>
            </a:pathLst>
          </a:custGeom>
          <a:noFill/>
          <a:ln w="19050">
            <a:solidFill>
              <a:srgbClr val="1F6FE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7391400" y="3476625"/>
            <a:ext cx="1028700" cy="342900"/>
          </a:xfrm>
          <a:prstGeom prst="roundRect">
            <a:avLst>
              <a:gd name="adj" fmla="val 22222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45254" y="3575685"/>
            <a:ext cx="9209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c1: include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020050" y="3476625"/>
            <a:ext cx="1028700" cy="342900"/>
          </a:xfrm>
          <a:prstGeom prst="roundRect">
            <a:avLst>
              <a:gd name="adj" fmla="val 22222"/>
            </a:avLst>
          </a:prstGeom>
          <a:solidFill>
            <a:srgbClr val="12B5C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073904" y="3575685"/>
            <a:ext cx="9209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c2: include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048750" y="3476625"/>
            <a:ext cx="57150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185173" y="3591878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NOT</a:t>
            </a:r>
          </a:p>
        </p:txBody>
      </p:sp>
      <p:sp>
        <p:nvSpPr>
          <p:cNvPr id="46" name="Line 46"/>
          <p:cNvSpPr/>
          <p:nvPr/>
        </p:nvSpPr>
        <p:spPr>
          <a:xfrm>
            <a:off x="9334500" y="381952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DC2626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820150" y="4200525"/>
            <a:ext cx="1028700" cy="34290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853002" y="4299585"/>
            <a:ext cx="962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c3: exclude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69355" y="48834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输出结构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286500" y="5181600"/>
            <a:ext cx="5067300" cy="1104900"/>
          </a:xfrm>
          <a:prstGeom prst="roundRect">
            <a:avLst>
              <a:gd name="adj" fmla="val 6897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445568" y="5304949"/>
            <a:ext cx="40357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F172A"/>
                </a:solidFill>
                <a:latin typeface="Consolas"/>
                <a:ea typeface="Microsoft YaHei"/>
                <a:cs typeface="Consolas"/>
              </a:rPr>
              <a:t>semCon.json (LLM 抽取) → semQL.json (按 include/exclude 组织)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445568" y="5552599"/>
            <a:ext cx="44453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输出至 output/{project}/semCon.json, output/{project}/semQL.json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45568" y="5800249"/>
            <a:ext cx="2618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Consolas"/>
                <a:ea typeface="Microsoft YaHei"/>
                <a:cs typeface="Consolas"/>
              </a:rPr>
              <a:t>后续由优化器 (RBO/CBO) 动态规划执行顺序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445568" y="6047899"/>
            <a:ext cx="46533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实现: query_processing/llm_semCon_extractor.py + semQL_composer.py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2B5CB"/>
              </a:gs>
            </a:gsLst>
            <a:lin ang="189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-952500"/>
            <a:ext cx="3429000" cy="3429000"/>
          </a:xfrm>
          <a:prstGeom prst="ellipse">
            <a:avLst/>
          </a:prstGeom>
          <a:solidFill>
            <a:srgbClr val="1F6FEB">
              <a:alpha val="1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90500" y="4381500"/>
            <a:ext cx="2667000" cy="2667000"/>
          </a:xfrm>
          <a:prstGeom prst="ellipse">
            <a:avLst/>
          </a:prstGeom>
          <a:solidFill>
            <a:srgbClr val="12B5CB">
              <a:alpha val="6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99160" y="1356360"/>
            <a:ext cx="43012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400" y="148590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方法流程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3429000"/>
            <a:ext cx="38100" cy="20955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26820" y="3931920"/>
            <a:ext cx="678180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从自然语言到带证据代码子图的端到端执行架构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0" y="4549140"/>
            <a:ext cx="113151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Query Compiler → Query Optimizer (RBO/CBO) → Executor → Bundle Generator → Grouped Reranker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8250" y="5038725"/>
            <a:ext cx="625887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五阶段流水线，按 Surface → Relation → Intention 代价递增顺序执行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5310" y="203835"/>
            <a:ext cx="105404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端到端流程：NL → SemCon → SemQL → 分层执行 → Bundle 输出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68580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0B1F3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352189" y="825818"/>
            <a:ext cx="54876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Natural Language Query → Final Results（带证据的分层输出）</a:t>
            </a:r>
          </a:p>
        </p:txBody>
      </p:sp>
      <p:sp>
        <p:nvSpPr>
          <p:cNvPr id="6" name="Polygon 6"/>
          <p:cNvSpPr/>
          <p:nvPr/>
        </p:nvSpPr>
        <p:spPr>
          <a:xfrm>
            <a:off x="6038850" y="1123950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57150" y="571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6096000" y="116205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F6F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9600" y="133350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1333500"/>
            <a:ext cx="76200" cy="819150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6295" y="1441132"/>
            <a:ext cx="17399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Query Compiler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355" y="1473518"/>
            <a:ext cx="18435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NL → SemCon → SemQL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1783556"/>
            <a:ext cx="57817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LLM 驱动 SemCon 抽取（Surface / Relation / Intention）→ Agent/人工组织 SemQL</a:t>
            </a:r>
          </a:p>
        </p:txBody>
      </p:sp>
      <p:sp>
        <p:nvSpPr>
          <p:cNvPr id="13" name="Polygon 13"/>
          <p:cNvSpPr/>
          <p:nvPr/>
        </p:nvSpPr>
        <p:spPr>
          <a:xfrm>
            <a:off x="6038850" y="2152650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57150" y="571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6096000" y="219075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2B5C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9600" y="236220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9050">
            <a:solidFill>
              <a:srgbClr val="12B5CB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09600" y="2362200"/>
            <a:ext cx="76200" cy="819150"/>
          </a:xfrm>
          <a:prstGeom prst="roundRect">
            <a:avLst>
              <a:gd name="adj" fmla="val 25000"/>
            </a:avLst>
          </a:prstGeom>
          <a:solidFill>
            <a:srgbClr val="12B5C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295" y="2469832"/>
            <a:ext cx="32185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Query Optimizer (RBO/CBO)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962" y="2812256"/>
            <a:ext cx="7544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RBO = Rule-Based Optimizer 规则优化器：Intention-Last / Surface-First / Dangling Ban / NOT-Pushdown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31355" y="2502218"/>
            <a:ext cx="20415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逻辑计划 → 物理执行计划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34212" y="2812256"/>
            <a:ext cx="45441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CBO = Cost-Based Optimizer 代价优化器：选择性优先 · 动态截断</a:t>
            </a:r>
          </a:p>
        </p:txBody>
      </p:sp>
      <p:sp>
        <p:nvSpPr>
          <p:cNvPr id="21" name="Polygon 21"/>
          <p:cNvSpPr/>
          <p:nvPr/>
        </p:nvSpPr>
        <p:spPr>
          <a:xfrm>
            <a:off x="6038850" y="3181350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57150" y="571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6096000" y="321945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F6FE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09600" y="3390900"/>
            <a:ext cx="1097280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09600" y="3390900"/>
            <a:ext cx="76200" cy="1866900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6295" y="3498532"/>
            <a:ext cx="29066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Executor（三级执行引擎）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57250" y="3829050"/>
            <a:ext cx="3333750" cy="114300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91545" y="3947160"/>
            <a:ext cx="22651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Stage 1: Surface Execution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2375" y="4200049"/>
            <a:ext cx="1903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exact search · inverted index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51147" y="4390549"/>
            <a:ext cx="1545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ngram · term embedding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20169" y="4638199"/>
            <a:ext cx="1207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&lt; 200ms 快速高召回</a:t>
            </a:r>
          </a:p>
        </p:txBody>
      </p:sp>
      <p:sp>
        <p:nvSpPr>
          <p:cNvPr id="31" name="Polygon 31"/>
          <p:cNvSpPr/>
          <p:nvPr/>
        </p:nvSpPr>
        <p:spPr>
          <a:xfrm>
            <a:off x="4267200" y="4324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lnTo>
                  <a:pt x="57150" y="0"/>
                </a:lnTo>
                <a:lnTo>
                  <a:pt x="133350" y="76200"/>
                </a:lnTo>
                <a:lnTo>
                  <a:pt x="57150" y="152400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540568" y="4352449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≈ 8,000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667250" y="38290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102095" y="3947160"/>
            <a:ext cx="2273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Stage 2: Relation Execution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87888" y="42000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rule filter · LSP call graph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400889" y="4390549"/>
            <a:ext cx="16759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BFS/DFS · CodeQL fallback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65897" y="4638199"/>
            <a:ext cx="1545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&lt; 10ms ~ 秒级 (Tier 1→3)</a:t>
            </a:r>
          </a:p>
        </p:txBody>
      </p:sp>
      <p:sp>
        <p:nvSpPr>
          <p:cNvPr id="38" name="Polygon 38"/>
          <p:cNvSpPr/>
          <p:nvPr/>
        </p:nvSpPr>
        <p:spPr>
          <a:xfrm>
            <a:off x="7886700" y="4324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lnTo>
                  <a:pt x="57150" y="0"/>
                </a:lnTo>
                <a:lnTo>
                  <a:pt x="133350" y="76200"/>
                </a:lnTo>
                <a:lnTo>
                  <a:pt x="57150" y="152400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60068" y="4352449"/>
            <a:ext cx="3498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≈ 400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286750" y="38290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675389" y="3947160"/>
            <a:ext cx="23659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Stage 3: Intention Execution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15614" y="42000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Cluster Filter · Embedding Filter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32428" y="4390549"/>
            <a:ext cx="1051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LLM-as-a-Judge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244667" y="4638199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&lt; 3s 高成本后置判别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0173" y="4828699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→ 约 15 个最终候选</a:t>
            </a:r>
          </a:p>
        </p:txBody>
      </p:sp>
      <p:sp>
        <p:nvSpPr>
          <p:cNvPr id="46" name="Polygon 46"/>
          <p:cNvSpPr/>
          <p:nvPr/>
        </p:nvSpPr>
        <p:spPr>
          <a:xfrm>
            <a:off x="6038850" y="5257800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57150" y="571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47" name="Line 47"/>
          <p:cNvSpPr/>
          <p:nvPr/>
        </p:nvSpPr>
        <p:spPr>
          <a:xfrm>
            <a:off x="6096000" y="52959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1F6FEB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" y="5486400"/>
            <a:ext cx="53340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09600" y="5486400"/>
            <a:ext cx="76200" cy="609600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38200" y="5591175"/>
            <a:ext cx="17813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Bundle Generator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32760" y="5623560"/>
            <a:ext cx="2958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候选节点 → 代码子图 (Context Bundles)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2962" y="5860256"/>
            <a:ext cx="47316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通过 direct_caller / callee / same_class / same_file 合并关联节点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248400" y="5486400"/>
            <a:ext cx="53340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2B5CB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6248400" y="5486400"/>
            <a:ext cx="76200" cy="609600"/>
          </a:xfrm>
          <a:prstGeom prst="roundRect">
            <a:avLst>
              <a:gd name="adj" fmla="val 25000"/>
            </a:avLst>
          </a:prstGeom>
          <a:solidFill>
            <a:srgbClr val="12B5C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477000" y="5591175"/>
            <a:ext cx="18338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Grouped Reranker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57260" y="5623560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Bundle 协同评分与重排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481762" y="5860256"/>
            <a:ext cx="36365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BundleScore = mean(score_i) + α × synergy_bonus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6A34A"/>
              </a:gs>
            </a:gsLst>
            <a:lin ang="189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953500" y="-952500"/>
            <a:ext cx="3810000" cy="3810000"/>
          </a:xfrm>
          <a:prstGeom prst="ellipse">
            <a:avLst/>
          </a:prstGeom>
          <a:solidFill>
            <a:srgbClr val="12B5CB">
              <a:alpha val="1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85750" y="4476750"/>
            <a:ext cx="2476500" cy="2476500"/>
          </a:xfrm>
          <a:prstGeom prst="ellipse">
            <a:avLst/>
          </a:prstGeom>
          <a:solidFill>
            <a:srgbClr val="16A34A">
              <a:alpha val="6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99160" y="1356360"/>
            <a:ext cx="43012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400" y="1485900"/>
            <a:ext cx="21764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实验与评测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3429000"/>
            <a:ext cx="38100" cy="2095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26820" y="3931920"/>
            <a:ext cx="71978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检索质量、执行效率与 Benchmarks 的系统化验证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0" y="4549140"/>
            <a:ext cx="639451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Recall@K · Precision@K · MRR · nDCG@K · Bundle Hit Rate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8250" y="5038725"/>
            <a:ext cx="55187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SWE-bench · CodeSearchNet · 内部 Agent 任务 Benchmark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209550"/>
            <a:ext cx="25965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评测指标体系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762000"/>
            <a:ext cx="5410200" cy="266700"/>
          </a:xfrm>
          <a:prstGeom prst="roundRect">
            <a:avLst>
              <a:gd name="adj" fmla="val 21429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730484" y="8067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检索质量指标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123950"/>
            <a:ext cx="54102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1055" y="1187768"/>
            <a:ext cx="7714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Recall@K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68855" y="118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前 K 个结果覆盖真实答案的比率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4865" y="1429702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衡量召回能力 — 能否找到所有相关代码元素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" y="1695450"/>
            <a:ext cx="54102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21055" y="1787842"/>
            <a:ext cx="10833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Precision@K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68855" y="1787842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前 K 个结果中真实答案的比率 — 衡量精度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2133600"/>
            <a:ext cx="54102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21055" y="2225992"/>
            <a:ext cx="3839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MRR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68855" y="2225992"/>
            <a:ext cx="45978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第一个正确结果位置的倒数均值 — Mean Reciprocal Rank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" y="2571750"/>
            <a:ext cx="54102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21055" y="2664142"/>
            <a:ext cx="658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nDCG@K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68855" y="2664142"/>
            <a:ext cx="27346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考虑结果位置权重的排序质量指标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09600" y="3009900"/>
            <a:ext cx="54102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21055" y="3102292"/>
            <a:ext cx="15559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Bundle Relevance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68855" y="3102292"/>
            <a:ext cx="45168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Bundle 内所有节点对 Query 的平均相关性（人工标注）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3448050"/>
            <a:ext cx="54102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1055" y="3540442"/>
            <a:ext cx="14047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Bundle Hit Rate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68855" y="3540442"/>
            <a:ext cx="43008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正确 Bundle（含全部必要节点）出现在 Top-K 的比率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762000"/>
            <a:ext cx="5295900" cy="266700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50234" y="8067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执行效率指标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1123950"/>
            <a:ext cx="52959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497955" y="1187768"/>
            <a:ext cx="18772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P50 / P99 端到端延迟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55355" y="1187768"/>
            <a:ext cx="14654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Surface &lt; 200ms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01765" y="1429702"/>
            <a:ext cx="14688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含 Intention 阶段 &lt; 3s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86500" y="1695450"/>
            <a:ext cx="52959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497955" y="1787842"/>
            <a:ext cx="18772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Intention 命中缓存率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55355" y="1787842"/>
            <a:ext cx="19605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&gt; 60%（重复查询场景）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286500" y="2133600"/>
            <a:ext cx="52959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497955" y="2225992"/>
            <a:ext cx="20001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LLM API 调用次数/查询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55355" y="2225992"/>
            <a:ext cx="17535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大型项目平均 &lt; 50 次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286500" y="2571750"/>
            <a:ext cx="52959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497955" y="26355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候选集截断率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55355" y="2635568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Intention 阶段候选 &lt; 100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01765" y="2877502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大型项目 &lt; 0.2% 全库代码元素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9600" y="3962400"/>
            <a:ext cx="10972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09600" y="3962400"/>
            <a:ext cx="10972800" cy="3810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1F6FEB"/>
              </a:gs>
              <a:gs pos="100000">
                <a:srgbClr val="12B5CB"/>
              </a:gs>
            </a:gsLst>
            <a:lin ang="2700000" scaled="1"/>
          </a:gra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189589" y="4048125"/>
            <a:ext cx="18128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Benchmark 数据集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9150" y="4467225"/>
            <a:ext cx="11197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6FEB"/>
                </a:solidFill>
                <a:latin typeface="Arial"/>
                <a:ea typeface="Microsoft YaHei"/>
                <a:cs typeface="Arial"/>
              </a:rPr>
              <a:t>SWE-bench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2960" y="4785360"/>
            <a:ext cx="36789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从 GitHub Issue 到代码定位，天然 Agent 检索场景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62450" y="4467225"/>
            <a:ext cx="1539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2B5CB"/>
                </a:solidFill>
                <a:latin typeface="Arial"/>
                <a:ea typeface="Microsoft YaHei"/>
                <a:cs typeface="Arial"/>
              </a:rPr>
              <a:t>CodeSearchNet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66260" y="478536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标准代码语义搜索基准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172450" y="4467225"/>
            <a:ext cx="2243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内部 Agent Benchmark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76260" y="4785360"/>
            <a:ext cx="3438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从真实 Agent 任务收集 NL Query 与正确代码对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2960" y="5204460"/>
            <a:ext cx="64312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通过消融实验验证各执行阶段 (Surface / Relation / Intention / Bundle Rerank) 的贡献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209550"/>
            <a:ext cx="301656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与传统方案对比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676275"/>
            <a:ext cx="6318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SemQL 2.0 将多类检索能力组织成可执行、可优化、可解释的查询系统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" y="1047750"/>
            <a:ext cx="1905000" cy="41910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0B1F3A"/>
              </a:gs>
              <a:gs pos="100000">
                <a:srgbClr val="1F6FEB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590800" y="1047750"/>
            <a:ext cx="1600200" cy="419100"/>
          </a:xfrm>
          <a:prstGeom prst="roundRect">
            <a:avLst>
              <a:gd name="adj" fmla="val 13636"/>
            </a:avLst>
          </a:prstGeom>
          <a:solidFill>
            <a:srgbClr val="64748B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4267200" y="1047750"/>
            <a:ext cx="1809750" cy="419100"/>
          </a:xfrm>
          <a:prstGeom prst="roundRect">
            <a:avLst>
              <a:gd name="adj" fmla="val 13636"/>
            </a:avLst>
          </a:prstGeom>
          <a:solidFill>
            <a:srgbClr val="64748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153150" y="1047750"/>
            <a:ext cx="5429250" cy="419100"/>
          </a:xfrm>
          <a:prstGeom prst="roundRect">
            <a:avLst>
              <a:gd name="adj" fmla="val 13636"/>
            </a:avLst>
          </a:prstGeom>
          <a:solidFill>
            <a:srgbClr val="1F6F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66908" y="1187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检索能力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65829" y="1187768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Grep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54780" y="1187768"/>
            <a:ext cx="12345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Dense Search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68620" y="1187768"/>
            <a:ext cx="9983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SemQL 2.0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1543050"/>
            <a:ext cx="1905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590800" y="1543050"/>
            <a:ext cx="16002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67200" y="15430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153150" y="1543050"/>
            <a:ext cx="5429250" cy="952500"/>
          </a:xfrm>
          <a:prstGeom prst="rect">
            <a:avLst/>
          </a:prstGeom>
          <a:solidFill>
            <a:srgbClr val="EAF1F8"/>
          </a:solidFill>
          <a:ln w="19050">
            <a:solidFill>
              <a:srgbClr val="1F6FE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7884" y="17211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语义等价召回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8704" y="20774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名称不含关键词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09437" y="1841182"/>
            <a:ext cx="162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7952" y="1857375"/>
            <a:ext cx="12082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△ 排名不稳定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6312" y="1726882"/>
            <a:ext cx="162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87282" y="2172652"/>
            <a:ext cx="25609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term_embed 膨胀 + Intention 后置验证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" y="2571750"/>
            <a:ext cx="1905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590800" y="2571750"/>
            <a:ext cx="1600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267200" y="2571750"/>
            <a:ext cx="18097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53150" y="2571750"/>
            <a:ext cx="5429250" cy="838200"/>
          </a:xfrm>
          <a:prstGeom prst="rect">
            <a:avLst/>
          </a:prstGeom>
          <a:solidFill>
            <a:srgbClr val="EAF1F8"/>
          </a:solidFill>
          <a:ln w="19050">
            <a:solidFill>
              <a:srgbClr val="1F6F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7884" y="28070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硬性排除约束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11185" y="2845118"/>
            <a:ext cx="11594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需手动加 -v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18375" y="28451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无法保证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86312" y="2698432"/>
            <a:ext cx="162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71767" y="3087052"/>
            <a:ext cx="27920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exclude property + NOT-Pushdown 硬过滤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3486150"/>
            <a:ext cx="1905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2590800" y="3486150"/>
            <a:ext cx="1600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4267200" y="3486150"/>
            <a:ext cx="18097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153150" y="3486150"/>
            <a:ext cx="5429250" cy="838200"/>
          </a:xfrm>
          <a:prstGeom prst="rect">
            <a:avLst/>
          </a:prstGeom>
          <a:solidFill>
            <a:srgbClr val="EAF1F8"/>
          </a:solidFill>
          <a:ln w="19050">
            <a:solidFill>
              <a:srgbClr val="1F6F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83372" y="37214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调用图距离约束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37200" y="37595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无法表达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18375" y="37595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无法表达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86312" y="3612832"/>
            <a:ext cx="162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01283" y="4001452"/>
            <a:ext cx="25329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graph_constraint (BFS/DFS, &lt; 10ms)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9600" y="4400550"/>
            <a:ext cx="1905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2590800" y="4400550"/>
            <a:ext cx="1600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267200" y="4400550"/>
            <a:ext cx="18097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153150" y="4400550"/>
            <a:ext cx="5429250" cy="838200"/>
          </a:xfrm>
          <a:prstGeom prst="rect">
            <a:avLst/>
          </a:prstGeom>
          <a:solidFill>
            <a:srgbClr val="EAF1F8"/>
          </a:solidFill>
          <a:ln w="19050">
            <a:solidFill>
              <a:srgbClr val="1F6FE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88860" y="463581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关联节点整体返回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37200" y="46739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各自独立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18375" y="46739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各自独立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86312" y="4527232"/>
            <a:ext cx="162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17273" y="4915852"/>
            <a:ext cx="2701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Bundle 协同评分 (direct_caller / callee)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5314950"/>
            <a:ext cx="1905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2590800" y="5314950"/>
            <a:ext cx="1600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4267200" y="5314950"/>
            <a:ext cx="18097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153150" y="5314950"/>
            <a:ext cx="5429250" cy="838200"/>
          </a:xfrm>
          <a:prstGeom prst="rect">
            <a:avLst/>
          </a:prstGeom>
          <a:solidFill>
            <a:srgbClr val="EAF1F8"/>
          </a:solidFill>
          <a:ln w="19050">
            <a:solidFill>
              <a:srgbClr val="1F6FE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77884" y="55502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结果可解释性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193732" y="5588318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行号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04874" y="558831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余弦相似度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786312" y="5441632"/>
            <a:ext cx="162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901196" y="5830252"/>
            <a:ext cx="3933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多维证据 (surface + relation + intention) + LLM reasoning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" y="6286500"/>
            <a:ext cx="10972800" cy="323850"/>
          </a:xfrm>
          <a:prstGeom prst="roundRect">
            <a:avLst>
              <a:gd name="adj" fmla="val 17647"/>
            </a:avLst>
          </a:prstGeom>
          <a:solidFill>
            <a:srgbClr val="0B1F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2905163" y="6385560"/>
            <a:ext cx="63816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语义判别代价受控：前置过滤后候选集 &lt; 100（大型项目 &lt; 0.2% 全库代码元素）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133350"/>
            <a:ext cx="406669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Placeholder Slide 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740" y="7581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保留原有内容，本次未做修改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1138" y="65379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2026-06-12T18:58:41Z</dcterms:created>
  <dcterms:modified xsi:type="dcterms:W3CDTF">2026-06-12T18:58:41Z</dcterms:modified>
  <cp:category/>
  <cp:contentStatus/>
</cp:coreProperties>
</file>