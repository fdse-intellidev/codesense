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本次汇报介绍一个面向 Agent Query 的代码搜索框架，目标是在真实工程中同时实现高召回与高精度。我们的方法从 query 结构化开始，经过多路检索、过滤与双阶段重排，最终输出可解释的高质量结果。今天重点放在整体方法链路和关键设计动机。</a:t>
            </a:r>
            <a:endParaRPr lang="zh-CN" dirty="0"/>
          </a:p>
          <a:p>
            <a:r>
              <a:rPr lang="zh-CN" dirty="0"/>
              <a:t>要点：① 任务目标与场景 ② 方法主链路 ③ 汇报结构</a:t>
            </a:r>
            <a:endParaRPr lang="zh-CN" dirty="0"/>
          </a:p>
          <a:p>
            <a:r>
              <a:rPr lang="zh-CN" dirty="0"/>
              <a:t>时长：1分钟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grep</a:t>
            </a:r>
            <a:r>
              <a:rPr lang="zh-CN" altLang="en-US" dirty="0"/>
              <a:t>正则如果是直接对代码仓内文件做，那会有很多匹配结果，可能还是要大模型逐步筛选分析，耗时耗</a:t>
            </a:r>
            <a:r>
              <a:rPr lang="en-US" altLang="zh-CN" dirty="0"/>
              <a:t>token</a:t>
            </a:r>
            <a:r>
              <a:rPr lang="zh-CN" altLang="en-US" dirty="0"/>
              <a:t>，与现在</a:t>
            </a:r>
            <a:r>
              <a:rPr lang="en-US" altLang="zh-CN" dirty="0"/>
              <a:t>agent</a:t>
            </a:r>
            <a:r>
              <a:rPr lang="zh-CN" altLang="en-US" dirty="0"/>
              <a:t>的代码搜索的问题一样，如果对解析好的代码元素名做，那么对名字这种短字段做正则不如直接把对代码元素</a:t>
            </a:r>
            <a:r>
              <a:rPr lang="en-US" altLang="zh-CN" dirty="0"/>
              <a:t>ngram</a:t>
            </a:r>
            <a:r>
              <a:rPr lang="zh-CN" altLang="en-US" dirty="0"/>
              <a:t>切分后的子词当作倒排索引定位相关</a:t>
            </a:r>
            <a:r>
              <a:rPr lang="zh-CN" altLang="en-US" dirty="0"/>
              <a:t>代码元素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将 single 与 group 两层信息融合后，得到最终排序分数。</a:t>
            </a:r>
            <a:endParaRPr lang="zh-CN" dirty="0"/>
          </a:p>
          <a:p>
            <a:r>
              <a:rPr lang="zh-CN" dirty="0"/>
              <a:t>我们使用可调权重融合多类信号，并可依据 query 类型动态调整。这样既保留单点语义匹配能力，也能吸收关系结构带来的全局信息。</a:t>
            </a:r>
            <a:endParaRPr lang="zh-CN" dirty="0"/>
          </a:p>
          <a:p>
            <a:r>
              <a:rPr lang="zh-CN" dirty="0"/>
              <a:t>要点：① 融合公式 ② 动态权重 ③ 全局相关性提升</a:t>
            </a:r>
            <a:endParaRPr lang="zh-CN" dirty="0"/>
          </a:p>
          <a:p>
            <a:r>
              <a:rPr lang="zh-CN" dirty="0"/>
              <a:t>时长：1.2分钟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接下来通过一个 disk + readahead 的实际查询看全链路效果。</a:t>
            </a:r>
            <a:endParaRPr lang="zh-CN" dirty="0"/>
          </a:p>
          <a:p>
            <a:r>
              <a:rPr lang="zh-CN" dirty="0"/>
              <a:t>从 1200+ 高召回候选经过过滤与重排收敛到可解释的 Top-K 结果。案例中 malloc_disk 的上升体现了 group rerank 的价值，即结构关系能纠正单点评分偏差。</a:t>
            </a:r>
            <a:endParaRPr lang="zh-CN" dirty="0"/>
          </a:p>
          <a:p>
            <a:r>
              <a:rPr lang="zh-CN" dirty="0"/>
              <a:t>要点：① 候选收敛轨迹 ② Top 结果解释 ③ group 增益示例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综合来看，这套框架在四个维度上形成优势。</a:t>
            </a:r>
            <a:endParaRPr lang="zh-CN" dirty="0"/>
          </a:p>
          <a:p>
            <a:r>
              <a:rPr lang="zh-CN" dirty="0"/>
              <a:t>一是召回提升，二是精度提升，三是可解释性增强，四是工程扩展性强。模块化设计允许增量接入新 filter、新 ranker 以及新的结构特征。</a:t>
            </a:r>
            <a:endParaRPr lang="zh-CN" dirty="0"/>
          </a:p>
          <a:p>
            <a:r>
              <a:rPr lang="zh-CN" dirty="0"/>
              <a:t>要点：① Recall ② Precision ③ Explainability ④ Extensibility</a:t>
            </a:r>
            <a:endParaRPr lang="zh-CN" dirty="0"/>
          </a:p>
          <a:p>
            <a:r>
              <a:rPr lang="zh-CN" dirty="0"/>
              <a:t>时长：1.2分钟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最后做一个简短总结。</a:t>
            </a:r>
            <a:endParaRPr lang="zh-CN" dirty="0"/>
          </a:p>
          <a:p>
            <a:r>
              <a:rPr lang="zh-CN" dirty="0"/>
              <a:t>我们通过 DSL 驱动、检索增强、过滤与双阶段重排，构建了适配 Agent Query 的代码搜索方案。后续可进一步探索在线反馈学习、跨仓库检索与端到端重排训练。感谢大家，欢迎交流问题。</a:t>
            </a:r>
            <a:endParaRPr lang="zh-CN" dirty="0"/>
          </a:p>
          <a:p>
            <a:r>
              <a:rPr lang="zh-CN" dirty="0"/>
              <a:t>要点：① 方法总结 ② 未来工作 ③ Q&amp;A</a:t>
            </a:r>
            <a:endParaRPr lang="zh-CN" dirty="0"/>
          </a:p>
          <a:p>
            <a:r>
              <a:rPr lang="zh-CN" dirty="0"/>
              <a:t>时长：1分钟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0955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F6FEB"/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-857250"/>
            <a:ext cx="3429000" cy="3429000"/>
          </a:xfrm>
          <a:prstGeom prst="ellipse">
            <a:avLst/>
          </a:prstGeom>
          <a:solidFill>
            <a:srgbClr val="12B5CB">
              <a:alpha val="22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2667000"/>
            <a:ext cx="10972800" cy="2667000"/>
          </a:xfrm>
          <a:custGeom>
            <a:avLst/>
            <a:gdLst/>
            <a:ahLst/>
            <a:cxnLst/>
            <a:rect l="l" t="t" r="r" b="b"/>
            <a:pathLst>
              <a:path w="10972800" h="2667000">
                <a:moveTo>
                  <a:pt x="190500" y="0"/>
                </a:moveTo>
                <a:lnTo>
                  <a:pt x="10782300" y="0"/>
                </a:lnTo>
                <a:cubicBezTo>
                  <a:pt x="10887510" y="0"/>
                  <a:pt x="10972800" y="85290"/>
                  <a:pt x="10972800" y="190500"/>
                </a:cubicBezTo>
                <a:lnTo>
                  <a:pt x="10972800" y="2476500"/>
                </a:lnTo>
                <a:cubicBezTo>
                  <a:pt x="10972800" y="2581710"/>
                  <a:pt x="10887510" y="2667000"/>
                  <a:pt x="10782300" y="2667000"/>
                </a:cubicBezTo>
                <a:lnTo>
                  <a:pt x="190500" y="2667000"/>
                </a:lnTo>
                <a:cubicBezTo>
                  <a:pt x="85290" y="2667000"/>
                  <a:pt x="0" y="2581710"/>
                  <a:pt x="0" y="2476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609600" y="2667000"/>
            <a:ext cx="76200" cy="26670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9630" y="2973705"/>
            <a:ext cx="15536866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面向 Agent Query 的高效精准 Code Search</a:t>
            </a:r>
            <a:endParaRPr lang="zh-CN" sz="5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85825" y="3852862"/>
            <a:ext cx="464129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DSL 驱动检索与多阶段重排框架</a:t>
            </a:r>
            <a:endParaRPr lang="zh-CN" sz="22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1540" y="4491990"/>
            <a:ext cx="56584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CodeSearch Project | Academic Report | 2026</a:t>
            </a:r>
            <a:endParaRPr lang="zh-CN" sz="18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609600" y="5810250"/>
            <a:ext cx="4000500" cy="266700"/>
          </a:xfrm>
          <a:prstGeom prst="rect">
            <a:avLst/>
          </a:prstGeom>
          <a:gradFill>
            <a:gsLst>
              <a:gs pos="0">
                <a:srgbClr val="1F6FEB">
                  <a:alpha val="18000"/>
                </a:srgbClr>
              </a:gs>
              <a:gs pos="100000">
                <a:srgbClr val="12B5CB">
                  <a:alpha val="18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01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773684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为什么</a:t>
            </a:r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现阶段代码检索难以满足 Agent Query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3143250" cy="4667250"/>
          </a:xfrm>
          <a:custGeom>
            <a:avLst/>
            <a:gdLst/>
            <a:ahLst/>
            <a:cxnLst/>
            <a:rect l="l" t="t" r="r" b="b"/>
            <a:pathLst>
              <a:path w="3143250" h="4667250">
                <a:moveTo>
                  <a:pt x="133350" y="0"/>
                </a:moveTo>
                <a:lnTo>
                  <a:pt x="3009900" y="0"/>
                </a:lnTo>
                <a:cubicBezTo>
                  <a:pt x="3083547" y="0"/>
                  <a:pt x="3143250" y="59703"/>
                  <a:pt x="3143250" y="133350"/>
                </a:cubicBezTo>
                <a:lnTo>
                  <a:pt x="3143250" y="4533900"/>
                </a:lnTo>
                <a:cubicBezTo>
                  <a:pt x="3143250" y="4607547"/>
                  <a:pt x="3083547" y="4667250"/>
                  <a:pt x="3009900" y="4667250"/>
                </a:cubicBezTo>
                <a:lnTo>
                  <a:pt x="133350" y="4667250"/>
                </a:lnTo>
                <a:cubicBezTo>
                  <a:pt x="59703" y="4667250"/>
                  <a:pt x="0" y="4607547"/>
                  <a:pt x="0" y="453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5825" y="17954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问题定义</a:t>
            </a:r>
            <a:endParaRPr lang="zh-CN" sz="225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1540" y="2358390"/>
            <a:ext cx="354215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Agent Query 不仅有关键词，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1540" y="2701290"/>
            <a:ext cx="2674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还包含隐式类型约束、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1540" y="30441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语义关系与上下文偏好。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095750" y="1333500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352925" y="1662112"/>
            <a:ext cx="61299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1：语义复杂，关键词直搜召回不足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62450" y="2085975"/>
            <a:ext cx="5953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自然语言表达的目标对象、模块范围、关系条件难以一次命中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4095750" y="3000375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352925" y="3328988"/>
            <a:ext cx="656121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2：候选噪声高，精度与可解释性不足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62450" y="3752850"/>
            <a:ext cx="53178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缺少结构化过滤与语义验证会引入大量“看似相关”结果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4095750" y="4667250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52925" y="4995862"/>
            <a:ext cx="656121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3：仅看单点相关，忽略调用链组关系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62450" y="5419725"/>
            <a:ext cx="5734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单元素得分高不等于任务相关高，关系上下文必须纳入排序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02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1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22" name="TextBox 4"/>
          <p:cNvSpPr txBox="1"/>
          <p:nvPr/>
        </p:nvSpPr>
        <p:spPr>
          <a:xfrm>
            <a:off x="571500" y="228600"/>
            <a:ext cx="614895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SemQL as Pipeline Contract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TextBox 5"/>
          <p:cNvSpPr txBox="1"/>
          <p:nvPr/>
        </p:nvSpPr>
        <p:spPr>
          <a:xfrm>
            <a:off x="594360" y="689610"/>
            <a:ext cx="51981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把自然语言整理成结构化、高信息量 schema；后续检索、过滤、重排消费QL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4" name="Freeform 6"/>
          <p:cNvSpPr/>
          <p:nvPr/>
        </p:nvSpPr>
        <p:spPr>
          <a:xfrm>
            <a:off x="609600" y="1295400"/>
            <a:ext cx="1866900" cy="1047750"/>
          </a:xfrm>
          <a:custGeom>
            <a:avLst/>
            <a:gdLst/>
            <a:ahLst/>
            <a:cxnLst/>
            <a:rect l="l" t="t" r="r" b="b"/>
            <a:pathLst>
              <a:path w="1866900" h="1047750">
                <a:moveTo>
                  <a:pt x="114300" y="0"/>
                </a:moveTo>
                <a:lnTo>
                  <a:pt x="1752600" y="0"/>
                </a:lnTo>
                <a:cubicBezTo>
                  <a:pt x="1815726" y="0"/>
                  <a:pt x="1866900" y="51174"/>
                  <a:pt x="1866900" y="114300"/>
                </a:cubicBezTo>
                <a:lnTo>
                  <a:pt x="1866900" y="933450"/>
                </a:lnTo>
                <a:cubicBezTo>
                  <a:pt x="1866900" y="996576"/>
                  <a:pt x="1815726" y="1047750"/>
                  <a:pt x="17526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25" name="TextBox 7"/>
          <p:cNvSpPr txBox="1"/>
          <p:nvPr/>
        </p:nvSpPr>
        <p:spPr>
          <a:xfrm>
            <a:off x="519565" y="1501140"/>
            <a:ext cx="20469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rPr>
              <a:t>自然语言 Query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725996" y="1899285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2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functions that add</a:t>
            </a:r>
            <a:endParaRPr lang="zh-CN" sz="12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7" name="TextBox 9"/>
          <p:cNvSpPr txBox="1"/>
          <p:nvPr/>
        </p:nvSpPr>
        <p:spPr>
          <a:xfrm>
            <a:off x="923163" y="2118360"/>
            <a:ext cx="12397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2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user accounts</a:t>
            </a:r>
            <a:endParaRPr lang="zh-CN" sz="12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8" name="Polygon 10"/>
          <p:cNvSpPr/>
          <p:nvPr/>
        </p:nvSpPr>
        <p:spPr>
          <a:xfrm>
            <a:off x="2724150" y="161925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123825"/>
                </a:moveTo>
                <a:lnTo>
                  <a:pt x="476250" y="123825"/>
                </a:lnTo>
                <a:lnTo>
                  <a:pt x="476250" y="0"/>
                </a:lnTo>
                <a:lnTo>
                  <a:pt x="762000" y="285750"/>
                </a:lnTo>
                <a:lnTo>
                  <a:pt x="476250" y="571500"/>
                </a:lnTo>
                <a:lnTo>
                  <a:pt x="476250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9" name="Freeform 11"/>
          <p:cNvSpPr/>
          <p:nvPr/>
        </p:nvSpPr>
        <p:spPr>
          <a:xfrm>
            <a:off x="3733800" y="1162050"/>
            <a:ext cx="4201795" cy="1962150"/>
          </a:xfrm>
          <a:custGeom>
            <a:avLst/>
            <a:gdLst/>
            <a:ahLst/>
            <a:cxnLst/>
            <a:rect l="l" t="t" r="r" b="b"/>
            <a:pathLst>
              <a:path w="4000500" h="1962150">
                <a:moveTo>
                  <a:pt x="114300" y="0"/>
                </a:moveTo>
                <a:lnTo>
                  <a:pt x="3886200" y="0"/>
                </a:lnTo>
                <a:cubicBezTo>
                  <a:pt x="3949326" y="0"/>
                  <a:pt x="4000500" y="51174"/>
                  <a:pt x="4000500" y="114300"/>
                </a:cubicBezTo>
                <a:lnTo>
                  <a:pt x="4000500" y="1847850"/>
                </a:lnTo>
                <a:cubicBezTo>
                  <a:pt x="4000500" y="1910976"/>
                  <a:pt x="3949326" y="1962150"/>
                  <a:pt x="3886200" y="1962150"/>
                </a:cubicBezTo>
                <a:lnTo>
                  <a:pt x="114300" y="1962150"/>
                </a:lnTo>
                <a:cubicBezTo>
                  <a:pt x="51174" y="1962150"/>
                  <a:pt x="0" y="1910976"/>
                  <a:pt x="0" y="1847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F6FEB"/>
            </a:solidFill>
          </a:ln>
        </p:spPr>
      </p:sp>
      <p:sp>
        <p:nvSpPr>
          <p:cNvPr id="30" name="Freeform 12"/>
          <p:cNvSpPr/>
          <p:nvPr/>
        </p:nvSpPr>
        <p:spPr>
          <a:xfrm>
            <a:off x="3733800" y="1162050"/>
            <a:ext cx="4201795" cy="514350"/>
          </a:xfrm>
          <a:custGeom>
            <a:avLst/>
            <a:gdLst/>
            <a:ahLst/>
            <a:cxnLst/>
            <a:rect l="l" t="t" r="r" b="b"/>
            <a:pathLst>
              <a:path w="4000500" h="514350">
                <a:moveTo>
                  <a:pt x="114300" y="0"/>
                </a:moveTo>
                <a:lnTo>
                  <a:pt x="3886200" y="0"/>
                </a:lnTo>
                <a:cubicBezTo>
                  <a:pt x="3949326" y="0"/>
                  <a:pt x="4000500" y="51174"/>
                  <a:pt x="4000500" y="114300"/>
                </a:cubicBezTo>
                <a:lnTo>
                  <a:pt x="4000500" y="400050"/>
                </a:lnTo>
                <a:cubicBezTo>
                  <a:pt x="4000500" y="463176"/>
                  <a:pt x="3949326" y="514350"/>
                  <a:pt x="3886200" y="514350"/>
                </a:cubicBezTo>
                <a:lnTo>
                  <a:pt x="114300" y="514350"/>
                </a:lnTo>
                <a:cubicBezTo>
                  <a:pt x="51174" y="514350"/>
                  <a:pt x="0" y="463176"/>
                  <a:pt x="0" y="400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32" name="TextBox 14"/>
          <p:cNvSpPr txBox="1"/>
          <p:nvPr/>
        </p:nvSpPr>
        <p:spPr>
          <a:xfrm>
            <a:off x="3803015" y="1245553"/>
            <a:ext cx="40513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rPr>
              <a:t>SemQL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rPr>
              <a:t>-Driven Knowledge Extraction</a:t>
            </a:r>
            <a:endParaRPr lang="en-US" altLang="zh-CN" b="1" dirty="0">
              <a:solidFill>
                <a:srgbClr val="FFFFFF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3" name="TextBox 16"/>
          <p:cNvSpPr txBox="1"/>
          <p:nvPr/>
        </p:nvSpPr>
        <p:spPr>
          <a:xfrm>
            <a:off x="3983355" y="1844992"/>
            <a:ext cx="2156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b="1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intent.action/object</a:t>
            </a:r>
            <a:endParaRPr lang="zh-CN" sz="1350" b="1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4" name="TextBox 17"/>
          <p:cNvSpPr txBox="1"/>
          <p:nvPr/>
        </p:nvSpPr>
        <p:spPr>
          <a:xfrm>
            <a:off x="5945505" y="18449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理解用户要找什么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5" name="TextBox 18"/>
          <p:cNvSpPr txBox="1"/>
          <p:nvPr/>
        </p:nvSpPr>
        <p:spPr>
          <a:xfrm>
            <a:off x="3983355" y="2149792"/>
            <a:ext cx="1214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keywords[]</a:t>
            </a:r>
            <a:endParaRPr lang="zh-CN" sz="13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6" name="TextBox 19"/>
          <p:cNvSpPr txBox="1"/>
          <p:nvPr/>
        </p:nvSpPr>
        <p:spPr>
          <a:xfrm>
            <a:off x="5945505" y="21497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主检索词与同义词扩展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7" name="TextBox 20"/>
          <p:cNvSpPr txBox="1"/>
          <p:nvPr/>
        </p:nvSpPr>
        <p:spPr>
          <a:xfrm>
            <a:off x="3983355" y="2454592"/>
            <a:ext cx="2166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b="1" dirty="0">
                <a:solidFill>
                  <a:srgbClr val="12B5CB"/>
                </a:solidFill>
                <a:latin typeface="Arial" panose="020B0604020202020204"/>
                <a:ea typeface="微软雅黑"/>
                <a:cs typeface="Arial" panose="020B0604020202020204"/>
              </a:rPr>
              <a:t>filters[] / exclude[]</a:t>
            </a:r>
            <a:endParaRPr lang="zh-CN" sz="1350" b="1" dirty="0">
              <a:solidFill>
                <a:srgbClr val="12B5C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8" name="TextBox 21"/>
          <p:cNvSpPr txBox="1"/>
          <p:nvPr/>
        </p:nvSpPr>
        <p:spPr>
          <a:xfrm>
            <a:off x="5945505" y="2454592"/>
            <a:ext cx="13257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保留/排除条件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9" name="TextBox 22"/>
          <p:cNvSpPr txBox="1"/>
          <p:nvPr/>
        </p:nvSpPr>
        <p:spPr>
          <a:xfrm>
            <a:off x="3983355" y="2759392"/>
            <a:ext cx="2021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target / raw_query</a:t>
            </a:r>
            <a:endParaRPr lang="zh-CN" sz="13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0" name="TextBox 23"/>
          <p:cNvSpPr txBox="1"/>
          <p:nvPr/>
        </p:nvSpPr>
        <p:spPr>
          <a:xfrm>
            <a:off x="5945505" y="27593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代码元素类型与原始语义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1" name="Polygon 24"/>
          <p:cNvSpPr/>
          <p:nvPr/>
        </p:nvSpPr>
        <p:spPr>
          <a:xfrm>
            <a:off x="8148320" y="1619250"/>
            <a:ext cx="742950" cy="571500"/>
          </a:xfrm>
          <a:custGeom>
            <a:avLst/>
            <a:gdLst/>
            <a:ahLst/>
            <a:cxnLst/>
            <a:rect l="l" t="t" r="r" b="b"/>
            <a:pathLst>
              <a:path w="742950" h="571500">
                <a:moveTo>
                  <a:pt x="0" y="114300"/>
                </a:moveTo>
                <a:lnTo>
                  <a:pt x="476250" y="114300"/>
                </a:lnTo>
                <a:lnTo>
                  <a:pt x="476250" y="0"/>
                </a:lnTo>
                <a:lnTo>
                  <a:pt x="742950" y="285750"/>
                </a:lnTo>
                <a:lnTo>
                  <a:pt x="476250" y="571500"/>
                </a:lnTo>
                <a:lnTo>
                  <a:pt x="47625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42" name="Freeform 25"/>
          <p:cNvSpPr/>
          <p:nvPr/>
        </p:nvSpPr>
        <p:spPr>
          <a:xfrm>
            <a:off x="9010650" y="1200150"/>
            <a:ext cx="3009265" cy="1085850"/>
          </a:xfrm>
          <a:custGeom>
            <a:avLst/>
            <a:gdLst/>
            <a:ahLst/>
            <a:cxnLst/>
            <a:rect l="l" t="t" r="r" b="b"/>
            <a:pathLst>
              <a:path w="2571750" h="10858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990600"/>
                </a:lnTo>
                <a:cubicBezTo>
                  <a:pt x="2571750" y="1043205"/>
                  <a:pt x="2529105" y="1085850"/>
                  <a:pt x="2476500" y="1085850"/>
                </a:cubicBezTo>
                <a:lnTo>
                  <a:pt x="95250" y="1085850"/>
                </a:lnTo>
                <a:cubicBezTo>
                  <a:pt x="42645" y="1085850"/>
                  <a:pt x="0" y="1043205"/>
                  <a:pt x="0" y="990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3" name="Rectangle 26"/>
          <p:cNvSpPr/>
          <p:nvPr/>
        </p:nvSpPr>
        <p:spPr>
          <a:xfrm>
            <a:off x="9010650" y="1200150"/>
            <a:ext cx="57150" cy="108585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44" name="TextBox 27"/>
          <p:cNvSpPr txBox="1"/>
          <p:nvPr/>
        </p:nvSpPr>
        <p:spPr>
          <a:xfrm>
            <a:off x="9235440" y="13677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800" b="1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多路召回检索</a:t>
            </a:r>
            <a:endParaRPr lang="zh-CN" sz="1800" b="1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5" name="TextBox 28"/>
          <p:cNvSpPr txBox="1"/>
          <p:nvPr/>
        </p:nvSpPr>
        <p:spPr>
          <a:xfrm>
            <a:off x="9243060" y="1746885"/>
            <a:ext cx="23583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keywords, intent, target</a:t>
            </a:r>
            <a:endParaRPr lang="zh-CN" sz="12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6" name="TextBox 29"/>
          <p:cNvSpPr txBox="1"/>
          <p:nvPr/>
        </p:nvSpPr>
        <p:spPr>
          <a:xfrm>
            <a:off x="9243060" y="2004060"/>
            <a:ext cx="32202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grep / index / embedding 共同扩展召回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7" name="Line 30"/>
          <p:cNvSpPr/>
          <p:nvPr/>
        </p:nvSpPr>
        <p:spPr>
          <a:xfrm>
            <a:off x="5734050" y="31242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38100">
            <a:solidFill>
              <a:srgbClr val="1F6FEB"/>
            </a:solidFill>
          </a:ln>
        </p:spPr>
      </p:sp>
      <p:sp>
        <p:nvSpPr>
          <p:cNvPr id="48" name="Polygon 31"/>
          <p:cNvSpPr/>
          <p:nvPr/>
        </p:nvSpPr>
        <p:spPr>
          <a:xfrm>
            <a:off x="5572125" y="3581400"/>
            <a:ext cx="323850" cy="209550"/>
          </a:xfrm>
          <a:custGeom>
            <a:avLst/>
            <a:gdLst/>
            <a:ahLst/>
            <a:cxnLst/>
            <a:rect l="l" t="t" r="r" b="b"/>
            <a:pathLst>
              <a:path w="323850" h="209550">
                <a:moveTo>
                  <a:pt x="161925" y="209550"/>
                </a:moveTo>
                <a:lnTo>
                  <a:pt x="0" y="0"/>
                </a:lnTo>
                <a:lnTo>
                  <a:pt x="323850" y="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49" name="Freeform 32"/>
          <p:cNvSpPr/>
          <p:nvPr/>
        </p:nvSpPr>
        <p:spPr>
          <a:xfrm>
            <a:off x="914400" y="3733800"/>
            <a:ext cx="10363200" cy="666750"/>
          </a:xfrm>
          <a:custGeom>
            <a:avLst/>
            <a:gdLst/>
            <a:ahLst/>
            <a:cxnLst/>
            <a:rect l="l" t="t" r="r" b="b"/>
            <a:pathLst>
              <a:path w="10363200" h="666750">
                <a:moveTo>
                  <a:pt x="114300" y="0"/>
                </a:moveTo>
                <a:lnTo>
                  <a:pt x="10248900" y="0"/>
                </a:lnTo>
                <a:cubicBezTo>
                  <a:pt x="10312026" y="0"/>
                  <a:pt x="10363200" y="51174"/>
                  <a:pt x="10363200" y="114300"/>
                </a:cubicBezTo>
                <a:lnTo>
                  <a:pt x="10363200" y="552450"/>
                </a:lnTo>
                <a:cubicBezTo>
                  <a:pt x="10363200" y="615576"/>
                  <a:pt x="10312026" y="666750"/>
                  <a:pt x="10248900" y="666750"/>
                </a:cubicBezTo>
                <a:lnTo>
                  <a:pt x="114300" y="666750"/>
                </a:lnTo>
                <a:cubicBezTo>
                  <a:pt x="51174" y="666750"/>
                  <a:pt x="0" y="615576"/>
                  <a:pt x="0" y="55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50" name="TextBox 33"/>
          <p:cNvSpPr txBox="1"/>
          <p:nvPr/>
        </p:nvSpPr>
        <p:spPr>
          <a:xfrm>
            <a:off x="2978468" y="3916680"/>
            <a:ext cx="6235065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利用SemQL抽取</a:t>
            </a:r>
            <a:r>
              <a:rPr lang="en-US" alt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query</a:t>
            </a:r>
            <a:r>
              <a:rPr lang="zh-CN" altLang="en-US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中的语义</a:t>
            </a:r>
            <a:r>
              <a:rPr lang="en-US" alt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info</a:t>
            </a:r>
            <a:r>
              <a:rPr lang="zh-CN" altLang="en-US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作用于后</a:t>
            </a:r>
            <a:r>
              <a:rPr lang="zh-CN" altLang="en-US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续阶段</a:t>
            </a:r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 </a:t>
            </a:r>
            <a:endParaRPr lang="zh-CN" sz="2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1" name="Freeform 34"/>
          <p:cNvSpPr/>
          <p:nvPr/>
        </p:nvSpPr>
        <p:spPr>
          <a:xfrm>
            <a:off x="857250" y="4800600"/>
            <a:ext cx="2476500" cy="1104900"/>
          </a:xfrm>
          <a:custGeom>
            <a:avLst/>
            <a:gdLst/>
            <a:ahLst/>
            <a:cxnLst/>
            <a:rect l="l" t="t" r="r" b="b"/>
            <a:pathLst>
              <a:path w="2476500" h="11049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1009650"/>
                </a:lnTo>
                <a:cubicBezTo>
                  <a:pt x="2476500" y="1062255"/>
                  <a:pt x="2433855" y="1104900"/>
                  <a:pt x="238125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2" name="Freeform 35"/>
          <p:cNvSpPr/>
          <p:nvPr/>
        </p:nvSpPr>
        <p:spPr>
          <a:xfrm>
            <a:off x="857250" y="4800600"/>
            <a:ext cx="2476500" cy="323850"/>
          </a:xfrm>
          <a:custGeom>
            <a:avLst/>
            <a:gdLst/>
            <a:ahLst/>
            <a:cxnLst/>
            <a:rect l="l" t="t" r="r" b="b"/>
            <a:pathLst>
              <a:path w="2476500" h="32385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228600"/>
                </a:lnTo>
                <a:cubicBezTo>
                  <a:pt x="2476500" y="281205"/>
                  <a:pt x="2433855" y="323850"/>
                  <a:pt x="2381250" y="323850"/>
                </a:cubicBezTo>
                <a:lnTo>
                  <a:pt x="95250" y="323850"/>
                </a:lnTo>
                <a:cubicBezTo>
                  <a:pt x="42645" y="323850"/>
                  <a:pt x="0" y="281205"/>
                  <a:pt x="0" y="228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53" name="TextBox 36"/>
          <p:cNvSpPr txBox="1"/>
          <p:nvPr/>
        </p:nvSpPr>
        <p:spPr>
          <a:xfrm>
            <a:off x="1085850" y="4876800"/>
            <a:ext cx="10042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Filtering</a:t>
            </a:r>
            <a:endParaRPr lang="zh-CN" sz="1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4" name="TextBox 37"/>
          <p:cNvSpPr txBox="1"/>
          <p:nvPr/>
        </p:nvSpPr>
        <p:spPr>
          <a:xfrm>
            <a:off x="1089660" y="5252085"/>
            <a:ext cx="111315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b="1" dirty="0">
                <a:solidFill>
                  <a:srgbClr val="12B5CB"/>
                </a:solidFill>
                <a:latin typeface="Arial" panose="020B0604020202020204"/>
                <a:ea typeface="微软雅黑"/>
                <a:cs typeface="Arial" panose="020B0604020202020204"/>
              </a:rPr>
              <a:t>filters+ exclude</a:t>
            </a:r>
            <a:endParaRPr lang="zh-CN" sz="1200" b="1" dirty="0">
              <a:solidFill>
                <a:srgbClr val="12B5C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5" name="TextBox 38"/>
          <p:cNvSpPr txBox="1"/>
          <p:nvPr/>
        </p:nvSpPr>
        <p:spPr>
          <a:xfrm>
            <a:off x="1089660" y="5509260"/>
            <a:ext cx="2047240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按概念关系保留相关代码，剔除噪声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6" name="Freeform 39"/>
          <p:cNvSpPr/>
          <p:nvPr/>
        </p:nvSpPr>
        <p:spPr>
          <a:xfrm>
            <a:off x="3676650" y="4800600"/>
            <a:ext cx="2476500" cy="1104900"/>
          </a:xfrm>
          <a:custGeom>
            <a:avLst/>
            <a:gdLst/>
            <a:ahLst/>
            <a:cxnLst/>
            <a:rect l="l" t="t" r="r" b="b"/>
            <a:pathLst>
              <a:path w="2476500" h="11049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1009650"/>
                </a:lnTo>
                <a:cubicBezTo>
                  <a:pt x="2476500" y="1062255"/>
                  <a:pt x="2433855" y="1104900"/>
                  <a:pt x="238125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7" name="Freeform 40"/>
          <p:cNvSpPr/>
          <p:nvPr/>
        </p:nvSpPr>
        <p:spPr>
          <a:xfrm>
            <a:off x="3676650" y="4800600"/>
            <a:ext cx="2476500" cy="323850"/>
          </a:xfrm>
          <a:custGeom>
            <a:avLst/>
            <a:gdLst/>
            <a:ahLst/>
            <a:cxnLst/>
            <a:rect l="l" t="t" r="r" b="b"/>
            <a:pathLst>
              <a:path w="2476500" h="32385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228600"/>
                </a:lnTo>
                <a:cubicBezTo>
                  <a:pt x="2476500" y="281205"/>
                  <a:pt x="2433855" y="323850"/>
                  <a:pt x="2381250" y="323850"/>
                </a:cubicBezTo>
                <a:lnTo>
                  <a:pt x="95250" y="323850"/>
                </a:lnTo>
                <a:cubicBezTo>
                  <a:pt x="42645" y="323850"/>
                  <a:pt x="0" y="281205"/>
                  <a:pt x="0" y="228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58" name="TextBox 41"/>
          <p:cNvSpPr txBox="1"/>
          <p:nvPr/>
        </p:nvSpPr>
        <p:spPr>
          <a:xfrm>
            <a:off x="3905250" y="4876800"/>
            <a:ext cx="1510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Single Rerank</a:t>
            </a:r>
            <a:endParaRPr lang="zh-CN" sz="1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9" name="TextBox 43"/>
          <p:cNvSpPr txBox="1"/>
          <p:nvPr/>
        </p:nvSpPr>
        <p:spPr>
          <a:xfrm>
            <a:off x="3909060" y="5509260"/>
            <a:ext cx="2156460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评估候选与原始需求、动作对象的一致性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0" name="Freeform 44"/>
          <p:cNvSpPr/>
          <p:nvPr/>
        </p:nvSpPr>
        <p:spPr>
          <a:xfrm>
            <a:off x="6496050" y="4800600"/>
            <a:ext cx="2476500" cy="1104900"/>
          </a:xfrm>
          <a:custGeom>
            <a:avLst/>
            <a:gdLst/>
            <a:ahLst/>
            <a:cxnLst/>
            <a:rect l="l" t="t" r="r" b="b"/>
            <a:pathLst>
              <a:path w="2476500" h="11049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1009650"/>
                </a:lnTo>
                <a:cubicBezTo>
                  <a:pt x="2476500" y="1062255"/>
                  <a:pt x="2433855" y="1104900"/>
                  <a:pt x="238125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1" name="Freeform 45"/>
          <p:cNvSpPr/>
          <p:nvPr/>
        </p:nvSpPr>
        <p:spPr>
          <a:xfrm>
            <a:off x="6496050" y="4800600"/>
            <a:ext cx="2476500" cy="323850"/>
          </a:xfrm>
          <a:custGeom>
            <a:avLst/>
            <a:gdLst/>
            <a:ahLst/>
            <a:cxnLst/>
            <a:rect l="l" t="t" r="r" b="b"/>
            <a:pathLst>
              <a:path w="2476500" h="32385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228600"/>
                </a:lnTo>
                <a:cubicBezTo>
                  <a:pt x="2476500" y="281205"/>
                  <a:pt x="2433855" y="323850"/>
                  <a:pt x="2381250" y="323850"/>
                </a:cubicBezTo>
                <a:lnTo>
                  <a:pt x="95250" y="323850"/>
                </a:lnTo>
                <a:cubicBezTo>
                  <a:pt x="42645" y="323850"/>
                  <a:pt x="0" y="281205"/>
                  <a:pt x="0" y="228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62" name="TextBox 46"/>
          <p:cNvSpPr txBox="1"/>
          <p:nvPr/>
        </p:nvSpPr>
        <p:spPr>
          <a:xfrm>
            <a:off x="6724650" y="4876800"/>
            <a:ext cx="14987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Group Rerank</a:t>
            </a:r>
            <a:endParaRPr lang="zh-CN" sz="1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3" name="TextBox 48"/>
          <p:cNvSpPr txBox="1"/>
          <p:nvPr/>
        </p:nvSpPr>
        <p:spPr>
          <a:xfrm>
            <a:off x="6728460" y="5509260"/>
            <a:ext cx="2047240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从代码元素类型和约束出发组织结果组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4" name="Freeform 49"/>
          <p:cNvSpPr/>
          <p:nvPr/>
        </p:nvSpPr>
        <p:spPr>
          <a:xfrm>
            <a:off x="9315450" y="4800600"/>
            <a:ext cx="2000250" cy="1104900"/>
          </a:xfrm>
          <a:custGeom>
            <a:avLst/>
            <a:gdLst/>
            <a:ahLst/>
            <a:cxnLst/>
            <a:rect l="l" t="t" r="r" b="b"/>
            <a:pathLst>
              <a:path w="2000250" h="1104900">
                <a:moveTo>
                  <a:pt x="95250" y="0"/>
                </a:moveTo>
                <a:lnTo>
                  <a:pt x="1905000" y="0"/>
                </a:lnTo>
                <a:cubicBezTo>
                  <a:pt x="1957605" y="0"/>
                  <a:pt x="2000250" y="42645"/>
                  <a:pt x="2000250" y="95250"/>
                </a:cubicBezTo>
                <a:lnTo>
                  <a:pt x="2000250" y="1009650"/>
                </a:lnTo>
                <a:cubicBezTo>
                  <a:pt x="2000250" y="1062255"/>
                  <a:pt x="1957605" y="1104900"/>
                  <a:pt x="190500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65" name="TextBox 50"/>
          <p:cNvSpPr txBox="1"/>
          <p:nvPr/>
        </p:nvSpPr>
        <p:spPr>
          <a:xfrm>
            <a:off x="9586131" y="5041582"/>
            <a:ext cx="14588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rPr>
              <a:t>Final Result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6" name="TextBox 51"/>
          <p:cNvSpPr txBox="1"/>
          <p:nvPr/>
        </p:nvSpPr>
        <p:spPr>
          <a:xfrm>
            <a:off x="9511665" y="54044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2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高质量代码检索输出</a:t>
            </a:r>
            <a:endParaRPr lang="zh-CN" sz="12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7" name="Line 52"/>
          <p:cNvSpPr/>
          <p:nvPr/>
        </p:nvSpPr>
        <p:spPr>
          <a:xfrm>
            <a:off x="2095500" y="4400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68" name="Polygon 53"/>
          <p:cNvSpPr/>
          <p:nvPr/>
        </p:nvSpPr>
        <p:spPr>
          <a:xfrm>
            <a:off x="2000250" y="4667250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95250" y="13335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69" name="Line 54"/>
          <p:cNvSpPr/>
          <p:nvPr/>
        </p:nvSpPr>
        <p:spPr>
          <a:xfrm>
            <a:off x="4914900" y="4400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70" name="Polygon 55"/>
          <p:cNvSpPr/>
          <p:nvPr/>
        </p:nvSpPr>
        <p:spPr>
          <a:xfrm>
            <a:off x="4819650" y="4667250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95250" y="13335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71" name="Line 56"/>
          <p:cNvSpPr/>
          <p:nvPr/>
        </p:nvSpPr>
        <p:spPr>
          <a:xfrm>
            <a:off x="7734300" y="4400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72" name="Polygon 57"/>
          <p:cNvSpPr/>
          <p:nvPr/>
        </p:nvSpPr>
        <p:spPr>
          <a:xfrm>
            <a:off x="7639050" y="4667250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95250" y="13335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73" name="Line 58"/>
          <p:cNvSpPr/>
          <p:nvPr/>
        </p:nvSpPr>
        <p:spPr>
          <a:xfrm>
            <a:off x="8972550" y="535305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74" name="Polygon 59"/>
          <p:cNvSpPr/>
          <p:nvPr/>
        </p:nvSpPr>
        <p:spPr>
          <a:xfrm>
            <a:off x="9182100" y="525780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13335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75" name="TextBox 60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03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6" name="TextBox 42"/>
          <p:cNvSpPr txBox="1"/>
          <p:nvPr/>
        </p:nvSpPr>
        <p:spPr>
          <a:xfrm>
            <a:off x="6728460" y="5236210"/>
            <a:ext cx="17510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raw_query + intent</a:t>
            </a:r>
            <a:endParaRPr lang="zh-CN" sz="12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7" name="TextBox 47"/>
          <p:cNvSpPr txBox="1"/>
          <p:nvPr/>
        </p:nvSpPr>
        <p:spPr>
          <a:xfrm>
            <a:off x="3905250" y="5236210"/>
            <a:ext cx="14658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target + filters</a:t>
            </a:r>
            <a:endParaRPr lang="zh-CN" sz="12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8585" y="1378585"/>
            <a:ext cx="1085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LLM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442374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End-to-End Pipeline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88900" y="133350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14300" y="0"/>
                </a:moveTo>
                <a:lnTo>
                  <a:pt x="1600200" y="0"/>
                </a:lnTo>
                <a:cubicBezTo>
                  <a:pt x="1663326" y="0"/>
                  <a:pt x="1714500" y="51174"/>
                  <a:pt x="1714500" y="114300"/>
                </a:cubicBezTo>
                <a:lnTo>
                  <a:pt x="1714500" y="1028700"/>
                </a:lnTo>
                <a:cubicBezTo>
                  <a:pt x="1714500" y="1091826"/>
                  <a:pt x="1663326" y="1143000"/>
                  <a:pt x="16002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33204" y="1748790"/>
            <a:ext cx="1425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Query 输入</a:t>
            </a:r>
            <a:endParaRPr lang="zh-CN" sz="18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Polygon 7"/>
          <p:cNvSpPr/>
          <p:nvPr/>
        </p:nvSpPr>
        <p:spPr>
          <a:xfrm>
            <a:off x="1926590" y="1672590"/>
            <a:ext cx="762000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2812415" y="1333500"/>
            <a:ext cx="38481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028700"/>
                </a:lnTo>
                <a:cubicBezTo>
                  <a:pt x="2095500" y="1091826"/>
                  <a:pt x="2044326" y="1143000"/>
                  <a:pt x="19812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F6F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110865" y="1634490"/>
            <a:ext cx="32512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SemQL-Driven </a:t>
            </a:r>
            <a:r>
              <a:rPr lang="en-US" altLang="zh-CN" sz="18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Info </a:t>
            </a:r>
            <a:r>
              <a:rPr lang="en-US" altLang="zh-CN" sz="18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Extraction</a:t>
            </a:r>
            <a:endParaRPr lang="en-US" altLang="zh-CN" sz="18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95609" y="205486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structured query</a:t>
            </a:r>
            <a:endParaRPr lang="zh-CN" sz="12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Polygon 11"/>
          <p:cNvSpPr/>
          <p:nvPr/>
        </p:nvSpPr>
        <p:spPr>
          <a:xfrm>
            <a:off x="6998970" y="1658620"/>
            <a:ext cx="663575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8001000" y="1276985"/>
            <a:ext cx="4112895" cy="1143000"/>
          </a:xfrm>
          <a:custGeom>
            <a:avLst/>
            <a:gdLst/>
            <a:ahLst/>
            <a:cxnLst/>
            <a:rect l="l" t="t" r="r" b="b"/>
            <a:pathLst>
              <a:path w="4724400" h="1143000">
                <a:moveTo>
                  <a:pt x="114300" y="0"/>
                </a:moveTo>
                <a:lnTo>
                  <a:pt x="4610100" y="0"/>
                </a:lnTo>
                <a:cubicBezTo>
                  <a:pt x="4673226" y="0"/>
                  <a:pt x="4724400" y="51174"/>
                  <a:pt x="4724400" y="114300"/>
                </a:cubicBezTo>
                <a:lnTo>
                  <a:pt x="4724400" y="1028700"/>
                </a:lnTo>
                <a:cubicBezTo>
                  <a:pt x="4724400" y="1091826"/>
                  <a:pt x="4673226" y="1143000"/>
                  <a:pt x="46101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244840" y="1577975"/>
            <a:ext cx="1722120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多路高召回搜索</a:t>
            </a:r>
            <a:endParaRPr lang="zh-CN" sz="1800" b="1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248650" y="1934210"/>
            <a:ext cx="3847465" cy="230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grep 正则 / 倒排索引 / embedding 语义检索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238250" y="3143250"/>
            <a:ext cx="9715500" cy="857250"/>
          </a:xfrm>
          <a:custGeom>
            <a:avLst/>
            <a:gdLst/>
            <a:ahLst/>
            <a:cxnLst/>
            <a:rect l="l" t="t" r="r" b="b"/>
            <a:pathLst>
              <a:path w="9715500" h="857250">
                <a:moveTo>
                  <a:pt x="114300" y="0"/>
                </a:moveTo>
                <a:lnTo>
                  <a:pt x="9601200" y="0"/>
                </a:lnTo>
                <a:cubicBezTo>
                  <a:pt x="9664326" y="0"/>
                  <a:pt x="9715500" y="51174"/>
                  <a:pt x="9715500" y="114300"/>
                </a:cubicBezTo>
                <a:lnTo>
                  <a:pt x="9715500" y="742950"/>
                </a:lnTo>
                <a:cubicBezTo>
                  <a:pt x="9715500" y="806076"/>
                  <a:pt x="9664326" y="857250"/>
                  <a:pt x="9601200" y="857250"/>
                </a:cubicBezTo>
                <a:lnTo>
                  <a:pt x="114300" y="857250"/>
                </a:lnTo>
                <a:cubicBezTo>
                  <a:pt x="51174" y="857250"/>
                  <a:pt x="0" y="806076"/>
                  <a:pt x="0" y="742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750640" y="3449955"/>
            <a:ext cx="46907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得到高 Recall 候选代码元素集合</a:t>
            </a:r>
            <a:endParaRPr lang="zh-CN" sz="2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154430" y="4823460"/>
            <a:ext cx="2010410" cy="1428750"/>
          </a:xfrm>
          <a:custGeom>
            <a:avLst/>
            <a:gdLst/>
            <a:ahLst/>
            <a:cxnLst/>
            <a:rect l="l" t="t" r="r" b="b"/>
            <a:pathLst>
              <a:path w="3048000" h="142875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314450"/>
                </a:lnTo>
                <a:cubicBezTo>
                  <a:pt x="3048000" y="1377576"/>
                  <a:pt x="2996826" y="1428750"/>
                  <a:pt x="2933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415415" y="5136832"/>
            <a:ext cx="130548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Filtering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21130" y="5537835"/>
            <a:ext cx="16702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Rule + Semantic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4583430" y="4823460"/>
            <a:ext cx="1915160" cy="1428750"/>
          </a:xfrm>
          <a:custGeom>
            <a:avLst/>
            <a:gdLst/>
            <a:ahLst/>
            <a:cxnLst/>
            <a:rect l="l" t="t" r="r" b="b"/>
            <a:pathLst>
              <a:path w="3048000" h="142875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314450"/>
                </a:lnTo>
                <a:cubicBezTo>
                  <a:pt x="3048000" y="1377576"/>
                  <a:pt x="2996826" y="1428750"/>
                  <a:pt x="2933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844415" y="5136832"/>
            <a:ext cx="145500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Reranking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50130" y="5537835"/>
            <a:ext cx="15059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012430" y="4823460"/>
            <a:ext cx="3048000" cy="1428750"/>
          </a:xfrm>
          <a:custGeom>
            <a:avLst/>
            <a:gdLst/>
            <a:ahLst/>
            <a:cxnLst/>
            <a:rect l="l" t="t" r="r" b="b"/>
            <a:pathLst>
              <a:path w="3048000" h="142875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314450"/>
                </a:lnTo>
                <a:cubicBezTo>
                  <a:pt x="3048000" y="1377576"/>
                  <a:pt x="2996826" y="1428750"/>
                  <a:pt x="2933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74360" y="5232082"/>
            <a:ext cx="172413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Final Result</a:t>
            </a:r>
            <a:endParaRPr lang="zh-CN" sz="195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531542" y="561403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高质量代码检索输出</a:t>
            </a:r>
            <a:endParaRPr lang="zh-CN" sz="15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03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8" name="十字形 27"/>
          <p:cNvSpPr/>
          <p:nvPr/>
        </p:nvSpPr>
        <p:spPr>
          <a:xfrm>
            <a:off x="3609975" y="5253355"/>
            <a:ext cx="454025" cy="426720"/>
          </a:xfrm>
          <a:prstGeom prst="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9" name="Polygon 11"/>
          <p:cNvSpPr/>
          <p:nvPr/>
        </p:nvSpPr>
        <p:spPr>
          <a:xfrm>
            <a:off x="6852285" y="5236845"/>
            <a:ext cx="663575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" name="TextBox 10"/>
          <p:cNvSpPr txBox="1"/>
          <p:nvPr/>
        </p:nvSpPr>
        <p:spPr>
          <a:xfrm>
            <a:off x="3079433" y="2079625"/>
            <a:ext cx="134429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</a:t>
            </a:r>
            <a:r>
              <a:rPr lang="en-US" alt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 </a:t>
            </a:r>
            <a:r>
              <a:rPr lang="en-US" altLang="zh-CN" sz="12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enhancement</a:t>
            </a:r>
            <a:endParaRPr lang="en-US" altLang="zh-CN" sz="12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531995" y="2171700"/>
            <a:ext cx="57150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ygon 11"/>
          <p:cNvSpPr/>
          <p:nvPr/>
        </p:nvSpPr>
        <p:spPr>
          <a:xfrm rot="5400000">
            <a:off x="9192895" y="2457450"/>
            <a:ext cx="663575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31" name="Polygon 11"/>
          <p:cNvSpPr/>
          <p:nvPr/>
        </p:nvSpPr>
        <p:spPr>
          <a:xfrm rot="5400000">
            <a:off x="1736090" y="4087495"/>
            <a:ext cx="663575" cy="647700"/>
          </a:xfrm>
          <a:custGeom>
            <a:avLst/>
            <a:gdLst/>
            <a:ahLst/>
            <a:cxnLst/>
            <a:rect l="l" t="t" r="r" b="b"/>
            <a:pathLst>
              <a:path w="762000" h="647700">
                <a:moveTo>
                  <a:pt x="0" y="133350"/>
                </a:moveTo>
                <a:lnTo>
                  <a:pt x="476250" y="133350"/>
                </a:lnTo>
                <a:lnTo>
                  <a:pt x="476250" y="0"/>
                </a:lnTo>
                <a:lnTo>
                  <a:pt x="762000" y="323850"/>
                </a:lnTo>
                <a:lnTo>
                  <a:pt x="476250" y="647700"/>
                </a:lnTo>
                <a:lnTo>
                  <a:pt x="47625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02894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Step1: </a:t>
            </a:r>
            <a:r>
              <a:rPr lang="en-US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SemQL-Driven Knowledge Extraction</a:t>
            </a:r>
            <a:endParaRPr lang="en-US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048250" cy="4762500"/>
          </a:xfrm>
          <a:custGeom>
            <a:avLst/>
            <a:gdLst/>
            <a:ahLst/>
            <a:cxnLst/>
            <a:rect l="l" t="t" r="r" b="b"/>
            <a:pathLst>
              <a:path w="5048250" h="4762500">
                <a:moveTo>
                  <a:pt x="114300" y="0"/>
                </a:moveTo>
                <a:lnTo>
                  <a:pt x="4933950" y="0"/>
                </a:lnTo>
                <a:cubicBezTo>
                  <a:pt x="4997076" y="0"/>
                  <a:pt x="5048250" y="51174"/>
                  <a:pt x="5048250" y="114300"/>
                </a:cubicBezTo>
                <a:lnTo>
                  <a:pt x="5048250" y="4648200"/>
                </a:lnTo>
                <a:cubicBezTo>
                  <a:pt x="5048250" y="4711326"/>
                  <a:pt x="4997076" y="4762500"/>
                  <a:pt x="493395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70585" y="1561148"/>
            <a:ext cx="38921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Query → Structured Query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95350" y="2095500"/>
            <a:ext cx="4476750" cy="3714750"/>
          </a:xfrm>
          <a:custGeom>
            <a:avLst/>
            <a:gdLst/>
            <a:ahLst/>
            <a:cxnLst/>
            <a:rect l="l" t="t" r="r" b="b"/>
            <a:pathLst>
              <a:path w="4476750" h="3714750">
                <a:moveTo>
                  <a:pt x="95250" y="0"/>
                </a:moveTo>
                <a:lnTo>
                  <a:pt x="4381500" y="0"/>
                </a:lnTo>
                <a:cubicBezTo>
                  <a:pt x="4434105" y="0"/>
                  <a:pt x="4476750" y="42645"/>
                  <a:pt x="4476750" y="95250"/>
                </a:cubicBezTo>
                <a:lnTo>
                  <a:pt x="4476750" y="3619500"/>
                </a:lnTo>
                <a:cubicBezTo>
                  <a:pt x="4476750" y="3672105"/>
                  <a:pt x="4434105" y="3714750"/>
                  <a:pt x="4381500" y="3714750"/>
                </a:cubicBezTo>
                <a:lnTo>
                  <a:pt x="95250" y="3714750"/>
                </a:lnTo>
                <a:cubicBezTo>
                  <a:pt x="42645" y="3714750"/>
                  <a:pt x="0" y="3672105"/>
                  <a:pt x="0" y="3619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096000" y="1333500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356985" y="165639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统一语义接口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61748" y="2058829"/>
            <a:ext cx="426103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将自然语言 query 映射为可执行检索意图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6096000" y="3000375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56985" y="3323272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结构化字段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361748" y="3725704"/>
            <a:ext cx="424953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keywords / target / filters / exclude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6096000" y="4667250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356985" y="49901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工程价值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61748" y="5392579"/>
            <a:ext cx="395049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为检索、过滤、重排提供一致输入协议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04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9015" y="2137410"/>
            <a:ext cx="4248785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{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"keywords": [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{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  "term": "security",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  "synonyms": </a:t>
            </a:r>
            <a:r>
              <a:rPr lang="en-US" altLang="zh-CN" sz="1000">
                <a:solidFill>
                  <a:schemeClr val="bg1"/>
                </a:solidFill>
              </a:rPr>
              <a:t>[</a:t>
            </a:r>
            <a:r>
              <a:rPr lang="zh-CN" altLang="en-US" sz="1000">
                <a:solidFill>
                  <a:schemeClr val="bg1"/>
                </a:solidFill>
              </a:rPr>
              <a:t>"auth","authentication","authorization","integrity","validation"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  ]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},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{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  "term": "check",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  "synonyms": ["verify","validate","inspect","assess","audit"]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}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],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"target": "function",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"filters": [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{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  "concept": "security",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  "relation": "related_to"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  }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],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"exclude": [],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  "raw_query": "function that performs security check"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}</a:t>
            </a:r>
            <a:endParaRPr lang="zh-CN" alt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65627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Step2: High-Recall Candidate Retrieval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60960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69849" y="1640205"/>
            <a:ext cx="21466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grep 正则检索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4698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快速覆盖显式关键词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7936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支持模式匹配与别名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高速首轮召回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36245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436245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103209" y="16402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倒排索引检索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27245" y="2469832"/>
            <a:ext cx="180848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面向大规模</a:t>
            </a:r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代码库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27245" y="27936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支持词项级高速定位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2724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提升检索吞吐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11530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811530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40795" y="1640205"/>
            <a:ext cx="30161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Embedding 语义检索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80095" y="24698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捕获语义相似与变体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80095" y="279368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补齐字面匹配盲区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38009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增强召回覆盖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09600" y="5715000"/>
            <a:ext cx="10972800" cy="666750"/>
          </a:xfrm>
          <a:custGeom>
            <a:avLst/>
            <a:gdLst/>
            <a:ahLst/>
            <a:cxnLst/>
            <a:rect l="l" t="t" r="r" b="b"/>
            <a:pathLst>
              <a:path w="10972800" h="666750">
                <a:moveTo>
                  <a:pt x="95250" y="0"/>
                </a:moveTo>
                <a:lnTo>
                  <a:pt x="10877550" y="0"/>
                </a:lnTo>
                <a:cubicBezTo>
                  <a:pt x="10930155" y="0"/>
                  <a:pt x="10972800" y="42645"/>
                  <a:pt x="10972800" y="95250"/>
                </a:cubicBezTo>
                <a:lnTo>
                  <a:pt x="10972800" y="571500"/>
                </a:lnTo>
                <a:cubicBezTo>
                  <a:pt x="10972800" y="624105"/>
                  <a:pt x="10930155" y="666750"/>
                  <a:pt x="108775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428600" y="5907405"/>
            <a:ext cx="53348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三路互补合并，形成高 Recall 候选池</a:t>
            </a:r>
            <a:endParaRPr lang="zh-CN" sz="2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05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723009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Step3: Rule + Semantic Filtering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24012"/>
            <a:ext cx="34213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Rule-based Filtering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84082"/>
            <a:ext cx="32349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依据 DSL 约束做硬规则筛选：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2600325"/>
            <a:ext cx="1922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target = function</a:t>
            </a:r>
            <a:endParaRPr lang="zh-CN" sz="150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907982"/>
            <a:ext cx="39337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=&gt; 删除 class / file-level 无关元素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365182"/>
            <a:ext cx="33795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filters = disk + performance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4395" y="3689032"/>
            <a:ext cx="39940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=&gt; 优先保留满足模块与语义约束候选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438900" y="133350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696075" y="1624012"/>
            <a:ext cx="311078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Semantic Filtering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03695" y="218408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由大模型抽取候选代码语义，判定：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03695" y="2565082"/>
            <a:ext cx="27529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是否与 filter 概念一致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03695" y="2888932"/>
            <a:ext cx="29818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是否满足 query 目标语义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03695" y="3212782"/>
            <a:ext cx="33795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是否仅表面词相似但语义偏离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Polygon 18"/>
          <p:cNvSpPr/>
          <p:nvPr/>
        </p:nvSpPr>
        <p:spPr>
          <a:xfrm>
            <a:off x="5810250" y="3208655"/>
            <a:ext cx="628650" cy="647700"/>
          </a:xfrm>
          <a:custGeom>
            <a:avLst/>
            <a:gdLst/>
            <a:ahLst/>
            <a:cxnLst/>
            <a:rect l="l" t="t" r="r" b="b"/>
            <a:pathLst>
              <a:path w="628650" h="647700">
                <a:moveTo>
                  <a:pt x="0" y="133350"/>
                </a:moveTo>
                <a:lnTo>
                  <a:pt x="381000" y="133350"/>
                </a:lnTo>
                <a:lnTo>
                  <a:pt x="381000" y="0"/>
                </a:lnTo>
                <a:lnTo>
                  <a:pt x="628650" y="323850"/>
                </a:lnTo>
                <a:lnTo>
                  <a:pt x="381000" y="647700"/>
                </a:lnTo>
                <a:lnTo>
                  <a:pt x="38100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09600" y="5619750"/>
            <a:ext cx="10972800" cy="476250"/>
          </a:xfrm>
          <a:custGeom>
            <a:avLst/>
            <a:gdLst/>
            <a:ahLst/>
            <a:cxnLst/>
            <a:rect l="l" t="t" r="r" b="b"/>
            <a:pathLst>
              <a:path w="10972800" h="476250">
                <a:moveTo>
                  <a:pt x="95250" y="0"/>
                </a:moveTo>
                <a:lnTo>
                  <a:pt x="10877550" y="0"/>
                </a:lnTo>
                <a:cubicBezTo>
                  <a:pt x="10930155" y="0"/>
                  <a:pt x="10972800" y="42645"/>
                  <a:pt x="10972800" y="95250"/>
                </a:cubicBezTo>
                <a:lnTo>
                  <a:pt x="10972800" y="381000"/>
                </a:lnTo>
                <a:cubicBezTo>
                  <a:pt x="10972800" y="433605"/>
                  <a:pt x="10930155" y="476250"/>
                  <a:pt x="108775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349995" y="5723572"/>
            <a:ext cx="54920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候选集从“高召回”进一步收敛为“高质量”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06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71190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Step4.1: Single Reranking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24012"/>
            <a:ext cx="416316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1) LLM Relevance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26932"/>
            <a:ext cx="39819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逐元素判断候选与 query 语义相关性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8205" y="2521268"/>
            <a:ext cx="24791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score_llm(code_i, query)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248400" y="133350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05575" y="1624012"/>
            <a:ext cx="42494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2) Token Overlap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13195" y="2126932"/>
            <a:ext cx="47772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query=netlink, code=net_link_unbounded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13195" y="2488882"/>
            <a:ext cx="42229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覆盖 net + link，缩写/全称匹配可加分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609600" y="3714750"/>
            <a:ext cx="10972800" cy="2095500"/>
          </a:xfrm>
          <a:custGeom>
            <a:avLst/>
            <a:gdLst/>
            <a:ahLst/>
            <a:cxnLst/>
            <a:rect l="l" t="t" r="r" b="b"/>
            <a:pathLst>
              <a:path w="10972800" h="2095500">
                <a:moveTo>
                  <a:pt x="114300" y="0"/>
                </a:moveTo>
                <a:lnTo>
                  <a:pt x="10858500" y="0"/>
                </a:lnTo>
                <a:cubicBezTo>
                  <a:pt x="10921626" y="0"/>
                  <a:pt x="10972800" y="51174"/>
                  <a:pt x="10972800" y="114300"/>
                </a:cubicBezTo>
                <a:lnTo>
                  <a:pt x="10972800" y="1981200"/>
                </a:lnTo>
                <a:cubicBezTo>
                  <a:pt x="10972800" y="2044326"/>
                  <a:pt x="10921626" y="2095500"/>
                  <a:pt x="108585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66775" y="4005262"/>
            <a:ext cx="386987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3) Code Weight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4395" y="4508182"/>
            <a:ext cx="7083425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根据元素类型赋权：函数可高于类与变量</a:t>
            </a:r>
            <a:r>
              <a:rPr lang="en-US" alt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(</a:t>
            </a:r>
            <a:r>
              <a:rPr lang="zh-CN" altLang="en-US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依据具体</a:t>
            </a:r>
            <a:r>
              <a:rPr lang="en-US" alt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</a:t>
            </a:r>
            <a:r>
              <a:rPr lang="zh-CN" altLang="en-US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目标动态计算权重</a:t>
            </a:r>
            <a:r>
              <a:rPr lang="en-US" alt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)</a:t>
            </a:r>
            <a:endParaRPr lang="en-US" alt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74395" y="4832032"/>
            <a:ext cx="5789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根据调用链距离赋权：越接近核心语义节点得分越高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74395" y="5155882"/>
            <a:ext cx="5162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与 query 目标一致性高的元素优先进入 Top-K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07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80391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Step4.2: Group Reranking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42875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8680" y="1716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核心思想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84082"/>
            <a:ext cx="43795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单元素分数低，不代表组内任务相关性低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54603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引入调用链与关系图结构做组级加权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95350" y="3143250"/>
            <a:ext cx="4572000" cy="2667000"/>
          </a:xfrm>
          <a:custGeom>
            <a:avLst/>
            <a:gdLst/>
            <a:ahLst/>
            <a:cxnLst/>
            <a:rect l="l" t="t" r="r" b="b"/>
            <a:pathLst>
              <a:path w="4572000" h="266700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2571750"/>
                </a:lnTo>
                <a:cubicBezTo>
                  <a:pt x="4572000" y="2624355"/>
                  <a:pt x="4529355" y="2667000"/>
                  <a:pt x="447675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44320" y="3409950"/>
            <a:ext cx="1065530" cy="10287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38529" y="385191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init_readahead</a:t>
            </a:r>
            <a:endParaRPr lang="zh-CN" sz="12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Ellipse 12"/>
          <p:cNvSpPr/>
          <p:nvPr/>
        </p:nvSpPr>
        <p:spPr>
          <a:xfrm>
            <a:off x="3867150" y="4438650"/>
            <a:ext cx="1028700" cy="10287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884295" y="4899660"/>
            <a:ext cx="9944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malloc_disk</a:t>
            </a:r>
            <a:endParaRPr lang="zh-CN" sz="12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2533650" y="4171950"/>
            <a:ext cx="1409700" cy="514350"/>
          </a:xfrm>
          <a:custGeom>
            <a:avLst/>
            <a:gdLst/>
            <a:ahLst/>
            <a:cxnLst/>
            <a:rect l="l" t="t" r="r" b="b"/>
            <a:pathLst>
              <a:path w="1409700" h="514350">
                <a:moveTo>
                  <a:pt x="0" y="0"/>
                </a:moveTo>
                <a:lnTo>
                  <a:pt x="1409700" y="514350"/>
                </a:lnTo>
              </a:path>
            </a:pathLst>
          </a:custGeom>
          <a:noFill/>
          <a:ln w="38100">
            <a:solidFill>
              <a:srgbClr val="12B5CB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752850" y="4533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0" y="152400"/>
                </a:moveTo>
                <a:lnTo>
                  <a:pt x="0" y="133350"/>
                </a:lnTo>
                <a:lnTo>
                  <a:pt x="95250" y="0"/>
                </a:ln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731135" y="4355465"/>
            <a:ext cx="5310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calls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134100" y="1428750"/>
            <a:ext cx="5448300" cy="4762500"/>
          </a:xfrm>
          <a:custGeom>
            <a:avLst/>
            <a:gdLst/>
            <a:ahLst/>
            <a:cxnLst/>
            <a:rect l="l" t="t" r="r" b="b"/>
            <a:pathLst>
              <a:path w="5448300" h="47625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4648200"/>
                </a:lnTo>
                <a:cubicBezTo>
                  <a:pt x="5448300" y="4711326"/>
                  <a:pt x="5397126" y="4762500"/>
                  <a:pt x="53340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393180" y="1716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案例说明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98895" y="2184082"/>
            <a:ext cx="47651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Query: disk 模块下与 readahead 相关函数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398895" y="2546032"/>
            <a:ext cx="55363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malloc_disk 单看关键词不匹配，但被关键函数调用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98895" y="2907982"/>
            <a:ext cx="42229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在 group 上下文中应提升其相关性权重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6419850" y="3619500"/>
            <a:ext cx="4876800" cy="1428750"/>
          </a:xfrm>
          <a:custGeom>
            <a:avLst/>
            <a:gdLst/>
            <a:ahLst/>
            <a:cxnLst/>
            <a:rect l="l" t="t" r="r" b="b"/>
            <a:pathLst>
              <a:path w="4876800" h="1428750">
                <a:moveTo>
                  <a:pt x="95250" y="0"/>
                </a:moveTo>
                <a:lnTo>
                  <a:pt x="4781550" y="0"/>
                </a:lnTo>
                <a:cubicBezTo>
                  <a:pt x="4834155" y="0"/>
                  <a:pt x="4876800" y="42645"/>
                  <a:pt x="4876800" y="95250"/>
                </a:cubicBezTo>
                <a:lnTo>
                  <a:pt x="4876800" y="1333500"/>
                </a:lnTo>
                <a:cubicBezTo>
                  <a:pt x="4876800" y="1386105"/>
                  <a:pt x="4834155" y="1428750"/>
                  <a:pt x="47815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42735" y="3961448"/>
            <a:ext cx="6476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结论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646545" y="4355782"/>
            <a:ext cx="52591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group rerank 让结构相关代码在最终排序中可见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08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 融合排序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86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输入分数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069782"/>
            <a:ext cx="18974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LLM relevance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393632"/>
            <a:ext cx="18492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Token overlap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717482"/>
            <a:ext cx="16323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Code weight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041332"/>
            <a:ext cx="16444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Group boost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3815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6405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融合策略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50105" y="2102168"/>
            <a:ext cx="1296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score_final =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50105" y="2406968"/>
            <a:ext cx="21341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w1*s_llm + w2*s_tok +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50105" y="2711768"/>
            <a:ext cx="26073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w3*s_weight + w4*s_group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46295" y="3098482"/>
            <a:ext cx="30180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按 query 类型动态调节权重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1534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4124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输出结果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439150" y="21907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610600" y="2409825"/>
            <a:ext cx="1867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1. init_readahead</a:t>
            </a:r>
            <a:endParaRPr lang="zh-CN" sz="15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8439150" y="29146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10600" y="3133725"/>
            <a:ext cx="15497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2. malloc_disk</a:t>
            </a:r>
            <a:endParaRPr lang="zh-CN" sz="15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439150" y="36385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10600" y="3857625"/>
            <a:ext cx="2272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3. readahead_buffer</a:t>
            </a:r>
            <a:endParaRPr lang="zh-CN" sz="1500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09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56426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Case Study: disk + readahead 查询链路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86740" y="1424940"/>
            <a:ext cx="95491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raw_query: search functions that enhance readahead performance in disk</a:t>
            </a:r>
            <a:endParaRPr lang="zh-CN" sz="180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2286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1025" y="2709862"/>
            <a:ext cx="24724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候选集收敛轨迹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6740" y="31965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高召回候选：N = 1200+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86740" y="3558540"/>
            <a:ext cx="39496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Rule + Semantic 过滤后：N = 180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6740" y="3920490"/>
            <a:ext cx="46725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 rerank 后：Top-K = 20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477000" y="2724150"/>
            <a:ext cx="5105400" cy="3048000"/>
          </a:xfrm>
          <a:custGeom>
            <a:avLst/>
            <a:gdLst/>
            <a:ahLst/>
            <a:cxnLst/>
            <a:rect l="l" t="t" r="r" b="b"/>
            <a:pathLst>
              <a:path w="5105400" h="3048000">
                <a:moveTo>
                  <a:pt x="114300" y="0"/>
                </a:moveTo>
                <a:lnTo>
                  <a:pt x="4991100" y="0"/>
                </a:lnTo>
                <a:cubicBezTo>
                  <a:pt x="5054226" y="0"/>
                  <a:pt x="5105400" y="51174"/>
                  <a:pt x="5105400" y="114300"/>
                </a:cubicBezTo>
                <a:lnTo>
                  <a:pt x="5105400" y="2933700"/>
                </a:lnTo>
                <a:cubicBezTo>
                  <a:pt x="5105400" y="2996826"/>
                  <a:pt x="5054226" y="3048000"/>
                  <a:pt x="4991100" y="3048000"/>
                </a:cubicBezTo>
                <a:lnTo>
                  <a:pt x="114300" y="3048000"/>
                </a:lnTo>
                <a:cubicBezTo>
                  <a:pt x="51174" y="3048000"/>
                  <a:pt x="0" y="2996826"/>
                  <a:pt x="0" y="2933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736080" y="3011805"/>
            <a:ext cx="19694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Top 结果示例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42748" y="3506629"/>
            <a:ext cx="221377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1) init_readahead()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42748" y="38495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2) malloc_disk()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42748" y="4192429"/>
            <a:ext cx="35019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3) adjust_readahead_window()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41795" y="4622482"/>
            <a:ext cx="44036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B5CB"/>
                </a:solidFill>
                <a:latin typeface="Arial" panose="020B0604020202020204"/>
                <a:ea typeface="微软雅黑"/>
                <a:cs typeface="Arial" panose="020B0604020202020204"/>
              </a:rPr>
              <a:t>其中 malloc_disk 因组关系获得加权提升</a:t>
            </a:r>
            <a:endParaRPr lang="zh-CN" sz="1650" dirty="0">
              <a:solidFill>
                <a:srgbClr val="12B5C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10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方法价值与可扩展性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43062"/>
            <a:ext cx="181687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Recall 提升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07882"/>
            <a:ext cx="51868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多路检索互补，减少 query 表达差异导致的漏检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286500" y="13335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543675" y="1643062"/>
            <a:ext cx="238619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Precision 提升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51295" y="2107882"/>
            <a:ext cx="36927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规则约束 + 语义过滤压缩噪声候选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9600" y="38100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66775" y="411956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可解释性增强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4395" y="4584382"/>
            <a:ext cx="48495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DSL 字段、过滤规则、排序信号可追踪可分析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286500" y="38100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43675" y="411956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工程扩展性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51295" y="4584382"/>
            <a:ext cx="45482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可插拔新增 filter、ranker 与关系图特征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4360" y="6442710"/>
            <a:ext cx="1356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11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F3A">
                  <a:alpha val="8000"/>
                </a:srgbClr>
              </a:gs>
              <a:gs pos="100000">
                <a:srgbClr val="1F6FEB">
                  <a:alpha val="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914400" y="1047750"/>
            <a:ext cx="10363200" cy="4762500"/>
          </a:xfrm>
          <a:custGeom>
            <a:avLst/>
            <a:gdLst/>
            <a:ahLst/>
            <a:cxnLst/>
            <a:rect l="l" t="t" r="r" b="b"/>
            <a:pathLst>
              <a:path w="10363200" h="4762500">
                <a:moveTo>
                  <a:pt x="190500" y="0"/>
                </a:moveTo>
                <a:lnTo>
                  <a:pt x="10172700" y="0"/>
                </a:lnTo>
                <a:cubicBezTo>
                  <a:pt x="10277910" y="0"/>
                  <a:pt x="10363200" y="85290"/>
                  <a:pt x="10363200" y="190500"/>
                </a:cubicBezTo>
                <a:lnTo>
                  <a:pt x="10363200" y="4572000"/>
                </a:lnTo>
                <a:cubicBezTo>
                  <a:pt x="10363200" y="4677210"/>
                  <a:pt x="10277910" y="4762500"/>
                  <a:pt x="1017270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846576" y="1609725"/>
            <a:ext cx="8498848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Conclusion &amp; Future Work</a:t>
            </a:r>
            <a:endParaRPr lang="zh-CN" sz="4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92580" y="2745105"/>
            <a:ext cx="81963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1. DSL 驱动 + 多路召回 + 过滤 + 双阶段重排，形成完整闭环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92580" y="3202305"/>
            <a:ext cx="79663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2. 在 agent query 场景下兼顾检索效率、精度与可解释性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92580" y="3659505"/>
            <a:ext cx="75369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3. 未来方向：在线反馈学习、跨仓库检索、端到端重排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088688" y="4756785"/>
            <a:ext cx="201462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Thank You</a:t>
            </a:r>
            <a:endParaRPr lang="zh-CN" sz="27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29967" y="5234940"/>
            <a:ext cx="532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Q&amp;A</a:t>
            </a:r>
            <a:endParaRPr lang="zh-CN" sz="18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12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3305</Words>
  <Application>WPS 演示</Application>
  <PresentationFormat>On-screen Show (4:3)</PresentationFormat>
  <Paragraphs>365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Calibri</vt:lpstr>
      <vt:lpstr>Helvetica Neue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OLD帅MA</cp:lastModifiedBy>
  <cp:revision>21</cp:revision>
  <dcterms:created xsi:type="dcterms:W3CDTF">2026-05-18T13:23:44Z</dcterms:created>
  <dcterms:modified xsi:type="dcterms:W3CDTF">2026-05-18T13:23:44Z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DA5CF0008C1AF9B5F422FF696F796369</vt:lpwstr>
  </property>
  <property fmtid="{D5CDD505-2E9C-101B-9397-08002B2CF9AE}" pid="3" name="KSOProductBuildVer">
    <vt:lpwstr>2052-4.1.1.6613</vt:lpwstr>
  </property>
</Properties>
</file>